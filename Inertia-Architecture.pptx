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9e57d9f167499c" /><Relationship Type="http://schemas.openxmlformats.org/officeDocument/2006/relationships/extended-properties" Target="/docProps/app.xml" Id="Rd8af9368d6534151" /><Relationship Type="http://schemas.openxmlformats.org/officeDocument/2006/relationships/officeDocument" Target="/ppt/presentation.xml" Id="Ref7075c93f414673" /></Relationships>
</file>

<file path=ppt/presentation.xml><?xml version="1.0" encoding="utf-8"?>
<p:presentation xmlns:p="http://schemas.openxmlformats.org/presentationml/2006/main">
  <p:sldMasterIdLst>
    <p:sldMasterId xmlns:r="http://schemas.openxmlformats.org/officeDocument/2006/relationships" id="2147483648" r:id="Ra6c45da0d57f4202"/>
  </p:sldMasterIdLst>
  <p:notesMasterIdLst>
    <p:notesMasterId xmlns:r="http://schemas.openxmlformats.org/officeDocument/2006/relationships" r:id="R5f5f99c8012c4c93"/>
  </p:notesMasterIdLst>
  <p:sldIdLst>
    <p:sldId xmlns:r="http://schemas.openxmlformats.org/officeDocument/2006/relationships" id="256" r:id="R1c59b84ea7594b57"/>
    <p:sldId xmlns:r="http://schemas.openxmlformats.org/officeDocument/2006/relationships" id="257" r:id="Rb321bc3e704343f4"/>
    <p:sldId xmlns:r="http://schemas.openxmlformats.org/officeDocument/2006/relationships" id="258" r:id="Ra10407449ef740b9"/>
    <p:sldId xmlns:r="http://schemas.openxmlformats.org/officeDocument/2006/relationships" id="259" r:id="R5826496e08a64aab"/>
    <p:sldId xmlns:r="http://schemas.openxmlformats.org/officeDocument/2006/relationships" id="260" r:id="Rbb44a07840a04c92"/>
    <p:sldId xmlns:r="http://schemas.openxmlformats.org/officeDocument/2006/relationships" id="261" r:id="R01e37d853ab9441b"/>
    <p:sldId xmlns:r="http://schemas.openxmlformats.org/officeDocument/2006/relationships" id="262" r:id="Ra5e98dee0aa440c1"/>
    <p:sldId xmlns:r="http://schemas.openxmlformats.org/officeDocument/2006/relationships" id="263" r:id="R11f9065c3a044367"/>
    <p:sldId xmlns:r="http://schemas.openxmlformats.org/officeDocument/2006/relationships" id="264" r:id="R44af1ad8029a4c8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6401b14c93b4e37" /><Relationship Type="http://schemas.openxmlformats.org/officeDocument/2006/relationships/slideMaster" Target="/ppt/slideMasters/slideMaster1.xml" Id="Ra6c45da0d57f4202" /><Relationship Type="http://schemas.openxmlformats.org/officeDocument/2006/relationships/notesMaster" Target="/ppt/notesMasters/notesMaster1.xml" Id="R5f5f99c8012c4c93" /><Relationship Type="http://schemas.openxmlformats.org/officeDocument/2006/relationships/presProps" Target="/ppt/presProps.xml" Id="Rc3bd6a522b0e4c52" /><Relationship Type="http://schemas.openxmlformats.org/officeDocument/2006/relationships/tableStyles" Target="/ppt/tableStyles.xml" Id="Rad73083d01a34f9b" /><Relationship Type="http://schemas.openxmlformats.org/officeDocument/2006/relationships/slide" Target="/ppt/slides/slide1.xml" Id="R1c59b84ea7594b57" /><Relationship Type="http://schemas.openxmlformats.org/officeDocument/2006/relationships/slide" Target="/ppt/slides/slide2.xml" Id="Rb321bc3e704343f4" /><Relationship Type="http://schemas.openxmlformats.org/officeDocument/2006/relationships/slide" Target="/ppt/slides/slide3.xml" Id="Ra10407449ef740b9" /><Relationship Type="http://schemas.openxmlformats.org/officeDocument/2006/relationships/slide" Target="/ppt/slides/slide4.xml" Id="R5826496e08a64aab" /><Relationship Type="http://schemas.openxmlformats.org/officeDocument/2006/relationships/slide" Target="/ppt/slides/slide5.xml" Id="Rbb44a07840a04c92" /><Relationship Type="http://schemas.openxmlformats.org/officeDocument/2006/relationships/slide" Target="/ppt/slides/slide6.xml" Id="R01e37d853ab9441b" /><Relationship Type="http://schemas.openxmlformats.org/officeDocument/2006/relationships/slide" Target="/ppt/slides/slide7.xml" Id="Ra5e98dee0aa440c1" /><Relationship Type="http://schemas.openxmlformats.org/officeDocument/2006/relationships/slide" Target="/ppt/slides/slide8.xml" Id="R11f9065c3a044367" /><Relationship Type="http://schemas.openxmlformats.org/officeDocument/2006/relationships/slide" Target="/ppt/slides/slide9.xml" Id="R44af1ad8029a4c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f1f48cd04e40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ea20dfd055449ea" /><Relationship Type="http://schemas.openxmlformats.org/officeDocument/2006/relationships/notesMaster" Target="/ppt/notesMasters/notesMaster1.xml" Id="R6f79a3b285974b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261bd691010b4221" /><Relationship Type="http://schemas.openxmlformats.org/officeDocument/2006/relationships/notesMaster" Target="/ppt/notesMasters/notesMaster1.xml" Id="Rcda03e3bd28d4060"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3986e4d8994e73" /><Relationship Type="http://schemas.openxmlformats.org/officeDocument/2006/relationships/notesMaster" Target="/ppt/notesMasters/notesMaster1.xml" Id="R379c84128d8f42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dcefa5133e48aa" /><Relationship Type="http://schemas.openxmlformats.org/officeDocument/2006/relationships/notesMaster" Target="/ppt/notesMasters/notesMaster1.xml" Id="Rc62407ba3c7649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5f7f7de67841a2" /><Relationship Type="http://schemas.openxmlformats.org/officeDocument/2006/relationships/notesMaster" Target="/ppt/notesMasters/notesMaster1.xml" Id="Rd2c6b72a956d40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e68f9dcdc24948" /><Relationship Type="http://schemas.openxmlformats.org/officeDocument/2006/relationships/notesMaster" Target="/ppt/notesMasters/notesMaster1.xml" Id="R7741bca2887c4f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997fcf623214587" /><Relationship Type="http://schemas.openxmlformats.org/officeDocument/2006/relationships/notesMaster" Target="/ppt/notesMasters/notesMaster1.xml" Id="R46b6865d54e340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05826d45c84fe8" /><Relationship Type="http://schemas.openxmlformats.org/officeDocument/2006/relationships/notesMaster" Target="/ppt/notesMasters/notesMaster1.xml" Id="Rf3be53485f9443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07b6c615b434acd" /><Relationship Type="http://schemas.openxmlformats.org/officeDocument/2006/relationships/notesMaster" Target="/ppt/notesMasters/notesMaster1.xml" Id="Rbf2278a406f94fc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decisions.md and plan.md. Current source: native exact-action capture https://github.com/NetRxn/Inertia/pull/58; Packet UI reviewed draft https://github.com/NetRxn/Inertia/pull/62. PR53 host qualification remains historical.</a:t>
            </a:r>
          </a:p>
          <a:p xmlns:a="http://schemas.openxmlformats.org/drawingml/2006/main">
            <a:r>
              <a:t/>
            </a:r>
          </a:p>
          <a:p xmlns:a="http://schemas.openxmlformats.org/drawingml/2006/main">
            <a:r>
              <a:t>Wednesday October 28 target is actual application preparation through existing authorized PostgreSQL/domain tools and the existing authorized Buzz agent. Paperclip owns native work; Buzz and dashboard expose the same permitted records. Current identity, DAO membership and application action access govern member actions. Helix and Y2 are explicitly deferred.</a:t>
            </a:r>
          </a:p>
          <a:p xmlns:a="http://schemas.openxmlformats.org/drawingml/2006/main">
            <a:r>
              <a:t/>
            </a:r>
          </a:p>
          <a:p xmlns:a="http://schemas.openxmlformats.org/drawingml/2006/main">
            <a:r>
              <a:t>This chosen target is not a deployed-integration claim. PR53 source-qualified default-disabled host assembly, early SDK pre-buffer byte/deadline checks, manual invocation and native state-delete reset. Actual data/source/action bindings, bounded receipt-read allocation, remaining deployment/latency compatibility, approved lifecycle/authentication/network integration, writer fencing and live walkthrough remain gates. Packet-v2 contract/freeze core source is merged. Native capture source is merged with synthetic callbacks and absent authority/retention disabled. Packet UI/attestation is reviewed draft PR62, not merged/live. Browser walkthrough, mutual #48 recovery agreement and real authority/runtime/domain/Buzz remain pending. Legacy v1 records remain intact.</a:t>
            </a:r>
          </a:p>
          <a:p xmlns:a="http://schemas.openxmlformats.org/drawingml/2006/main">
            <a:r>
              <a:t/>
            </a:r>
          </a:p>
          <a:p xmlns:a="http://schemas.openxmlformats.org/drawingml/2006/main">
            <a:r>
              <a:t>The remaining #42 read-only assessment proposes early SQL filtering and bounded receipt projection, retaining pending identity. No generic activity acceptance-forgery path was established; no implementation or approved new page interface is claimed. https://github.com/NetRxn/Inertia/issues/42#issuecomment-6389560049</a:t>
            </a:r>
          </a:p>
          <a:p xmlns:a="http://schemas.openxmlformats.org/drawingml/2006/main">
            <a:r>
              <a:t/>
            </a:r>
          </a:p>
          <a:p xmlns:a="http://schemas.openxmlformats.org/drawingml/2006/main">
            <a:r>
              <a:t>Current execution clarification: provider/role assignments are configurable. Two-provider funding and general member/bounty scenarios test existing requirements. Reuse Paperclip native coordination, checkout and budgets; no new dispatcher or framework. See spec.md section 2 and testing.md, Two-provider scenarios for existing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R-F01–08/R-K01–08/R-C01–05; testing.md.</a:t>
            </a:r>
          </a:p>
          <a:p xmlns:a="http://schemas.openxmlformats.org/drawingml/2006/main">
            <a:r>
              <a:t/>
            </a:r>
          </a:p>
          <a:p xmlns:a="http://schemas.openxmlformats.org/drawingml/2006/main">
            <a:r>
              <a:t>The actual system must query saved SQL evidence first, research gaps and generate substantial preparation and a near-complete current application draft. An agent contributes and independently critiques quality within that packet outcome. A task result or quality review is not human approval.</a:t>
            </a:r>
          </a:p>
          <a:p xmlns:a="http://schemas.openxmlformats.org/drawingml/2006/main">
            <a:r>
              <a:t/>
            </a:r>
          </a:p>
          <a:p xmlns:a="http://schemas.openxmlformats.org/drawingml/2006/main">
            <a:r>
              <a:t>Any authenticated, currently verified DAO member with current application action access may confirm the exact immutable version under the chosen v2 policy. No named application owner or default five specialist human gates. Packet-v2 core and native exact-action capture are merged in PR56/PR58. Packet UI is reviewed draft PR62, not merged/live; browser, mutual recovery agreement and real authority/runtime/domain/Buzz remain pending. Real sponsor signatures or DAO/Vocdoni governance apply only when genuinely required. Preserve exact versions, source scope, replay/conflict denial and current access checks. Reference packets and answer keys are separate from actual generated output.</a:t>
            </a:r>
          </a:p>
          <a:p xmlns:a="http://schemas.openxmlformats.org/drawingml/2006/main">
            <a:r>
              <a:t/>
            </a:r>
          </a:p>
          <a:p xmlns:a="http://schemas.openxmlformats.org/drawingml/2006/main">
            <a:r>
              <a:t>Native coordination already covers decomposition, role/capability-based acquisition, exclusive checkout, budgets, review and follow-up. Test complementary research, partner-discovery, assembly and review roles rather than fixing Codex as writer and Claude as checker. Two agents owned by John are not two independent human members.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R-M01–04; existing meeting/publication contracts; Needed-from-team.md NTF01–03.</a:t>
            </a:r>
          </a:p>
          <a:p xmlns:a="http://schemas.openxmlformats.org/drawingml/2006/main">
            <a:r>
              <a:t/>
            </a:r>
          </a:p>
          <a:p xmlns:a="http://schemas.openxmlformats.org/drawingml/2006/main">
            <a:r>
              <a:t>Source/native composition is merged with controlled Google/website I/O and actual native PostgreSQL recovery, not live-source deployment. Qualify approved Drive/Gemini readiness, exact source identity/version and the members-only website publication/readback contract. Produce a faithful cleaned transcript and separate notes. Summary-only material must never become an invented transcript; notes-only website behavior remains partial until qualified.</a:t>
            </a:r>
          </a:p>
          <a:p xmlns:a="http://schemas.openxmlformats.org/drawingml/2006/main">
            <a:r>
              <a:t/>
            </a:r>
          </a:p>
          <a:p xmlns:a="http://schemas.openxmlformats.org/drawingml/2006/main">
            <a:r>
              <a:t>Source-linked tasks and SQL candidate knowledge retain provenance, current audience and actual adoption scope. Wednesday participation/recording inputs are operational references, not permission to publish private source material. Retention defaults are settled planning choices; no deletion or live activation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R-G01–04; docs/development/native-grant-workflow.md; testing.md T-G06–15.</a:t>
            </a:r>
          </a:p>
          <a:p xmlns:a="http://schemas.openxmlformats.org/drawingml/2006/main">
            <a:r>
              <a:t/>
            </a:r>
          </a:p>
          <a:p xmlns:a="http://schemas.openxmlformats.org/drawingml/2006/main">
            <a:r>
              <a:t>V2 core and native exact-action capture are merged in https://github.com/NetRxn/Inertia/pull/56 and https://github.com/NetRxn/Inertia/pull/58. Packet UI/attestation is reviewed draft https://github.com/NetRxn/Inertia/pull/62, not merged/live. Browser, mutual #48 recovery agreement and real authority/runtime/domain/Buzz remain pending; this diagram is not a deployment claim. Agents prepare and independently critique; they never supply human approval. Any authenticated, currently verified DAO member with current application review access may confirm the exact immutable packet/version/artifact bytes. There is no named application owner or default five-specialist human ceremony. Actual sponsor signatures and DAO/Vocdoni governance apply only when the real case requires them.</a:t>
            </a:r>
          </a:p>
          <a:p xmlns:a="http://schemas.openxmlformats.org/drawingml/2006/main">
            <a:r>
              <a:t/>
            </a:r>
          </a:p>
          <a:p xmlns:a="http://schemas.openxmlformats.org/drawingml/2006/main">
            <a:r>
              <a:t>A human performs any separately authorized external submission. Mark submitted or equivalent authenticated Buzz intent records a selected immutable packet and actual date, reporter and evidence level. Optional image/email/reference evidence may be added later. Historical selection can be recorded honestly with missing prior approvals; do not fabricate approval or treat member attestation as provider verification. Corrections/evidence append audit history. The normal sequence drawn here does not make earlier native approvals a prerequisite to recording a real past fact. No action here submits, pays or votes.</a:t>
            </a:r>
          </a:p>
          <a:p xmlns:a="http://schemas.openxmlformats.org/drawingml/2006/main">
            <a:r>
              <a:t/>
            </a:r>
          </a:p>
          <a:p xmlns:a="http://schemas.openxmlformats.org/drawingml/2006/main">
            <a:r>
              <a:t>Legacy v1 role-gated source, approvals, immutable packets, receipts and cancellation state remain historically intact. PR53 remains default-disabled source qualification. Current member/application action access, versioned v2 guarded writes and live walkthrough remain to qualify.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R-C01–05; plan.md; Needed-from-team.md NTF02/07/09/11.</a:t>
            </a:r>
          </a:p>
          <a:p xmlns:a="http://schemas.openxmlformats.org/drawingml/2006/main">
            <a:r>
              <a:t/>
            </a:r>
          </a:p>
          <a:p xmlns:a="http://schemas.openxmlformats.org/drawingml/2006/main">
            <a:r>
              <a:t>The existing authorized Buzz agent is the achievable Wednesday contribution path within the application packet. It must actually use permitted tools/evidence and return generated preparation with provenance and an independent quality critique. Current DAO membership and application action access govern any human contribution or exact-version confirmation; public visibility, a pairing or generic role alone is insufficient. Agents never approve.</a:t>
            </a:r>
          </a:p>
          <a:p xmlns:a="http://schemas.openxmlformats.org/drawingml/2006/main">
            <a:r>
              <a:t/>
            </a:r>
          </a:p>
          <a:p xmlns:a="http://schemas.openxmlformats.org/drawingml/2006/main">
            <a:r>
              <a:t>V2 packet primitives are merged in https://github.com/NetRxn/Inertia/pull/56. Native exact-action capture is merged in PR58. Packet UI/attestation is reviewed draft PR62, not merged/live; browser, real authorization/runtime/domain/Buzz and production provider/human workflow remains pending. Preserve original authenticated actor, exact packet/version/policy, current action rights, stale/conflict denial and authoritative readback. No named application owner or default five-specialist setup is needed.</a:t>
            </a:r>
          </a:p>
          <a:p xmlns:a="http://schemas.openxmlformats.org/drawingml/2006/main">
            <a:r>
              <a:t/>
            </a:r>
          </a:p>
          <a:p xmlns:a="http://schemas.openxmlformats.org/drawingml/2006/main">
            <a:r>
              <a:t>This path does not qualify full untrusted member-owned runtime isolation. PR37 only stages inert candidates; PR51 is draft/unmerged/inactive ingress/per-attempt authority. Full untrusted isolation, enrollment/provider execution and native authoritative completion remain separate unqualified work. No candidate receipt alone means completed work.</a:t>
            </a:r>
          </a:p>
          <a:p xmlns:a="http://schemas.openxmlformats.org/drawingml/2006/main">
            <a:r>
              <a:t/>
            </a:r>
          </a:p>
          <a:p xmlns:a="http://schemas.openxmlformats.org/drawingml/2006/main">
            <a:r>
              <a:t>The simpler same-pending-ID re-entry is a PR62 candidate awaiting mutual #48 agreement, not an adopted shared workflow. No retirement endpoint, new store or payload persistence was added.</a:t>
            </a:r>
          </a:p>
          <a:p xmlns:a="http://schemas.openxmlformats.org/drawingml/2006/main">
            <a:r>
              <a:t/>
            </a:r>
          </a:p>
          <a:p xmlns:a="http://schemas.openxmlformats.org/drawingml/2006/main">
            <a:r>
              <a:t>Two-provider test preparation maps funding to existing R-F01–04/R-F06–08, R-K01–08, R-C01–05 and R-O01; general member/bounty objectives map to R-I01–04, R-C01–05 and R-O01. Use existing T-K05/T-K10/T-K12 and T-C01–04. Separate workspace/history and configurable roles; no substantial funding run or successful multi-agent rehearsal is claimed. Native delivery and the owning-service implementation are merged, activation disabled. Connected disposable native approval and frozen Task2 submission produced real PostgreSQL effects; replay, lost-response recovery and retained readback after source-transport revocation passed with synthetic current authority. Actual original-human current DAO authority and production transport/member integration remain pending. PR62 UI remains draft; controlled evidence does not establish a production workflow. Public source: https://github.com/NetRxn/Inertia/pull/66.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data/authority; funding-enhancement/spec.md; Needed-from-team.md NTF02/04/06/12/13.</a:t>
            </a:r>
          </a:p>
          <a:p xmlns:a="http://schemas.openxmlformats.org/drawingml/2006/main">
            <a:r>
              <a:t/>
            </a:r>
          </a:p>
          <a:p xmlns:a="http://schemas.openxmlformats.org/drawingml/2006/main">
            <a:r>
              <a:t>PostgreSQL-native knowledge through existing authorized domain tools is the Wednesday baseline. Preserve authoritative domain evidence/history and independent Paperclip native work storage, canonical IDs and least-scope current application/source access. Tool availability does not prove deployed application integration. Actual connections, protected documents and live binding still require qualification.</a:t>
            </a:r>
          </a:p>
          <a:p xmlns:a="http://schemas.openxmlformats.org/drawingml/2006/main">
            <a:r>
              <a:t/>
            </a:r>
          </a:p>
          <a:p xmlns:a="http://schemas.openxmlformats.org/drawingml/2006/main">
            <a:r>
              <a:t>Query before research, preserve supported useful writeback and retrieve it next run. Unknown/revoked/unavailable authoritative access withholds affected results. Private financial/organizational documents not publicly obtainable require protected access, not guesses or public record dumps.</a:t>
            </a:r>
          </a:p>
          <a:p xmlns:a="http://schemas.openxmlformats.org/drawingml/2006/main">
            <a:r>
              <a:t/>
            </a:r>
          </a:p>
          <a:p xmlns:a="http://schemas.openxmlformats.org/drawingml/2006/main">
            <a:r>
              <a:t>Helix and Y2 are explicitly deferred. Keep future adapters reversible with source/access, fencing, removal and recovery guarantees. Settled planning defaults are 90 days for recordings after validated transcript/minutes, expendable drafts and operational logs; one year for security logs. Meaningful reviewed/final/submitted and authoritative records remain retained under applicable archive/grant schedules and holds. Storage binding/record owner/holds are operational inputs. No deletion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R-K01–08; testing.md T-K01–12; funding-enhancement acceptance P01–12.</a:t>
            </a:r>
          </a:p>
          <a:p xmlns:a="http://schemas.openxmlformats.org/drawingml/2006/main">
            <a:r>
              <a:t/>
            </a:r>
          </a:p>
          <a:p xmlns:a="http://schemas.openxmlformats.org/drawingml/2006/main">
            <a:r>
              <a:t>Use a bounded authorized SQL/source inventory for the selected application. Preserve canonical identities or explicit unresolved outcomes, exact evidence/version, known dates, audience and application/project/opportunity scope. Prospects, evidence status and activity stage remain separate; names, coattendance and elapsed dates alone prove no relationship or delivered work.</a:t>
            </a:r>
          </a:p>
          <a:p xmlns:a="http://schemas.openxmlformats.org/drawingml/2006/main">
            <a:r>
              <a:t/>
            </a:r>
          </a:p>
          <a:p xmlns:a="http://schemas.openxmlformats.org/drawingml/2006/main">
            <a:r>
              <a:t>The actual system queries saved PostgreSQL evidence, researches missing/stale facts, persists useful source-bound findings/preparation with expected revision and payload-safe replay, and retrieves the result on the next run. Relevant rejected opportunities can yield reusable knowledge. An explained no-change result is valid; a silently lost useful writeback is not. Revalidate current application/source access before every returned contact/quote or admitted write and fail closed when authoritative checks are unavailable.</a:t>
            </a:r>
          </a:p>
          <a:p xmlns:a="http://schemas.openxmlformats.org/drawingml/2006/main">
            <a:r>
              <a:t/>
            </a:r>
          </a:p>
          <a:p xmlns:a="http://schemas.openxmlformats.org/drawingml/2006/main">
            <a:r>
              <a:t>Helix and Y2 are deferred from Wednesday. Do not require full graph backfill, a graph migration or historical graph p95/size targets as entry gates. Future reversible adapters still need actual fencing/revision, tombstone/removal, lost-response and rebuild qualification. Measure actual current-path timing and coverage; no deployed SQL integration or unmeasured performance is claimed.</a:t>
            </a:r>
          </a:p>
          <a:p xmlns:a="http://schemas.openxmlformats.org/drawingml/2006/main">
            <a:r>
              <a:t/>
            </a:r>
          </a:p>
          <a:p xmlns:a="http://schemas.openxmlformats.org/drawingml/2006/main">
            <a:r>
              <a:t>Named owning-domain SQL knowledge tools are merged with local PostgreSQL facade qualification. Production current-authority resolver/transport, provider execution and actual system-run evidence remain unqualified; source qualification is not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Needed-from-team.md NTF01–15; plan.md; testing.md.</a:t>
            </a:r>
          </a:p>
          <a:p xmlns:a="http://schemas.openxmlformats.org/drawingml/2006/main">
            <a:r>
              <a:t/>
            </a:r>
          </a:p>
          <a:p xmlns:a="http://schemas.openxmlformats.org/drawingml/2006/main">
            <a:r>
              <a:t>Consolidate remaining operational inputs once: existing data/connections/deployment/runtime; current verified DAO membership and application action ACL; existing Buzz agent/relay identity; actual governance example where applicable; protected financial/organizational documents unavailable publicly; Wednesday participants and event roster/talent/check-in/recording logistics. Do not re-ask settled SQL architecture, retention defaults or whether universal role/vote ceremonies are needed.</a:t>
            </a:r>
          </a:p>
          <a:p xmlns:a="http://schemas.openxmlformats.org/drawingml/2006/main">
            <a:r>
              <a:t/>
            </a:r>
          </a:p>
          <a:p xmlns:a="http://schemas.openxmlformats.org/drawingml/2006/main">
            <a:r>
              <a:t>Named-owner/five-specialist setup is superseded. NTF09 now uses the current member/application access walkthrough. Helix/Y2 NTF10 and graph deployment obligations are deferred rather than silently deleted. NTF11 uses the achievable authorized Buzz contribution path; full untrusted member enrollment/isolation remains separate.</a:t>
            </a:r>
          </a:p>
          <a:p xmlns:a="http://schemas.openxmlformats.org/drawingml/2006/main">
            <a:r>
              <a:t/>
            </a:r>
          </a:p>
          <a:p xmlns:a="http://schemas.openxmlformats.org/drawingml/2006/main">
            <a:r>
              <a:t>Engineering owns the remaining native/Buzz member-action and submitted-record wiring, actual system-generated research/draft/critique, SQL writeback/reuse, runbook/video and measurements. Packet-v2 core and native capture source are merged in PR56/PR58; Packet UI/attestation is reviewed draft https://github.com/NetRxn/Inertia/pull/62, not merged/live. Named owning-domain SQL tools have merged source/local PostgreSQL facade qualification. Production resolver/transport/provider execution and end-to-end member action remain unqualified. Team contacts are operational contacts, not named application approval owners. No new permissions, deployment, deletion, account or external submission is performed.</a:t>
            </a:r>
          </a:p>
          <a:p xmlns:a="http://schemas.openxmlformats.org/drawingml/2006/main">
            <a:r>
              <a:t/>
            </a:r>
          </a:p>
          <a:p xmlns:a="http://schemas.openxmlformats.org/drawingml/2006/main">
            <a:r>
              <a:t>PR59 is noncanonical discussion only. Contributor-owned PR60 passed scoped rereview but awaits their readiness/nonblocking-note choice. PR61 awaits its clarification and R-02 recovery alignment. Shared workflow adoption requires mutual agreement; contributor proposal/validator/rehearsal files are untouched. Follow #40 for live coordination.</a:t>
            </a:r>
          </a:p>
          <a:p xmlns:a="http://schemas.openxmlformats.org/drawingml/2006/main">
            <a:r>
              <a:t/>
            </a:r>
          </a:p>
          <a:p xmlns:a="http://schemas.openxmlformats.org/drawingml/2006/main">
            <a:r>
              <a:t>Reuse existing references; this is an interface map, not a new owner/dependency/handoff register. John plans shared runtime deployment before Wednesday. Docker preproduction Paperclip-to-Codex subscription smoke passed with the expected short output and no API key. Single-provider workflow qualification, including substantial funding research/draft/reuse, is next. Claude CLI is installed; connection/inference waits until Monday, with the two-provider rehearsal later. Meeting/member integration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plan.md; testing.md; decisions.md; Needed-from-team.md; https://github.com/NetRxn/Inertia/pull/53; https://github.com/NetRxn/Inertia/pull/51; https://hackfw.devpost.com/rules.</a:t>
            </a:r>
          </a:p>
          <a:p xmlns:a="http://schemas.openxmlformats.org/drawingml/2006/main">
            <a:r>
              <a:t/>
            </a:r>
          </a:p>
          <a:p xmlns:a="http://schemas.openxmlformats.org/drawingml/2006/main">
            <a:r>
              <a:t>Operational goal is Wednesday October 28 Roundtable. Actual system-generated substantial research/preparation and a near-complete current application draft are required, with agent contribution/independent critique and SQL query/writeback/next-run reuse. The existing authorized Buzz agent is the achievable path. Helix and Y2 are deferred; it does not qualify full untrusted member-owned isolation or draft PR51/native authoritative completion.</a:t>
            </a:r>
          </a:p>
          <a:p xmlns:a="http://schemas.openxmlformats.org/drawingml/2006/main">
            <a:r>
              <a:t/>
            </a:r>
          </a:p>
          <a:p xmlns:a="http://schemas.openxmlformats.org/drawingml/2006/main">
            <a:r>
              <a:t>Chosen v2 allows any authenticated, currently verified DAO member with current application action access to confirm the exact immutable version, with no named owner or default five-specialist gates. Real sponsor signatures and DAO/Vocdoni governance apply only when required. Mark submitted records a selected immutable packet/date and reporter/evidence level with optional later evidence; no automatic submission or fake prior approvals. V2 core and native capture are merged in PR56/PR58. Packet UI/attestation is reviewed draft https://github.com/NetRxn/Inertia/pull/62, not merged/live. Browser, mutual #48 recovery and real authority/runtime/domain/Buzz remain unqualified, with legacy v1 intact.</a:t>
            </a:r>
          </a:p>
          <a:p xmlns:a="http://schemas.openxmlformats.org/drawingml/2006/main">
            <a:r>
              <a:t/>
            </a:r>
          </a:p>
          <a:p xmlns:a="http://schemas.openxmlformats.org/drawingml/2006/main">
            <a:r>
              <a:t>Park Place is real historical human-submitted proof, approximately one hour user-reported elapsed time only. It is not deployed automation or measured active time. Keep reference packets/answer keys separate from actual generated system outputs. Exemplary NSF preparation is sufficient for that case and an achievable current backup should be chosen. No extra submission is automatic. Measure actual system elapsed/active human time, known cost, corrections and evidence coverage with sample size.</a:t>
            </a:r>
          </a:p>
          <a:p xmlns:a="http://schemas.openxmlformats.org/drawingml/2006/main">
            <a:r>
              <a:t/>
            </a:r>
          </a:p>
          <a:p xmlns:a="http://schemas.openxmlformats.org/drawingml/2006/main">
            <a:r>
              <a:t>Friday event deadline is October 30, 11:00am CDT (16:00 UTC). Actual roster/talent/attendance/check-in, public tested source/video and administrator verification remain operational entry inputs. The five equal-20 judging axes are checked-in defaults, not verified live weights. No entry/account/outreach action is performed. PR53 source qualification stays default-disabled; actual source/ACL/tool/lifecycle/deployment/writer and human walkthrough gates remain explicit.</a:t>
            </a:r>
          </a:p>
          <a:p xmlns:a="http://schemas.openxmlformats.org/drawingml/2006/main">
            <a:r>
              <a:t/>
            </a:r>
          </a:p>
          <a:p xmlns:a="http://schemas.openxmlformats.org/drawingml/2006/main">
            <a:r>
              <a:t>PR62 source checks and an isolated full package check passed after earlier fixture timeout/relation collision and dependency-install failures. Those attempts remain evidence; their causes are not established. No actual browser walkthrough is claimed. PR59 is discussion-only; PR60/61 shared recovery/readiness remains subject to mutual alignment.</a:t>
            </a:r>
          </a:p>
          <a:p xmlns:a="http://schemas.openxmlformats.org/drawingml/2006/main">
            <a:r>
              <a:t/>
            </a:r>
          </a:p>
          <a:p xmlns:a="http://schemas.openxmlformats.org/drawingml/2006/main">
            <a:r>
              <a:t>Recommended Pareto ordering, not a verbatim user-authored ranking: generated funding research/draft; PostgreSQL read/admit/reuse; member review to durable outcome; autonomous meeting/bounty collaboration; meeting cleanup/publication/readback; measured rehearsal. Helix, Y2 and extra UI polish are deferred. The first two proposals are with John; hold a new external work split until his review is clear. See plan.md for the concise task list. No new requirements, contributor assignments or publication are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84940feded4cf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a449824e73a4d3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6bd56764f34ba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87674a82fc441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4d094280f7849d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29c22a9cf7e41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862c90d2abd4a2c" /><Relationship Type="http://schemas.openxmlformats.org/officeDocument/2006/relationships/slideLayout" Target="/ppt/slideLayouts/slideLayout1.xml" Id="R9632ce175b524157" /><Relationship Type="http://schemas.openxmlformats.org/officeDocument/2006/relationships/slideLayout" Target="/ppt/slideLayouts/slideLayout2.xml" Id="Rb10a8c200e6747c7" /><Relationship Type="http://schemas.openxmlformats.org/officeDocument/2006/relationships/slideLayout" Target="/ppt/slideLayouts/slideLayout3.xml" Id="Rab8c1d763c1b4686" /><Relationship Type="http://schemas.openxmlformats.org/officeDocument/2006/relationships/slideLayout" Target="/ppt/slideLayouts/slideLayout4.xml" Id="R885e70f5d1344733" /><Relationship Type="http://schemas.openxmlformats.org/officeDocument/2006/relationships/slideLayout" Target="/ppt/slideLayouts/slideLayout5.xml" Id="R976307571e144f89" /><Relationship Type="http://schemas.openxmlformats.org/officeDocument/2006/relationships/slideLayout" Target="/ppt/slideLayouts/slideLayout6.xml" Id="R7c404d410d3f41b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632ce175b524157"/>
    <p:sldLayoutId xmlns:r="http://schemas.openxmlformats.org/officeDocument/2006/relationships" id="2147483650" r:id="Rb10a8c200e6747c7"/>
    <p:sldLayoutId xmlns:r="http://schemas.openxmlformats.org/officeDocument/2006/relationships" id="2147483651" r:id="Rab8c1d763c1b4686"/>
    <p:sldLayoutId xmlns:r="http://schemas.openxmlformats.org/officeDocument/2006/relationships" id="2147483652" r:id="R885e70f5d1344733"/>
    <p:sldLayoutId xmlns:r="http://schemas.openxmlformats.org/officeDocument/2006/relationships" id="2147483653" r:id="R976307571e144f89"/>
    <p:sldLayoutId xmlns:r="http://schemas.openxmlformats.org/officeDocument/2006/relationships" id="2147483654" r:id="R7c404d410d3f41b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9190928adaa4fef" /><Relationship Type="http://schemas.openxmlformats.org/officeDocument/2006/relationships/notesSlide" Target="/ppt/notesSlides/notesSlide1.xml" Id="Rc6642277048240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db6d2ec978c4497" /><Relationship Type="http://schemas.openxmlformats.org/officeDocument/2006/relationships/notesSlide" Target="/ppt/notesSlides/notesSlide2.xml" Id="Rdefd5f06c5e54e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a1a9dc737db4896" /><Relationship Type="http://schemas.openxmlformats.org/officeDocument/2006/relationships/notesSlide" Target="/ppt/notesSlides/notesSlide3.xml" Id="Rb5d3cf429beb4cf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d057a45fb884efc" /><Relationship Type="http://schemas.openxmlformats.org/officeDocument/2006/relationships/notesSlide" Target="/ppt/notesSlides/notesSlide4.xml" Id="R08ff8114d9a3491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627bb92b568458d" /><Relationship Type="http://schemas.openxmlformats.org/officeDocument/2006/relationships/notesSlide" Target="/ppt/notesSlides/notesSlide5.xml" Id="R7a86ca03d2e34f1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ee8461adc374ce0" /><Relationship Type="http://schemas.openxmlformats.org/officeDocument/2006/relationships/notesSlide" Target="/ppt/notesSlides/notesSlide6.xml" Id="R5d8affba3b9c40b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c0f0e7d556d41c7" /><Relationship Type="http://schemas.openxmlformats.org/officeDocument/2006/relationships/notesSlide" Target="/ppt/notesSlides/notesSlide7.xml" Id="R034b70d06bc74c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640bb41e3e84daf" /><Relationship Type="http://schemas.openxmlformats.org/officeDocument/2006/relationships/notesSlide" Target="/ppt/notesSlides/notesSlide8.xml" Id="R56d00dac810948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f33c79412414ec0" /><Relationship Type="http://schemas.openxmlformats.org/officeDocument/2006/relationships/notesSlide" Target="/ppt/notesSlides/notesSlide9.xml" Id="R7ca3c56d462d4c3c"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9" name="">
            <a:extLst xmlns:a="http://schemas.openxmlformats.org/drawingml/2006/main">
              <a:ext uri="{FF2B5EF4-FFF2-40B4-BE49-F238E27FC236}">
                <a16:creationId xmlns:a16="http://schemas.microsoft.com/office/drawing/2014/main" id="{5E0386CB-2A9C-464E-91C4-0CB2F2848F58}"/>
              </a:ext>
            </a:extLst>
          </p:cNvPr>
          <p:cNvCxnSpPr>
            <a:stCxn xmlns:a="http://schemas.openxmlformats.org/drawingml/2006/main" id="23" idx="3"/>
            <a:endCxn xmlns:a="http://schemas.openxmlformats.org/drawingml/2006/main" id="26" idx="1"/>
          </p:cNvCxnSpPr>
          <p:nvPr/>
        </p:nvCxnSpPr>
        <p:spPr>
          <a:xfrm xmlns:a="http://schemas.openxmlformats.org/drawingml/2006/main">
            <a:off x="10001250" y="7215188"/>
            <a:ext cx="133350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cxnSp>
        <p:nvCxnSpPr>
          <p:cNvPr id="32" name="">
            <a:extLst xmlns:a="http://schemas.openxmlformats.org/drawingml/2006/main">
              <a:ext uri="{FF2B5EF4-FFF2-40B4-BE49-F238E27FC236}">
                <a16:creationId xmlns:a16="http://schemas.microsoft.com/office/drawing/2014/main" id="{48FF9E57-53DC-466D-B56B-838E54EFF9CD}"/>
              </a:ext>
            </a:extLst>
          </p:cNvPr>
          <p:cNvCxnSpPr>
            <a:stCxn xmlns:a="http://schemas.openxmlformats.org/drawingml/2006/main" id="14" idx="3"/>
            <a:endCxn xmlns:a="http://schemas.openxmlformats.org/drawingml/2006/main" id="17" idx="1"/>
          </p:cNvCxnSpPr>
          <p:nvPr/>
        </p:nvCxnSpPr>
        <p:spPr>
          <a:xfrm xmlns:a="http://schemas.openxmlformats.org/drawingml/2006/main">
            <a:off x="3848100" y="4752975"/>
            <a:ext cx="13906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9" name="">
            <a:extLst xmlns:a="http://schemas.openxmlformats.org/drawingml/2006/main">
              <a:ext uri="{FF2B5EF4-FFF2-40B4-BE49-F238E27FC236}">
                <a16:creationId xmlns:a16="http://schemas.microsoft.com/office/drawing/2014/main" id="{EF03239E-7EB2-484D-8876-421F252ED4CE}"/>
              </a:ext>
            </a:extLst>
          </p:cNvPr>
          <p:cNvCxnSpPr>
            <a:stCxn xmlns:a="http://schemas.openxmlformats.org/drawingml/2006/main" id="5" idx="3"/>
            <a:endCxn xmlns:a="http://schemas.openxmlformats.org/drawingml/2006/main" id="8" idx="1"/>
          </p:cNvCxnSpPr>
          <p:nvPr/>
        </p:nvCxnSpPr>
        <p:spPr>
          <a:xfrm xmlns:a="http://schemas.openxmlformats.org/drawingml/2006/main">
            <a:off x="3848100" y="2595563"/>
            <a:ext cx="1390650" cy="0"/>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41" name="text-1">
            <a:extLst xmlns:a="http://schemas.openxmlformats.org/drawingml/2006/main">
              <a:ext uri="{FF2B5EF4-FFF2-40B4-BE49-F238E27FC236}">
                <a16:creationId xmlns:a16="http://schemas.microsoft.com/office/drawing/2014/main" id="{B7CE4B36-16BE-4360-9692-71EDF529360C}"/>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Wednesday application workflow</a:t>
            </a:r>
          </a:p>
        </p:txBody>
      </p:sp>
      <p:sp>
        <p:nvSpPr>
          <p:cNvPr id="2" name="text-2">
            <a:extLst xmlns:a="http://schemas.openxmlformats.org/drawingml/2006/main">
              <a:ext uri="{FF2B5EF4-FFF2-40B4-BE49-F238E27FC236}">
                <a16:creationId xmlns:a16="http://schemas.microsoft.com/office/drawing/2014/main" id="{24236926-B127-4705-A77F-226EA896E76D}"/>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1</a:t>
            </a:r>
          </a:p>
        </p:txBody>
      </p:sp>
      <p:sp>
        <p:nvSpPr>
          <p:cNvPr id="3" name="text-3">
            <a:extLst xmlns:a="http://schemas.openxmlformats.org/drawingml/2006/main">
              <a:ext uri="{FF2B5EF4-FFF2-40B4-BE49-F238E27FC236}">
                <a16:creationId xmlns:a16="http://schemas.microsoft.com/office/drawing/2014/main" id="{F9DA98B9-F8B5-4974-B26B-D47D5A4D35C5}"/>
              </a:ext>
            </a:extLst>
          </p:cNvPr>
          <p:cNvSpPr>
            <a:spLocks xmlns:a="http://schemas.openxmlformats.org/drawingml/2006/main" noGrp="1"/>
          </p:cNvSpPr>
          <p:nvPr/>
        </p:nvSpPr>
        <p:spPr>
          <a:xfrm xmlns:a="http://schemas.openxmlformats.org/drawingml/2006/main">
            <a:off x="609600" y="1285875"/>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Buzz and the dashboard share the same Paperclip tasks and decisions</a:t>
            </a:r>
          </a:p>
        </p:txBody>
      </p:sp>
      <p:sp>
        <p:nvSpPr>
          <p:cNvPr id="4" name="text-4">
            <a:extLst xmlns:a="http://schemas.openxmlformats.org/drawingml/2006/main">
              <a:ext uri="{FF2B5EF4-FFF2-40B4-BE49-F238E27FC236}">
                <a16:creationId xmlns:a16="http://schemas.microsoft.com/office/drawing/2014/main" id="{69DDC3A6-1E54-4A1E-83C4-3F0EC1DC3F63}"/>
              </a:ext>
            </a:extLst>
          </p:cNvPr>
          <p:cNvSpPr>
            <a:spLocks xmlns:a="http://schemas.openxmlformats.org/drawingml/2006/main" noGrp="1"/>
          </p:cNvSpPr>
          <p:nvPr/>
        </p:nvSpPr>
        <p:spPr>
          <a:xfrm xmlns:a="http://schemas.openxmlformats.org/drawingml/2006/main">
            <a:off x="11144250" y="1381125"/>
            <a:ext cx="3486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75" b="0">
                <a:solidFill>
                  <a:srgbClr val="4A6572"/>
                </a:solidFill>
                <a:latin typeface="Aptos"/>
                <a:ea typeface="Aptos"/>
                <a:cs typeface="Aptos"/>
              </a:defRPr>
            </a:defPPr>
            <a:lvl1pPr algn="r">
              <a:buNone/>
              <a:defRPr sz="1575" b="0">
                <a:solidFill>
                  <a:srgbClr val="4A6572"/>
                </a:solidFill>
                <a:latin typeface="Aptos"/>
                <a:ea typeface="Aptos"/>
                <a:cs typeface="Aptos"/>
              </a:defRPr>
            </a:lvl1pPr>
            <a:lvl2pPr algn="r">
              <a:buNone/>
              <a:defRPr sz="1575" b="0">
                <a:solidFill>
                  <a:srgbClr val="4A6572"/>
                </a:solidFill>
                <a:latin typeface="Aptos"/>
                <a:ea typeface="Aptos"/>
                <a:cs typeface="Aptos"/>
              </a:defRPr>
            </a:lvl2pPr>
            <a:lvl3pPr algn="r">
              <a:buNone/>
              <a:defRPr sz="1575" b="0">
                <a:solidFill>
                  <a:srgbClr val="4A6572"/>
                </a:solidFill>
                <a:latin typeface="Aptos"/>
                <a:ea typeface="Aptos"/>
                <a:cs typeface="Aptos"/>
              </a:defRPr>
            </a:lvl3pPr>
            <a:lvl4pPr algn="r">
              <a:buNone/>
              <a:defRPr sz="1575" b="0">
                <a:solidFill>
                  <a:srgbClr val="4A6572"/>
                </a:solidFill>
                <a:latin typeface="Aptos"/>
                <a:ea typeface="Aptos"/>
                <a:cs typeface="Aptos"/>
              </a:defRPr>
            </a:lvl4pPr>
            <a:lvl5pPr algn="r">
              <a:buNone/>
              <a:defRPr sz="1575" b="0">
                <a:solidFill>
                  <a:srgbClr val="4A6572"/>
                </a:solidFill>
                <a:latin typeface="Aptos"/>
                <a:ea typeface="Aptos"/>
                <a:cs typeface="Aptos"/>
              </a:defRPr>
            </a:lvl5pPr>
            <a:lvl6pPr algn="r">
              <a:buNone/>
              <a:defRPr sz="1575" b="0">
                <a:solidFill>
                  <a:srgbClr val="4A6572"/>
                </a:solidFill>
                <a:latin typeface="Aptos"/>
                <a:ea typeface="Aptos"/>
                <a:cs typeface="Aptos"/>
              </a:defRPr>
            </a:lvl6pPr>
            <a:lvl7pPr algn="r">
              <a:buNone/>
              <a:defRPr sz="1575" b="0">
                <a:solidFill>
                  <a:srgbClr val="4A6572"/>
                </a:solidFill>
                <a:latin typeface="Aptos"/>
                <a:ea typeface="Aptos"/>
                <a:cs typeface="Aptos"/>
              </a:defRPr>
            </a:lvl7pPr>
            <a:lvl8pPr algn="r">
              <a:buNone/>
              <a:defRPr sz="1575" b="0">
                <a:solidFill>
                  <a:srgbClr val="4A6572"/>
                </a:solidFill>
                <a:latin typeface="Aptos"/>
                <a:ea typeface="Aptos"/>
                <a:cs typeface="Aptos"/>
              </a:defRPr>
            </a:lvl8pPr>
            <a:lvl9pPr algn="r">
              <a:buNone/>
              <a:defRPr sz="1575" b="0">
                <a:solidFill>
                  <a:srgbClr val="4A6572"/>
                </a:solidFill>
                <a:latin typeface="Aptos"/>
                <a:ea typeface="Aptos"/>
                <a:cs typeface="Aptos"/>
              </a:defRPr>
            </a:lvl9pPr>
          </a:lstStyle>
          <a:p xmlns:a="http://schemas.openxmlformats.org/drawingml/2006/main">
            <a:pPr algn="r">
              <a:buNone/>
              <a:defRPr sz="1575" b="0">
                <a:solidFill>
                  <a:srgbClr val="4A6572"/>
                </a:solidFill>
                <a:latin typeface="Aptos"/>
                <a:ea typeface="Aptos"/>
                <a:cs typeface="Aptos"/>
              </a:defRPr>
            </a:pPr>
            <a:r>
              <a:rPr sz="1575" b="0">
                <a:solidFill>
                  <a:srgbClr val="4A6572"/>
                </a:solidFill>
                <a:latin typeface="Aptos"/>
                <a:ea typeface="Aptos"/>
                <a:cs typeface="Aptos"/>
              </a:rPr>
              <a:t>Dashed: planned connection</a:t>
            </a:r>
          </a:p>
        </p:txBody>
      </p:sp>
      <p:sp>
        <p:nvSpPr>
          <p:cNvPr id="5" name="node-5">
            <a:extLst xmlns:a="http://schemas.openxmlformats.org/drawingml/2006/main">
              <a:ext uri="{FF2B5EF4-FFF2-40B4-BE49-F238E27FC236}">
                <a16:creationId xmlns:a16="http://schemas.microsoft.com/office/drawing/2014/main" id="{69CCB21F-23CF-4191-8D09-1DB8A0DD5563}"/>
              </a:ext>
            </a:extLst>
          </p:cNvPr>
          <p:cNvSpPr>
            <a:spLocks xmlns:a="http://schemas.openxmlformats.org/drawingml/2006/main" noGrp="1"/>
          </p:cNvSpPr>
          <p:nvPr/>
        </p:nvSpPr>
        <p:spPr>
          <a:xfrm xmlns:a="http://schemas.openxmlformats.org/drawingml/2006/main">
            <a:off x="609600" y="2095500"/>
            <a:ext cx="3238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6" name="text-6">
            <a:extLst xmlns:a="http://schemas.openxmlformats.org/drawingml/2006/main">
              <a:ext uri="{FF2B5EF4-FFF2-40B4-BE49-F238E27FC236}">
                <a16:creationId xmlns:a16="http://schemas.microsoft.com/office/drawing/2014/main" id="{A7B92B7D-E123-48A9-8EFB-23C469F6CBCE}"/>
              </a:ext>
            </a:extLst>
          </p:cNvPr>
          <p:cNvSpPr>
            <a:spLocks xmlns:a="http://schemas.openxmlformats.org/drawingml/2006/main" noGrp="1"/>
          </p:cNvSpPr>
          <p:nvPr/>
        </p:nvSpPr>
        <p:spPr>
          <a:xfrm xmlns:a="http://schemas.openxmlformats.org/drawingml/2006/main">
            <a:off x="800100" y="225742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7" name="text-7">
            <a:extLst xmlns:a="http://schemas.openxmlformats.org/drawingml/2006/main">
              <a:ext uri="{FF2B5EF4-FFF2-40B4-BE49-F238E27FC236}">
                <a16:creationId xmlns:a16="http://schemas.microsoft.com/office/drawing/2014/main" id="{0D2C7938-825D-495A-89F0-5854D0406273}"/>
              </a:ext>
            </a:extLst>
          </p:cNvPr>
          <p:cNvSpPr>
            <a:spLocks xmlns:a="http://schemas.openxmlformats.org/drawingml/2006/main" noGrp="1"/>
          </p:cNvSpPr>
          <p:nvPr/>
        </p:nvSpPr>
        <p:spPr>
          <a:xfrm xmlns:a="http://schemas.openxmlformats.org/drawingml/2006/main">
            <a:off x="800100" y="2653665"/>
            <a:ext cx="2857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conversation</a:t>
            </a:r>
          </a:p>
        </p:txBody>
      </p:sp>
      <p:sp>
        <p:nvSpPr>
          <p:cNvPr id="8" name="node-8">
            <a:extLst xmlns:a="http://schemas.openxmlformats.org/drawingml/2006/main">
              <a:ext uri="{FF2B5EF4-FFF2-40B4-BE49-F238E27FC236}">
                <a16:creationId xmlns:a16="http://schemas.microsoft.com/office/drawing/2014/main" id="{6B20E0A3-89C9-4055-AE19-DC9445A12328}"/>
              </a:ext>
            </a:extLst>
          </p:cNvPr>
          <p:cNvSpPr>
            <a:spLocks xmlns:a="http://schemas.openxmlformats.org/drawingml/2006/main" noGrp="1"/>
          </p:cNvSpPr>
          <p:nvPr/>
        </p:nvSpPr>
        <p:spPr>
          <a:xfrm xmlns:a="http://schemas.openxmlformats.org/drawingml/2006/main">
            <a:off x="5238750" y="2095500"/>
            <a:ext cx="3619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9" name="text-9">
            <a:extLst xmlns:a="http://schemas.openxmlformats.org/drawingml/2006/main">
              <a:ext uri="{FF2B5EF4-FFF2-40B4-BE49-F238E27FC236}">
                <a16:creationId xmlns:a16="http://schemas.microsoft.com/office/drawing/2014/main" id="{A021D6EF-569E-496F-81F5-D0DB49EA78EB}"/>
              </a:ext>
            </a:extLst>
          </p:cNvPr>
          <p:cNvSpPr>
            <a:spLocks xmlns:a="http://schemas.openxmlformats.org/drawingml/2006/main" noGrp="1"/>
          </p:cNvSpPr>
          <p:nvPr/>
        </p:nvSpPr>
        <p:spPr>
          <a:xfrm xmlns:a="http://schemas.openxmlformats.org/drawingml/2006/main">
            <a:off x="5429250" y="2257425"/>
            <a:ext cx="3238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0" name="text-10">
            <a:extLst xmlns:a="http://schemas.openxmlformats.org/drawingml/2006/main">
              <a:ext uri="{FF2B5EF4-FFF2-40B4-BE49-F238E27FC236}">
                <a16:creationId xmlns:a16="http://schemas.microsoft.com/office/drawing/2014/main" id="{EE656676-69CD-4623-AEF1-B20847F0793E}"/>
              </a:ext>
            </a:extLst>
          </p:cNvPr>
          <p:cNvSpPr>
            <a:spLocks xmlns:a="http://schemas.openxmlformats.org/drawingml/2006/main" noGrp="1"/>
          </p:cNvSpPr>
          <p:nvPr/>
        </p:nvSpPr>
        <p:spPr>
          <a:xfrm xmlns:a="http://schemas.openxmlformats.org/drawingml/2006/main">
            <a:off x="5429250" y="2653665"/>
            <a:ext cx="3238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Paired signed messages</a:t>
            </a:r>
          </a:p>
        </p:txBody>
      </p:sp>
      <p:sp>
        <p:nvSpPr>
          <p:cNvPr id="11" name="node-11">
            <a:extLst xmlns:a="http://schemas.openxmlformats.org/drawingml/2006/main">
              <a:ext uri="{FF2B5EF4-FFF2-40B4-BE49-F238E27FC236}">
                <a16:creationId xmlns:a16="http://schemas.microsoft.com/office/drawing/2014/main" id="{250E6303-DBCA-42A9-9B5D-F09DC818F9B7}"/>
              </a:ext>
            </a:extLst>
          </p:cNvPr>
          <p:cNvSpPr>
            <a:spLocks xmlns:a="http://schemas.openxmlformats.org/drawingml/2006/main" noGrp="1"/>
          </p:cNvSpPr>
          <p:nvPr/>
        </p:nvSpPr>
        <p:spPr>
          <a:xfrm xmlns:a="http://schemas.openxmlformats.org/drawingml/2006/main">
            <a:off x="10572750" y="2095500"/>
            <a:ext cx="40576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2" name="text-12">
            <a:extLst xmlns:a="http://schemas.openxmlformats.org/drawingml/2006/main">
              <a:ext uri="{FF2B5EF4-FFF2-40B4-BE49-F238E27FC236}">
                <a16:creationId xmlns:a16="http://schemas.microsoft.com/office/drawing/2014/main" id="{F2D38B1D-791B-450A-B191-A7B914555C22}"/>
              </a:ext>
            </a:extLst>
          </p:cNvPr>
          <p:cNvSpPr>
            <a:spLocks xmlns:a="http://schemas.openxmlformats.org/drawingml/2006/main" noGrp="1"/>
          </p:cNvSpPr>
          <p:nvPr/>
        </p:nvSpPr>
        <p:spPr>
          <a:xfrm xmlns:a="http://schemas.openxmlformats.org/drawingml/2006/main">
            <a:off x="10763250" y="2257425"/>
            <a:ext cx="3676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3" name="text-13">
            <a:extLst xmlns:a="http://schemas.openxmlformats.org/drawingml/2006/main">
              <a:ext uri="{FF2B5EF4-FFF2-40B4-BE49-F238E27FC236}">
                <a16:creationId xmlns:a16="http://schemas.microsoft.com/office/drawing/2014/main" id="{D333D555-A752-425F-A409-E66C9FBC4D50}"/>
              </a:ext>
            </a:extLst>
          </p:cNvPr>
          <p:cNvSpPr>
            <a:spLocks xmlns:a="http://schemas.openxmlformats.org/drawingml/2006/main" noGrp="1"/>
          </p:cNvSpPr>
          <p:nvPr/>
        </p:nvSpPr>
        <p:spPr>
          <a:xfrm xmlns:a="http://schemas.openxmlformats.org/drawingml/2006/main">
            <a:off x="10763250" y="2653665"/>
            <a:ext cx="3676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work and review</a:t>
            </a:r>
          </a:p>
        </p:txBody>
      </p:sp>
      <p:sp>
        <p:nvSpPr>
          <p:cNvPr id="14" name="node-14">
            <a:extLst xmlns:a="http://schemas.openxmlformats.org/drawingml/2006/main">
              <a:ext uri="{FF2B5EF4-FFF2-40B4-BE49-F238E27FC236}">
                <a16:creationId xmlns:a16="http://schemas.microsoft.com/office/drawing/2014/main" id="{C3A62294-0231-41DE-93F9-22A05292C251}"/>
              </a:ext>
            </a:extLst>
          </p:cNvPr>
          <p:cNvSpPr>
            <a:spLocks xmlns:a="http://schemas.openxmlformats.org/drawingml/2006/main" noGrp="1"/>
          </p:cNvSpPr>
          <p:nvPr/>
        </p:nvSpPr>
        <p:spPr>
          <a:xfrm xmlns:a="http://schemas.openxmlformats.org/drawingml/2006/main">
            <a:off x="609600" y="3905250"/>
            <a:ext cx="3238500" cy="16954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5" name="text-15">
            <a:extLst xmlns:a="http://schemas.openxmlformats.org/drawingml/2006/main">
              <a:ext uri="{FF2B5EF4-FFF2-40B4-BE49-F238E27FC236}">
                <a16:creationId xmlns:a16="http://schemas.microsoft.com/office/drawing/2014/main" id="{64E5FC67-B32F-4F3E-8DD1-A0F8E0133F96}"/>
              </a:ext>
            </a:extLst>
          </p:cNvPr>
          <p:cNvSpPr>
            <a:spLocks xmlns:a="http://schemas.openxmlformats.org/drawingml/2006/main" noGrp="1"/>
          </p:cNvSpPr>
          <p:nvPr/>
        </p:nvSpPr>
        <p:spPr>
          <a:xfrm xmlns:a="http://schemas.openxmlformats.org/drawingml/2006/main">
            <a:off x="800100" y="406717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Work intake</a:t>
            </a:r>
          </a:p>
        </p:txBody>
      </p:sp>
      <p:sp>
        <p:nvSpPr>
          <p:cNvPr id="16" name="text-16">
            <a:extLst xmlns:a="http://schemas.openxmlformats.org/drawingml/2006/main">
              <a:ext uri="{FF2B5EF4-FFF2-40B4-BE49-F238E27FC236}">
                <a16:creationId xmlns:a16="http://schemas.microsoft.com/office/drawing/2014/main" id="{74F3930C-FA5F-46DE-85BA-9EB376C5BA24}"/>
              </a:ext>
            </a:extLst>
          </p:cNvPr>
          <p:cNvSpPr>
            <a:spLocks xmlns:a="http://schemas.openxmlformats.org/drawingml/2006/main" noGrp="1"/>
          </p:cNvSpPr>
          <p:nvPr/>
        </p:nvSpPr>
        <p:spPr>
          <a:xfrm xmlns:a="http://schemas.openxmlformats.org/drawingml/2006/main">
            <a:off x="800100" y="4463415"/>
            <a:ext cx="2857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Meeting actions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Innovation bounties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Funding opportunities</a:t>
            </a:r>
          </a:p>
        </p:txBody>
      </p:sp>
      <p:sp>
        <p:nvSpPr>
          <p:cNvPr id="17" name="node-17">
            <a:extLst xmlns:a="http://schemas.openxmlformats.org/drawingml/2006/main">
              <a:ext uri="{FF2B5EF4-FFF2-40B4-BE49-F238E27FC236}">
                <a16:creationId xmlns:a16="http://schemas.microsoft.com/office/drawing/2014/main" id="{BB251451-BA4A-4657-B58A-009B6EFC7529}"/>
              </a:ext>
            </a:extLst>
          </p:cNvPr>
          <p:cNvSpPr>
            <a:spLocks xmlns:a="http://schemas.openxmlformats.org/drawingml/2006/main" noGrp="1"/>
          </p:cNvSpPr>
          <p:nvPr/>
        </p:nvSpPr>
        <p:spPr>
          <a:xfrm xmlns:a="http://schemas.openxmlformats.org/drawingml/2006/main">
            <a:off x="5238750" y="3905250"/>
            <a:ext cx="9391650" cy="16954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8" name="text-18">
            <a:extLst xmlns:a="http://schemas.openxmlformats.org/drawingml/2006/main">
              <a:ext uri="{FF2B5EF4-FFF2-40B4-BE49-F238E27FC236}">
                <a16:creationId xmlns:a16="http://schemas.microsoft.com/office/drawing/2014/main" id="{1337BF75-D48D-4FE9-9D9A-183EF3545EE5}"/>
              </a:ext>
            </a:extLst>
          </p:cNvPr>
          <p:cNvSpPr>
            <a:spLocks xmlns:a="http://schemas.openxmlformats.org/drawingml/2006/main" noGrp="1"/>
          </p:cNvSpPr>
          <p:nvPr/>
        </p:nvSpPr>
        <p:spPr>
          <a:xfrm xmlns:a="http://schemas.openxmlformats.org/drawingml/2006/main">
            <a:off x="5429250" y="4067175"/>
            <a:ext cx="9010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vl1pPr algn="l">
              <a:buNone/>
              <a:defRPr sz="2550" b="1">
                <a:solidFill>
                  <a:srgbClr val="157D80"/>
                </a:solidFill>
                <a:latin typeface="Aptos"/>
                <a:ea typeface="Aptos"/>
                <a:cs typeface="Aptos"/>
              </a:defRPr>
            </a:lvl1pPr>
            <a:lvl2pPr algn="l">
              <a:buNone/>
              <a:defRPr sz="2550" b="1">
                <a:solidFill>
                  <a:srgbClr val="157D80"/>
                </a:solidFill>
                <a:latin typeface="Aptos"/>
                <a:ea typeface="Aptos"/>
                <a:cs typeface="Aptos"/>
              </a:defRPr>
            </a:lvl2pPr>
            <a:lvl3pPr algn="l">
              <a:buNone/>
              <a:defRPr sz="2550" b="1">
                <a:solidFill>
                  <a:srgbClr val="157D80"/>
                </a:solidFill>
                <a:latin typeface="Aptos"/>
                <a:ea typeface="Aptos"/>
                <a:cs typeface="Aptos"/>
              </a:defRPr>
            </a:lvl3pPr>
            <a:lvl4pPr algn="l">
              <a:buNone/>
              <a:defRPr sz="2550" b="1">
                <a:solidFill>
                  <a:srgbClr val="157D80"/>
                </a:solidFill>
                <a:latin typeface="Aptos"/>
                <a:ea typeface="Aptos"/>
                <a:cs typeface="Aptos"/>
              </a:defRPr>
            </a:lvl4pPr>
            <a:lvl5pPr algn="l">
              <a:buNone/>
              <a:defRPr sz="2550" b="1">
                <a:solidFill>
                  <a:srgbClr val="157D80"/>
                </a:solidFill>
                <a:latin typeface="Aptos"/>
                <a:ea typeface="Aptos"/>
                <a:cs typeface="Aptos"/>
              </a:defRPr>
            </a:lvl5pPr>
            <a:lvl6pPr algn="l">
              <a:buNone/>
              <a:defRPr sz="2550" b="1">
                <a:solidFill>
                  <a:srgbClr val="157D80"/>
                </a:solidFill>
                <a:latin typeface="Aptos"/>
                <a:ea typeface="Aptos"/>
                <a:cs typeface="Aptos"/>
              </a:defRPr>
            </a:lvl6pPr>
            <a:lvl7pPr algn="l">
              <a:buNone/>
              <a:defRPr sz="2550" b="1">
                <a:solidFill>
                  <a:srgbClr val="157D80"/>
                </a:solidFill>
                <a:latin typeface="Aptos"/>
                <a:ea typeface="Aptos"/>
                <a:cs typeface="Aptos"/>
              </a:defRPr>
            </a:lvl7pPr>
            <a:lvl8pPr algn="l">
              <a:buNone/>
              <a:defRPr sz="2550" b="1">
                <a:solidFill>
                  <a:srgbClr val="157D80"/>
                </a:solidFill>
                <a:latin typeface="Aptos"/>
                <a:ea typeface="Aptos"/>
                <a:cs typeface="Aptos"/>
              </a:defRPr>
            </a:lvl8pPr>
            <a:lvl9pPr algn="l">
              <a:buNone/>
              <a:defRPr sz="2550" b="1">
                <a:solidFill>
                  <a:srgbClr val="157D80"/>
                </a:solidFill>
                <a:latin typeface="Aptos"/>
                <a:ea typeface="Aptos"/>
                <a:cs typeface="Aptos"/>
              </a:defRPr>
            </a:lvl9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Paperclip</a:t>
            </a:r>
          </a:p>
        </p:txBody>
      </p:sp>
      <p:sp>
        <p:nvSpPr>
          <p:cNvPr id="19" name="text-19">
            <a:extLst xmlns:a="http://schemas.openxmlformats.org/drawingml/2006/main">
              <a:ext uri="{FF2B5EF4-FFF2-40B4-BE49-F238E27FC236}">
                <a16:creationId xmlns:a16="http://schemas.microsoft.com/office/drawing/2014/main" id="{619CB2F8-B380-4583-AA37-924F9EA26148}"/>
              </a:ext>
            </a:extLst>
          </p:cNvPr>
          <p:cNvSpPr>
            <a:spLocks xmlns:a="http://schemas.openxmlformats.org/drawingml/2006/main" noGrp="1"/>
          </p:cNvSpPr>
          <p:nvPr/>
        </p:nvSpPr>
        <p:spPr>
          <a:xfrm xmlns:a="http://schemas.openxmlformats.org/drawingml/2006/main">
            <a:off x="5429250" y="4509897"/>
            <a:ext cx="9010650" cy="688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vl1pPr algn="l">
              <a:buNone/>
              <a:defRPr sz="2100" b="0">
                <a:solidFill>
                  <a:srgbClr val="4A6572"/>
                </a:solidFill>
                <a:latin typeface="Aptos"/>
                <a:ea typeface="Aptos"/>
                <a:cs typeface="Aptos"/>
              </a:defRPr>
            </a:lvl1pPr>
            <a:lvl2pPr algn="l">
              <a:buNone/>
              <a:defRPr sz="2100" b="0">
                <a:solidFill>
                  <a:srgbClr val="4A6572"/>
                </a:solidFill>
                <a:latin typeface="Aptos"/>
                <a:ea typeface="Aptos"/>
                <a:cs typeface="Aptos"/>
              </a:defRPr>
            </a:lvl2pPr>
            <a:lvl3pPr algn="l">
              <a:buNone/>
              <a:defRPr sz="2100" b="0">
                <a:solidFill>
                  <a:srgbClr val="4A6572"/>
                </a:solidFill>
                <a:latin typeface="Aptos"/>
                <a:ea typeface="Aptos"/>
                <a:cs typeface="Aptos"/>
              </a:defRPr>
            </a:lvl3pPr>
            <a:lvl4pPr algn="l">
              <a:buNone/>
              <a:defRPr sz="2100" b="0">
                <a:solidFill>
                  <a:srgbClr val="4A6572"/>
                </a:solidFill>
                <a:latin typeface="Aptos"/>
                <a:ea typeface="Aptos"/>
                <a:cs typeface="Aptos"/>
              </a:defRPr>
            </a:lvl4pPr>
            <a:lvl5pPr algn="l">
              <a:buNone/>
              <a:defRPr sz="2100" b="0">
                <a:solidFill>
                  <a:srgbClr val="4A6572"/>
                </a:solidFill>
                <a:latin typeface="Aptos"/>
                <a:ea typeface="Aptos"/>
                <a:cs typeface="Aptos"/>
              </a:defRPr>
            </a:lvl5pPr>
            <a:lvl6pPr algn="l">
              <a:buNone/>
              <a:defRPr sz="2100" b="0">
                <a:solidFill>
                  <a:srgbClr val="4A6572"/>
                </a:solidFill>
                <a:latin typeface="Aptos"/>
                <a:ea typeface="Aptos"/>
                <a:cs typeface="Aptos"/>
              </a:defRPr>
            </a:lvl6pPr>
            <a:lvl7pPr algn="l">
              <a:buNone/>
              <a:defRPr sz="2100" b="0">
                <a:solidFill>
                  <a:srgbClr val="4A6572"/>
                </a:solidFill>
                <a:latin typeface="Aptos"/>
                <a:ea typeface="Aptos"/>
                <a:cs typeface="Aptos"/>
              </a:defRPr>
            </a:lvl7pPr>
            <a:lvl8pPr algn="l">
              <a:buNone/>
              <a:defRPr sz="2100" b="0">
                <a:solidFill>
                  <a:srgbClr val="4A6572"/>
                </a:solidFill>
                <a:latin typeface="Aptos"/>
                <a:ea typeface="Aptos"/>
                <a:cs typeface="Aptos"/>
              </a:defRPr>
            </a:lvl8pPr>
            <a:lvl9pPr algn="l">
              <a:buNone/>
              <a:defRPr sz="2100" b="0">
                <a:solidFill>
                  <a:srgbClr val="4A6572"/>
                </a:solidFill>
                <a:latin typeface="Aptos"/>
                <a:ea typeface="Aptos"/>
                <a:cs typeface="Aptos"/>
              </a:defRPr>
            </a:lvl9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 hierarchy</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Delegation, reviews, hiring and budgets</a:t>
            </a:r>
          </a:p>
        </p:txBody>
      </p:sp>
      <p:sp>
        <p:nvSpPr>
          <p:cNvPr id="20" name="node-20">
            <a:extLst xmlns:a="http://schemas.openxmlformats.org/drawingml/2006/main">
              <a:ext uri="{FF2B5EF4-FFF2-40B4-BE49-F238E27FC236}">
                <a16:creationId xmlns:a16="http://schemas.microsoft.com/office/drawing/2014/main" id="{BF4E97B9-F442-4238-8217-E764BF994DEC}"/>
              </a:ext>
            </a:extLst>
          </p:cNvPr>
          <p:cNvSpPr>
            <a:spLocks xmlns:a="http://schemas.openxmlformats.org/drawingml/2006/main" noGrp="1"/>
          </p:cNvSpPr>
          <p:nvPr/>
        </p:nvSpPr>
        <p:spPr>
          <a:xfrm xmlns:a="http://schemas.openxmlformats.org/drawingml/2006/main">
            <a:off x="609600" y="6715125"/>
            <a:ext cx="4000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1" name="text-21">
            <a:extLst xmlns:a="http://schemas.openxmlformats.org/drawingml/2006/main">
              <a:ext uri="{FF2B5EF4-FFF2-40B4-BE49-F238E27FC236}">
                <a16:creationId xmlns:a16="http://schemas.microsoft.com/office/drawing/2014/main" id="{8078C0DE-5775-4C9C-A245-EFAEB50BA0B7}"/>
              </a:ext>
            </a:extLst>
          </p:cNvPr>
          <p:cNvSpPr>
            <a:spLocks xmlns:a="http://schemas.openxmlformats.org/drawingml/2006/main" noGrp="1"/>
          </p:cNvSpPr>
          <p:nvPr/>
        </p:nvSpPr>
        <p:spPr>
          <a:xfrm xmlns:a="http://schemas.openxmlformats.org/drawingml/2006/main">
            <a:off x="800100" y="6877050"/>
            <a:ext cx="3619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Authorized agents</a:t>
            </a:r>
          </a:p>
        </p:txBody>
      </p:sp>
      <p:sp>
        <p:nvSpPr>
          <p:cNvPr id="22" name="text-22">
            <a:extLst xmlns:a="http://schemas.openxmlformats.org/drawingml/2006/main">
              <a:ext uri="{FF2B5EF4-FFF2-40B4-BE49-F238E27FC236}">
                <a16:creationId xmlns:a16="http://schemas.microsoft.com/office/drawing/2014/main" id="{05E3610C-1CD5-4363-9CD9-5257C21E5BDB}"/>
              </a:ext>
            </a:extLst>
          </p:cNvPr>
          <p:cNvSpPr>
            <a:spLocks xmlns:a="http://schemas.openxmlformats.org/drawingml/2006/main" noGrp="1"/>
          </p:cNvSpPr>
          <p:nvPr/>
        </p:nvSpPr>
        <p:spPr>
          <a:xfrm xmlns:a="http://schemas.openxmlformats.org/drawingml/2006/main">
            <a:off x="800100" y="7273290"/>
            <a:ext cx="3619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Providers and scoped roles</a:t>
            </a:r>
          </a:p>
        </p:txBody>
      </p:sp>
      <p:sp>
        <p:nvSpPr>
          <p:cNvPr id="23" name="node-23">
            <a:extLst xmlns:a="http://schemas.openxmlformats.org/drawingml/2006/main">
              <a:ext uri="{FF2B5EF4-FFF2-40B4-BE49-F238E27FC236}">
                <a16:creationId xmlns:a16="http://schemas.microsoft.com/office/drawing/2014/main" id="{A6F0AA33-B7EB-4E10-A07A-24C84ADA2032}"/>
              </a:ext>
            </a:extLst>
          </p:cNvPr>
          <p:cNvSpPr>
            <a:spLocks xmlns:a="http://schemas.openxmlformats.org/drawingml/2006/main" noGrp="1"/>
          </p:cNvSpPr>
          <p:nvPr/>
        </p:nvSpPr>
        <p:spPr>
          <a:xfrm xmlns:a="http://schemas.openxmlformats.org/drawingml/2006/main">
            <a:off x="6477000" y="6715125"/>
            <a:ext cx="35242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4" name="text-24">
            <a:extLst xmlns:a="http://schemas.openxmlformats.org/drawingml/2006/main">
              <a:ext uri="{FF2B5EF4-FFF2-40B4-BE49-F238E27FC236}">
                <a16:creationId xmlns:a16="http://schemas.microsoft.com/office/drawing/2014/main" id="{27658274-C5C2-4410-A8EB-6C16CC265416}"/>
              </a:ext>
            </a:extLst>
          </p:cNvPr>
          <p:cNvSpPr>
            <a:spLocks xmlns:a="http://schemas.openxmlformats.org/drawingml/2006/main" noGrp="1"/>
          </p:cNvSpPr>
          <p:nvPr/>
        </p:nvSpPr>
        <p:spPr>
          <a:xfrm xmlns:a="http://schemas.openxmlformats.org/drawingml/2006/main">
            <a:off x="6667500" y="6877050"/>
            <a:ext cx="31432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adapters</a:t>
            </a:r>
          </a:p>
        </p:txBody>
      </p:sp>
      <p:sp>
        <p:nvSpPr>
          <p:cNvPr id="25" name="text-25">
            <a:extLst xmlns:a="http://schemas.openxmlformats.org/drawingml/2006/main">
              <a:ext uri="{FF2B5EF4-FFF2-40B4-BE49-F238E27FC236}">
                <a16:creationId xmlns:a16="http://schemas.microsoft.com/office/drawing/2014/main" id="{262CCD23-6037-45FE-83A7-0087132737D1}"/>
              </a:ext>
            </a:extLst>
          </p:cNvPr>
          <p:cNvSpPr>
            <a:spLocks xmlns:a="http://schemas.openxmlformats.org/drawingml/2006/main" noGrp="1"/>
          </p:cNvSpPr>
          <p:nvPr/>
        </p:nvSpPr>
        <p:spPr>
          <a:xfrm xmlns:a="http://schemas.openxmlformats.org/drawingml/2006/main">
            <a:off x="6667500" y="7273290"/>
            <a:ext cx="31432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Scoped SQL tools</a:t>
            </a:r>
          </a:p>
        </p:txBody>
      </p:sp>
      <p:sp>
        <p:nvSpPr>
          <p:cNvPr id="26" name="node-26">
            <a:extLst xmlns:a="http://schemas.openxmlformats.org/drawingml/2006/main">
              <a:ext uri="{FF2B5EF4-FFF2-40B4-BE49-F238E27FC236}">
                <a16:creationId xmlns:a16="http://schemas.microsoft.com/office/drawing/2014/main" id="{1C23E5E4-3A87-4441-8E93-3EA5234F59E5}"/>
              </a:ext>
            </a:extLst>
          </p:cNvPr>
          <p:cNvSpPr>
            <a:spLocks xmlns:a="http://schemas.openxmlformats.org/drawingml/2006/main" noGrp="1"/>
          </p:cNvSpPr>
          <p:nvPr/>
        </p:nvSpPr>
        <p:spPr>
          <a:xfrm xmlns:a="http://schemas.openxmlformats.org/drawingml/2006/main">
            <a:off x="11334750" y="6524625"/>
            <a:ext cx="3295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7" name="text-27">
            <a:extLst xmlns:a="http://schemas.openxmlformats.org/drawingml/2006/main">
              <a:ext uri="{FF2B5EF4-FFF2-40B4-BE49-F238E27FC236}">
                <a16:creationId xmlns:a16="http://schemas.microsoft.com/office/drawing/2014/main" id="{21BAD4B0-7A98-47D5-9740-717FC4380448}"/>
              </a:ext>
            </a:extLst>
          </p:cNvPr>
          <p:cNvSpPr>
            <a:spLocks xmlns:a="http://schemas.openxmlformats.org/drawingml/2006/main" noGrp="1"/>
          </p:cNvSpPr>
          <p:nvPr/>
        </p:nvSpPr>
        <p:spPr>
          <a:xfrm xmlns:a="http://schemas.openxmlformats.org/drawingml/2006/main">
            <a:off x="11525250" y="6686550"/>
            <a:ext cx="2914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services</a:t>
            </a:r>
          </a:p>
        </p:txBody>
      </p:sp>
      <p:sp>
        <p:nvSpPr>
          <p:cNvPr id="28" name="text-28">
            <a:extLst xmlns:a="http://schemas.openxmlformats.org/drawingml/2006/main">
              <a:ext uri="{FF2B5EF4-FFF2-40B4-BE49-F238E27FC236}">
                <a16:creationId xmlns:a16="http://schemas.microsoft.com/office/drawing/2014/main" id="{ED6A295F-7F8D-4F0F-B1F4-4EAECCFA9D3A}"/>
              </a:ext>
            </a:extLst>
          </p:cNvPr>
          <p:cNvSpPr>
            <a:spLocks xmlns:a="http://schemas.openxmlformats.org/drawingml/2006/main" noGrp="1"/>
          </p:cNvSpPr>
          <p:nvPr/>
        </p:nvSpPr>
        <p:spPr>
          <a:xfrm xmlns:a="http://schemas.openxmlformats.org/drawingml/2006/main">
            <a:off x="11525250" y="7082790"/>
            <a:ext cx="2914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and funding</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PostgreSQL knowledge</a:t>
            </a:r>
          </a:p>
        </p:txBody>
      </p:sp>
      <p:cxnSp>
        <p:nvCxnSpPr>
          <p:cNvPr id="30" name="flow-29">
            <a:extLst xmlns:a="http://schemas.openxmlformats.org/drawingml/2006/main">
              <a:ext uri="{FF2B5EF4-FFF2-40B4-BE49-F238E27FC236}">
                <a16:creationId xmlns:a16="http://schemas.microsoft.com/office/drawing/2014/main" id="{6DA7E072-756B-423A-9624-B0213C3D9BC2}"/>
              </a:ext>
            </a:extLst>
          </p:cNvPr>
          <p:cNvCxnSpPr/>
          <p:nvPr/>
        </p:nvCxnSpPr>
        <p:spPr>
          <a:xfrm xmlns:a="http://schemas.openxmlformats.org/drawingml/2006/main" flipH="0" flipV="0">
            <a:off x="7048500"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cxnSp>
        <p:nvCxnSpPr>
          <p:cNvPr id="31" name="flow-30">
            <a:extLst xmlns:a="http://schemas.openxmlformats.org/drawingml/2006/main">
              <a:ext uri="{FF2B5EF4-FFF2-40B4-BE49-F238E27FC236}">
                <a16:creationId xmlns:a16="http://schemas.microsoft.com/office/drawing/2014/main" id="{87D75D4A-3345-4E3E-8231-EEE4662B3587}"/>
              </a:ext>
            </a:extLst>
          </p:cNvPr>
          <p:cNvCxnSpPr/>
          <p:nvPr/>
        </p:nvCxnSpPr>
        <p:spPr>
          <a:xfrm xmlns:a="http://schemas.openxmlformats.org/drawingml/2006/main" flipH="0" flipV="0">
            <a:off x="12601575"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33" name="text-31">
            <a:extLst xmlns:a="http://schemas.openxmlformats.org/drawingml/2006/main">
              <a:ext uri="{FF2B5EF4-FFF2-40B4-BE49-F238E27FC236}">
                <a16:creationId xmlns:a16="http://schemas.microsoft.com/office/drawing/2014/main" id="{FB36DD03-443E-41F8-AB74-9B6526223C5B}"/>
              </a:ext>
            </a:extLst>
          </p:cNvPr>
          <p:cNvSpPr>
            <a:spLocks xmlns:a="http://schemas.openxmlformats.org/drawingml/2006/main" noGrp="1"/>
          </p:cNvSpPr>
          <p:nvPr/>
        </p:nvSpPr>
        <p:spPr>
          <a:xfrm xmlns:a="http://schemas.openxmlformats.org/drawingml/2006/main">
            <a:off x="3838575" y="4362450"/>
            <a:ext cx="1400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Planned</a:t>
            </a:r>
          </a:p>
        </p:txBody>
      </p:sp>
      <p:cxnSp>
        <p:nvCxnSpPr>
          <p:cNvPr id="34" name="flow-32">
            <a:extLst xmlns:a="http://schemas.openxmlformats.org/drawingml/2006/main">
              <a:ext uri="{FF2B5EF4-FFF2-40B4-BE49-F238E27FC236}">
                <a16:creationId xmlns:a16="http://schemas.microsoft.com/office/drawing/2014/main" id="{915E546F-6A24-4AB6-9EA1-3A7825EC6317}"/>
              </a:ext>
            </a:extLst>
          </p:cNvPr>
          <p:cNvCxnSpPr/>
          <p:nvPr/>
        </p:nvCxnSpPr>
        <p:spPr>
          <a:xfrm xmlns:a="http://schemas.openxmlformats.org/drawingml/2006/main" flipH="0" flipV="0">
            <a:off x="6429375" y="5600700"/>
            <a:ext cx="0" cy="590550"/>
          </a:xfrm>
          <a:prstGeom xmlns:a="http://schemas.openxmlformats.org/drawingml/2006/main" prst="straightConnector1">
            <a:avLst/>
          </a:prstGeom>
          <a:ln xmlns:a="http://schemas.openxmlformats.org/drawingml/2006/main" w="23813">
            <a:solidFill>
              <a:srgbClr val="157D80"/>
            </a:solidFill>
            <a:prstDash val="dash"/>
            <a:headEnd type="triangle" w="med" len="med"/>
          </a:ln>
        </p:spPr>
      </p:cxnSp>
      <p:cxnSp>
        <p:nvCxnSpPr>
          <p:cNvPr id="35" name="flow-33">
            <a:extLst xmlns:a="http://schemas.openxmlformats.org/drawingml/2006/main">
              <a:ext uri="{FF2B5EF4-FFF2-40B4-BE49-F238E27FC236}">
                <a16:creationId xmlns:a16="http://schemas.microsoft.com/office/drawing/2014/main" id="{FDC9A76D-39E5-495B-8F8A-13DCC5F87B2D}"/>
              </a:ext>
            </a:extLst>
          </p:cNvPr>
          <p:cNvCxnSpPr/>
          <p:nvPr/>
        </p:nvCxnSpPr>
        <p:spPr>
          <a:xfrm xmlns:a="http://schemas.openxmlformats.org/drawingml/2006/main" flipH="1" flipV="0">
            <a:off x="2609850" y="6191250"/>
            <a:ext cx="381952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34">
            <a:extLst xmlns:a="http://schemas.openxmlformats.org/drawingml/2006/main">
              <a:ext uri="{FF2B5EF4-FFF2-40B4-BE49-F238E27FC236}">
                <a16:creationId xmlns:a16="http://schemas.microsoft.com/office/drawing/2014/main" id="{B02C2959-310F-47B0-98D3-450003CEE6C5}"/>
              </a:ext>
            </a:extLst>
          </p:cNvPr>
          <p:cNvCxnSpPr/>
          <p:nvPr/>
        </p:nvCxnSpPr>
        <p:spPr>
          <a:xfrm xmlns:a="http://schemas.openxmlformats.org/drawingml/2006/main" flipH="0" flipV="0">
            <a:off x="2609850" y="6191250"/>
            <a:ext cx="0" cy="523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7" name="text-35">
            <a:extLst xmlns:a="http://schemas.openxmlformats.org/drawingml/2006/main">
              <a:ext uri="{FF2B5EF4-FFF2-40B4-BE49-F238E27FC236}">
                <a16:creationId xmlns:a16="http://schemas.microsoft.com/office/drawing/2014/main" id="{CA8A2620-AED6-48E1-8F91-2001D1F4038A}"/>
              </a:ext>
            </a:extLst>
          </p:cNvPr>
          <p:cNvSpPr>
            <a:spLocks xmlns:a="http://schemas.openxmlformats.org/drawingml/2006/main" noGrp="1"/>
          </p:cNvSpPr>
          <p:nvPr/>
        </p:nvSpPr>
        <p:spPr>
          <a:xfrm xmlns:a="http://schemas.openxmlformats.org/drawingml/2006/main">
            <a:off x="2762250" y="5781675"/>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Assigned work / results</a:t>
            </a:r>
          </a:p>
        </p:txBody>
      </p:sp>
      <p:cxnSp>
        <p:nvCxnSpPr>
          <p:cNvPr id="38" name="flow-36">
            <a:extLst xmlns:a="http://schemas.openxmlformats.org/drawingml/2006/main">
              <a:ext uri="{FF2B5EF4-FFF2-40B4-BE49-F238E27FC236}">
                <a16:creationId xmlns:a16="http://schemas.microsoft.com/office/drawing/2014/main" id="{ED535B0E-98E0-4B41-9681-5C953289C1FA}"/>
              </a:ext>
            </a:extLst>
          </p:cNvPr>
          <p:cNvCxnSpPr/>
          <p:nvPr/>
        </p:nvCxnSpPr>
        <p:spPr>
          <a:xfrm xmlns:a="http://schemas.openxmlformats.org/drawingml/2006/main" flipH="0" flipV="0">
            <a:off x="8239125" y="5600700"/>
            <a:ext cx="0" cy="1114425"/>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40" name="text-37">
            <a:extLst xmlns:a="http://schemas.openxmlformats.org/drawingml/2006/main">
              <a:ext uri="{FF2B5EF4-FFF2-40B4-BE49-F238E27FC236}">
                <a16:creationId xmlns:a16="http://schemas.microsoft.com/office/drawing/2014/main" id="{0B6444DF-FC92-4250-A766-2EEB47BA7645}"/>
              </a:ext>
            </a:extLst>
          </p:cNvPr>
          <p:cNvSpPr>
            <a:spLocks xmlns:a="http://schemas.openxmlformats.org/drawingml/2006/main" noGrp="1"/>
          </p:cNvSpPr>
          <p:nvPr/>
        </p:nvSpPr>
        <p:spPr>
          <a:xfrm xmlns:a="http://schemas.openxmlformats.org/drawingml/2006/main">
            <a:off x="9991725" y="686752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Data / actions</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7928B86D-C224-4CB6-B805-8E8E0E371440}"/>
              </a:ext>
            </a:extLst>
          </p:cNvPr>
          <p:cNvCxnSpPr>
            <a:stCxn xmlns:a="http://schemas.openxmlformats.org/drawingml/2006/main" id="22" idx="1"/>
            <a:endCxn xmlns:a="http://schemas.openxmlformats.org/drawingml/2006/main" id="25" idx="3"/>
          </p:cNvCxnSpPr>
          <p:nvPr/>
        </p:nvCxnSpPr>
        <p:spPr>
          <a:xfrm xmlns:a="http://schemas.openxmlformats.org/drawingml/2006/main" flipH="1">
            <a:off x="5467350" y="6905625"/>
            <a:ext cx="45339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E5849EFD-86E2-4D15-B649-D66743A45092}"/>
              </a:ext>
            </a:extLst>
          </p:cNvPr>
          <p:cNvCxnSpPr>
            <a:stCxn xmlns:a="http://schemas.openxmlformats.org/drawingml/2006/main" id="12" idx="3"/>
            <a:endCxn xmlns:a="http://schemas.openxmlformats.org/drawingml/2006/main" id="15" idx="1"/>
          </p:cNvCxnSpPr>
          <p:nvPr/>
        </p:nvCxnSpPr>
        <p:spPr>
          <a:xfrm xmlns:a="http://schemas.openxmlformats.org/drawingml/2006/main">
            <a:off x="1174432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09752710-DF51-4C37-9A1C-DF20A68236F1}"/>
              </a:ext>
            </a:extLst>
          </p:cNvPr>
          <p:cNvCxnSpPr>
            <a:stCxn xmlns:a="http://schemas.openxmlformats.org/drawingml/2006/main" id="9" idx="3"/>
            <a:endCxn xmlns:a="http://schemas.openxmlformats.org/drawingml/2006/main" id="12" idx="1"/>
          </p:cNvCxnSpPr>
          <p:nvPr/>
        </p:nvCxnSpPr>
        <p:spPr>
          <a:xfrm xmlns:a="http://schemas.openxmlformats.org/drawingml/2006/main">
            <a:off x="885825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54C9ECD6-3591-4051-9BA4-7597E06C9034}"/>
              </a:ext>
            </a:extLst>
          </p:cNvPr>
          <p:cNvCxnSpPr>
            <a:stCxn xmlns:a="http://schemas.openxmlformats.org/drawingml/2006/main" id="6" idx="3"/>
            <a:endCxn xmlns:a="http://schemas.openxmlformats.org/drawingml/2006/main" id="9" idx="1"/>
          </p:cNvCxnSpPr>
          <p:nvPr/>
        </p:nvCxnSpPr>
        <p:spPr>
          <a:xfrm xmlns:a="http://schemas.openxmlformats.org/drawingml/2006/main">
            <a:off x="597217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233A2E10-6F48-4066-A163-A930135B7C45}"/>
              </a:ext>
            </a:extLst>
          </p:cNvPr>
          <p:cNvCxnSpPr>
            <a:stCxn xmlns:a="http://schemas.openxmlformats.org/drawingml/2006/main" id="3" idx="3"/>
            <a:endCxn xmlns:a="http://schemas.openxmlformats.org/drawingml/2006/main" id="6" idx="1"/>
          </p:cNvCxnSpPr>
          <p:nvPr/>
        </p:nvCxnSpPr>
        <p:spPr>
          <a:xfrm xmlns:a="http://schemas.openxmlformats.org/drawingml/2006/main">
            <a:off x="308610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8" name="text-38">
            <a:extLst xmlns:a="http://schemas.openxmlformats.org/drawingml/2006/main">
              <a:ext uri="{FF2B5EF4-FFF2-40B4-BE49-F238E27FC236}">
                <a16:creationId xmlns:a16="http://schemas.microsoft.com/office/drawing/2014/main" id="{CC4861A8-D8F9-4A96-9F29-F1767A644393}"/>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Task lifecycle</a:t>
            </a:r>
          </a:p>
        </p:txBody>
      </p:sp>
      <p:sp>
        <p:nvSpPr>
          <p:cNvPr id="2" name="text-39">
            <a:extLst xmlns:a="http://schemas.openxmlformats.org/drawingml/2006/main">
              <a:ext uri="{FF2B5EF4-FFF2-40B4-BE49-F238E27FC236}">
                <a16:creationId xmlns:a16="http://schemas.microsoft.com/office/drawing/2014/main" id="{BCC5EE8F-603B-44DE-A3CF-E9160245542C}"/>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2</a:t>
            </a:r>
          </a:p>
        </p:txBody>
      </p:sp>
      <p:sp>
        <p:nvSpPr>
          <p:cNvPr id="3" name="node-40">
            <a:extLst xmlns:a="http://schemas.openxmlformats.org/drawingml/2006/main">
              <a:ext uri="{FF2B5EF4-FFF2-40B4-BE49-F238E27FC236}">
                <a16:creationId xmlns:a16="http://schemas.microsoft.com/office/drawing/2014/main" id="{F9DC9AB3-A9AA-4197-8E5F-6861652CB79A}"/>
              </a:ext>
            </a:extLst>
          </p:cNvPr>
          <p:cNvSpPr>
            <a:spLocks xmlns:a="http://schemas.openxmlformats.org/drawingml/2006/main" noGrp="1"/>
          </p:cNvSpPr>
          <p:nvPr/>
        </p:nvSpPr>
        <p:spPr>
          <a:xfrm xmlns:a="http://schemas.openxmlformats.org/drawingml/2006/main">
            <a:off x="6096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41">
            <a:extLst xmlns:a="http://schemas.openxmlformats.org/drawingml/2006/main">
              <a:ext uri="{FF2B5EF4-FFF2-40B4-BE49-F238E27FC236}">
                <a16:creationId xmlns:a16="http://schemas.microsoft.com/office/drawing/2014/main" id="{B686920C-78F5-4DD1-A028-7FAE9C9254A4}"/>
              </a:ext>
            </a:extLst>
          </p:cNvPr>
          <p:cNvSpPr>
            <a:spLocks xmlns:a="http://schemas.openxmlformats.org/drawingml/2006/main" noGrp="1"/>
          </p:cNvSpPr>
          <p:nvPr/>
        </p:nvSpPr>
        <p:spPr>
          <a:xfrm xmlns:a="http://schemas.openxmlformats.org/drawingml/2006/main">
            <a:off x="800100"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Task intake</a:t>
            </a:r>
          </a:p>
        </p:txBody>
      </p:sp>
      <p:sp>
        <p:nvSpPr>
          <p:cNvPr id="5" name="text-42">
            <a:extLst xmlns:a="http://schemas.openxmlformats.org/drawingml/2006/main">
              <a:ext uri="{FF2B5EF4-FFF2-40B4-BE49-F238E27FC236}">
                <a16:creationId xmlns:a16="http://schemas.microsoft.com/office/drawing/2014/main" id="{42584B02-B1B3-48E8-A52E-C40A2202F804}"/>
              </a:ext>
            </a:extLst>
          </p:cNvPr>
          <p:cNvSpPr>
            <a:spLocks xmlns:a="http://schemas.openxmlformats.org/drawingml/2006/main" noGrp="1"/>
          </p:cNvSpPr>
          <p:nvPr/>
        </p:nvSpPr>
        <p:spPr>
          <a:xfrm xmlns:a="http://schemas.openxmlformats.org/drawingml/2006/main">
            <a:off x="800100" y="298704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Objective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source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Done criteria</a:t>
            </a:r>
          </a:p>
        </p:txBody>
      </p:sp>
      <p:sp>
        <p:nvSpPr>
          <p:cNvPr id="6" name="node-43">
            <a:extLst xmlns:a="http://schemas.openxmlformats.org/drawingml/2006/main">
              <a:ext uri="{FF2B5EF4-FFF2-40B4-BE49-F238E27FC236}">
                <a16:creationId xmlns:a16="http://schemas.microsoft.com/office/drawing/2014/main" id="{419435F1-5638-445F-9B5F-1401A1E7A1B7}"/>
              </a:ext>
            </a:extLst>
          </p:cNvPr>
          <p:cNvSpPr>
            <a:spLocks xmlns:a="http://schemas.openxmlformats.org/drawingml/2006/main" noGrp="1"/>
          </p:cNvSpPr>
          <p:nvPr/>
        </p:nvSpPr>
        <p:spPr>
          <a:xfrm xmlns:a="http://schemas.openxmlformats.org/drawingml/2006/main">
            <a:off x="349567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44">
            <a:extLst xmlns:a="http://schemas.openxmlformats.org/drawingml/2006/main">
              <a:ext uri="{FF2B5EF4-FFF2-40B4-BE49-F238E27FC236}">
                <a16:creationId xmlns:a16="http://schemas.microsoft.com/office/drawing/2014/main" id="{303EC00A-0E83-4A4E-A129-0848D5EDE435}"/>
              </a:ext>
            </a:extLst>
          </p:cNvPr>
          <p:cNvSpPr>
            <a:spLocks xmlns:a="http://schemas.openxmlformats.org/drawingml/2006/main" noGrp="1"/>
          </p:cNvSpPr>
          <p:nvPr/>
        </p:nvSpPr>
        <p:spPr>
          <a:xfrm xmlns:a="http://schemas.openxmlformats.org/drawingml/2006/main">
            <a:off x="368617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Coordinator</a:t>
            </a:r>
          </a:p>
        </p:txBody>
      </p:sp>
      <p:sp>
        <p:nvSpPr>
          <p:cNvPr id="8" name="text-45">
            <a:extLst xmlns:a="http://schemas.openxmlformats.org/drawingml/2006/main">
              <a:ext uri="{FF2B5EF4-FFF2-40B4-BE49-F238E27FC236}">
                <a16:creationId xmlns:a16="http://schemas.microsoft.com/office/drawing/2014/main" id="{53F419D5-F8B6-4641-8B9B-A5B482A2284D}"/>
              </a:ext>
            </a:extLst>
          </p:cNvPr>
          <p:cNvSpPr>
            <a:spLocks xmlns:a="http://schemas.openxmlformats.org/drawingml/2006/main" noGrp="1"/>
          </p:cNvSpPr>
          <p:nvPr/>
        </p:nvSpPr>
        <p:spPr>
          <a:xfrm xmlns:a="http://schemas.openxmlformats.org/drawingml/2006/main">
            <a:off x="3686175" y="2987040"/>
            <a:ext cx="20955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Decompose</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Delegate</a:t>
            </a:r>
          </a:p>
        </p:txBody>
      </p:sp>
      <p:sp>
        <p:nvSpPr>
          <p:cNvPr id="9" name="node-46">
            <a:extLst xmlns:a="http://schemas.openxmlformats.org/drawingml/2006/main">
              <a:ext uri="{FF2B5EF4-FFF2-40B4-BE49-F238E27FC236}">
                <a16:creationId xmlns:a16="http://schemas.microsoft.com/office/drawing/2014/main" id="{1589C988-1BBC-4EAE-B3C8-802250EAB29D}"/>
              </a:ext>
            </a:extLst>
          </p:cNvPr>
          <p:cNvSpPr>
            <a:spLocks xmlns:a="http://schemas.openxmlformats.org/drawingml/2006/main" noGrp="1"/>
          </p:cNvSpPr>
          <p:nvPr/>
        </p:nvSpPr>
        <p:spPr>
          <a:xfrm xmlns:a="http://schemas.openxmlformats.org/drawingml/2006/main">
            <a:off x="638175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47">
            <a:extLst xmlns:a="http://schemas.openxmlformats.org/drawingml/2006/main">
              <a:ext uri="{FF2B5EF4-FFF2-40B4-BE49-F238E27FC236}">
                <a16:creationId xmlns:a16="http://schemas.microsoft.com/office/drawing/2014/main" id="{D115F70E-0C7D-4548-9706-7F75A23D09C1}"/>
              </a:ext>
            </a:extLst>
          </p:cNvPr>
          <p:cNvSpPr>
            <a:spLocks xmlns:a="http://schemas.openxmlformats.org/drawingml/2006/main" noGrp="1"/>
          </p:cNvSpPr>
          <p:nvPr/>
        </p:nvSpPr>
        <p:spPr>
          <a:xfrm xmlns:a="http://schemas.openxmlformats.org/drawingml/2006/main">
            <a:off x="6572250" y="2590800"/>
            <a:ext cx="20955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Claim task</a:t>
            </a:r>
          </a:p>
        </p:txBody>
      </p:sp>
      <p:sp>
        <p:nvSpPr>
          <p:cNvPr id="11" name="text-48">
            <a:extLst xmlns:a="http://schemas.openxmlformats.org/drawingml/2006/main">
              <a:ext uri="{FF2B5EF4-FFF2-40B4-BE49-F238E27FC236}">
                <a16:creationId xmlns:a16="http://schemas.microsoft.com/office/drawing/2014/main" id="{290BEB40-602D-41B7-A1A7-0BF1B6FCB946}"/>
              </a:ext>
            </a:extLst>
          </p:cNvPr>
          <p:cNvSpPr>
            <a:spLocks xmlns:a="http://schemas.openxmlformats.org/drawingml/2006/main" noGrp="1"/>
          </p:cNvSpPr>
          <p:nvPr/>
        </p:nvSpPr>
        <p:spPr>
          <a:xfrm xmlns:a="http://schemas.openxmlformats.org/drawingml/2006/main">
            <a:off x="6572250" y="297542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Dependencies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Exclusive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checkout</a:t>
            </a:r>
          </a:p>
        </p:txBody>
      </p:sp>
      <p:sp>
        <p:nvSpPr>
          <p:cNvPr id="12" name="node-49">
            <a:extLst xmlns:a="http://schemas.openxmlformats.org/drawingml/2006/main">
              <a:ext uri="{FF2B5EF4-FFF2-40B4-BE49-F238E27FC236}">
                <a16:creationId xmlns:a16="http://schemas.microsoft.com/office/drawing/2014/main" id="{E531CC32-C727-4F28-8BE8-8C62CDAD3FF2}"/>
              </a:ext>
            </a:extLst>
          </p:cNvPr>
          <p:cNvSpPr>
            <a:spLocks xmlns:a="http://schemas.openxmlformats.org/drawingml/2006/main" noGrp="1"/>
          </p:cNvSpPr>
          <p:nvPr/>
        </p:nvSpPr>
        <p:spPr>
          <a:xfrm xmlns:a="http://schemas.openxmlformats.org/drawingml/2006/main">
            <a:off x="926782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50">
            <a:extLst xmlns:a="http://schemas.openxmlformats.org/drawingml/2006/main">
              <a:ext uri="{FF2B5EF4-FFF2-40B4-BE49-F238E27FC236}">
                <a16:creationId xmlns:a16="http://schemas.microsoft.com/office/drawing/2014/main" id="{4658FEF7-BFCE-4681-80F5-2A81631E2B9B}"/>
              </a:ext>
            </a:extLst>
          </p:cNvPr>
          <p:cNvSpPr>
            <a:spLocks xmlns:a="http://schemas.openxmlformats.org/drawingml/2006/main" noGrp="1"/>
          </p:cNvSpPr>
          <p:nvPr/>
        </p:nvSpPr>
        <p:spPr>
          <a:xfrm xmlns:a="http://schemas.openxmlformats.org/drawingml/2006/main">
            <a:off x="945832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Execution</a:t>
            </a:r>
          </a:p>
        </p:txBody>
      </p:sp>
      <p:sp>
        <p:nvSpPr>
          <p:cNvPr id="14" name="text-51">
            <a:extLst xmlns:a="http://schemas.openxmlformats.org/drawingml/2006/main">
              <a:ext uri="{FF2B5EF4-FFF2-40B4-BE49-F238E27FC236}">
                <a16:creationId xmlns:a16="http://schemas.microsoft.com/office/drawing/2014/main" id="{43B20822-3855-4EE4-A5DD-D6E64F3DDD04}"/>
              </a:ext>
            </a:extLst>
          </p:cNvPr>
          <p:cNvSpPr>
            <a:spLocks xmlns:a="http://schemas.openxmlformats.org/drawingml/2006/main" noGrp="1"/>
          </p:cNvSpPr>
          <p:nvPr/>
        </p:nvSpPr>
        <p:spPr>
          <a:xfrm xmlns:a="http://schemas.openxmlformats.org/drawingml/2006/main">
            <a:off x="9458325" y="2987040"/>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Role-based agent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Scoped SQL tools</a:t>
            </a:r>
          </a:p>
        </p:txBody>
      </p:sp>
      <p:sp>
        <p:nvSpPr>
          <p:cNvPr id="15" name="node-52">
            <a:extLst xmlns:a="http://schemas.openxmlformats.org/drawingml/2006/main">
              <a:ext uri="{FF2B5EF4-FFF2-40B4-BE49-F238E27FC236}">
                <a16:creationId xmlns:a16="http://schemas.microsoft.com/office/drawing/2014/main" id="{30E4C43E-2E31-489D-9560-642DE15DA0AC}"/>
              </a:ext>
            </a:extLst>
          </p:cNvPr>
          <p:cNvSpPr>
            <a:spLocks xmlns:a="http://schemas.openxmlformats.org/drawingml/2006/main" noGrp="1"/>
          </p:cNvSpPr>
          <p:nvPr/>
        </p:nvSpPr>
        <p:spPr>
          <a:xfrm xmlns:a="http://schemas.openxmlformats.org/drawingml/2006/main">
            <a:off x="121539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53">
            <a:extLst xmlns:a="http://schemas.openxmlformats.org/drawingml/2006/main">
              <a:ext uri="{FF2B5EF4-FFF2-40B4-BE49-F238E27FC236}">
                <a16:creationId xmlns:a16="http://schemas.microsoft.com/office/drawing/2014/main" id="{135E2039-3505-4B72-A57A-45D38DF21F63}"/>
              </a:ext>
            </a:extLst>
          </p:cNvPr>
          <p:cNvSpPr>
            <a:spLocks xmlns:a="http://schemas.openxmlformats.org/drawingml/2006/main" noGrp="1"/>
          </p:cNvSpPr>
          <p:nvPr/>
        </p:nvSpPr>
        <p:spPr>
          <a:xfrm xmlns:a="http://schemas.openxmlformats.org/drawingml/2006/main">
            <a:off x="12344400" y="2590800"/>
            <a:ext cx="20955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Quality review</a:t>
            </a:r>
          </a:p>
        </p:txBody>
      </p:sp>
      <p:sp>
        <p:nvSpPr>
          <p:cNvPr id="17" name="text-54">
            <a:extLst xmlns:a="http://schemas.openxmlformats.org/drawingml/2006/main">
              <a:ext uri="{FF2B5EF4-FFF2-40B4-BE49-F238E27FC236}">
                <a16:creationId xmlns:a16="http://schemas.microsoft.com/office/drawing/2014/main" id="{55F523B3-596B-48BE-9314-9D537DD16637}"/>
              </a:ext>
            </a:extLst>
          </p:cNvPr>
          <p:cNvSpPr>
            <a:spLocks xmlns:a="http://schemas.openxmlformats.org/drawingml/2006/main" noGrp="1"/>
          </p:cNvSpPr>
          <p:nvPr/>
        </p:nvSpPr>
        <p:spPr>
          <a:xfrm xmlns:a="http://schemas.openxmlformats.org/drawingml/2006/main">
            <a:off x="12344400" y="2963799"/>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Evidence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corrections</a:t>
            </a:r>
          </a:p>
        </p:txBody>
      </p:sp>
      <p:sp>
        <p:nvSpPr>
          <p:cNvPr id="22" name="node-55">
            <a:extLst xmlns:a="http://schemas.openxmlformats.org/drawingml/2006/main">
              <a:ext uri="{FF2B5EF4-FFF2-40B4-BE49-F238E27FC236}">
                <a16:creationId xmlns:a16="http://schemas.microsoft.com/office/drawing/2014/main" id="{663BE0D1-67E5-4068-936C-A95F4A1EF56E}"/>
              </a:ext>
            </a:extLst>
          </p:cNvPr>
          <p:cNvSpPr>
            <a:spLocks xmlns:a="http://schemas.openxmlformats.org/drawingml/2006/main" noGrp="1"/>
          </p:cNvSpPr>
          <p:nvPr/>
        </p:nvSpPr>
        <p:spPr>
          <a:xfrm xmlns:a="http://schemas.openxmlformats.org/drawingml/2006/main">
            <a:off x="10001250" y="6238875"/>
            <a:ext cx="46291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56">
            <a:extLst xmlns:a="http://schemas.openxmlformats.org/drawingml/2006/main">
              <a:ext uri="{FF2B5EF4-FFF2-40B4-BE49-F238E27FC236}">
                <a16:creationId xmlns:a16="http://schemas.microsoft.com/office/drawing/2014/main" id="{D0EFF5A5-57A7-4E35-87C2-1AD53161D689}"/>
              </a:ext>
            </a:extLst>
          </p:cNvPr>
          <p:cNvSpPr>
            <a:spLocks xmlns:a="http://schemas.openxmlformats.org/drawingml/2006/main" noGrp="1"/>
          </p:cNvSpPr>
          <p:nvPr/>
        </p:nvSpPr>
        <p:spPr>
          <a:xfrm xmlns:a="http://schemas.openxmlformats.org/drawingml/2006/main">
            <a:off x="10191750" y="6400800"/>
            <a:ext cx="42481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Accepted result</a:t>
            </a:r>
          </a:p>
        </p:txBody>
      </p:sp>
      <p:sp>
        <p:nvSpPr>
          <p:cNvPr id="24" name="text-57">
            <a:extLst xmlns:a="http://schemas.openxmlformats.org/drawingml/2006/main">
              <a:ext uri="{FF2B5EF4-FFF2-40B4-BE49-F238E27FC236}">
                <a16:creationId xmlns:a16="http://schemas.microsoft.com/office/drawing/2014/main" id="{990DFB01-A5DA-457F-9C0C-E1DE4C380FC1}"/>
              </a:ext>
            </a:extLst>
          </p:cNvPr>
          <p:cNvSpPr>
            <a:spLocks xmlns:a="http://schemas.openxmlformats.org/drawingml/2006/main" noGrp="1"/>
          </p:cNvSpPr>
          <p:nvPr/>
        </p:nvSpPr>
        <p:spPr>
          <a:xfrm xmlns:a="http://schemas.openxmlformats.org/drawingml/2006/main">
            <a:off x="10191750" y="6797040"/>
            <a:ext cx="4248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Task status and output links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Research delta when applicable</a:t>
            </a:r>
          </a:p>
        </p:txBody>
      </p:sp>
      <p:sp>
        <p:nvSpPr>
          <p:cNvPr id="25" name="node-58">
            <a:extLst xmlns:a="http://schemas.openxmlformats.org/drawingml/2006/main">
              <a:ext uri="{FF2B5EF4-FFF2-40B4-BE49-F238E27FC236}">
                <a16:creationId xmlns:a16="http://schemas.microsoft.com/office/drawing/2014/main" id="{46E5DF68-39F5-4F13-A294-67F1259B992E}"/>
              </a:ext>
            </a:extLst>
          </p:cNvPr>
          <p:cNvSpPr>
            <a:spLocks xmlns:a="http://schemas.openxmlformats.org/drawingml/2006/main" noGrp="1"/>
          </p:cNvSpPr>
          <p:nvPr/>
        </p:nvSpPr>
        <p:spPr>
          <a:xfrm xmlns:a="http://schemas.openxmlformats.org/drawingml/2006/main">
            <a:off x="609600" y="6238875"/>
            <a:ext cx="48577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59">
            <a:extLst xmlns:a="http://schemas.openxmlformats.org/drawingml/2006/main">
              <a:ext uri="{FF2B5EF4-FFF2-40B4-BE49-F238E27FC236}">
                <a16:creationId xmlns:a16="http://schemas.microsoft.com/office/drawing/2014/main" id="{A363D15D-73F2-4FB2-988C-7B2323075AB3}"/>
              </a:ext>
            </a:extLst>
          </p:cNvPr>
          <p:cNvSpPr>
            <a:spLocks xmlns:a="http://schemas.openxmlformats.org/drawingml/2006/main" noGrp="1"/>
          </p:cNvSpPr>
          <p:nvPr/>
        </p:nvSpPr>
        <p:spPr>
          <a:xfrm xmlns:a="http://schemas.openxmlformats.org/drawingml/2006/main">
            <a:off x="800100" y="6400800"/>
            <a:ext cx="4476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Buzz and dashboard</a:t>
            </a:r>
          </a:p>
        </p:txBody>
      </p:sp>
      <p:sp>
        <p:nvSpPr>
          <p:cNvPr id="27" name="text-60">
            <a:extLst xmlns:a="http://schemas.openxmlformats.org/drawingml/2006/main">
              <a:ext uri="{FF2B5EF4-FFF2-40B4-BE49-F238E27FC236}">
                <a16:creationId xmlns:a16="http://schemas.microsoft.com/office/drawing/2014/main" id="{D4BFCCCC-37B6-4F15-B327-1FDEC4B1AE65}"/>
              </a:ext>
            </a:extLst>
          </p:cNvPr>
          <p:cNvSpPr>
            <a:spLocks xmlns:a="http://schemas.openxmlformats.org/drawingml/2006/main" noGrp="1"/>
          </p:cNvSpPr>
          <p:nvPr/>
        </p:nvSpPr>
        <p:spPr>
          <a:xfrm xmlns:a="http://schemas.openxmlformats.org/drawingml/2006/main">
            <a:off x="800100" y="6797040"/>
            <a:ext cx="4476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Result returned to the member</a:t>
            </a:r>
          </a:p>
        </p:txBody>
      </p:sp>
      <p:cxnSp>
        <p:nvCxnSpPr>
          <p:cNvPr id="28" name="flow-61">
            <a:extLst xmlns:a="http://schemas.openxmlformats.org/drawingml/2006/main">
              <a:ext uri="{FF2B5EF4-FFF2-40B4-BE49-F238E27FC236}">
                <a16:creationId xmlns:a16="http://schemas.microsoft.com/office/drawing/2014/main" id="{912882D7-4176-45A2-9FEE-781D540DCEC8}"/>
              </a:ext>
            </a:extLst>
          </p:cNvPr>
          <p:cNvCxnSpPr/>
          <p:nvPr/>
        </p:nvCxnSpPr>
        <p:spPr>
          <a:xfrm xmlns:a="http://schemas.openxmlformats.org/drawingml/2006/main" flipH="0" flipV="0">
            <a:off x="13392150" y="4095750"/>
            <a:ext cx="0" cy="21431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62">
            <a:extLst xmlns:a="http://schemas.openxmlformats.org/drawingml/2006/main">
              <a:ext uri="{FF2B5EF4-FFF2-40B4-BE49-F238E27FC236}">
                <a16:creationId xmlns:a16="http://schemas.microsoft.com/office/drawing/2014/main" id="{9F64CB67-FB88-4F77-9442-AA27C71FE1F5}"/>
              </a:ext>
            </a:extLst>
          </p:cNvPr>
          <p:cNvSpPr>
            <a:spLocks xmlns:a="http://schemas.openxmlformats.org/drawingml/2006/main" noGrp="1"/>
          </p:cNvSpPr>
          <p:nvPr/>
        </p:nvSpPr>
        <p:spPr>
          <a:xfrm xmlns:a="http://schemas.openxmlformats.org/drawingml/2006/main">
            <a:off x="13515975" y="4733925"/>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Pass</a:t>
            </a:r>
          </a:p>
        </p:txBody>
      </p:sp>
      <p:cxnSp>
        <p:nvCxnSpPr>
          <p:cNvPr id="30" name="flow-63">
            <a:extLst xmlns:a="http://schemas.openxmlformats.org/drawingml/2006/main">
              <a:ext uri="{FF2B5EF4-FFF2-40B4-BE49-F238E27FC236}">
                <a16:creationId xmlns:a16="http://schemas.microsoft.com/office/drawing/2014/main" id="{171D0F8A-8F5C-48E0-84E0-3B4631DBCD3F}"/>
              </a:ext>
            </a:extLst>
          </p:cNvPr>
          <p:cNvCxnSpPr/>
          <p:nvPr/>
        </p:nvCxnSpPr>
        <p:spPr>
          <a:xfrm xmlns:a="http://schemas.openxmlformats.org/drawingml/2006/main" flipH="1" flipV="0">
            <a:off x="11849100" y="3476625"/>
            <a:ext cx="304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1" name="flow-64">
            <a:extLst xmlns:a="http://schemas.openxmlformats.org/drawingml/2006/main">
              <a:ext uri="{FF2B5EF4-FFF2-40B4-BE49-F238E27FC236}">
                <a16:creationId xmlns:a16="http://schemas.microsoft.com/office/drawing/2014/main" id="{165F5805-1941-4664-A9D1-F3AD9B74A63A}"/>
              </a:ext>
            </a:extLst>
          </p:cNvPr>
          <p:cNvCxnSpPr/>
          <p:nvPr/>
        </p:nvCxnSpPr>
        <p:spPr>
          <a:xfrm xmlns:a="http://schemas.openxmlformats.org/drawingml/2006/main" flipH="0" flipV="0">
            <a:off x="11849100" y="3476625"/>
            <a:ext cx="0" cy="1333500"/>
          </a:xfrm>
          <a:prstGeom xmlns:a="http://schemas.openxmlformats.org/drawingml/2006/main" prst="straightConnector1">
            <a:avLst/>
          </a:prstGeom>
          <a:ln xmlns:a="http://schemas.openxmlformats.org/drawingml/2006/main" w="23813">
            <a:solidFill>
              <a:srgbClr val="157D80"/>
            </a:solidFill>
            <a:prstDash val="solid"/>
          </a:ln>
        </p:spPr>
      </p:cxnSp>
      <p:cxnSp>
        <p:nvCxnSpPr>
          <p:cNvPr id="32" name="flow-65">
            <a:extLst xmlns:a="http://schemas.openxmlformats.org/drawingml/2006/main">
              <a:ext uri="{FF2B5EF4-FFF2-40B4-BE49-F238E27FC236}">
                <a16:creationId xmlns:a16="http://schemas.microsoft.com/office/drawing/2014/main" id="{A207FCE3-AF5E-4BE0-835D-723C76091E10}"/>
              </a:ext>
            </a:extLst>
          </p:cNvPr>
          <p:cNvCxnSpPr/>
          <p:nvPr/>
        </p:nvCxnSpPr>
        <p:spPr>
          <a:xfrm xmlns:a="http://schemas.openxmlformats.org/drawingml/2006/main" flipH="1" flipV="0">
            <a:off x="10506075" y="4810125"/>
            <a:ext cx="1343025"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3" name="flow-66">
            <a:extLst xmlns:a="http://schemas.openxmlformats.org/drawingml/2006/main">
              <a:ext uri="{FF2B5EF4-FFF2-40B4-BE49-F238E27FC236}">
                <a16:creationId xmlns:a16="http://schemas.microsoft.com/office/drawing/2014/main" id="{C70491CF-03A0-4BE8-BF2B-11733C3C0089}"/>
              </a:ext>
            </a:extLst>
          </p:cNvPr>
          <p:cNvCxnSpPr/>
          <p:nvPr/>
        </p:nvCxnSpPr>
        <p:spPr>
          <a:xfrm xmlns:a="http://schemas.openxmlformats.org/drawingml/2006/main" flipH="0" flipV="1">
            <a:off x="10506075" y="4095750"/>
            <a:ext cx="0" cy="714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67">
            <a:extLst xmlns:a="http://schemas.openxmlformats.org/drawingml/2006/main">
              <a:ext uri="{FF2B5EF4-FFF2-40B4-BE49-F238E27FC236}">
                <a16:creationId xmlns:a16="http://schemas.microsoft.com/office/drawing/2014/main" id="{1AACC4BC-58E4-403D-8B9C-C75FA2EEA14D}"/>
              </a:ext>
            </a:extLst>
          </p:cNvPr>
          <p:cNvSpPr>
            <a:spLocks xmlns:a="http://schemas.openxmlformats.org/drawingml/2006/main" noGrp="1"/>
          </p:cNvSpPr>
          <p:nvPr/>
        </p:nvSpPr>
        <p:spPr>
          <a:xfrm xmlns:a="http://schemas.openxmlformats.org/drawingml/2006/main">
            <a:off x="10287000" y="5000625"/>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Rework</a:t>
            </a:r>
          </a:p>
        </p:txBody>
      </p:sp>
      <p:sp>
        <p:nvSpPr>
          <p:cNvPr id="36" name="text-68">
            <a:extLst xmlns:a="http://schemas.openxmlformats.org/drawingml/2006/main">
              <a:ext uri="{FF2B5EF4-FFF2-40B4-BE49-F238E27FC236}">
                <a16:creationId xmlns:a16="http://schemas.microsoft.com/office/drawing/2014/main" id="{5104DC9F-8377-421B-AFC8-D54B51D6D4DF}"/>
              </a:ext>
            </a:extLst>
          </p:cNvPr>
          <p:cNvSpPr>
            <a:spLocks xmlns:a="http://schemas.openxmlformats.org/drawingml/2006/main" noGrp="1"/>
          </p:cNvSpPr>
          <p:nvPr/>
        </p:nvSpPr>
        <p:spPr>
          <a:xfrm xmlns:a="http://schemas.openxmlformats.org/drawingml/2006/main">
            <a:off x="5905500" y="6534150"/>
            <a:ext cx="342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vl1pPr algn="ctr">
              <a:buNone/>
              <a:defRPr sz="1875" b="0">
                <a:solidFill>
                  <a:srgbClr val="4A6572"/>
                </a:solidFill>
                <a:latin typeface="Aptos"/>
                <a:ea typeface="Aptos"/>
                <a:cs typeface="Aptos"/>
              </a:defRPr>
            </a:lvl1pPr>
            <a:lvl2pPr algn="ctr">
              <a:buNone/>
              <a:defRPr sz="1875" b="0">
                <a:solidFill>
                  <a:srgbClr val="4A6572"/>
                </a:solidFill>
                <a:latin typeface="Aptos"/>
                <a:ea typeface="Aptos"/>
                <a:cs typeface="Aptos"/>
              </a:defRPr>
            </a:lvl2pPr>
            <a:lvl3pPr algn="ctr">
              <a:buNone/>
              <a:defRPr sz="1875" b="0">
                <a:solidFill>
                  <a:srgbClr val="4A6572"/>
                </a:solidFill>
                <a:latin typeface="Aptos"/>
                <a:ea typeface="Aptos"/>
                <a:cs typeface="Aptos"/>
              </a:defRPr>
            </a:lvl3pPr>
            <a:lvl4pPr algn="ctr">
              <a:buNone/>
              <a:defRPr sz="1875" b="0">
                <a:solidFill>
                  <a:srgbClr val="4A6572"/>
                </a:solidFill>
                <a:latin typeface="Aptos"/>
                <a:ea typeface="Aptos"/>
                <a:cs typeface="Aptos"/>
              </a:defRPr>
            </a:lvl4pPr>
            <a:lvl5pPr algn="ctr">
              <a:buNone/>
              <a:defRPr sz="1875" b="0">
                <a:solidFill>
                  <a:srgbClr val="4A6572"/>
                </a:solidFill>
                <a:latin typeface="Aptos"/>
                <a:ea typeface="Aptos"/>
                <a:cs typeface="Aptos"/>
              </a:defRPr>
            </a:lvl5pPr>
            <a:lvl6pPr algn="ctr">
              <a:buNone/>
              <a:defRPr sz="1875" b="0">
                <a:solidFill>
                  <a:srgbClr val="4A6572"/>
                </a:solidFill>
                <a:latin typeface="Aptos"/>
                <a:ea typeface="Aptos"/>
                <a:cs typeface="Aptos"/>
              </a:defRPr>
            </a:lvl6pPr>
            <a:lvl7pPr algn="ctr">
              <a:buNone/>
              <a:defRPr sz="1875" b="0">
                <a:solidFill>
                  <a:srgbClr val="4A6572"/>
                </a:solidFill>
                <a:latin typeface="Aptos"/>
                <a:ea typeface="Aptos"/>
                <a:cs typeface="Aptos"/>
              </a:defRPr>
            </a:lvl7pPr>
            <a:lvl8pPr algn="ctr">
              <a:buNone/>
              <a:defRPr sz="1875" b="0">
                <a:solidFill>
                  <a:srgbClr val="4A6572"/>
                </a:solidFill>
                <a:latin typeface="Aptos"/>
                <a:ea typeface="Aptos"/>
                <a:cs typeface="Aptos"/>
              </a:defRPr>
            </a:lvl8pPr>
            <a:lvl9pPr algn="ctr">
              <a:buNone/>
              <a:defRPr sz="1875" b="0">
                <a:solidFill>
                  <a:srgbClr val="4A6572"/>
                </a:solidFill>
                <a:latin typeface="Aptos"/>
                <a:ea typeface="Aptos"/>
                <a:cs typeface="Aptos"/>
              </a:defRPr>
            </a:lvl9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Publish result and status</a:t>
            </a:r>
          </a:p>
        </p:txBody>
      </p:sp>
      <p:sp>
        <p:nvSpPr>
          <p:cNvPr id="37" name="text-69">
            <a:extLst xmlns:a="http://schemas.openxmlformats.org/drawingml/2006/main">
              <a:ext uri="{FF2B5EF4-FFF2-40B4-BE49-F238E27FC236}">
                <a16:creationId xmlns:a16="http://schemas.microsoft.com/office/drawing/2014/main" id="{8D519C09-2176-4484-8FB9-5BA7173AB996}"/>
              </a:ext>
            </a:extLst>
          </p:cNvPr>
          <p:cNvSpPr>
            <a:spLocks xmlns:a="http://schemas.openxmlformats.org/drawingml/2006/main" noGrp="1"/>
          </p:cNvSpPr>
          <p:nvPr/>
        </p:nvSpPr>
        <p:spPr>
          <a:xfrm xmlns:a="http://schemas.openxmlformats.org/drawingml/2006/main">
            <a:off x="3495675" y="4429125"/>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Paperclip applies hiring and budget policy</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42A81A05-7E6E-409F-AF49-AD50FFCAAAD2}"/>
              </a:ext>
            </a:extLst>
          </p:cNvPr>
          <p:cNvCxnSpPr>
            <a:stCxn xmlns:a="http://schemas.openxmlformats.org/drawingml/2006/main" id="3" idx="3"/>
            <a:endCxn xmlns:a="http://schemas.openxmlformats.org/drawingml/2006/main" id="6" idx="1"/>
          </p:cNvCxnSpPr>
          <p:nvPr/>
        </p:nvCxnSpPr>
        <p:spPr>
          <a:xfrm xmlns:a="http://schemas.openxmlformats.org/drawingml/2006/main">
            <a:off x="3752850" y="4191000"/>
            <a:ext cx="15240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70">
            <a:extLst xmlns:a="http://schemas.openxmlformats.org/drawingml/2006/main">
              <a:ext uri="{FF2B5EF4-FFF2-40B4-BE49-F238E27FC236}">
                <a16:creationId xmlns:a16="http://schemas.microsoft.com/office/drawing/2014/main" id="{B2A23D7F-822E-4D30-8FE5-929C0A22B702}"/>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Roundtable meeting flow</a:t>
            </a:r>
          </a:p>
        </p:txBody>
      </p:sp>
      <p:sp>
        <p:nvSpPr>
          <p:cNvPr id="2" name="text-71">
            <a:extLst xmlns:a="http://schemas.openxmlformats.org/drawingml/2006/main">
              <a:ext uri="{FF2B5EF4-FFF2-40B4-BE49-F238E27FC236}">
                <a16:creationId xmlns:a16="http://schemas.microsoft.com/office/drawing/2014/main" id="{C18A7868-8FE3-4B5A-AC56-052268CBB6A0}"/>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3</a:t>
            </a:r>
          </a:p>
        </p:txBody>
      </p:sp>
      <p:sp>
        <p:nvSpPr>
          <p:cNvPr id="3" name="node-72">
            <a:extLst xmlns:a="http://schemas.openxmlformats.org/drawingml/2006/main">
              <a:ext uri="{FF2B5EF4-FFF2-40B4-BE49-F238E27FC236}">
                <a16:creationId xmlns:a16="http://schemas.microsoft.com/office/drawing/2014/main" id="{48B6EF01-C26A-40F7-9F96-CC60CBECABB9}"/>
              </a:ext>
            </a:extLst>
          </p:cNvPr>
          <p:cNvSpPr>
            <a:spLocks xmlns:a="http://schemas.openxmlformats.org/drawingml/2006/main" noGrp="1"/>
          </p:cNvSpPr>
          <p:nvPr/>
        </p:nvSpPr>
        <p:spPr>
          <a:xfrm xmlns:a="http://schemas.openxmlformats.org/drawingml/2006/main">
            <a:off x="609600" y="3476625"/>
            <a:ext cx="31432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73">
            <a:extLst xmlns:a="http://schemas.openxmlformats.org/drawingml/2006/main">
              <a:ext uri="{FF2B5EF4-FFF2-40B4-BE49-F238E27FC236}">
                <a16:creationId xmlns:a16="http://schemas.microsoft.com/office/drawing/2014/main" id="{360B14EF-AC43-450E-868A-66596794CCCB}"/>
              </a:ext>
            </a:extLst>
          </p:cNvPr>
          <p:cNvSpPr>
            <a:spLocks xmlns:a="http://schemas.openxmlformats.org/drawingml/2006/main" noGrp="1"/>
          </p:cNvSpPr>
          <p:nvPr/>
        </p:nvSpPr>
        <p:spPr>
          <a:xfrm xmlns:a="http://schemas.openxmlformats.org/drawingml/2006/main">
            <a:off x="800100" y="3638550"/>
            <a:ext cx="2762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Meet / Gemini</a:t>
            </a:r>
          </a:p>
        </p:txBody>
      </p:sp>
      <p:sp>
        <p:nvSpPr>
          <p:cNvPr id="5" name="text-74">
            <a:extLst xmlns:a="http://schemas.openxmlformats.org/drawingml/2006/main">
              <a:ext uri="{FF2B5EF4-FFF2-40B4-BE49-F238E27FC236}">
                <a16:creationId xmlns:a16="http://schemas.microsoft.com/office/drawing/2014/main" id="{7F5F2247-2FF0-4963-8B57-A313F1CB1AEE}"/>
              </a:ext>
            </a:extLst>
          </p:cNvPr>
          <p:cNvSpPr>
            <a:spLocks xmlns:a="http://schemas.openxmlformats.org/drawingml/2006/main" noGrp="1"/>
          </p:cNvSpPr>
          <p:nvPr/>
        </p:nvSpPr>
        <p:spPr>
          <a:xfrm xmlns:a="http://schemas.openxmlformats.org/drawingml/2006/main">
            <a:off x="800100" y="4046411"/>
            <a:ext cx="27622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Recording and outputs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in organization Drive</a:t>
            </a:r>
          </a:p>
        </p:txBody>
      </p:sp>
      <p:sp>
        <p:nvSpPr>
          <p:cNvPr id="6" name="node-75">
            <a:extLst xmlns:a="http://schemas.openxmlformats.org/drawingml/2006/main">
              <a:ext uri="{FF2B5EF4-FFF2-40B4-BE49-F238E27FC236}">
                <a16:creationId xmlns:a16="http://schemas.microsoft.com/office/drawing/2014/main" id="{29DD215B-B94F-41A7-ABD8-7575B741ED8C}"/>
              </a:ext>
            </a:extLst>
          </p:cNvPr>
          <p:cNvSpPr>
            <a:spLocks xmlns:a="http://schemas.openxmlformats.org/drawingml/2006/main" noGrp="1"/>
          </p:cNvSpPr>
          <p:nvPr/>
        </p:nvSpPr>
        <p:spPr>
          <a:xfrm xmlns:a="http://schemas.openxmlformats.org/drawingml/2006/main">
            <a:off x="5276850" y="3476625"/>
            <a:ext cx="34290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7" name="text-76">
            <a:extLst xmlns:a="http://schemas.openxmlformats.org/drawingml/2006/main">
              <a:ext uri="{FF2B5EF4-FFF2-40B4-BE49-F238E27FC236}">
                <a16:creationId xmlns:a16="http://schemas.microsoft.com/office/drawing/2014/main" id="{65BB40F9-76A4-4C35-90C7-23AB19EBA9B0}"/>
              </a:ext>
            </a:extLst>
          </p:cNvPr>
          <p:cNvSpPr>
            <a:spLocks xmlns:a="http://schemas.openxmlformats.org/drawingml/2006/main" noGrp="1"/>
          </p:cNvSpPr>
          <p:nvPr/>
        </p:nvSpPr>
        <p:spPr>
          <a:xfrm xmlns:a="http://schemas.openxmlformats.org/drawingml/2006/main">
            <a:off x="5467350" y="3638550"/>
            <a:ext cx="3048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Roundtable</a:t>
            </a:r>
          </a:p>
        </p:txBody>
      </p:sp>
      <p:sp>
        <p:nvSpPr>
          <p:cNvPr id="8" name="text-77">
            <a:extLst xmlns:a="http://schemas.openxmlformats.org/drawingml/2006/main">
              <a:ext uri="{FF2B5EF4-FFF2-40B4-BE49-F238E27FC236}">
                <a16:creationId xmlns:a16="http://schemas.microsoft.com/office/drawing/2014/main" id="{E27993DC-C3C4-4B85-B4F9-55A9D27F7A5D}"/>
              </a:ext>
            </a:extLst>
          </p:cNvPr>
          <p:cNvSpPr>
            <a:spLocks xmlns:a="http://schemas.openxmlformats.org/drawingml/2006/main" noGrp="1"/>
          </p:cNvSpPr>
          <p:nvPr/>
        </p:nvSpPr>
        <p:spPr>
          <a:xfrm xmlns:a="http://schemas.openxmlformats.org/drawingml/2006/main">
            <a:off x="5467350" y="4034790"/>
            <a:ext cx="30480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Clean transcript</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Extract notes and actions</a:t>
            </a:r>
          </a:p>
        </p:txBody>
      </p:sp>
      <p:sp>
        <p:nvSpPr>
          <p:cNvPr id="9" name="node-78">
            <a:extLst xmlns:a="http://schemas.openxmlformats.org/drawingml/2006/main">
              <a:ext uri="{FF2B5EF4-FFF2-40B4-BE49-F238E27FC236}">
                <a16:creationId xmlns:a16="http://schemas.microsoft.com/office/drawing/2014/main" id="{4010F8E3-71EF-46BE-A94C-E5B0D5A64B03}"/>
              </a:ext>
            </a:extLst>
          </p:cNvPr>
          <p:cNvSpPr>
            <a:spLocks xmlns:a="http://schemas.openxmlformats.org/drawingml/2006/main" noGrp="1"/>
          </p:cNvSpPr>
          <p:nvPr/>
        </p:nvSpPr>
        <p:spPr>
          <a:xfrm xmlns:a="http://schemas.openxmlformats.org/drawingml/2006/main">
            <a:off x="10915650" y="195262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79">
            <a:extLst xmlns:a="http://schemas.openxmlformats.org/drawingml/2006/main">
              <a:ext uri="{FF2B5EF4-FFF2-40B4-BE49-F238E27FC236}">
                <a16:creationId xmlns:a16="http://schemas.microsoft.com/office/drawing/2014/main" id="{6CFF752D-8DC2-4D3E-B78A-9044ED5AD97D}"/>
              </a:ext>
            </a:extLst>
          </p:cNvPr>
          <p:cNvSpPr>
            <a:spLocks xmlns:a="http://schemas.openxmlformats.org/drawingml/2006/main" noGrp="1"/>
          </p:cNvSpPr>
          <p:nvPr/>
        </p:nvSpPr>
        <p:spPr>
          <a:xfrm xmlns:a="http://schemas.openxmlformats.org/drawingml/2006/main">
            <a:off x="11106150" y="2114550"/>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Member website</a:t>
            </a:r>
          </a:p>
        </p:txBody>
      </p:sp>
      <p:sp>
        <p:nvSpPr>
          <p:cNvPr id="11" name="text-80">
            <a:extLst xmlns:a="http://schemas.openxmlformats.org/drawingml/2006/main">
              <a:ext uri="{FF2B5EF4-FFF2-40B4-BE49-F238E27FC236}">
                <a16:creationId xmlns:a16="http://schemas.microsoft.com/office/drawing/2014/main" id="{A6882D56-D19A-444B-AB63-E402019146C9}"/>
              </a:ext>
            </a:extLst>
          </p:cNvPr>
          <p:cNvSpPr>
            <a:spLocks xmlns:a="http://schemas.openxmlformats.org/drawingml/2006/main" noGrp="1"/>
          </p:cNvSpPr>
          <p:nvPr/>
        </p:nvSpPr>
        <p:spPr>
          <a:xfrm xmlns:a="http://schemas.openxmlformats.org/drawingml/2006/main">
            <a:off x="11106150" y="2510790"/>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Transcript + separate notes</a:t>
            </a:r>
          </a:p>
        </p:txBody>
      </p:sp>
      <p:sp>
        <p:nvSpPr>
          <p:cNvPr id="12" name="node-81">
            <a:extLst xmlns:a="http://schemas.openxmlformats.org/drawingml/2006/main">
              <a:ext uri="{FF2B5EF4-FFF2-40B4-BE49-F238E27FC236}">
                <a16:creationId xmlns:a16="http://schemas.microsoft.com/office/drawing/2014/main" id="{44742EBF-EDD7-4520-8410-48E1919730C7}"/>
              </a:ext>
            </a:extLst>
          </p:cNvPr>
          <p:cNvSpPr>
            <a:spLocks xmlns:a="http://schemas.openxmlformats.org/drawingml/2006/main" noGrp="1"/>
          </p:cNvSpPr>
          <p:nvPr/>
        </p:nvSpPr>
        <p:spPr>
          <a:xfrm xmlns:a="http://schemas.openxmlformats.org/drawingml/2006/main">
            <a:off x="10915650" y="4191000"/>
            <a:ext cx="3714750" cy="11430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82">
            <a:extLst xmlns:a="http://schemas.openxmlformats.org/drawingml/2006/main">
              <a:ext uri="{FF2B5EF4-FFF2-40B4-BE49-F238E27FC236}">
                <a16:creationId xmlns:a16="http://schemas.microsoft.com/office/drawing/2014/main" id="{646F40F9-0907-4915-9054-2D8F4CC6F753}"/>
              </a:ext>
            </a:extLst>
          </p:cNvPr>
          <p:cNvSpPr>
            <a:spLocks xmlns:a="http://schemas.openxmlformats.org/drawingml/2006/main" noGrp="1"/>
          </p:cNvSpPr>
          <p:nvPr/>
        </p:nvSpPr>
        <p:spPr>
          <a:xfrm xmlns:a="http://schemas.openxmlformats.org/drawingml/2006/main">
            <a:off x="11106150" y="4352925"/>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tasks</a:t>
            </a:r>
          </a:p>
        </p:txBody>
      </p:sp>
      <p:sp>
        <p:nvSpPr>
          <p:cNvPr id="14" name="text-83">
            <a:extLst xmlns:a="http://schemas.openxmlformats.org/drawingml/2006/main">
              <a:ext uri="{FF2B5EF4-FFF2-40B4-BE49-F238E27FC236}">
                <a16:creationId xmlns:a16="http://schemas.microsoft.com/office/drawing/2014/main" id="{9D610905-2C51-4E42-A12D-618A5810B610}"/>
              </a:ext>
            </a:extLst>
          </p:cNvPr>
          <p:cNvSpPr>
            <a:spLocks xmlns:a="http://schemas.openxmlformats.org/drawingml/2006/main" noGrp="1"/>
          </p:cNvSpPr>
          <p:nvPr/>
        </p:nvSpPr>
        <p:spPr>
          <a:xfrm xmlns:a="http://schemas.openxmlformats.org/drawingml/2006/main">
            <a:off x="11106150" y="4749165"/>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Source-linked follow-up</a:t>
            </a:r>
          </a:p>
        </p:txBody>
      </p:sp>
      <p:sp>
        <p:nvSpPr>
          <p:cNvPr id="15" name="node-84">
            <a:extLst xmlns:a="http://schemas.openxmlformats.org/drawingml/2006/main">
              <a:ext uri="{FF2B5EF4-FFF2-40B4-BE49-F238E27FC236}">
                <a16:creationId xmlns:a16="http://schemas.microsoft.com/office/drawing/2014/main" id="{A50885F1-EE6E-4428-A028-0ADA08DEFDDB}"/>
              </a:ext>
            </a:extLst>
          </p:cNvPr>
          <p:cNvSpPr>
            <a:spLocks xmlns:a="http://schemas.openxmlformats.org/drawingml/2006/main" noGrp="1"/>
          </p:cNvSpPr>
          <p:nvPr/>
        </p:nvSpPr>
        <p:spPr>
          <a:xfrm xmlns:a="http://schemas.openxmlformats.org/drawingml/2006/main">
            <a:off x="10915650" y="642937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85">
            <a:extLst xmlns:a="http://schemas.openxmlformats.org/drawingml/2006/main">
              <a:ext uri="{FF2B5EF4-FFF2-40B4-BE49-F238E27FC236}">
                <a16:creationId xmlns:a16="http://schemas.microsoft.com/office/drawing/2014/main" id="{58465C16-802D-4D8F-BE8B-73188D189D05}"/>
              </a:ext>
            </a:extLst>
          </p:cNvPr>
          <p:cNvSpPr>
            <a:spLocks xmlns:a="http://schemas.openxmlformats.org/drawingml/2006/main" noGrp="1"/>
          </p:cNvSpPr>
          <p:nvPr/>
        </p:nvSpPr>
        <p:spPr>
          <a:xfrm xmlns:a="http://schemas.openxmlformats.org/drawingml/2006/main">
            <a:off x="11106150" y="6591300"/>
            <a:ext cx="3333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SQL knowledge</a:t>
            </a:r>
          </a:p>
        </p:txBody>
      </p:sp>
      <p:sp>
        <p:nvSpPr>
          <p:cNvPr id="17" name="text-86">
            <a:extLst xmlns:a="http://schemas.openxmlformats.org/drawingml/2006/main">
              <a:ext uri="{FF2B5EF4-FFF2-40B4-BE49-F238E27FC236}">
                <a16:creationId xmlns:a16="http://schemas.microsoft.com/office/drawing/2014/main" id="{FEA54449-E996-4E81-8FC7-F70151FA6996}"/>
              </a:ext>
            </a:extLst>
          </p:cNvPr>
          <p:cNvSpPr>
            <a:spLocks xmlns:a="http://schemas.openxmlformats.org/drawingml/2006/main" noGrp="1"/>
          </p:cNvSpPr>
          <p:nvPr/>
        </p:nvSpPr>
        <p:spPr>
          <a:xfrm xmlns:a="http://schemas.openxmlformats.org/drawingml/2006/main">
            <a:off x="11106150" y="6964299"/>
            <a:ext cx="33337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Reviewed facts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decisions</a:t>
            </a:r>
          </a:p>
        </p:txBody>
      </p:sp>
      <p:sp>
        <p:nvSpPr>
          <p:cNvPr id="19" name="text-87">
            <a:extLst xmlns:a="http://schemas.openxmlformats.org/drawingml/2006/main">
              <a:ext uri="{FF2B5EF4-FFF2-40B4-BE49-F238E27FC236}">
                <a16:creationId xmlns:a16="http://schemas.microsoft.com/office/drawing/2014/main" id="{21D85B3C-1AF9-42B1-A1BC-265472954D05}"/>
              </a:ext>
            </a:extLst>
          </p:cNvPr>
          <p:cNvSpPr>
            <a:spLocks xmlns:a="http://schemas.openxmlformats.org/drawingml/2006/main" noGrp="1"/>
          </p:cNvSpPr>
          <p:nvPr/>
        </p:nvSpPr>
        <p:spPr>
          <a:xfrm xmlns:a="http://schemas.openxmlformats.org/drawingml/2006/main">
            <a:off x="3752850" y="3571875"/>
            <a:ext cx="152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Drive access</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needed</a:t>
            </a:r>
          </a:p>
        </p:txBody>
      </p:sp>
      <p:cxnSp>
        <p:nvCxnSpPr>
          <p:cNvPr id="20" name="flow-88">
            <a:extLst xmlns:a="http://schemas.openxmlformats.org/drawingml/2006/main">
              <a:ext uri="{FF2B5EF4-FFF2-40B4-BE49-F238E27FC236}">
                <a16:creationId xmlns:a16="http://schemas.microsoft.com/office/drawing/2014/main" id="{ECBA7BA3-1981-4B0E-BC5D-32AF0B2C3A10}"/>
              </a:ext>
            </a:extLst>
          </p:cNvPr>
          <p:cNvCxnSpPr/>
          <p:nvPr/>
        </p:nvCxnSpPr>
        <p:spPr>
          <a:xfrm xmlns:a="http://schemas.openxmlformats.org/drawingml/2006/main" flipH="0" flipV="0">
            <a:off x="8705850" y="3810000"/>
            <a:ext cx="952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flow-89">
            <a:extLst xmlns:a="http://schemas.openxmlformats.org/drawingml/2006/main">
              <a:ext uri="{FF2B5EF4-FFF2-40B4-BE49-F238E27FC236}">
                <a16:creationId xmlns:a16="http://schemas.microsoft.com/office/drawing/2014/main" id="{E2A839E8-6546-4C9C-95CE-DAFBB2B3CFD7}"/>
              </a:ext>
            </a:extLst>
          </p:cNvPr>
          <p:cNvCxnSpPr/>
          <p:nvPr/>
        </p:nvCxnSpPr>
        <p:spPr>
          <a:xfrm xmlns:a="http://schemas.openxmlformats.org/drawingml/2006/main" flipH="0" flipV="1">
            <a:off x="9658350" y="2571750"/>
            <a:ext cx="0" cy="123825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flow-90">
            <a:extLst xmlns:a="http://schemas.openxmlformats.org/drawingml/2006/main">
              <a:ext uri="{FF2B5EF4-FFF2-40B4-BE49-F238E27FC236}">
                <a16:creationId xmlns:a16="http://schemas.microsoft.com/office/drawing/2014/main" id="{75AD852A-AD0F-4F8B-8E4E-874992AA8D7B}"/>
              </a:ext>
            </a:extLst>
          </p:cNvPr>
          <p:cNvCxnSpPr/>
          <p:nvPr/>
        </p:nvCxnSpPr>
        <p:spPr>
          <a:xfrm xmlns:a="http://schemas.openxmlformats.org/drawingml/2006/main" flipH="0" flipV="0">
            <a:off x="9658350" y="2571750"/>
            <a:ext cx="1257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text-91">
            <a:extLst xmlns:a="http://schemas.openxmlformats.org/drawingml/2006/main">
              <a:ext uri="{FF2B5EF4-FFF2-40B4-BE49-F238E27FC236}">
                <a16:creationId xmlns:a16="http://schemas.microsoft.com/office/drawing/2014/main" id="{F40C7129-223D-4550-8938-7E09F56D003E}"/>
              </a:ext>
            </a:extLst>
          </p:cNvPr>
          <p:cNvSpPr>
            <a:spLocks xmlns:a="http://schemas.openxmlformats.org/drawingml/2006/main" noGrp="1"/>
          </p:cNvSpPr>
          <p:nvPr/>
        </p:nvSpPr>
        <p:spPr>
          <a:xfrm xmlns:a="http://schemas.openxmlformats.org/drawingml/2006/main">
            <a:off x="8858250" y="20002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Publish and</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read back</a:t>
            </a:r>
          </a:p>
        </p:txBody>
      </p:sp>
      <p:cxnSp>
        <p:nvCxnSpPr>
          <p:cNvPr id="24" name="flow-92">
            <a:extLst xmlns:a="http://schemas.openxmlformats.org/drawingml/2006/main">
              <a:ext uri="{FF2B5EF4-FFF2-40B4-BE49-F238E27FC236}">
                <a16:creationId xmlns:a16="http://schemas.microsoft.com/office/drawing/2014/main" id="{FA2DC789-0826-4B6E-9C00-9E99A7AED793}"/>
              </a:ext>
            </a:extLst>
          </p:cNvPr>
          <p:cNvCxnSpPr/>
          <p:nvPr/>
        </p:nvCxnSpPr>
        <p:spPr>
          <a:xfrm xmlns:a="http://schemas.openxmlformats.org/drawingml/2006/main" flipH="0" flipV="0">
            <a:off x="8705850" y="4476750"/>
            <a:ext cx="10096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flow-93">
            <a:extLst xmlns:a="http://schemas.openxmlformats.org/drawingml/2006/main">
              <a:ext uri="{FF2B5EF4-FFF2-40B4-BE49-F238E27FC236}">
                <a16:creationId xmlns:a16="http://schemas.microsoft.com/office/drawing/2014/main" id="{E07AB091-7A1D-4095-974E-58D9F48B9802}"/>
              </a:ext>
            </a:extLst>
          </p:cNvPr>
          <p:cNvCxnSpPr/>
          <p:nvPr/>
        </p:nvCxnSpPr>
        <p:spPr>
          <a:xfrm xmlns:a="http://schemas.openxmlformats.org/drawingml/2006/main" flipH="0" flipV="0">
            <a:off x="9715500" y="4476750"/>
            <a:ext cx="0" cy="285750"/>
          </a:xfrm>
          <a:prstGeom xmlns:a="http://schemas.openxmlformats.org/drawingml/2006/main" prst="straightConnector1">
            <a:avLst/>
          </a:prstGeom>
          <a:ln xmlns:a="http://schemas.openxmlformats.org/drawingml/2006/main" w="23813">
            <a:solidFill>
              <a:srgbClr val="157D80"/>
            </a:solidFill>
            <a:prstDash val="solid"/>
          </a:ln>
        </p:spPr>
      </p:cxnSp>
      <p:cxnSp>
        <p:nvCxnSpPr>
          <p:cNvPr id="26" name="flow-94">
            <a:extLst xmlns:a="http://schemas.openxmlformats.org/drawingml/2006/main">
              <a:ext uri="{FF2B5EF4-FFF2-40B4-BE49-F238E27FC236}">
                <a16:creationId xmlns:a16="http://schemas.microsoft.com/office/drawing/2014/main" id="{E1D9D3EB-FFF5-4F8D-B59F-A1F03508967B}"/>
              </a:ext>
            </a:extLst>
          </p:cNvPr>
          <p:cNvCxnSpPr/>
          <p:nvPr/>
        </p:nvCxnSpPr>
        <p:spPr>
          <a:xfrm xmlns:a="http://schemas.openxmlformats.org/drawingml/2006/main" flipH="0" flipV="0">
            <a:off x="9715500" y="4762500"/>
            <a:ext cx="12001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7" name="text-95">
            <a:extLst xmlns:a="http://schemas.openxmlformats.org/drawingml/2006/main">
              <a:ext uri="{FF2B5EF4-FFF2-40B4-BE49-F238E27FC236}">
                <a16:creationId xmlns:a16="http://schemas.microsoft.com/office/drawing/2014/main" id="{883D4F9A-276C-4500-A828-357D051BA112}"/>
              </a:ext>
            </a:extLst>
          </p:cNvPr>
          <p:cNvSpPr>
            <a:spLocks xmlns:a="http://schemas.openxmlformats.org/drawingml/2006/main" noGrp="1"/>
          </p:cNvSpPr>
          <p:nvPr/>
        </p:nvSpPr>
        <p:spPr>
          <a:xfrm xmlns:a="http://schemas.openxmlformats.org/drawingml/2006/main">
            <a:off x="8782050" y="49911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Native follow-up</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implemented</a:t>
            </a:r>
          </a:p>
        </p:txBody>
      </p:sp>
      <p:cxnSp>
        <p:nvCxnSpPr>
          <p:cNvPr id="28" name="flow-96">
            <a:extLst xmlns:a="http://schemas.openxmlformats.org/drawingml/2006/main">
              <a:ext uri="{FF2B5EF4-FFF2-40B4-BE49-F238E27FC236}">
                <a16:creationId xmlns:a16="http://schemas.microsoft.com/office/drawing/2014/main" id="{5A208F3C-C5BF-4E55-A71C-A9A66F0B9953}"/>
              </a:ext>
            </a:extLst>
          </p:cNvPr>
          <p:cNvCxnSpPr/>
          <p:nvPr/>
        </p:nvCxnSpPr>
        <p:spPr>
          <a:xfrm xmlns:a="http://schemas.openxmlformats.org/drawingml/2006/main" flipH="0" flipV="0">
            <a:off x="6991350" y="4905375"/>
            <a:ext cx="0" cy="2143125"/>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97">
            <a:extLst xmlns:a="http://schemas.openxmlformats.org/drawingml/2006/main">
              <a:ext uri="{FF2B5EF4-FFF2-40B4-BE49-F238E27FC236}">
                <a16:creationId xmlns:a16="http://schemas.microsoft.com/office/drawing/2014/main" id="{0A2E3973-5893-4A0A-99F9-E2E1B31D5AF0}"/>
              </a:ext>
            </a:extLst>
          </p:cNvPr>
          <p:cNvCxnSpPr/>
          <p:nvPr/>
        </p:nvCxnSpPr>
        <p:spPr>
          <a:xfrm xmlns:a="http://schemas.openxmlformats.org/drawingml/2006/main" flipH="0" flipV="0">
            <a:off x="6991350" y="7048500"/>
            <a:ext cx="3924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98">
            <a:extLst xmlns:a="http://schemas.openxmlformats.org/drawingml/2006/main">
              <a:ext uri="{FF2B5EF4-FFF2-40B4-BE49-F238E27FC236}">
                <a16:creationId xmlns:a16="http://schemas.microsoft.com/office/drawing/2014/main" id="{F5B98C40-24F0-45BB-8990-CEF695E0114B}"/>
              </a:ext>
            </a:extLst>
          </p:cNvPr>
          <p:cNvSpPr>
            <a:spLocks xmlns:a="http://schemas.openxmlformats.org/drawingml/2006/main" noGrp="1"/>
          </p:cNvSpPr>
          <p:nvPr/>
        </p:nvSpPr>
        <p:spPr>
          <a:xfrm xmlns:a="http://schemas.openxmlformats.org/drawingml/2006/main">
            <a:off x="7400925" y="6238875"/>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Trusted admission</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integration pending</a:t>
            </a:r>
          </a:p>
        </p:txBody>
      </p:sp>
      <p:sp>
        <p:nvSpPr>
          <p:cNvPr id="31" name="text-99">
            <a:extLst xmlns:a="http://schemas.openxmlformats.org/drawingml/2006/main">
              <a:ext uri="{FF2B5EF4-FFF2-40B4-BE49-F238E27FC236}">
                <a16:creationId xmlns:a16="http://schemas.microsoft.com/office/drawing/2014/main" id="{5E897F6B-4556-4565-AD9C-6795FFD5AD46}"/>
              </a:ext>
            </a:extLst>
          </p:cNvPr>
          <p:cNvSpPr>
            <a:spLocks xmlns:a="http://schemas.openxmlformats.org/drawingml/2006/main" noGrp="1"/>
          </p:cNvSpPr>
          <p:nvPr/>
        </p:nvSpPr>
        <p:spPr>
          <a:xfrm xmlns:a="http://schemas.openxmlformats.org/drawingml/2006/main">
            <a:off x="10915650" y="3314700"/>
            <a:ext cx="3714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Website integration pending</a:t>
            </a:r>
          </a:p>
        </p:txBody>
      </p:sp>
      <p:sp>
        <p:nvSpPr>
          <p:cNvPr id="32" name="text-100">
            <a:extLst xmlns:a="http://schemas.openxmlformats.org/drawingml/2006/main">
              <a:ext uri="{FF2B5EF4-FFF2-40B4-BE49-F238E27FC236}">
                <a16:creationId xmlns:a16="http://schemas.microsoft.com/office/drawing/2014/main" id="{1E7F887D-5A28-464A-BE1E-D2CA24D6C050}"/>
              </a:ext>
            </a:extLst>
          </p:cNvPr>
          <p:cNvSpPr>
            <a:spLocks xmlns:a="http://schemas.openxmlformats.org/drawingml/2006/main" noGrp="1"/>
          </p:cNvSpPr>
          <p:nvPr/>
        </p:nvSpPr>
        <p:spPr>
          <a:xfrm xmlns:a="http://schemas.openxmlformats.org/drawingml/2006/main">
            <a:off x="609600" y="61912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57D80"/>
                </a:solidFill>
                <a:latin typeface="Aptos"/>
                <a:ea typeface="Aptos"/>
                <a:cs typeface="Aptos"/>
              </a:defRPr>
            </a:defPPr>
            <a:lvl1pPr algn="l">
              <a:buNone/>
              <a:defRPr sz="2025" b="1">
                <a:solidFill>
                  <a:srgbClr val="157D80"/>
                </a:solidFill>
                <a:latin typeface="Aptos"/>
                <a:ea typeface="Aptos"/>
                <a:cs typeface="Aptos"/>
              </a:defRPr>
            </a:lvl1pPr>
            <a:lvl2pPr algn="l">
              <a:buNone/>
              <a:defRPr sz="2025" b="1">
                <a:solidFill>
                  <a:srgbClr val="157D80"/>
                </a:solidFill>
                <a:latin typeface="Aptos"/>
                <a:ea typeface="Aptos"/>
                <a:cs typeface="Aptos"/>
              </a:defRPr>
            </a:lvl2pPr>
            <a:lvl3pPr algn="l">
              <a:buNone/>
              <a:defRPr sz="2025" b="1">
                <a:solidFill>
                  <a:srgbClr val="157D80"/>
                </a:solidFill>
                <a:latin typeface="Aptos"/>
                <a:ea typeface="Aptos"/>
                <a:cs typeface="Aptos"/>
              </a:defRPr>
            </a:lvl3pPr>
            <a:lvl4pPr algn="l">
              <a:buNone/>
              <a:defRPr sz="2025" b="1">
                <a:solidFill>
                  <a:srgbClr val="157D80"/>
                </a:solidFill>
                <a:latin typeface="Aptos"/>
                <a:ea typeface="Aptos"/>
                <a:cs typeface="Aptos"/>
              </a:defRPr>
            </a:lvl4pPr>
            <a:lvl5pPr algn="l">
              <a:buNone/>
              <a:defRPr sz="2025" b="1">
                <a:solidFill>
                  <a:srgbClr val="157D80"/>
                </a:solidFill>
                <a:latin typeface="Aptos"/>
                <a:ea typeface="Aptos"/>
                <a:cs typeface="Aptos"/>
              </a:defRPr>
            </a:lvl5pPr>
            <a:lvl6pPr algn="l">
              <a:buNone/>
              <a:defRPr sz="2025" b="1">
                <a:solidFill>
                  <a:srgbClr val="157D80"/>
                </a:solidFill>
                <a:latin typeface="Aptos"/>
                <a:ea typeface="Aptos"/>
                <a:cs typeface="Aptos"/>
              </a:defRPr>
            </a:lvl6pPr>
            <a:lvl7pPr algn="l">
              <a:buNone/>
              <a:defRPr sz="2025" b="1">
                <a:solidFill>
                  <a:srgbClr val="157D80"/>
                </a:solidFill>
                <a:latin typeface="Aptos"/>
                <a:ea typeface="Aptos"/>
                <a:cs typeface="Aptos"/>
              </a:defRPr>
            </a:lvl7pPr>
            <a:lvl8pPr algn="l">
              <a:buNone/>
              <a:defRPr sz="2025" b="1">
                <a:solidFill>
                  <a:srgbClr val="157D80"/>
                </a:solidFill>
                <a:latin typeface="Aptos"/>
                <a:ea typeface="Aptos"/>
                <a:cs typeface="Aptos"/>
              </a:defRPr>
            </a:lvl8pPr>
            <a:lvl9pPr algn="l">
              <a:buNone/>
              <a:defRPr sz="2025" b="1">
                <a:solidFill>
                  <a:srgbClr val="157D80"/>
                </a:solidFill>
                <a:latin typeface="Aptos"/>
                <a:ea typeface="Aptos"/>
                <a:cs typeface="Aptos"/>
              </a:defRPr>
            </a:lvl9pPr>
          </a:lstStyle>
          <a:p xmlns:a="http://schemas.openxmlformats.org/drawingml/2006/main">
            <a:pPr algn="l">
              <a:buNone/>
              <a:defRPr sz="2025" b="1">
                <a:solidFill>
                  <a:srgbClr val="157D80"/>
                </a:solidFill>
                <a:latin typeface="Aptos"/>
                <a:ea typeface="Aptos"/>
                <a:cs typeface="Aptos"/>
              </a:defRPr>
            </a:pPr>
            <a:r>
              <a:rPr sz="2025" b="1">
                <a:solidFill>
                  <a:srgbClr val="157D80"/>
                </a:solidFill>
                <a:latin typeface="Aptos"/>
                <a:ea typeface="Aptos"/>
                <a:cs typeface="Aptos"/>
              </a:rPr>
              <a:t>Source and native follow-up merged</a:t>
            </a:r>
          </a:p>
        </p:txBody>
      </p:sp>
      <p:sp>
        <p:nvSpPr>
          <p:cNvPr id="33" name="text-101">
            <a:extLst xmlns:a="http://schemas.openxmlformats.org/drawingml/2006/main">
              <a:ext uri="{FF2B5EF4-FFF2-40B4-BE49-F238E27FC236}">
                <a16:creationId xmlns:a16="http://schemas.microsoft.com/office/drawing/2014/main" id="{93FCA38A-0E4C-42C5-97D3-3F720990DDE6}"/>
              </a:ext>
            </a:extLst>
          </p:cNvPr>
          <p:cNvSpPr>
            <a:spLocks xmlns:a="http://schemas.openxmlformats.org/drawingml/2006/main" noGrp="1"/>
          </p:cNvSpPr>
          <p:nvPr/>
        </p:nvSpPr>
        <p:spPr>
          <a:xfrm xmlns:a="http://schemas.openxmlformats.org/drawingml/2006/main">
            <a:off x="609600" y="6734175"/>
            <a:ext cx="5143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Published links return to the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Paperclip task and Buzz thread</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E3BD5345-3BBC-4AAE-B146-EBE85BBEC941}"/>
              </a:ext>
            </a:extLst>
          </p:cNvPr>
          <p:cNvCxnSpPr>
            <a:stCxn xmlns:a="http://schemas.openxmlformats.org/drawingml/2006/main" id="25" idx="1"/>
            <a:endCxn xmlns:a="http://schemas.openxmlformats.org/drawingml/2006/main" id="28" idx="3"/>
          </p:cNvCxnSpPr>
          <p:nvPr/>
        </p:nvCxnSpPr>
        <p:spPr>
          <a:xfrm xmlns:a="http://schemas.openxmlformats.org/drawingml/2006/main" flipH="1">
            <a:off x="31813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4" name="">
            <a:extLst xmlns:a="http://schemas.openxmlformats.org/drawingml/2006/main">
              <a:ext uri="{FF2B5EF4-FFF2-40B4-BE49-F238E27FC236}">
                <a16:creationId xmlns:a16="http://schemas.microsoft.com/office/drawing/2014/main" id="{B35B69E9-BB66-4627-8192-753F73F57ED1}"/>
              </a:ext>
            </a:extLst>
          </p:cNvPr>
          <p:cNvCxnSpPr>
            <a:stCxn xmlns:a="http://schemas.openxmlformats.org/drawingml/2006/main" id="22" idx="1"/>
            <a:endCxn xmlns:a="http://schemas.openxmlformats.org/drawingml/2006/main" id="25" idx="3"/>
          </p:cNvCxnSpPr>
          <p:nvPr/>
        </p:nvCxnSpPr>
        <p:spPr>
          <a:xfrm xmlns:a="http://schemas.openxmlformats.org/drawingml/2006/main" flipH="1">
            <a:off x="63817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3" name="">
            <a:extLst xmlns:a="http://schemas.openxmlformats.org/drawingml/2006/main">
              <a:ext uri="{FF2B5EF4-FFF2-40B4-BE49-F238E27FC236}">
                <a16:creationId xmlns:a16="http://schemas.microsoft.com/office/drawing/2014/main" id="{5F2E91EF-40C2-4E36-8551-B70EC49452D6}"/>
              </a:ext>
            </a:extLst>
          </p:cNvPr>
          <p:cNvCxnSpPr>
            <a:stCxn xmlns:a="http://schemas.openxmlformats.org/drawingml/2006/main" id="19" idx="1"/>
            <a:endCxn xmlns:a="http://schemas.openxmlformats.org/drawingml/2006/main" id="22" idx="3"/>
          </p:cNvCxnSpPr>
          <p:nvPr/>
        </p:nvCxnSpPr>
        <p:spPr>
          <a:xfrm xmlns:a="http://schemas.openxmlformats.org/drawingml/2006/main" flipH="1">
            <a:off x="10153650" y="6429375"/>
            <a:ext cx="9906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56BE6817-A69B-4BF8-8308-FC8412A3AB49}"/>
              </a:ext>
            </a:extLst>
          </p:cNvPr>
          <p:cNvCxnSpPr>
            <a:stCxn xmlns:a="http://schemas.openxmlformats.org/drawingml/2006/main" id="6" idx="3"/>
            <a:endCxn xmlns:a="http://schemas.openxmlformats.org/drawingml/2006/main" id="9" idx="1"/>
          </p:cNvCxnSpPr>
          <p:nvPr/>
        </p:nvCxnSpPr>
        <p:spPr>
          <a:xfrm xmlns:a="http://schemas.openxmlformats.org/drawingml/2006/main">
            <a:off x="8896350" y="2952750"/>
            <a:ext cx="13906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697B271D-53D4-4000-8ED5-39E0C5448C1C}"/>
              </a:ext>
            </a:extLst>
          </p:cNvPr>
          <p:cNvCxnSpPr>
            <a:stCxn xmlns:a="http://schemas.openxmlformats.org/drawingml/2006/main" id="3" idx="3"/>
            <a:endCxn xmlns:a="http://schemas.openxmlformats.org/drawingml/2006/main" id="6" idx="1"/>
          </p:cNvCxnSpPr>
          <p:nvPr/>
        </p:nvCxnSpPr>
        <p:spPr>
          <a:xfrm xmlns:a="http://schemas.openxmlformats.org/drawingml/2006/main">
            <a:off x="3676650" y="2952750"/>
            <a:ext cx="11811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2" name="text-102">
            <a:extLst xmlns:a="http://schemas.openxmlformats.org/drawingml/2006/main">
              <a:ext uri="{FF2B5EF4-FFF2-40B4-BE49-F238E27FC236}">
                <a16:creationId xmlns:a16="http://schemas.microsoft.com/office/drawing/2014/main" id="{0CFDCA0A-F589-4598-B2CE-CAEC54FF1065}"/>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Application preparation and submitted record</a:t>
            </a:r>
          </a:p>
        </p:txBody>
      </p:sp>
      <p:sp>
        <p:nvSpPr>
          <p:cNvPr id="2" name="text-103">
            <a:extLst xmlns:a="http://schemas.openxmlformats.org/drawingml/2006/main">
              <a:ext uri="{FF2B5EF4-FFF2-40B4-BE49-F238E27FC236}">
                <a16:creationId xmlns:a16="http://schemas.microsoft.com/office/drawing/2014/main" id="{C5CCC50F-80C0-4663-B0D7-176E5D9DE13A}"/>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4</a:t>
            </a:r>
          </a:p>
        </p:txBody>
      </p:sp>
      <p:sp>
        <p:nvSpPr>
          <p:cNvPr id="3" name="node-104">
            <a:extLst xmlns:a="http://schemas.openxmlformats.org/drawingml/2006/main">
              <a:ext uri="{FF2B5EF4-FFF2-40B4-BE49-F238E27FC236}">
                <a16:creationId xmlns:a16="http://schemas.microsoft.com/office/drawing/2014/main" id="{243EBB9E-910A-4AB8-B55E-F99A9D67977E}"/>
              </a:ext>
            </a:extLst>
          </p:cNvPr>
          <p:cNvSpPr>
            <a:spLocks xmlns:a="http://schemas.openxmlformats.org/drawingml/2006/main" noGrp="1"/>
          </p:cNvSpPr>
          <p:nvPr/>
        </p:nvSpPr>
        <p:spPr>
          <a:xfrm xmlns:a="http://schemas.openxmlformats.org/drawingml/2006/main">
            <a:off x="609600" y="2095500"/>
            <a:ext cx="306705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105">
            <a:extLst xmlns:a="http://schemas.openxmlformats.org/drawingml/2006/main">
              <a:ext uri="{FF2B5EF4-FFF2-40B4-BE49-F238E27FC236}">
                <a16:creationId xmlns:a16="http://schemas.microsoft.com/office/drawing/2014/main" id="{ED34AFFB-7132-46CB-9D41-9BF924792E66}"/>
              </a:ext>
            </a:extLst>
          </p:cNvPr>
          <p:cNvSpPr>
            <a:spLocks xmlns:a="http://schemas.openxmlformats.org/drawingml/2006/main" noGrp="1"/>
          </p:cNvSpPr>
          <p:nvPr/>
        </p:nvSpPr>
        <p:spPr>
          <a:xfrm xmlns:a="http://schemas.openxmlformats.org/drawingml/2006/main">
            <a:off x="800100" y="2257425"/>
            <a:ext cx="26860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Grant inputs</a:t>
            </a:r>
          </a:p>
        </p:txBody>
      </p:sp>
      <p:sp>
        <p:nvSpPr>
          <p:cNvPr id="5" name="text-106">
            <a:extLst xmlns:a="http://schemas.openxmlformats.org/drawingml/2006/main">
              <a:ext uri="{FF2B5EF4-FFF2-40B4-BE49-F238E27FC236}">
                <a16:creationId xmlns:a16="http://schemas.microsoft.com/office/drawing/2014/main" id="{A056FFDC-33BE-4CD8-A9BF-11B1C291CF74}"/>
              </a:ext>
            </a:extLst>
          </p:cNvPr>
          <p:cNvSpPr>
            <a:spLocks xmlns:a="http://schemas.openxmlformats.org/drawingml/2006/main" noGrp="1"/>
          </p:cNvSpPr>
          <p:nvPr/>
        </p:nvSpPr>
        <p:spPr>
          <a:xfrm xmlns:a="http://schemas.openxmlformats.org/drawingml/2006/main">
            <a:off x="800100" y="2642045"/>
            <a:ext cx="2686050" cy="94449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Public grant sources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DAO projects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finances</a:t>
            </a:r>
          </a:p>
        </p:txBody>
      </p:sp>
      <p:sp>
        <p:nvSpPr>
          <p:cNvPr id="6" name="node-107">
            <a:extLst xmlns:a="http://schemas.openxmlformats.org/drawingml/2006/main">
              <a:ext uri="{FF2B5EF4-FFF2-40B4-BE49-F238E27FC236}">
                <a16:creationId xmlns:a16="http://schemas.microsoft.com/office/drawing/2014/main" id="{B8893988-81E1-4360-8A1A-45D5EF38DD33}"/>
              </a:ext>
            </a:extLst>
          </p:cNvPr>
          <p:cNvSpPr>
            <a:spLocks xmlns:a="http://schemas.openxmlformats.org/drawingml/2006/main" noGrp="1"/>
          </p:cNvSpPr>
          <p:nvPr/>
        </p:nvSpPr>
        <p:spPr>
          <a:xfrm xmlns:a="http://schemas.openxmlformats.org/drawingml/2006/main">
            <a:off x="4857750" y="2095500"/>
            <a:ext cx="40386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08">
            <a:extLst xmlns:a="http://schemas.openxmlformats.org/drawingml/2006/main">
              <a:ext uri="{FF2B5EF4-FFF2-40B4-BE49-F238E27FC236}">
                <a16:creationId xmlns:a16="http://schemas.microsoft.com/office/drawing/2014/main" id="{5DB87517-8795-4E0D-ABEA-DD1739E98B76}"/>
              </a:ext>
            </a:extLst>
          </p:cNvPr>
          <p:cNvSpPr>
            <a:spLocks xmlns:a="http://schemas.openxmlformats.org/drawingml/2006/main" noGrp="1"/>
          </p:cNvSpPr>
          <p:nvPr/>
        </p:nvSpPr>
        <p:spPr>
          <a:xfrm xmlns:a="http://schemas.openxmlformats.org/drawingml/2006/main">
            <a:off x="5048250" y="2257425"/>
            <a:ext cx="36576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Research and draft</a:t>
            </a:r>
          </a:p>
        </p:txBody>
      </p:sp>
      <p:sp>
        <p:nvSpPr>
          <p:cNvPr id="8" name="text-109">
            <a:extLst xmlns:a="http://schemas.openxmlformats.org/drawingml/2006/main">
              <a:ext uri="{FF2B5EF4-FFF2-40B4-BE49-F238E27FC236}">
                <a16:creationId xmlns:a16="http://schemas.microsoft.com/office/drawing/2014/main" id="{479E62EC-C2D9-4823-A667-D6071BDDDA1B}"/>
              </a:ext>
            </a:extLst>
          </p:cNvPr>
          <p:cNvSpPr>
            <a:spLocks xmlns:a="http://schemas.openxmlformats.org/drawingml/2006/main" noGrp="1"/>
          </p:cNvSpPr>
          <p:nvPr/>
        </p:nvSpPr>
        <p:spPr>
          <a:xfrm xmlns:a="http://schemas.openxmlformats.org/drawingml/2006/main">
            <a:off x="5048250" y="2665286"/>
            <a:ext cx="36576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Query saved SQL evidence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Research gaps and save useful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findings for the next run</a:t>
            </a:r>
          </a:p>
        </p:txBody>
      </p:sp>
      <p:sp>
        <p:nvSpPr>
          <p:cNvPr id="9" name="node-110">
            <a:extLst xmlns:a="http://schemas.openxmlformats.org/drawingml/2006/main">
              <a:ext uri="{FF2B5EF4-FFF2-40B4-BE49-F238E27FC236}">
                <a16:creationId xmlns:a16="http://schemas.microsoft.com/office/drawing/2014/main" id="{1E646A86-DDF0-4B46-8696-399E3D821A93}"/>
              </a:ext>
            </a:extLst>
          </p:cNvPr>
          <p:cNvSpPr>
            <a:spLocks xmlns:a="http://schemas.openxmlformats.org/drawingml/2006/main" noGrp="1"/>
          </p:cNvSpPr>
          <p:nvPr/>
        </p:nvSpPr>
        <p:spPr>
          <a:xfrm xmlns:a="http://schemas.openxmlformats.org/drawingml/2006/main">
            <a:off x="10287000" y="2095500"/>
            <a:ext cx="43434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11">
            <a:extLst xmlns:a="http://schemas.openxmlformats.org/drawingml/2006/main">
              <a:ext uri="{FF2B5EF4-FFF2-40B4-BE49-F238E27FC236}">
                <a16:creationId xmlns:a16="http://schemas.microsoft.com/office/drawing/2014/main" id="{61AB3BE5-BE9F-4E89-B3A1-7AFF2C4FA2B4}"/>
              </a:ext>
            </a:extLst>
          </p:cNvPr>
          <p:cNvSpPr>
            <a:spLocks xmlns:a="http://schemas.openxmlformats.org/drawingml/2006/main" noGrp="1"/>
          </p:cNvSpPr>
          <p:nvPr/>
        </p:nvSpPr>
        <p:spPr>
          <a:xfrm xmlns:a="http://schemas.openxmlformats.org/drawingml/2006/main">
            <a:off x="10477500" y="2257425"/>
            <a:ext cx="39624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Independent agent review</a:t>
            </a:r>
          </a:p>
        </p:txBody>
      </p:sp>
      <p:sp>
        <p:nvSpPr>
          <p:cNvPr id="11" name="text-112">
            <a:extLst xmlns:a="http://schemas.openxmlformats.org/drawingml/2006/main">
              <a:ext uri="{FF2B5EF4-FFF2-40B4-BE49-F238E27FC236}">
                <a16:creationId xmlns:a16="http://schemas.microsoft.com/office/drawing/2014/main" id="{1B9100BC-6361-4C72-A713-B01F7E7C2065}"/>
              </a:ext>
            </a:extLst>
          </p:cNvPr>
          <p:cNvSpPr>
            <a:spLocks xmlns:a="http://schemas.openxmlformats.org/drawingml/2006/main" noGrp="1"/>
          </p:cNvSpPr>
          <p:nvPr/>
        </p:nvSpPr>
        <p:spPr>
          <a:xfrm xmlns:a="http://schemas.openxmlformats.org/drawingml/2006/main">
            <a:off x="10477500" y="2642045"/>
            <a:ext cx="39624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Claims, route and remaining gaps</a:t>
            </a:r>
          </a:p>
        </p:txBody>
      </p:sp>
      <p:cxnSp>
        <p:nvCxnSpPr>
          <p:cNvPr id="14" name="flow-113">
            <a:extLst xmlns:a="http://schemas.openxmlformats.org/drawingml/2006/main">
              <a:ext uri="{FF2B5EF4-FFF2-40B4-BE49-F238E27FC236}">
                <a16:creationId xmlns:a16="http://schemas.microsoft.com/office/drawing/2014/main" id="{AE3886ED-E661-47A4-A92C-9286A6C82E3D}"/>
              </a:ext>
            </a:extLst>
          </p:cNvPr>
          <p:cNvCxnSpPr/>
          <p:nvPr/>
        </p:nvCxnSpPr>
        <p:spPr>
          <a:xfrm xmlns:a="http://schemas.openxmlformats.org/drawingml/2006/main" flipH="1" flipV="0">
            <a:off x="9620250" y="3333750"/>
            <a:ext cx="6667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5" name="flow-114">
            <a:extLst xmlns:a="http://schemas.openxmlformats.org/drawingml/2006/main">
              <a:ext uri="{FF2B5EF4-FFF2-40B4-BE49-F238E27FC236}">
                <a16:creationId xmlns:a16="http://schemas.microsoft.com/office/drawing/2014/main" id="{C83F7109-F920-446C-8422-ABDA646EF561}"/>
              </a:ext>
            </a:extLst>
          </p:cNvPr>
          <p:cNvCxnSpPr/>
          <p:nvPr/>
        </p:nvCxnSpPr>
        <p:spPr>
          <a:xfrm xmlns:a="http://schemas.openxmlformats.org/drawingml/2006/main" flipH="0" flipV="0">
            <a:off x="9620250" y="3333750"/>
            <a:ext cx="0" cy="1104900"/>
          </a:xfrm>
          <a:prstGeom xmlns:a="http://schemas.openxmlformats.org/drawingml/2006/main" prst="straightConnector1">
            <a:avLst/>
          </a:prstGeom>
          <a:ln xmlns:a="http://schemas.openxmlformats.org/drawingml/2006/main" w="23813">
            <a:solidFill>
              <a:srgbClr val="157D80"/>
            </a:solidFill>
            <a:prstDash val="solid"/>
          </a:ln>
        </p:spPr>
      </p:cxnSp>
      <p:cxnSp>
        <p:nvCxnSpPr>
          <p:cNvPr id="16" name="flow-115">
            <a:extLst xmlns:a="http://schemas.openxmlformats.org/drawingml/2006/main">
              <a:ext uri="{FF2B5EF4-FFF2-40B4-BE49-F238E27FC236}">
                <a16:creationId xmlns:a16="http://schemas.microsoft.com/office/drawing/2014/main" id="{DCCBABF4-1E0E-42C1-ACA6-08EE16738FCB}"/>
              </a:ext>
            </a:extLst>
          </p:cNvPr>
          <p:cNvCxnSpPr/>
          <p:nvPr/>
        </p:nvCxnSpPr>
        <p:spPr>
          <a:xfrm xmlns:a="http://schemas.openxmlformats.org/drawingml/2006/main" flipH="1" flipV="0">
            <a:off x="6877050" y="4438650"/>
            <a:ext cx="2743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7" name="flow-116">
            <a:extLst xmlns:a="http://schemas.openxmlformats.org/drawingml/2006/main">
              <a:ext uri="{FF2B5EF4-FFF2-40B4-BE49-F238E27FC236}">
                <a16:creationId xmlns:a16="http://schemas.microsoft.com/office/drawing/2014/main" id="{5E48C0CC-6A8B-458C-B804-4DC1B9CBD6CC}"/>
              </a:ext>
            </a:extLst>
          </p:cNvPr>
          <p:cNvCxnSpPr/>
          <p:nvPr/>
        </p:nvCxnSpPr>
        <p:spPr>
          <a:xfrm xmlns:a="http://schemas.openxmlformats.org/drawingml/2006/main" flipH="0" flipV="1">
            <a:off x="6877050" y="3810000"/>
            <a:ext cx="0" cy="628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8" name="text-117">
            <a:extLst xmlns:a="http://schemas.openxmlformats.org/drawingml/2006/main">
              <a:ext uri="{FF2B5EF4-FFF2-40B4-BE49-F238E27FC236}">
                <a16:creationId xmlns:a16="http://schemas.microsoft.com/office/drawing/2014/main" id="{EFEB626B-0F9E-43CE-88A2-7BA0DDD522EB}"/>
              </a:ext>
            </a:extLst>
          </p:cNvPr>
          <p:cNvSpPr>
            <a:spLocks xmlns:a="http://schemas.openxmlformats.org/drawingml/2006/main" noGrp="1"/>
          </p:cNvSpPr>
          <p:nvPr/>
        </p:nvSpPr>
        <p:spPr>
          <a:xfrm xmlns:a="http://schemas.openxmlformats.org/drawingml/2006/main">
            <a:off x="7477125" y="454342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More agent work</a:t>
            </a:r>
          </a:p>
        </p:txBody>
      </p:sp>
      <p:sp>
        <p:nvSpPr>
          <p:cNvPr id="19" name="node-118">
            <a:extLst xmlns:a="http://schemas.openxmlformats.org/drawingml/2006/main">
              <a:ext uri="{FF2B5EF4-FFF2-40B4-BE49-F238E27FC236}">
                <a16:creationId xmlns:a16="http://schemas.microsoft.com/office/drawing/2014/main" id="{9F842685-5DAC-4B02-8E7E-5BDF3E780EAC}"/>
              </a:ext>
            </a:extLst>
          </p:cNvPr>
          <p:cNvSpPr>
            <a:spLocks xmlns:a="http://schemas.openxmlformats.org/drawingml/2006/main" noGrp="1"/>
          </p:cNvSpPr>
          <p:nvPr/>
        </p:nvSpPr>
        <p:spPr>
          <a:xfrm xmlns:a="http://schemas.openxmlformats.org/drawingml/2006/main">
            <a:off x="11144250" y="5715000"/>
            <a:ext cx="34861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0" name="text-119">
            <a:extLst xmlns:a="http://schemas.openxmlformats.org/drawingml/2006/main">
              <a:ext uri="{FF2B5EF4-FFF2-40B4-BE49-F238E27FC236}">
                <a16:creationId xmlns:a16="http://schemas.microsoft.com/office/drawing/2014/main" id="{4BC2D4D1-08FF-4F46-8DCF-C352B32855CF}"/>
              </a:ext>
            </a:extLst>
          </p:cNvPr>
          <p:cNvSpPr>
            <a:spLocks xmlns:a="http://schemas.openxmlformats.org/drawingml/2006/main" noGrp="1"/>
          </p:cNvSpPr>
          <p:nvPr/>
        </p:nvSpPr>
        <p:spPr>
          <a:xfrm xmlns:a="http://schemas.openxmlformats.org/drawingml/2006/main">
            <a:off x="11334750" y="5876925"/>
            <a:ext cx="31051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Member decision</a:t>
            </a:r>
          </a:p>
        </p:txBody>
      </p:sp>
      <p:sp>
        <p:nvSpPr>
          <p:cNvPr id="21" name="text-120">
            <a:extLst xmlns:a="http://schemas.openxmlformats.org/drawingml/2006/main">
              <a:ext uri="{FF2B5EF4-FFF2-40B4-BE49-F238E27FC236}">
                <a16:creationId xmlns:a16="http://schemas.microsoft.com/office/drawing/2014/main" id="{A6D4E028-A7D5-454D-96E6-E4C4B75F12B8}"/>
              </a:ext>
            </a:extLst>
          </p:cNvPr>
          <p:cNvSpPr>
            <a:spLocks xmlns:a="http://schemas.openxmlformats.org/drawingml/2006/main" noGrp="1"/>
          </p:cNvSpPr>
          <p:nvPr/>
        </p:nvSpPr>
        <p:spPr>
          <a:xfrm xmlns:a="http://schemas.openxmlformats.org/drawingml/2006/main">
            <a:off x="11334750" y="6261545"/>
            <a:ext cx="31051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DAO member</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Application action access</a:t>
            </a:r>
          </a:p>
        </p:txBody>
      </p:sp>
      <p:sp>
        <p:nvSpPr>
          <p:cNvPr id="22" name="node-121">
            <a:extLst xmlns:a="http://schemas.openxmlformats.org/drawingml/2006/main">
              <a:ext uri="{FF2B5EF4-FFF2-40B4-BE49-F238E27FC236}">
                <a16:creationId xmlns:a16="http://schemas.microsoft.com/office/drawing/2014/main" id="{FA8AC29E-61EB-45EB-B6C8-2BCE32663803}"/>
              </a:ext>
            </a:extLst>
          </p:cNvPr>
          <p:cNvSpPr>
            <a:spLocks xmlns:a="http://schemas.openxmlformats.org/drawingml/2006/main" noGrp="1"/>
          </p:cNvSpPr>
          <p:nvPr/>
        </p:nvSpPr>
        <p:spPr>
          <a:xfrm xmlns:a="http://schemas.openxmlformats.org/drawingml/2006/main">
            <a:off x="7334250" y="5715000"/>
            <a:ext cx="28194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122">
            <a:extLst xmlns:a="http://schemas.openxmlformats.org/drawingml/2006/main">
              <a:ext uri="{FF2B5EF4-FFF2-40B4-BE49-F238E27FC236}">
                <a16:creationId xmlns:a16="http://schemas.microsoft.com/office/drawing/2014/main" id="{7AC51754-927D-46DA-A8E9-6125F29BA8DD}"/>
              </a:ext>
            </a:extLst>
          </p:cNvPr>
          <p:cNvSpPr>
            <a:spLocks xmlns:a="http://schemas.openxmlformats.org/drawingml/2006/main" noGrp="1"/>
          </p:cNvSpPr>
          <p:nvPr/>
        </p:nvSpPr>
        <p:spPr>
          <a:xfrm xmlns:a="http://schemas.openxmlformats.org/drawingml/2006/main">
            <a:off x="7524750" y="5876925"/>
            <a:ext cx="24384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4" name="text-123">
            <a:extLst xmlns:a="http://schemas.openxmlformats.org/drawingml/2006/main">
              <a:ext uri="{FF2B5EF4-FFF2-40B4-BE49-F238E27FC236}">
                <a16:creationId xmlns:a16="http://schemas.microsoft.com/office/drawing/2014/main" id="{CB5DED80-66DE-4716-A0AE-A722CC3AA67B}"/>
              </a:ext>
            </a:extLst>
          </p:cNvPr>
          <p:cNvSpPr>
            <a:spLocks xmlns:a="http://schemas.openxmlformats.org/drawingml/2006/main" noGrp="1"/>
          </p:cNvSpPr>
          <p:nvPr/>
        </p:nvSpPr>
        <p:spPr>
          <a:xfrm xmlns:a="http://schemas.openxmlformats.org/drawingml/2006/main">
            <a:off x="7524750" y="6273165"/>
            <a:ext cx="2438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Member confirmation</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packet version</a:t>
            </a:r>
          </a:p>
        </p:txBody>
      </p:sp>
      <p:sp>
        <p:nvSpPr>
          <p:cNvPr id="25" name="node-124">
            <a:extLst xmlns:a="http://schemas.openxmlformats.org/drawingml/2006/main">
              <a:ext uri="{FF2B5EF4-FFF2-40B4-BE49-F238E27FC236}">
                <a16:creationId xmlns:a16="http://schemas.microsoft.com/office/drawing/2014/main" id="{4C51BAE0-587F-4C3C-ACD9-4E1BED203F43}"/>
              </a:ext>
            </a:extLst>
          </p:cNvPr>
          <p:cNvSpPr>
            <a:spLocks xmlns:a="http://schemas.openxmlformats.org/drawingml/2006/main" noGrp="1"/>
          </p:cNvSpPr>
          <p:nvPr/>
        </p:nvSpPr>
        <p:spPr>
          <a:xfrm xmlns:a="http://schemas.openxmlformats.org/drawingml/2006/main">
            <a:off x="4133850" y="5715000"/>
            <a:ext cx="22479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125">
            <a:extLst xmlns:a="http://schemas.openxmlformats.org/drawingml/2006/main">
              <a:ext uri="{FF2B5EF4-FFF2-40B4-BE49-F238E27FC236}">
                <a16:creationId xmlns:a16="http://schemas.microsoft.com/office/drawing/2014/main" id="{384D3A4B-A8AB-47DD-9D77-AE738CD4E22F}"/>
              </a:ext>
            </a:extLst>
          </p:cNvPr>
          <p:cNvSpPr>
            <a:spLocks xmlns:a="http://schemas.openxmlformats.org/drawingml/2006/main" noGrp="1"/>
          </p:cNvSpPr>
          <p:nvPr/>
        </p:nvSpPr>
        <p:spPr>
          <a:xfrm xmlns:a="http://schemas.openxmlformats.org/drawingml/2006/main">
            <a:off x="4324350" y="5876925"/>
            <a:ext cx="18669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Submitted</a:t>
            </a:r>
          </a:p>
        </p:txBody>
      </p:sp>
      <p:sp>
        <p:nvSpPr>
          <p:cNvPr id="27" name="text-126">
            <a:extLst xmlns:a="http://schemas.openxmlformats.org/drawingml/2006/main">
              <a:ext uri="{FF2B5EF4-FFF2-40B4-BE49-F238E27FC236}">
                <a16:creationId xmlns:a16="http://schemas.microsoft.com/office/drawing/2014/main" id="{107675A0-919F-41DE-AAEF-D4DFB13DCF15}"/>
              </a:ext>
            </a:extLst>
          </p:cNvPr>
          <p:cNvSpPr>
            <a:spLocks xmlns:a="http://schemas.openxmlformats.org/drawingml/2006/main" noGrp="1"/>
          </p:cNvSpPr>
          <p:nvPr/>
        </p:nvSpPr>
        <p:spPr>
          <a:xfrm xmlns:a="http://schemas.openxmlformats.org/drawingml/2006/main">
            <a:off x="4324350" y="6261545"/>
            <a:ext cx="18669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Human action</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Outside Inertia</a:t>
            </a:r>
          </a:p>
        </p:txBody>
      </p:sp>
      <p:sp>
        <p:nvSpPr>
          <p:cNvPr id="28" name="node-127">
            <a:extLst xmlns:a="http://schemas.openxmlformats.org/drawingml/2006/main">
              <a:ext uri="{FF2B5EF4-FFF2-40B4-BE49-F238E27FC236}">
                <a16:creationId xmlns:a16="http://schemas.microsoft.com/office/drawing/2014/main" id="{E16D1775-C9F2-42FA-AB98-1540EE9065AD}"/>
              </a:ext>
            </a:extLst>
          </p:cNvPr>
          <p:cNvSpPr>
            <a:spLocks xmlns:a="http://schemas.openxmlformats.org/drawingml/2006/main" noGrp="1"/>
          </p:cNvSpPr>
          <p:nvPr/>
        </p:nvSpPr>
        <p:spPr>
          <a:xfrm xmlns:a="http://schemas.openxmlformats.org/drawingml/2006/main">
            <a:off x="609600" y="5715000"/>
            <a:ext cx="25717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9" name="text-128">
            <a:extLst xmlns:a="http://schemas.openxmlformats.org/drawingml/2006/main">
              <a:ext uri="{FF2B5EF4-FFF2-40B4-BE49-F238E27FC236}">
                <a16:creationId xmlns:a16="http://schemas.microsoft.com/office/drawing/2014/main" id="{7E52FC67-E43F-4C35-B7BA-24C19BDB32B0}"/>
              </a:ext>
            </a:extLst>
          </p:cNvPr>
          <p:cNvSpPr>
            <a:spLocks xmlns:a="http://schemas.openxmlformats.org/drawingml/2006/main" noGrp="1"/>
          </p:cNvSpPr>
          <p:nvPr/>
        </p:nvSpPr>
        <p:spPr>
          <a:xfrm xmlns:a="http://schemas.openxmlformats.org/drawingml/2006/main">
            <a:off x="800100" y="5876925"/>
            <a:ext cx="2190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Mark submitted</a:t>
            </a:r>
          </a:p>
        </p:txBody>
      </p:sp>
      <p:sp>
        <p:nvSpPr>
          <p:cNvPr id="30" name="text-129">
            <a:extLst xmlns:a="http://schemas.openxmlformats.org/drawingml/2006/main">
              <a:ext uri="{FF2B5EF4-FFF2-40B4-BE49-F238E27FC236}">
                <a16:creationId xmlns:a16="http://schemas.microsoft.com/office/drawing/2014/main" id="{AE079C70-A68D-40A3-A610-4CC77754893B}"/>
              </a:ext>
            </a:extLst>
          </p:cNvPr>
          <p:cNvSpPr>
            <a:spLocks xmlns:a="http://schemas.openxmlformats.org/drawingml/2006/main" noGrp="1"/>
          </p:cNvSpPr>
          <p:nvPr/>
        </p:nvSpPr>
        <p:spPr>
          <a:xfrm xmlns:a="http://schemas.openxmlformats.org/drawingml/2006/main">
            <a:off x="800100" y="6249924"/>
            <a:ext cx="219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Selected packet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and actual date</a:t>
            </a:r>
          </a:p>
        </p:txBody>
      </p:sp>
      <p:cxnSp>
        <p:nvCxnSpPr>
          <p:cNvPr id="31" name="flow-130">
            <a:extLst xmlns:a="http://schemas.openxmlformats.org/drawingml/2006/main">
              <a:ext uri="{FF2B5EF4-FFF2-40B4-BE49-F238E27FC236}">
                <a16:creationId xmlns:a16="http://schemas.microsoft.com/office/drawing/2014/main" id="{3D5D5DBA-A4CB-4AB2-8CBB-9A6E2435AFA0}"/>
              </a:ext>
            </a:extLst>
          </p:cNvPr>
          <p:cNvCxnSpPr/>
          <p:nvPr/>
        </p:nvCxnSpPr>
        <p:spPr>
          <a:xfrm xmlns:a="http://schemas.openxmlformats.org/drawingml/2006/main" flipH="0" flipV="0">
            <a:off x="12458700" y="3810000"/>
            <a:ext cx="0" cy="19050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2" name="text-131">
            <a:extLst xmlns:a="http://schemas.openxmlformats.org/drawingml/2006/main">
              <a:ext uri="{FF2B5EF4-FFF2-40B4-BE49-F238E27FC236}">
                <a16:creationId xmlns:a16="http://schemas.microsoft.com/office/drawing/2014/main" id="{407AE19C-2BCD-4565-B970-02C8CD5E1896}"/>
              </a:ext>
            </a:extLst>
          </p:cNvPr>
          <p:cNvSpPr>
            <a:spLocks xmlns:a="http://schemas.openxmlformats.org/drawingml/2006/main" noGrp="1"/>
          </p:cNvSpPr>
          <p:nvPr/>
        </p:nvSpPr>
        <p:spPr>
          <a:xfrm xmlns:a="http://schemas.openxmlformats.org/drawingml/2006/main">
            <a:off x="12620625" y="4476750"/>
            <a:ext cx="1762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Decision ready</a:t>
            </a:r>
          </a:p>
        </p:txBody>
      </p:sp>
      <p:sp>
        <p:nvSpPr>
          <p:cNvPr id="36" name="text-132">
            <a:extLst xmlns:a="http://schemas.openxmlformats.org/drawingml/2006/main">
              <a:ext uri="{FF2B5EF4-FFF2-40B4-BE49-F238E27FC236}">
                <a16:creationId xmlns:a16="http://schemas.microsoft.com/office/drawing/2014/main" id="{9DA9E401-9AD4-49AC-89B2-7A63AD784203}"/>
              </a:ext>
            </a:extLst>
          </p:cNvPr>
          <p:cNvSpPr>
            <a:spLocks xmlns:a="http://schemas.openxmlformats.org/drawingml/2006/main" noGrp="1"/>
          </p:cNvSpPr>
          <p:nvPr/>
        </p:nvSpPr>
        <p:spPr>
          <a:xfrm xmlns:a="http://schemas.openxmlformats.org/drawingml/2006/main">
            <a:off x="10163175" y="5838825"/>
            <a:ext cx="971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Confirm</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version</a:t>
            </a:r>
          </a:p>
        </p:txBody>
      </p:sp>
      <p:sp>
        <p:nvSpPr>
          <p:cNvPr id="37" name="text-133">
            <a:extLst xmlns:a="http://schemas.openxmlformats.org/drawingml/2006/main">
              <a:ext uri="{FF2B5EF4-FFF2-40B4-BE49-F238E27FC236}">
                <a16:creationId xmlns:a16="http://schemas.microsoft.com/office/drawing/2014/main" id="{AB036D78-5FB2-47EB-8303-4CF70A022978}"/>
              </a:ext>
            </a:extLst>
          </p:cNvPr>
          <p:cNvSpPr>
            <a:spLocks xmlns:a="http://schemas.openxmlformats.org/drawingml/2006/main" noGrp="1"/>
          </p:cNvSpPr>
          <p:nvPr/>
        </p:nvSpPr>
        <p:spPr>
          <a:xfrm xmlns:a="http://schemas.openxmlformats.org/drawingml/2006/main">
            <a:off x="3190875" y="5876925"/>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Reported</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fact</a:t>
            </a:r>
          </a:p>
        </p:txBody>
      </p:sp>
      <p:sp>
        <p:nvSpPr>
          <p:cNvPr id="38" name="text-134">
            <a:extLst xmlns:a="http://schemas.openxmlformats.org/drawingml/2006/main">
              <a:ext uri="{FF2B5EF4-FFF2-40B4-BE49-F238E27FC236}">
                <a16:creationId xmlns:a16="http://schemas.microsoft.com/office/drawing/2014/main" id="{BD177FED-A278-49EE-AB9F-19D73E7498B2}"/>
              </a:ext>
            </a:extLst>
          </p:cNvPr>
          <p:cNvSpPr>
            <a:spLocks xmlns:a="http://schemas.openxmlformats.org/drawingml/2006/main" noGrp="1"/>
          </p:cNvSpPr>
          <p:nvPr/>
        </p:nvSpPr>
        <p:spPr>
          <a:xfrm xmlns:a="http://schemas.openxmlformats.org/drawingml/2006/main">
            <a:off x="9477375" y="1362075"/>
            <a:ext cx="51530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Further preparation: agents research and revise</a:t>
            </a:r>
          </a:p>
        </p:txBody>
      </p:sp>
      <p:sp>
        <p:nvSpPr>
          <p:cNvPr id="39" name="text-135">
            <a:extLst xmlns:a="http://schemas.openxmlformats.org/drawingml/2006/main">
              <a:ext uri="{FF2B5EF4-FFF2-40B4-BE49-F238E27FC236}">
                <a16:creationId xmlns:a16="http://schemas.microsoft.com/office/drawing/2014/main" id="{0C8BBC42-EB9D-4419-9032-DDC4D99C3ECA}"/>
              </a:ext>
            </a:extLst>
          </p:cNvPr>
          <p:cNvSpPr>
            <a:spLocks xmlns:a="http://schemas.openxmlformats.org/drawingml/2006/main" noGrp="1"/>
          </p:cNvSpPr>
          <p:nvPr/>
        </p:nvSpPr>
        <p:spPr>
          <a:xfrm xmlns:a="http://schemas.openxmlformats.org/drawingml/2006/main">
            <a:off x="609600" y="5200650"/>
            <a:ext cx="9544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4A6572"/>
                </a:solidFill>
                <a:latin typeface="Aptos"/>
                <a:ea typeface="Aptos"/>
                <a:cs typeface="Aptos"/>
              </a:defRPr>
            </a:defPPr>
            <a:lvl1pPr algn="l">
              <a:buNone/>
              <a:defRPr sz="1875" b="1">
                <a:solidFill>
                  <a:srgbClr val="4A6572"/>
                </a:solidFill>
                <a:latin typeface="Aptos"/>
                <a:ea typeface="Aptos"/>
                <a:cs typeface="Aptos"/>
              </a:defRPr>
            </a:lvl1pPr>
            <a:lvl2pPr algn="l">
              <a:buNone/>
              <a:defRPr sz="1875" b="1">
                <a:solidFill>
                  <a:srgbClr val="4A6572"/>
                </a:solidFill>
                <a:latin typeface="Aptos"/>
                <a:ea typeface="Aptos"/>
                <a:cs typeface="Aptos"/>
              </a:defRPr>
            </a:lvl2pPr>
            <a:lvl3pPr algn="l">
              <a:buNone/>
              <a:defRPr sz="1875" b="1">
                <a:solidFill>
                  <a:srgbClr val="4A6572"/>
                </a:solidFill>
                <a:latin typeface="Aptos"/>
                <a:ea typeface="Aptos"/>
                <a:cs typeface="Aptos"/>
              </a:defRPr>
            </a:lvl3pPr>
            <a:lvl4pPr algn="l">
              <a:buNone/>
              <a:defRPr sz="1875" b="1">
                <a:solidFill>
                  <a:srgbClr val="4A6572"/>
                </a:solidFill>
                <a:latin typeface="Aptos"/>
                <a:ea typeface="Aptos"/>
                <a:cs typeface="Aptos"/>
              </a:defRPr>
            </a:lvl4pPr>
            <a:lvl5pPr algn="l">
              <a:buNone/>
              <a:defRPr sz="1875" b="1">
                <a:solidFill>
                  <a:srgbClr val="4A6572"/>
                </a:solidFill>
                <a:latin typeface="Aptos"/>
                <a:ea typeface="Aptos"/>
                <a:cs typeface="Aptos"/>
              </a:defRPr>
            </a:lvl5pPr>
            <a:lvl6pPr algn="l">
              <a:buNone/>
              <a:defRPr sz="1875" b="1">
                <a:solidFill>
                  <a:srgbClr val="4A6572"/>
                </a:solidFill>
                <a:latin typeface="Aptos"/>
                <a:ea typeface="Aptos"/>
                <a:cs typeface="Aptos"/>
              </a:defRPr>
            </a:lvl6pPr>
            <a:lvl7pPr algn="l">
              <a:buNone/>
              <a:defRPr sz="1875" b="1">
                <a:solidFill>
                  <a:srgbClr val="4A6572"/>
                </a:solidFill>
                <a:latin typeface="Aptos"/>
                <a:ea typeface="Aptos"/>
                <a:cs typeface="Aptos"/>
              </a:defRPr>
            </a:lvl7pPr>
            <a:lvl8pPr algn="l">
              <a:buNone/>
              <a:defRPr sz="1875" b="1">
                <a:solidFill>
                  <a:srgbClr val="4A6572"/>
                </a:solidFill>
                <a:latin typeface="Aptos"/>
                <a:ea typeface="Aptos"/>
                <a:cs typeface="Aptos"/>
              </a:defRPr>
            </a:lvl8pPr>
            <a:lvl9pPr algn="l">
              <a:buNone/>
              <a:defRPr sz="1875" b="1">
                <a:solidFill>
                  <a:srgbClr val="4A6572"/>
                </a:solidFill>
                <a:latin typeface="Aptos"/>
                <a:ea typeface="Aptos"/>
                <a:cs typeface="Aptos"/>
              </a:defRPr>
            </a:lvl9pPr>
          </a:lstStyle>
          <a:p xmlns:a="http://schemas.openxmlformats.org/drawingml/2006/main">
            <a:pPr algn="l">
              <a:buNone/>
              <a:defRPr sz="1875" b="1">
                <a:solidFill>
                  <a:srgbClr val="4A6572"/>
                </a:solidFill>
                <a:latin typeface="Aptos"/>
                <a:ea typeface="Aptos"/>
                <a:cs typeface="Aptos"/>
              </a:defRPr>
            </a:pPr>
            <a:r>
              <a:rPr sz="1875" b="1">
                <a:solidFill>
                  <a:srgbClr val="4A6572"/>
                </a:solidFill>
                <a:latin typeface="Aptos"/>
                <a:ea typeface="Aptos"/>
                <a:cs typeface="Aptos"/>
              </a:rPr>
              <a:t>Capture merged; Packet UI draft</a:t>
            </a:r>
          </a:p>
        </p:txBody>
      </p:sp>
      <p:sp>
        <p:nvSpPr>
          <p:cNvPr id="40" name="text-136">
            <a:extLst xmlns:a="http://schemas.openxmlformats.org/drawingml/2006/main">
              <a:ext uri="{FF2B5EF4-FFF2-40B4-BE49-F238E27FC236}">
                <a16:creationId xmlns:a16="http://schemas.microsoft.com/office/drawing/2014/main" id="{9925D15F-C41E-4FE0-B915-4A4A89B35D40}"/>
              </a:ext>
            </a:extLst>
          </p:cNvPr>
          <p:cNvSpPr>
            <a:spLocks xmlns:a="http://schemas.openxmlformats.org/drawingml/2006/main" noGrp="1"/>
          </p:cNvSpPr>
          <p:nvPr/>
        </p:nvSpPr>
        <p:spPr>
          <a:xfrm xmlns:a="http://schemas.openxmlformats.org/drawingml/2006/main">
            <a:off x="7334250" y="7334250"/>
            <a:ext cx="2819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Sponsor / DAO requirements only when genuine</a:t>
            </a:r>
          </a:p>
        </p:txBody>
      </p:sp>
      <p:sp>
        <p:nvSpPr>
          <p:cNvPr id="41" name="text-137">
            <a:extLst xmlns:a="http://schemas.openxmlformats.org/drawingml/2006/main">
              <a:ext uri="{FF2B5EF4-FFF2-40B4-BE49-F238E27FC236}">
                <a16:creationId xmlns:a16="http://schemas.microsoft.com/office/drawing/2014/main" id="{15DFB048-0BD5-4557-A211-977566F775CB}"/>
              </a:ext>
            </a:extLst>
          </p:cNvPr>
          <p:cNvSpPr>
            <a:spLocks xmlns:a="http://schemas.openxmlformats.org/drawingml/2006/main" noGrp="1"/>
          </p:cNvSpPr>
          <p:nvPr/>
        </p:nvSpPr>
        <p:spPr>
          <a:xfrm xmlns:a="http://schemas.openxmlformats.org/drawingml/2006/main">
            <a:off x="3190875" y="6572250"/>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Later</a:t>
            </a:r>
          </a:p>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receipt</a:t>
            </a:r>
          </a:p>
        </p:txBody>
      </p:sp>
      <p:cxnSp>
        <p:nvCxnSpPr>
          <p:cNvPr id="43" name="partner-flow-1">
            <a:extLst xmlns:a="http://schemas.openxmlformats.org/drawingml/2006/main">
              <a:ext uri="{FF2B5EF4-FFF2-40B4-BE49-F238E27FC236}">
                <a16:creationId xmlns:a16="http://schemas.microsoft.com/office/drawing/2014/main" id="{274546DC-7B5D-4FC9-8765-E687A476C61E}"/>
              </a:ext>
            </a:extLst>
          </p:cNvPr>
          <p:cNvCxnSpPr/>
          <p:nvPr/>
        </p:nvCxnSpPr>
        <p:spPr>
          <a:xfrm xmlns:a="http://schemas.openxmlformats.org/drawingml/2006/main" flipH="0" flipV="0">
            <a:off x="14630400" y="6553200"/>
            <a:ext cx="2286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4" name="partner-flow-2">
            <a:extLst xmlns:a="http://schemas.openxmlformats.org/drawingml/2006/main">
              <a:ext uri="{FF2B5EF4-FFF2-40B4-BE49-F238E27FC236}">
                <a16:creationId xmlns:a16="http://schemas.microsoft.com/office/drawing/2014/main" id="{4CE2A232-4EF8-4F05-B51D-EB418AEF74E7}"/>
              </a:ext>
            </a:extLst>
          </p:cNvPr>
          <p:cNvCxnSpPr/>
          <p:nvPr/>
        </p:nvCxnSpPr>
        <p:spPr>
          <a:xfrm xmlns:a="http://schemas.openxmlformats.org/drawingml/2006/main" flipH="0" flipV="1">
            <a:off x="14859000" y="1695450"/>
            <a:ext cx="0" cy="4857750"/>
          </a:xfrm>
          <a:prstGeom xmlns:a="http://schemas.openxmlformats.org/drawingml/2006/main" prst="straightConnector1">
            <a:avLst/>
          </a:prstGeom>
          <a:ln xmlns:a="http://schemas.openxmlformats.org/drawingml/2006/main" w="23813">
            <a:solidFill>
              <a:srgbClr val="157D80"/>
            </a:solidFill>
            <a:prstDash val="solid"/>
          </a:ln>
        </p:spPr>
      </p:cxnSp>
      <p:cxnSp>
        <p:nvCxnSpPr>
          <p:cNvPr id="45" name="partner-flow-3">
            <a:extLst xmlns:a="http://schemas.openxmlformats.org/drawingml/2006/main">
              <a:ext uri="{FF2B5EF4-FFF2-40B4-BE49-F238E27FC236}">
                <a16:creationId xmlns:a16="http://schemas.microsoft.com/office/drawing/2014/main" id="{4AE1D8F4-592D-427E-98E3-5539BF666DE2}"/>
              </a:ext>
            </a:extLst>
          </p:cNvPr>
          <p:cNvCxnSpPr/>
          <p:nvPr/>
        </p:nvCxnSpPr>
        <p:spPr>
          <a:xfrm xmlns:a="http://schemas.openxmlformats.org/drawingml/2006/main" flipH="1" flipV="0">
            <a:off x="6877050" y="1695450"/>
            <a:ext cx="79819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6" name="partner-flow-4">
            <a:extLst xmlns:a="http://schemas.openxmlformats.org/drawingml/2006/main">
              <a:ext uri="{FF2B5EF4-FFF2-40B4-BE49-F238E27FC236}">
                <a16:creationId xmlns:a16="http://schemas.microsoft.com/office/drawing/2014/main" id="{F0A52A4D-5F28-40CE-84BD-282D3A1C4D84}"/>
              </a:ext>
            </a:extLst>
          </p:cNvPr>
          <p:cNvCxnSpPr/>
          <p:nvPr/>
        </p:nvCxnSpPr>
        <p:spPr>
          <a:xfrm xmlns:a="http://schemas.openxmlformats.org/drawingml/2006/main" flipH="0" flipV="0">
            <a:off x="6877050" y="1695450"/>
            <a:ext cx="0" cy="4000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219EC66B-E8CF-4A93-867C-F2EE32FE54D1}"/>
              </a:ext>
            </a:extLst>
          </p:cNvPr>
          <p:cNvCxnSpPr>
            <a:stCxn xmlns:a="http://schemas.openxmlformats.org/drawingml/2006/main" id="6" idx="2"/>
            <a:endCxn xmlns:a="http://schemas.openxmlformats.org/drawingml/2006/main" id="12" idx="0"/>
          </p:cNvCxnSpPr>
          <p:nvPr/>
        </p:nvCxnSpPr>
        <p:spPr>
          <a:xfrm xmlns:a="http://schemas.openxmlformats.org/drawingml/2006/main">
            <a:off x="3276600" y="3048000"/>
            <a:ext cx="0" cy="9525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5" name="text-138">
            <a:extLst xmlns:a="http://schemas.openxmlformats.org/drawingml/2006/main">
              <a:ext uri="{FF2B5EF4-FFF2-40B4-BE49-F238E27FC236}">
                <a16:creationId xmlns:a16="http://schemas.microsoft.com/office/drawing/2014/main" id="{F29F621C-8FAF-423D-9FC3-16354B35E826}"/>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Authorized agent contribution</a:t>
            </a:r>
          </a:p>
        </p:txBody>
      </p:sp>
      <p:sp>
        <p:nvSpPr>
          <p:cNvPr id="2" name="text-139">
            <a:extLst xmlns:a="http://schemas.openxmlformats.org/drawingml/2006/main">
              <a:ext uri="{FF2B5EF4-FFF2-40B4-BE49-F238E27FC236}">
                <a16:creationId xmlns:a16="http://schemas.microsoft.com/office/drawing/2014/main" id="{E747250E-AA79-449D-9677-76DC6CBA6B8E}"/>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5</a:t>
            </a:r>
          </a:p>
        </p:txBody>
      </p:sp>
      <p:sp>
        <p:nvSpPr>
          <p:cNvPr id="3" name="text-140">
            <a:extLst xmlns:a="http://schemas.openxmlformats.org/drawingml/2006/main">
              <a:ext uri="{FF2B5EF4-FFF2-40B4-BE49-F238E27FC236}">
                <a16:creationId xmlns:a16="http://schemas.microsoft.com/office/drawing/2014/main" id="{7A7E4CD1-1F12-49FA-9D87-32E4C440717D}"/>
              </a:ext>
            </a:extLst>
          </p:cNvPr>
          <p:cNvSpPr>
            <a:spLocks xmlns:a="http://schemas.openxmlformats.org/drawingml/2006/main" noGrp="1"/>
          </p:cNvSpPr>
          <p:nvPr/>
        </p:nvSpPr>
        <p:spPr>
          <a:xfrm xmlns:a="http://schemas.openxmlformats.org/drawingml/2006/main">
            <a:off x="609600" y="15240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Native collaboration</a:t>
            </a:r>
          </a:p>
        </p:txBody>
      </p:sp>
      <p:sp>
        <p:nvSpPr>
          <p:cNvPr id="4" name="text-141">
            <a:extLst xmlns:a="http://schemas.openxmlformats.org/drawingml/2006/main">
              <a:ext uri="{FF2B5EF4-FFF2-40B4-BE49-F238E27FC236}">
                <a16:creationId xmlns:a16="http://schemas.microsoft.com/office/drawing/2014/main" id="{0A7A6768-D04D-4EB2-B114-8051BB68BCDB}"/>
              </a:ext>
            </a:extLst>
          </p:cNvPr>
          <p:cNvSpPr>
            <a:spLocks xmlns:a="http://schemas.openxmlformats.org/drawingml/2006/main" noGrp="1"/>
          </p:cNvSpPr>
          <p:nvPr/>
        </p:nvSpPr>
        <p:spPr>
          <a:xfrm xmlns:a="http://schemas.openxmlformats.org/drawingml/2006/main">
            <a:off x="8667750" y="1524000"/>
            <a:ext cx="59626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Application services</a:t>
            </a:r>
          </a:p>
        </p:txBody>
      </p:sp>
      <p:cxnSp>
        <p:nvCxnSpPr>
          <p:cNvPr id="5" name="flow-142">
            <a:extLst xmlns:a="http://schemas.openxmlformats.org/drawingml/2006/main">
              <a:ext uri="{FF2B5EF4-FFF2-40B4-BE49-F238E27FC236}">
                <a16:creationId xmlns:a16="http://schemas.microsoft.com/office/drawing/2014/main" id="{44FBBF81-096B-4BCC-B556-715456E97D33}"/>
              </a:ext>
            </a:extLst>
          </p:cNvPr>
          <p:cNvCxnSpPr/>
          <p:nvPr/>
        </p:nvCxnSpPr>
        <p:spPr>
          <a:xfrm xmlns:a="http://schemas.openxmlformats.org/drawingml/2006/main" flipH="0" flipV="0">
            <a:off x="7572375" y="1524000"/>
            <a:ext cx="0" cy="4429125"/>
          </a:xfrm>
          <a:prstGeom xmlns:a="http://schemas.openxmlformats.org/drawingml/2006/main" prst="straightConnector1">
            <a:avLst/>
          </a:prstGeom>
          <a:ln xmlns:a="http://schemas.openxmlformats.org/drawingml/2006/main" w="19050">
            <a:solidFill>
              <a:srgbClr val="B8CACC"/>
            </a:solidFill>
            <a:prstDash val="dash"/>
          </a:ln>
        </p:spPr>
      </p:cxnSp>
      <p:sp>
        <p:nvSpPr>
          <p:cNvPr id="6" name="node-143">
            <a:extLst xmlns:a="http://schemas.openxmlformats.org/drawingml/2006/main">
              <a:ext uri="{FF2B5EF4-FFF2-40B4-BE49-F238E27FC236}">
                <a16:creationId xmlns:a16="http://schemas.microsoft.com/office/drawing/2014/main" id="{670FBB46-2829-4FB0-8A51-6352E0A6A168}"/>
              </a:ext>
            </a:extLst>
          </p:cNvPr>
          <p:cNvSpPr>
            <a:spLocks xmlns:a="http://schemas.openxmlformats.org/drawingml/2006/main" noGrp="1"/>
          </p:cNvSpPr>
          <p:nvPr/>
        </p:nvSpPr>
        <p:spPr>
          <a:xfrm xmlns:a="http://schemas.openxmlformats.org/drawingml/2006/main">
            <a:off x="609600" y="20955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44">
            <a:extLst xmlns:a="http://schemas.openxmlformats.org/drawingml/2006/main">
              <a:ext uri="{FF2B5EF4-FFF2-40B4-BE49-F238E27FC236}">
                <a16:creationId xmlns:a16="http://schemas.microsoft.com/office/drawing/2014/main" id="{D412DD50-6237-46B2-9297-1826E3FE376F}"/>
              </a:ext>
            </a:extLst>
          </p:cNvPr>
          <p:cNvSpPr>
            <a:spLocks xmlns:a="http://schemas.openxmlformats.org/drawingml/2006/main" noGrp="1"/>
          </p:cNvSpPr>
          <p:nvPr/>
        </p:nvSpPr>
        <p:spPr>
          <a:xfrm xmlns:a="http://schemas.openxmlformats.org/drawingml/2006/main">
            <a:off x="800100" y="22574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DAO member</a:t>
            </a:r>
          </a:p>
        </p:txBody>
      </p:sp>
      <p:sp>
        <p:nvSpPr>
          <p:cNvPr id="8" name="text-145">
            <a:extLst xmlns:a="http://schemas.openxmlformats.org/drawingml/2006/main">
              <a:ext uri="{FF2B5EF4-FFF2-40B4-BE49-F238E27FC236}">
                <a16:creationId xmlns:a16="http://schemas.microsoft.com/office/drawing/2014/main" id="{97400006-7081-4BD6-A2E3-B028E7CA150F}"/>
              </a:ext>
            </a:extLst>
          </p:cNvPr>
          <p:cNvSpPr>
            <a:spLocks xmlns:a="http://schemas.openxmlformats.org/drawingml/2006/main" noGrp="1"/>
          </p:cNvSpPr>
          <p:nvPr/>
        </p:nvSpPr>
        <p:spPr>
          <a:xfrm xmlns:a="http://schemas.openxmlformats.org/drawingml/2006/main">
            <a:off x="800100" y="26536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application action access</a:t>
            </a:r>
          </a:p>
        </p:txBody>
      </p:sp>
      <p:sp>
        <p:nvSpPr>
          <p:cNvPr id="9" name="node-146">
            <a:extLst xmlns:a="http://schemas.openxmlformats.org/drawingml/2006/main">
              <a:ext uri="{FF2B5EF4-FFF2-40B4-BE49-F238E27FC236}">
                <a16:creationId xmlns:a16="http://schemas.microsoft.com/office/drawing/2014/main" id="{22BC9DDC-08A1-48EB-885B-D525D1EFF4C7}"/>
              </a:ext>
            </a:extLst>
          </p:cNvPr>
          <p:cNvSpPr>
            <a:spLocks xmlns:a="http://schemas.openxmlformats.org/drawingml/2006/main" noGrp="1"/>
          </p:cNvSpPr>
          <p:nvPr/>
        </p:nvSpPr>
        <p:spPr>
          <a:xfrm xmlns:a="http://schemas.openxmlformats.org/drawingml/2006/main">
            <a:off x="8667750" y="2095500"/>
            <a:ext cx="596265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47">
            <a:extLst xmlns:a="http://schemas.openxmlformats.org/drawingml/2006/main">
              <a:ext uri="{FF2B5EF4-FFF2-40B4-BE49-F238E27FC236}">
                <a16:creationId xmlns:a16="http://schemas.microsoft.com/office/drawing/2014/main" id="{5F27C879-6F9D-4D8C-81AB-A2BFF66F6528}"/>
              </a:ext>
            </a:extLst>
          </p:cNvPr>
          <p:cNvSpPr>
            <a:spLocks xmlns:a="http://schemas.openxmlformats.org/drawingml/2006/main" noGrp="1"/>
          </p:cNvSpPr>
          <p:nvPr/>
        </p:nvSpPr>
        <p:spPr>
          <a:xfrm xmlns:a="http://schemas.openxmlformats.org/drawingml/2006/main">
            <a:off x="8858250" y="2257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a:t>
            </a:r>
          </a:p>
        </p:txBody>
      </p:sp>
      <p:sp>
        <p:nvSpPr>
          <p:cNvPr id="11" name="text-148">
            <a:extLst xmlns:a="http://schemas.openxmlformats.org/drawingml/2006/main">
              <a:ext uri="{FF2B5EF4-FFF2-40B4-BE49-F238E27FC236}">
                <a16:creationId xmlns:a16="http://schemas.microsoft.com/office/drawing/2014/main" id="{CA8CF7DA-1641-42C4-80D2-A71D2A1DCC31}"/>
              </a:ext>
            </a:extLst>
          </p:cNvPr>
          <p:cNvSpPr>
            <a:spLocks xmlns:a="http://schemas.openxmlformats.org/drawingml/2006/main" noGrp="1"/>
          </p:cNvSpPr>
          <p:nvPr/>
        </p:nvSpPr>
        <p:spPr>
          <a:xfrm xmlns:a="http://schemas.openxmlformats.org/drawingml/2006/main">
            <a:off x="8858250" y="2653665"/>
            <a:ext cx="558165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Decomposes and assigns work</a:t>
            </a:r>
          </a:p>
        </p:txBody>
      </p:sp>
      <p:sp>
        <p:nvSpPr>
          <p:cNvPr id="12" name="node-149">
            <a:extLst xmlns:a="http://schemas.openxmlformats.org/drawingml/2006/main">
              <a:ext uri="{FF2B5EF4-FFF2-40B4-BE49-F238E27FC236}">
                <a16:creationId xmlns:a16="http://schemas.microsoft.com/office/drawing/2014/main" id="{91738657-1749-4C2F-9707-9F82FCC3EB39}"/>
              </a:ext>
            </a:extLst>
          </p:cNvPr>
          <p:cNvSpPr>
            <a:spLocks xmlns:a="http://schemas.openxmlformats.org/drawingml/2006/main" noGrp="1"/>
          </p:cNvSpPr>
          <p:nvPr/>
        </p:nvSpPr>
        <p:spPr>
          <a:xfrm xmlns:a="http://schemas.openxmlformats.org/drawingml/2006/main">
            <a:off x="609600" y="4000500"/>
            <a:ext cx="5334000" cy="1714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3" name="text-150">
            <a:extLst xmlns:a="http://schemas.openxmlformats.org/drawingml/2006/main">
              <a:ext uri="{FF2B5EF4-FFF2-40B4-BE49-F238E27FC236}">
                <a16:creationId xmlns:a16="http://schemas.microsoft.com/office/drawing/2014/main" id="{D8D22021-32A3-41FC-80BF-ABD2E0863BF6}"/>
              </a:ext>
            </a:extLst>
          </p:cNvPr>
          <p:cNvSpPr>
            <a:spLocks xmlns:a="http://schemas.openxmlformats.org/drawingml/2006/main" noGrp="1"/>
          </p:cNvSpPr>
          <p:nvPr/>
        </p:nvSpPr>
        <p:spPr>
          <a:xfrm xmlns:a="http://schemas.openxmlformats.org/drawingml/2006/main">
            <a:off x="800100" y="4162425"/>
            <a:ext cx="49530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57D80"/>
                </a:solidFill>
                <a:latin typeface="Aptos"/>
                <a:ea typeface="Aptos"/>
                <a:cs typeface="Aptos"/>
              </a:defRPr>
            </a:defPPr>
            <a:lvl1pPr algn="l">
              <a:buNone/>
              <a:defRPr sz="2325" b="1">
                <a:solidFill>
                  <a:srgbClr val="157D80"/>
                </a:solidFill>
                <a:latin typeface="Aptos"/>
                <a:ea typeface="Aptos"/>
                <a:cs typeface="Aptos"/>
              </a:defRPr>
            </a:lvl1pPr>
            <a:lvl2pPr algn="l">
              <a:buNone/>
              <a:defRPr sz="2325" b="1">
                <a:solidFill>
                  <a:srgbClr val="157D80"/>
                </a:solidFill>
                <a:latin typeface="Aptos"/>
                <a:ea typeface="Aptos"/>
                <a:cs typeface="Aptos"/>
              </a:defRPr>
            </a:lvl2pPr>
            <a:lvl3pPr algn="l">
              <a:buNone/>
              <a:defRPr sz="2325" b="1">
                <a:solidFill>
                  <a:srgbClr val="157D80"/>
                </a:solidFill>
                <a:latin typeface="Aptos"/>
                <a:ea typeface="Aptos"/>
                <a:cs typeface="Aptos"/>
              </a:defRPr>
            </a:lvl3pPr>
            <a:lvl4pPr algn="l">
              <a:buNone/>
              <a:defRPr sz="2325" b="1">
                <a:solidFill>
                  <a:srgbClr val="157D80"/>
                </a:solidFill>
                <a:latin typeface="Aptos"/>
                <a:ea typeface="Aptos"/>
                <a:cs typeface="Aptos"/>
              </a:defRPr>
            </a:lvl4pPr>
            <a:lvl5pPr algn="l">
              <a:buNone/>
              <a:defRPr sz="2325" b="1">
                <a:solidFill>
                  <a:srgbClr val="157D80"/>
                </a:solidFill>
                <a:latin typeface="Aptos"/>
                <a:ea typeface="Aptos"/>
                <a:cs typeface="Aptos"/>
              </a:defRPr>
            </a:lvl5pPr>
            <a:lvl6pPr algn="l">
              <a:buNone/>
              <a:defRPr sz="2325" b="1">
                <a:solidFill>
                  <a:srgbClr val="157D80"/>
                </a:solidFill>
                <a:latin typeface="Aptos"/>
                <a:ea typeface="Aptos"/>
                <a:cs typeface="Aptos"/>
              </a:defRPr>
            </a:lvl6pPr>
            <a:lvl7pPr algn="l">
              <a:buNone/>
              <a:defRPr sz="2325" b="1">
                <a:solidFill>
                  <a:srgbClr val="157D80"/>
                </a:solidFill>
                <a:latin typeface="Aptos"/>
                <a:ea typeface="Aptos"/>
                <a:cs typeface="Aptos"/>
              </a:defRPr>
            </a:lvl7pPr>
            <a:lvl8pPr algn="l">
              <a:buNone/>
              <a:defRPr sz="2325" b="1">
                <a:solidFill>
                  <a:srgbClr val="157D80"/>
                </a:solidFill>
                <a:latin typeface="Aptos"/>
                <a:ea typeface="Aptos"/>
                <a:cs typeface="Aptos"/>
              </a:defRPr>
            </a:lvl8pPr>
            <a:lvl9pPr algn="l">
              <a:buNone/>
              <a:defRPr sz="2325" b="1">
                <a:solidFill>
                  <a:srgbClr val="157D80"/>
                </a:solidFill>
                <a:latin typeface="Aptos"/>
                <a:ea typeface="Aptos"/>
                <a:cs typeface="Aptos"/>
              </a:defRPr>
            </a:lvl9pPr>
          </a:lstStyle>
          <a:p xmlns:a="http://schemas.openxmlformats.org/drawingml/2006/main">
            <a:pPr algn="l">
              <a:buNone/>
              <a:defRPr sz="2325" b="1">
                <a:solidFill>
                  <a:srgbClr val="157D80"/>
                </a:solidFill>
                <a:latin typeface="Aptos"/>
                <a:ea typeface="Aptos"/>
                <a:cs typeface="Aptos"/>
              </a:defRPr>
            </a:pPr>
            <a:r>
              <a:rPr sz="2325" b="1">
                <a:solidFill>
                  <a:srgbClr val="157D80"/>
                </a:solidFill>
                <a:latin typeface="Aptos"/>
                <a:ea typeface="Aptos"/>
                <a:cs typeface="Aptos"/>
              </a:rPr>
              <a:t>Configured agents</a:t>
            </a:r>
          </a:p>
        </p:txBody>
      </p:sp>
      <p:sp>
        <p:nvSpPr>
          <p:cNvPr id="14" name="text-151">
            <a:extLst xmlns:a="http://schemas.openxmlformats.org/drawingml/2006/main">
              <a:ext uri="{FF2B5EF4-FFF2-40B4-BE49-F238E27FC236}">
                <a16:creationId xmlns:a16="http://schemas.microsoft.com/office/drawing/2014/main" id="{AF6A64F3-128E-4170-A24A-6C9D6DB0251C}"/>
              </a:ext>
            </a:extLst>
          </p:cNvPr>
          <p:cNvSpPr>
            <a:spLocks xmlns:a="http://schemas.openxmlformats.org/drawingml/2006/main" noGrp="1"/>
          </p:cNvSpPr>
          <p:nvPr/>
        </p:nvSpPr>
        <p:spPr>
          <a:xfrm xmlns:a="http://schemas.openxmlformats.org/drawingml/2006/main">
            <a:off x="800100" y="4570286"/>
            <a:ext cx="4953000" cy="66560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Provider and role roster</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Scoped tools and histories</a:t>
            </a:r>
          </a:p>
        </p:txBody>
      </p:sp>
      <p:sp>
        <p:nvSpPr>
          <p:cNvPr id="15" name="node-152">
            <a:extLst xmlns:a="http://schemas.openxmlformats.org/drawingml/2006/main">
              <a:ext uri="{FF2B5EF4-FFF2-40B4-BE49-F238E27FC236}">
                <a16:creationId xmlns:a16="http://schemas.microsoft.com/office/drawing/2014/main" id="{D5765F57-CB74-478D-9B28-C7F938AD02C2}"/>
              </a:ext>
            </a:extLst>
          </p:cNvPr>
          <p:cNvSpPr>
            <a:spLocks xmlns:a="http://schemas.openxmlformats.org/drawingml/2006/main" noGrp="1"/>
          </p:cNvSpPr>
          <p:nvPr/>
        </p:nvSpPr>
        <p:spPr>
          <a:xfrm xmlns:a="http://schemas.openxmlformats.org/drawingml/2006/main">
            <a:off x="8667750" y="4000500"/>
            <a:ext cx="5962650" cy="1238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6" name="text-153">
            <a:extLst xmlns:a="http://schemas.openxmlformats.org/drawingml/2006/main">
              <a:ext uri="{FF2B5EF4-FFF2-40B4-BE49-F238E27FC236}">
                <a16:creationId xmlns:a16="http://schemas.microsoft.com/office/drawing/2014/main" id="{25BAE476-D051-4A95-BC6B-956ECA4478E2}"/>
              </a:ext>
            </a:extLst>
          </p:cNvPr>
          <p:cNvSpPr>
            <a:spLocks xmlns:a="http://schemas.openxmlformats.org/drawingml/2006/main" noGrp="1"/>
          </p:cNvSpPr>
          <p:nvPr/>
        </p:nvSpPr>
        <p:spPr>
          <a:xfrm xmlns:a="http://schemas.openxmlformats.org/drawingml/2006/main">
            <a:off x="8858250" y="4162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Generated contribution</a:t>
            </a:r>
          </a:p>
        </p:txBody>
      </p:sp>
      <p:sp>
        <p:nvSpPr>
          <p:cNvPr id="17" name="text-154">
            <a:extLst xmlns:a="http://schemas.openxmlformats.org/drawingml/2006/main">
              <a:ext uri="{FF2B5EF4-FFF2-40B4-BE49-F238E27FC236}">
                <a16:creationId xmlns:a16="http://schemas.microsoft.com/office/drawing/2014/main" id="{F11BB3A0-ECF0-41B5-B3CD-BC71552C93EB}"/>
              </a:ext>
            </a:extLst>
          </p:cNvPr>
          <p:cNvSpPr>
            <a:spLocks xmlns:a="http://schemas.openxmlformats.org/drawingml/2006/main" noGrp="1"/>
          </p:cNvSpPr>
          <p:nvPr/>
        </p:nvSpPr>
        <p:spPr>
          <a:xfrm xmlns:a="http://schemas.openxmlformats.org/drawingml/2006/main">
            <a:off x="8858250" y="4558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Evidence, draft and prepared work</a:t>
            </a:r>
          </a:p>
        </p:txBody>
      </p:sp>
      <p:sp>
        <p:nvSpPr>
          <p:cNvPr id="18" name="node-155">
            <a:extLst xmlns:a="http://schemas.openxmlformats.org/drawingml/2006/main">
              <a:ext uri="{FF2B5EF4-FFF2-40B4-BE49-F238E27FC236}">
                <a16:creationId xmlns:a16="http://schemas.microsoft.com/office/drawing/2014/main" id="{D21E1D51-8C9A-47B9-B1E4-DB9FC38BEA0C}"/>
              </a:ext>
            </a:extLst>
          </p:cNvPr>
          <p:cNvSpPr>
            <a:spLocks xmlns:a="http://schemas.openxmlformats.org/drawingml/2006/main" noGrp="1"/>
          </p:cNvSpPr>
          <p:nvPr/>
        </p:nvSpPr>
        <p:spPr>
          <a:xfrm xmlns:a="http://schemas.openxmlformats.org/drawingml/2006/main">
            <a:off x="8667750" y="6286500"/>
            <a:ext cx="5962650" cy="1333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9" name="text-156">
            <a:extLst xmlns:a="http://schemas.openxmlformats.org/drawingml/2006/main">
              <a:ext uri="{FF2B5EF4-FFF2-40B4-BE49-F238E27FC236}">
                <a16:creationId xmlns:a16="http://schemas.microsoft.com/office/drawing/2014/main" id="{AFCF249E-1085-4474-8A12-407CBA559FDA}"/>
              </a:ext>
            </a:extLst>
          </p:cNvPr>
          <p:cNvSpPr>
            <a:spLocks xmlns:a="http://schemas.openxmlformats.org/drawingml/2006/main" noGrp="1"/>
          </p:cNvSpPr>
          <p:nvPr/>
        </p:nvSpPr>
        <p:spPr>
          <a:xfrm xmlns:a="http://schemas.openxmlformats.org/drawingml/2006/main">
            <a:off x="8858250" y="6448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Exact-version member action</a:t>
            </a:r>
          </a:p>
        </p:txBody>
      </p:sp>
      <p:sp>
        <p:nvSpPr>
          <p:cNvPr id="20" name="text-157">
            <a:extLst xmlns:a="http://schemas.openxmlformats.org/drawingml/2006/main">
              <a:ext uri="{FF2B5EF4-FFF2-40B4-BE49-F238E27FC236}">
                <a16:creationId xmlns:a16="http://schemas.microsoft.com/office/drawing/2014/main" id="{A480B314-118F-4395-B774-59C14B986408}"/>
              </a:ext>
            </a:extLst>
          </p:cNvPr>
          <p:cNvSpPr>
            <a:spLocks xmlns:a="http://schemas.openxmlformats.org/drawingml/2006/main" noGrp="1"/>
          </p:cNvSpPr>
          <p:nvPr/>
        </p:nvSpPr>
        <p:spPr>
          <a:xfrm xmlns:a="http://schemas.openxmlformats.org/drawingml/2006/main">
            <a:off x="8858250" y="6844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Capture merged; Packet UI draft</a:t>
            </a:r>
          </a:p>
        </p:txBody>
      </p:sp>
      <p:cxnSp>
        <p:nvCxnSpPr>
          <p:cNvPr id="21" name="flow-158">
            <a:extLst xmlns:a="http://schemas.openxmlformats.org/drawingml/2006/main">
              <a:ext uri="{FF2B5EF4-FFF2-40B4-BE49-F238E27FC236}">
                <a16:creationId xmlns:a16="http://schemas.microsoft.com/office/drawing/2014/main" id="{ED7C233D-F22C-4BD8-AA68-E3D1D356A837}"/>
              </a:ext>
            </a:extLst>
          </p:cNvPr>
          <p:cNvCxnSpPr/>
          <p:nvPr/>
        </p:nvCxnSpPr>
        <p:spPr>
          <a:xfrm xmlns:a="http://schemas.openxmlformats.org/drawingml/2006/main" flipH="0" flipV="0">
            <a:off x="609600" y="6477000"/>
            <a:ext cx="5334000" cy="0"/>
          </a:xfrm>
          <a:prstGeom xmlns:a="http://schemas.openxmlformats.org/drawingml/2006/main" prst="straightConnector1">
            <a:avLst/>
          </a:prstGeom>
          <a:ln xmlns:a="http://schemas.openxmlformats.org/drawingml/2006/main" w="14288">
            <a:solidFill>
              <a:srgbClr val="B8CACC"/>
            </a:solidFill>
            <a:prstDash val="solid"/>
          </a:ln>
        </p:spPr>
      </p:cxnSp>
      <p:sp>
        <p:nvSpPr>
          <p:cNvPr id="22" name="node-159">
            <a:extLst xmlns:a="http://schemas.openxmlformats.org/drawingml/2006/main">
              <a:ext uri="{FF2B5EF4-FFF2-40B4-BE49-F238E27FC236}">
                <a16:creationId xmlns:a16="http://schemas.microsoft.com/office/drawing/2014/main" id="{3F5888FB-B549-4744-94BD-55682478694E}"/>
              </a:ext>
            </a:extLst>
          </p:cNvPr>
          <p:cNvSpPr>
            <a:spLocks xmlns:a="http://schemas.openxmlformats.org/drawingml/2006/main" noGrp="1"/>
          </p:cNvSpPr>
          <p:nvPr/>
        </p:nvSpPr>
        <p:spPr>
          <a:xfrm xmlns:a="http://schemas.openxmlformats.org/drawingml/2006/main">
            <a:off x="609600" y="68580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3" name="text-160">
            <a:extLst xmlns:a="http://schemas.openxmlformats.org/drawingml/2006/main">
              <a:ext uri="{FF2B5EF4-FFF2-40B4-BE49-F238E27FC236}">
                <a16:creationId xmlns:a16="http://schemas.microsoft.com/office/drawing/2014/main" id="{3174332F-933D-4987-A5E2-7FD7CE8CCE5B}"/>
              </a:ext>
            </a:extLst>
          </p:cNvPr>
          <p:cNvSpPr>
            <a:spLocks xmlns:a="http://schemas.openxmlformats.org/drawingml/2006/main" noGrp="1"/>
          </p:cNvSpPr>
          <p:nvPr/>
        </p:nvSpPr>
        <p:spPr>
          <a:xfrm xmlns:a="http://schemas.openxmlformats.org/drawingml/2006/main">
            <a:off x="800100" y="70199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Any eligible DAO member</a:t>
            </a:r>
          </a:p>
        </p:txBody>
      </p:sp>
      <p:sp>
        <p:nvSpPr>
          <p:cNvPr id="24" name="text-161">
            <a:extLst xmlns:a="http://schemas.openxmlformats.org/drawingml/2006/main">
              <a:ext uri="{FF2B5EF4-FFF2-40B4-BE49-F238E27FC236}">
                <a16:creationId xmlns:a16="http://schemas.microsoft.com/office/drawing/2014/main" id="{A8076791-798E-48B1-A2E5-CE4A60DD5732}"/>
              </a:ext>
            </a:extLst>
          </p:cNvPr>
          <p:cNvSpPr>
            <a:spLocks xmlns:a="http://schemas.openxmlformats.org/drawingml/2006/main" noGrp="1"/>
          </p:cNvSpPr>
          <p:nvPr/>
        </p:nvSpPr>
        <p:spPr>
          <a:xfrm xmlns:a="http://schemas.openxmlformats.org/drawingml/2006/main">
            <a:off x="800100" y="74161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membership and application access</a:t>
            </a:r>
          </a:p>
        </p:txBody>
      </p:sp>
      <p:sp>
        <p:nvSpPr>
          <p:cNvPr id="26" name="text-162">
            <a:extLst xmlns:a="http://schemas.openxmlformats.org/drawingml/2006/main">
              <a:ext uri="{FF2B5EF4-FFF2-40B4-BE49-F238E27FC236}">
                <a16:creationId xmlns:a16="http://schemas.microsoft.com/office/drawing/2014/main" id="{8FAC1491-4EBE-4CA9-902B-BD9860A34112}"/>
              </a:ext>
            </a:extLst>
          </p:cNvPr>
          <p:cNvSpPr>
            <a:spLocks xmlns:a="http://schemas.openxmlformats.org/drawingml/2006/main" noGrp="1"/>
          </p:cNvSpPr>
          <p:nvPr/>
        </p:nvSpPr>
        <p:spPr>
          <a:xfrm xmlns:a="http://schemas.openxmlformats.org/drawingml/2006/main">
            <a:off x="609600" y="338137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vl1pPr algn="l">
              <a:buNone/>
              <a:defRPr sz="1650" b="0">
                <a:solidFill>
                  <a:srgbClr val="4A6572"/>
                </a:solidFill>
                <a:latin typeface="Aptos"/>
                <a:ea typeface="Aptos"/>
                <a:cs typeface="Aptos"/>
              </a:defRPr>
            </a:lvl1pPr>
            <a:lvl2pPr algn="l">
              <a:buNone/>
              <a:defRPr sz="1650" b="0">
                <a:solidFill>
                  <a:srgbClr val="4A6572"/>
                </a:solidFill>
                <a:latin typeface="Aptos"/>
                <a:ea typeface="Aptos"/>
                <a:cs typeface="Aptos"/>
              </a:defRPr>
            </a:lvl2pPr>
            <a:lvl3pPr algn="l">
              <a:buNone/>
              <a:defRPr sz="1650" b="0">
                <a:solidFill>
                  <a:srgbClr val="4A6572"/>
                </a:solidFill>
                <a:latin typeface="Aptos"/>
                <a:ea typeface="Aptos"/>
                <a:cs typeface="Aptos"/>
              </a:defRPr>
            </a:lvl3pPr>
            <a:lvl4pPr algn="l">
              <a:buNone/>
              <a:defRPr sz="1650" b="0">
                <a:solidFill>
                  <a:srgbClr val="4A6572"/>
                </a:solidFill>
                <a:latin typeface="Aptos"/>
                <a:ea typeface="Aptos"/>
                <a:cs typeface="Aptos"/>
              </a:defRPr>
            </a:lvl4pPr>
            <a:lvl5pPr algn="l">
              <a:buNone/>
              <a:defRPr sz="1650" b="0">
                <a:solidFill>
                  <a:srgbClr val="4A6572"/>
                </a:solidFill>
                <a:latin typeface="Aptos"/>
                <a:ea typeface="Aptos"/>
                <a:cs typeface="Aptos"/>
              </a:defRPr>
            </a:lvl5pPr>
            <a:lvl6pPr algn="l">
              <a:buNone/>
              <a:defRPr sz="1650" b="0">
                <a:solidFill>
                  <a:srgbClr val="4A6572"/>
                </a:solidFill>
                <a:latin typeface="Aptos"/>
                <a:ea typeface="Aptos"/>
                <a:cs typeface="Aptos"/>
              </a:defRPr>
            </a:lvl6pPr>
            <a:lvl7pPr algn="l">
              <a:buNone/>
              <a:defRPr sz="1650" b="0">
                <a:solidFill>
                  <a:srgbClr val="4A6572"/>
                </a:solidFill>
                <a:latin typeface="Aptos"/>
                <a:ea typeface="Aptos"/>
                <a:cs typeface="Aptos"/>
              </a:defRPr>
            </a:lvl7pPr>
            <a:lvl8pPr algn="l">
              <a:buNone/>
              <a:defRPr sz="1650" b="0">
                <a:solidFill>
                  <a:srgbClr val="4A6572"/>
                </a:solidFill>
                <a:latin typeface="Aptos"/>
                <a:ea typeface="Aptos"/>
                <a:cs typeface="Aptos"/>
              </a:defRPr>
            </a:lvl8pPr>
            <a:lvl9pPr algn="l">
              <a:buNone/>
              <a:defRPr sz="1650" b="0">
                <a:solidFill>
                  <a:srgbClr val="4A6572"/>
                </a:solidFill>
                <a:latin typeface="Aptos"/>
                <a:ea typeface="Aptos"/>
                <a:cs typeface="Aptos"/>
              </a:defRPr>
            </a:lvl9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Operates agent</a:t>
            </a:r>
          </a:p>
        </p:txBody>
      </p:sp>
      <p:cxnSp>
        <p:nvCxnSpPr>
          <p:cNvPr id="27" name="flow-163">
            <a:extLst xmlns:a="http://schemas.openxmlformats.org/drawingml/2006/main">
              <a:ext uri="{FF2B5EF4-FFF2-40B4-BE49-F238E27FC236}">
                <a16:creationId xmlns:a16="http://schemas.microsoft.com/office/drawing/2014/main" id="{A0E0A54E-0054-441F-86F6-0611EA726AB8}"/>
              </a:ext>
            </a:extLst>
          </p:cNvPr>
          <p:cNvCxnSpPr/>
          <p:nvPr/>
        </p:nvCxnSpPr>
        <p:spPr>
          <a:xfrm xmlns:a="http://schemas.openxmlformats.org/drawingml/2006/main" flipH="0" flipV="0">
            <a:off x="11649075" y="30480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8" name="flow-164">
            <a:extLst xmlns:a="http://schemas.openxmlformats.org/drawingml/2006/main">
              <a:ext uri="{FF2B5EF4-FFF2-40B4-BE49-F238E27FC236}">
                <a16:creationId xmlns:a16="http://schemas.microsoft.com/office/drawing/2014/main" id="{D1AF441D-DEA2-4F6D-B622-60C14AE5C157}"/>
              </a:ext>
            </a:extLst>
          </p:cNvPr>
          <p:cNvCxnSpPr/>
          <p:nvPr/>
        </p:nvCxnSpPr>
        <p:spPr>
          <a:xfrm xmlns:a="http://schemas.openxmlformats.org/drawingml/2006/main" flipH="1" flipV="0">
            <a:off x="5524500" y="3333750"/>
            <a:ext cx="6124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165">
            <a:extLst xmlns:a="http://schemas.openxmlformats.org/drawingml/2006/main">
              <a:ext uri="{FF2B5EF4-FFF2-40B4-BE49-F238E27FC236}">
                <a16:creationId xmlns:a16="http://schemas.microsoft.com/office/drawing/2014/main" id="{DD0AA757-13B1-41C3-B9D7-54CC33B07413}"/>
              </a:ext>
            </a:extLst>
          </p:cNvPr>
          <p:cNvCxnSpPr/>
          <p:nvPr/>
        </p:nvCxnSpPr>
        <p:spPr>
          <a:xfrm xmlns:a="http://schemas.openxmlformats.org/drawingml/2006/main" flipH="0" flipV="0">
            <a:off x="5524500" y="3333750"/>
            <a:ext cx="0" cy="666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166">
            <a:extLst xmlns:a="http://schemas.openxmlformats.org/drawingml/2006/main">
              <a:ext uri="{FF2B5EF4-FFF2-40B4-BE49-F238E27FC236}">
                <a16:creationId xmlns:a16="http://schemas.microsoft.com/office/drawing/2014/main" id="{E6B5B663-D67C-44ED-A170-D1DE7DFCA2FF}"/>
              </a:ext>
            </a:extLst>
          </p:cNvPr>
          <p:cNvSpPr>
            <a:spLocks xmlns:a="http://schemas.openxmlformats.org/drawingml/2006/main" noGrp="1"/>
          </p:cNvSpPr>
          <p:nvPr/>
        </p:nvSpPr>
        <p:spPr>
          <a:xfrm xmlns:a="http://schemas.openxmlformats.org/drawingml/2006/main">
            <a:off x="6810375" y="34861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Task and scoped inputs</a:t>
            </a:r>
          </a:p>
        </p:txBody>
      </p:sp>
      <p:cxnSp>
        <p:nvCxnSpPr>
          <p:cNvPr id="31" name="flow-167">
            <a:extLst xmlns:a="http://schemas.openxmlformats.org/drawingml/2006/main">
              <a:ext uri="{FF2B5EF4-FFF2-40B4-BE49-F238E27FC236}">
                <a16:creationId xmlns:a16="http://schemas.microsoft.com/office/drawing/2014/main" id="{E66F4706-1E42-4B3F-A582-2642CC768ECA}"/>
              </a:ext>
            </a:extLst>
          </p:cNvPr>
          <p:cNvCxnSpPr/>
          <p:nvPr/>
        </p:nvCxnSpPr>
        <p:spPr>
          <a:xfrm xmlns:a="http://schemas.openxmlformats.org/drawingml/2006/main" flipH="0" flipV="0">
            <a:off x="5943600" y="4619625"/>
            <a:ext cx="2724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2" name="text-168">
            <a:extLst xmlns:a="http://schemas.openxmlformats.org/drawingml/2006/main">
              <a:ext uri="{FF2B5EF4-FFF2-40B4-BE49-F238E27FC236}">
                <a16:creationId xmlns:a16="http://schemas.microsoft.com/office/drawing/2014/main" id="{F84520EC-E863-4A8F-AF40-29B485646290}"/>
              </a:ext>
            </a:extLst>
          </p:cNvPr>
          <p:cNvSpPr>
            <a:spLocks xmlns:a="http://schemas.openxmlformats.org/drawingml/2006/main" noGrp="1"/>
          </p:cNvSpPr>
          <p:nvPr/>
        </p:nvSpPr>
        <p:spPr>
          <a:xfrm xmlns:a="http://schemas.openxmlformats.org/drawingml/2006/main">
            <a:off x="5953125" y="4181475"/>
            <a:ext cx="2714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Selected tool path</a:t>
            </a:r>
          </a:p>
        </p:txBody>
      </p:sp>
      <p:cxnSp>
        <p:nvCxnSpPr>
          <p:cNvPr id="33" name="flow-169">
            <a:extLst xmlns:a="http://schemas.openxmlformats.org/drawingml/2006/main">
              <a:ext uri="{FF2B5EF4-FFF2-40B4-BE49-F238E27FC236}">
                <a16:creationId xmlns:a16="http://schemas.microsoft.com/office/drawing/2014/main" id="{85D8F087-C22C-4D78-89ED-2097C5127108}"/>
              </a:ext>
            </a:extLst>
          </p:cNvPr>
          <p:cNvCxnSpPr/>
          <p:nvPr/>
        </p:nvCxnSpPr>
        <p:spPr>
          <a:xfrm xmlns:a="http://schemas.openxmlformats.org/drawingml/2006/main" flipH="0" flipV="0">
            <a:off x="11649075" y="5238750"/>
            <a:ext cx="0" cy="1047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170">
            <a:extLst xmlns:a="http://schemas.openxmlformats.org/drawingml/2006/main">
              <a:ext uri="{FF2B5EF4-FFF2-40B4-BE49-F238E27FC236}">
                <a16:creationId xmlns:a16="http://schemas.microsoft.com/office/drawing/2014/main" id="{0E6C5580-1AD7-4322-9075-D2C63DF3DD12}"/>
              </a:ext>
            </a:extLst>
          </p:cNvPr>
          <p:cNvSpPr>
            <a:spLocks xmlns:a="http://schemas.openxmlformats.org/drawingml/2006/main" noGrp="1"/>
          </p:cNvSpPr>
          <p:nvPr/>
        </p:nvSpPr>
        <p:spPr>
          <a:xfrm xmlns:a="http://schemas.openxmlformats.org/drawingml/2006/main">
            <a:off x="11811000" y="5562600"/>
            <a:ext cx="26193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Agent quality critique</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Member action pending</a:t>
            </a:r>
          </a:p>
        </p:txBody>
      </p:sp>
      <p:cxnSp>
        <p:nvCxnSpPr>
          <p:cNvPr id="35" name="flow-171">
            <a:extLst xmlns:a="http://schemas.openxmlformats.org/drawingml/2006/main">
              <a:ext uri="{FF2B5EF4-FFF2-40B4-BE49-F238E27FC236}">
                <a16:creationId xmlns:a16="http://schemas.microsoft.com/office/drawing/2014/main" id="{8CE9B448-9978-4F74-891A-23D8D3095BA8}"/>
              </a:ext>
            </a:extLst>
          </p:cNvPr>
          <p:cNvCxnSpPr/>
          <p:nvPr/>
        </p:nvCxnSpPr>
        <p:spPr>
          <a:xfrm xmlns:a="http://schemas.openxmlformats.org/drawingml/2006/main" flipH="0" flipV="0">
            <a:off x="5943600" y="7334250"/>
            <a:ext cx="20574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172">
            <a:extLst xmlns:a="http://schemas.openxmlformats.org/drawingml/2006/main">
              <a:ext uri="{FF2B5EF4-FFF2-40B4-BE49-F238E27FC236}">
                <a16:creationId xmlns:a16="http://schemas.microsoft.com/office/drawing/2014/main" id="{5FEB6134-3E62-4E38-B3EA-BDECF20CB9C7}"/>
              </a:ext>
            </a:extLst>
          </p:cNvPr>
          <p:cNvCxnSpPr/>
          <p:nvPr/>
        </p:nvCxnSpPr>
        <p:spPr>
          <a:xfrm xmlns:a="http://schemas.openxmlformats.org/drawingml/2006/main" flipH="0" flipV="1">
            <a:off x="8001000" y="70485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37" name="flow-173">
            <a:extLst xmlns:a="http://schemas.openxmlformats.org/drawingml/2006/main">
              <a:ext uri="{FF2B5EF4-FFF2-40B4-BE49-F238E27FC236}">
                <a16:creationId xmlns:a16="http://schemas.microsoft.com/office/drawing/2014/main" id="{A25EB32E-5620-4DC2-A838-9EFC9B6CB0FF}"/>
              </a:ext>
            </a:extLst>
          </p:cNvPr>
          <p:cNvCxnSpPr/>
          <p:nvPr/>
        </p:nvCxnSpPr>
        <p:spPr>
          <a:xfrm xmlns:a="http://schemas.openxmlformats.org/drawingml/2006/main" flipH="0" flipV="0">
            <a:off x="8001000" y="7048500"/>
            <a:ext cx="6667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8" name="text-174">
            <a:extLst xmlns:a="http://schemas.openxmlformats.org/drawingml/2006/main">
              <a:ext uri="{FF2B5EF4-FFF2-40B4-BE49-F238E27FC236}">
                <a16:creationId xmlns:a16="http://schemas.microsoft.com/office/drawing/2014/main" id="{65185635-6E97-4319-86B5-A25279CD6FF4}"/>
              </a:ext>
            </a:extLst>
          </p:cNvPr>
          <p:cNvSpPr>
            <a:spLocks xmlns:a="http://schemas.openxmlformats.org/drawingml/2006/main" noGrp="1"/>
          </p:cNvSpPr>
          <p:nvPr/>
        </p:nvSpPr>
        <p:spPr>
          <a:xfrm xmlns:a="http://schemas.openxmlformats.org/drawingml/2006/main">
            <a:off x="5962650" y="7486650"/>
            <a:ext cx="2686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Authenticated decision</a:t>
            </a:r>
          </a:p>
        </p:txBody>
      </p:sp>
      <p:cxnSp>
        <p:nvCxnSpPr>
          <p:cNvPr id="39" name="flow-175">
            <a:extLst xmlns:a="http://schemas.openxmlformats.org/drawingml/2006/main">
              <a:ext uri="{FF2B5EF4-FFF2-40B4-BE49-F238E27FC236}">
                <a16:creationId xmlns:a16="http://schemas.microsoft.com/office/drawing/2014/main" id="{4D33A37F-C2C4-4229-89E7-A45AA969659E}"/>
              </a:ext>
            </a:extLst>
          </p:cNvPr>
          <p:cNvCxnSpPr/>
          <p:nvPr/>
        </p:nvCxnSpPr>
        <p:spPr>
          <a:xfrm xmlns:a="http://schemas.openxmlformats.org/drawingml/2006/main" flipH="1" flipV="0">
            <a:off x="6953250" y="6572250"/>
            <a:ext cx="1714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0" name="flow-176">
            <a:extLst xmlns:a="http://schemas.openxmlformats.org/drawingml/2006/main">
              <a:ext uri="{FF2B5EF4-FFF2-40B4-BE49-F238E27FC236}">
                <a16:creationId xmlns:a16="http://schemas.microsoft.com/office/drawing/2014/main" id="{E10591A8-C96A-4656-A0D5-9B8A7E3918C1}"/>
              </a:ext>
            </a:extLst>
          </p:cNvPr>
          <p:cNvCxnSpPr/>
          <p:nvPr/>
        </p:nvCxnSpPr>
        <p:spPr>
          <a:xfrm xmlns:a="http://schemas.openxmlformats.org/drawingml/2006/main" flipH="0" flipV="1">
            <a:off x="6953250" y="6096000"/>
            <a:ext cx="0" cy="476250"/>
          </a:xfrm>
          <a:prstGeom xmlns:a="http://schemas.openxmlformats.org/drawingml/2006/main" prst="straightConnector1">
            <a:avLst/>
          </a:prstGeom>
          <a:ln xmlns:a="http://schemas.openxmlformats.org/drawingml/2006/main" w="23813">
            <a:solidFill>
              <a:srgbClr val="157D80"/>
            </a:solidFill>
            <a:prstDash val="dash"/>
          </a:ln>
        </p:spPr>
      </p:cxnSp>
      <p:cxnSp>
        <p:nvCxnSpPr>
          <p:cNvPr id="41" name="flow-177">
            <a:extLst xmlns:a="http://schemas.openxmlformats.org/drawingml/2006/main">
              <a:ext uri="{FF2B5EF4-FFF2-40B4-BE49-F238E27FC236}">
                <a16:creationId xmlns:a16="http://schemas.microsoft.com/office/drawing/2014/main" id="{20EA0393-0629-41B1-963F-58D7BEF8AD3A}"/>
              </a:ext>
            </a:extLst>
          </p:cNvPr>
          <p:cNvCxnSpPr/>
          <p:nvPr/>
        </p:nvCxnSpPr>
        <p:spPr>
          <a:xfrm xmlns:a="http://schemas.openxmlformats.org/drawingml/2006/main" flipH="1" flipV="0">
            <a:off x="3276600" y="6096000"/>
            <a:ext cx="3676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2" name="flow-178">
            <a:extLst xmlns:a="http://schemas.openxmlformats.org/drawingml/2006/main">
              <a:ext uri="{FF2B5EF4-FFF2-40B4-BE49-F238E27FC236}">
                <a16:creationId xmlns:a16="http://schemas.microsoft.com/office/drawing/2014/main" id="{1D08BCEA-5CF8-40AE-869B-1033C748BC19}"/>
              </a:ext>
            </a:extLst>
          </p:cNvPr>
          <p:cNvCxnSpPr/>
          <p:nvPr/>
        </p:nvCxnSpPr>
        <p:spPr>
          <a:xfrm xmlns:a="http://schemas.openxmlformats.org/drawingml/2006/main" flipH="0" flipV="1">
            <a:off x="3276600" y="5715000"/>
            <a:ext cx="0" cy="3810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43" name="text-179">
            <a:extLst xmlns:a="http://schemas.openxmlformats.org/drawingml/2006/main">
              <a:ext uri="{FF2B5EF4-FFF2-40B4-BE49-F238E27FC236}">
                <a16:creationId xmlns:a16="http://schemas.microsoft.com/office/drawing/2014/main" id="{6E205FF5-3FA6-42A6-87B4-6B5E7ADC8FD7}"/>
              </a:ext>
            </a:extLst>
          </p:cNvPr>
          <p:cNvSpPr>
            <a:spLocks xmlns:a="http://schemas.openxmlformats.org/drawingml/2006/main" noGrp="1"/>
          </p:cNvSpPr>
          <p:nvPr/>
        </p:nvSpPr>
        <p:spPr>
          <a:xfrm xmlns:a="http://schemas.openxmlformats.org/drawingml/2006/main">
            <a:off x="3524250" y="5743575"/>
            <a:ext cx="3952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Review outcome and status</a:t>
            </a:r>
          </a:p>
        </p:txBody>
      </p:sp>
      <p:sp>
        <p:nvSpPr>
          <p:cNvPr id="44" name="text-180">
            <a:extLst xmlns:a="http://schemas.openxmlformats.org/drawingml/2006/main">
              <a:ext uri="{FF2B5EF4-FFF2-40B4-BE49-F238E27FC236}">
                <a16:creationId xmlns:a16="http://schemas.microsoft.com/office/drawing/2014/main" id="{1F0AA695-3B38-49A1-8C17-8965F132185A}"/>
              </a:ext>
            </a:extLst>
          </p:cNvPr>
          <p:cNvSpPr>
            <a:spLocks xmlns:a="http://schemas.openxmlformats.org/drawingml/2006/main" noGrp="1"/>
          </p:cNvSpPr>
          <p:nvPr/>
        </p:nvSpPr>
        <p:spPr>
          <a:xfrm xmlns:a="http://schemas.openxmlformats.org/drawingml/2006/main">
            <a:off x="8667750" y="7781925"/>
            <a:ext cx="5962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vl1pPr algn="l">
              <a:buNone/>
              <a:defRPr sz="1650" b="0">
                <a:solidFill>
                  <a:srgbClr val="4A6572"/>
                </a:solidFill>
                <a:latin typeface="Aptos"/>
                <a:ea typeface="Aptos"/>
                <a:cs typeface="Aptos"/>
              </a:defRPr>
            </a:lvl1pPr>
            <a:lvl2pPr algn="l">
              <a:buNone/>
              <a:defRPr sz="1650" b="0">
                <a:solidFill>
                  <a:srgbClr val="4A6572"/>
                </a:solidFill>
                <a:latin typeface="Aptos"/>
                <a:ea typeface="Aptos"/>
                <a:cs typeface="Aptos"/>
              </a:defRPr>
            </a:lvl2pPr>
            <a:lvl3pPr algn="l">
              <a:buNone/>
              <a:defRPr sz="1650" b="0">
                <a:solidFill>
                  <a:srgbClr val="4A6572"/>
                </a:solidFill>
                <a:latin typeface="Aptos"/>
                <a:ea typeface="Aptos"/>
                <a:cs typeface="Aptos"/>
              </a:defRPr>
            </a:lvl3pPr>
            <a:lvl4pPr algn="l">
              <a:buNone/>
              <a:defRPr sz="1650" b="0">
                <a:solidFill>
                  <a:srgbClr val="4A6572"/>
                </a:solidFill>
                <a:latin typeface="Aptos"/>
                <a:ea typeface="Aptos"/>
                <a:cs typeface="Aptos"/>
              </a:defRPr>
            </a:lvl4pPr>
            <a:lvl5pPr algn="l">
              <a:buNone/>
              <a:defRPr sz="1650" b="0">
                <a:solidFill>
                  <a:srgbClr val="4A6572"/>
                </a:solidFill>
                <a:latin typeface="Aptos"/>
                <a:ea typeface="Aptos"/>
                <a:cs typeface="Aptos"/>
              </a:defRPr>
            </a:lvl5pPr>
            <a:lvl6pPr algn="l">
              <a:buNone/>
              <a:defRPr sz="1650" b="0">
                <a:solidFill>
                  <a:srgbClr val="4A6572"/>
                </a:solidFill>
                <a:latin typeface="Aptos"/>
                <a:ea typeface="Aptos"/>
                <a:cs typeface="Aptos"/>
              </a:defRPr>
            </a:lvl6pPr>
            <a:lvl7pPr algn="l">
              <a:buNone/>
              <a:defRPr sz="1650" b="0">
                <a:solidFill>
                  <a:srgbClr val="4A6572"/>
                </a:solidFill>
                <a:latin typeface="Aptos"/>
                <a:ea typeface="Aptos"/>
                <a:cs typeface="Aptos"/>
              </a:defRPr>
            </a:lvl7pPr>
            <a:lvl8pPr algn="l">
              <a:buNone/>
              <a:defRPr sz="1650" b="0">
                <a:solidFill>
                  <a:srgbClr val="4A6572"/>
                </a:solidFill>
                <a:latin typeface="Aptos"/>
                <a:ea typeface="Aptos"/>
                <a:cs typeface="Aptos"/>
              </a:defRPr>
            </a:lvl8pPr>
            <a:lvl9pPr algn="l">
              <a:buNone/>
              <a:defRPr sz="1650" b="0">
                <a:solidFill>
                  <a:srgbClr val="4A6572"/>
                </a:solidFill>
                <a:latin typeface="Aptos"/>
                <a:ea typeface="Aptos"/>
                <a:cs typeface="Aptos"/>
              </a:defRPr>
            </a:lvl9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Broader untrusted isolation and PR51 remain separate</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6" name="partner-text-5">
            <a:extLst xmlns:a="http://schemas.openxmlformats.org/drawingml/2006/main">
              <a:ext uri="{FF2B5EF4-FFF2-40B4-BE49-F238E27FC236}">
                <a16:creationId xmlns:a16="http://schemas.microsoft.com/office/drawing/2014/main" id="{1067F892-217F-4415-86E4-B916739061EA}"/>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Data ownership and reuse</a:t>
            </a:r>
          </a:p>
        </p:txBody>
      </p:sp>
      <p:sp>
        <p:nvSpPr>
          <p:cNvPr id="2" name="partner-text-6">
            <a:extLst xmlns:a="http://schemas.openxmlformats.org/drawingml/2006/main">
              <a:ext uri="{FF2B5EF4-FFF2-40B4-BE49-F238E27FC236}">
                <a16:creationId xmlns:a16="http://schemas.microsoft.com/office/drawing/2014/main" id="{4C46B285-902D-45A5-8701-BCF159024C48}"/>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6</a:t>
            </a:r>
          </a:p>
        </p:txBody>
      </p:sp>
      <p:sp>
        <p:nvSpPr>
          <p:cNvPr id="3" name="partner-node-7">
            <a:extLst xmlns:a="http://schemas.openxmlformats.org/drawingml/2006/main">
              <a:ext uri="{FF2B5EF4-FFF2-40B4-BE49-F238E27FC236}">
                <a16:creationId xmlns:a16="http://schemas.microsoft.com/office/drawing/2014/main" id="{5B9C0445-710F-469D-BD64-157D96B54070}"/>
              </a:ext>
            </a:extLst>
          </p:cNvPr>
          <p:cNvSpPr>
            <a:spLocks xmlns:a="http://schemas.openxmlformats.org/drawingml/2006/main" noGrp="1"/>
          </p:cNvSpPr>
          <p:nvPr/>
        </p:nvSpPr>
        <p:spPr>
          <a:xfrm xmlns:a="http://schemas.openxmlformats.org/drawingml/2006/main">
            <a:off x="609600" y="2095500"/>
            <a:ext cx="6096000" cy="2952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4" name="partner-text-8">
            <a:extLst xmlns:a="http://schemas.openxmlformats.org/drawingml/2006/main">
              <a:ext uri="{FF2B5EF4-FFF2-40B4-BE49-F238E27FC236}">
                <a16:creationId xmlns:a16="http://schemas.microsoft.com/office/drawing/2014/main" id="{FC2147B6-4013-4CA6-AD65-EF2E73FDB406}"/>
              </a:ext>
            </a:extLst>
          </p:cNvPr>
          <p:cNvSpPr>
            <a:spLocks xmlns:a="http://schemas.openxmlformats.org/drawingml/2006/main" noGrp="1"/>
          </p:cNvSpPr>
          <p:nvPr/>
        </p:nvSpPr>
        <p:spPr>
          <a:xfrm xmlns:a="http://schemas.openxmlformats.org/drawingml/2006/main">
            <a:off x="800100" y="2257425"/>
            <a:ext cx="571500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vl1pPr algn="l">
              <a:buNone/>
              <a:defRPr sz="2550" b="1">
                <a:solidFill>
                  <a:srgbClr val="157D80"/>
                </a:solidFill>
                <a:latin typeface="Aptos"/>
                <a:ea typeface="Aptos"/>
                <a:cs typeface="Aptos"/>
              </a:defRPr>
            </a:lvl1pPr>
            <a:lvl2pPr algn="l">
              <a:buNone/>
              <a:defRPr sz="2550" b="1">
                <a:solidFill>
                  <a:srgbClr val="157D80"/>
                </a:solidFill>
                <a:latin typeface="Aptos"/>
                <a:ea typeface="Aptos"/>
                <a:cs typeface="Aptos"/>
              </a:defRPr>
            </a:lvl2pPr>
            <a:lvl3pPr algn="l">
              <a:buNone/>
              <a:defRPr sz="2550" b="1">
                <a:solidFill>
                  <a:srgbClr val="157D80"/>
                </a:solidFill>
                <a:latin typeface="Aptos"/>
                <a:ea typeface="Aptos"/>
                <a:cs typeface="Aptos"/>
              </a:defRPr>
            </a:lvl3pPr>
            <a:lvl4pPr algn="l">
              <a:buNone/>
              <a:defRPr sz="2550" b="1">
                <a:solidFill>
                  <a:srgbClr val="157D80"/>
                </a:solidFill>
                <a:latin typeface="Aptos"/>
                <a:ea typeface="Aptos"/>
                <a:cs typeface="Aptos"/>
              </a:defRPr>
            </a:lvl4pPr>
            <a:lvl5pPr algn="l">
              <a:buNone/>
              <a:defRPr sz="2550" b="1">
                <a:solidFill>
                  <a:srgbClr val="157D80"/>
                </a:solidFill>
                <a:latin typeface="Aptos"/>
                <a:ea typeface="Aptos"/>
                <a:cs typeface="Aptos"/>
              </a:defRPr>
            </a:lvl5pPr>
            <a:lvl6pPr algn="l">
              <a:buNone/>
              <a:defRPr sz="2550" b="1">
                <a:solidFill>
                  <a:srgbClr val="157D80"/>
                </a:solidFill>
                <a:latin typeface="Aptos"/>
                <a:ea typeface="Aptos"/>
                <a:cs typeface="Aptos"/>
              </a:defRPr>
            </a:lvl6pPr>
            <a:lvl7pPr algn="l">
              <a:buNone/>
              <a:defRPr sz="2550" b="1">
                <a:solidFill>
                  <a:srgbClr val="157D80"/>
                </a:solidFill>
                <a:latin typeface="Aptos"/>
                <a:ea typeface="Aptos"/>
                <a:cs typeface="Aptos"/>
              </a:defRPr>
            </a:lvl7pPr>
            <a:lvl8pPr algn="l">
              <a:buNone/>
              <a:defRPr sz="2550" b="1">
                <a:solidFill>
                  <a:srgbClr val="157D80"/>
                </a:solidFill>
                <a:latin typeface="Aptos"/>
                <a:ea typeface="Aptos"/>
                <a:cs typeface="Aptos"/>
              </a:defRPr>
            </a:lvl8pPr>
            <a:lvl9pPr algn="l">
              <a:buNone/>
              <a:defRPr sz="2550" b="1">
                <a:solidFill>
                  <a:srgbClr val="157D80"/>
                </a:solidFill>
                <a:latin typeface="Aptos"/>
                <a:ea typeface="Aptos"/>
                <a:cs typeface="Aptos"/>
              </a:defRPr>
            </a:lvl9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Existing DAO PostgreSQL</a:t>
            </a:r>
          </a:p>
        </p:txBody>
      </p:sp>
      <p:sp>
        <p:nvSpPr>
          <p:cNvPr id="5" name="partner-text-9">
            <a:extLst xmlns:a="http://schemas.openxmlformats.org/drawingml/2006/main">
              <a:ext uri="{FF2B5EF4-FFF2-40B4-BE49-F238E27FC236}">
                <a16:creationId xmlns:a16="http://schemas.microsoft.com/office/drawing/2014/main" id="{C1D4A151-31F2-47CC-A4A2-A69DB6BF266E}"/>
              </a:ext>
            </a:extLst>
          </p:cNvPr>
          <p:cNvSpPr>
            <a:spLocks xmlns:a="http://schemas.openxmlformats.org/drawingml/2006/main" noGrp="1"/>
          </p:cNvSpPr>
          <p:nvPr/>
        </p:nvSpPr>
        <p:spPr>
          <a:xfrm xmlns:a="http://schemas.openxmlformats.org/drawingml/2006/main">
            <a:off x="800100" y="2700147"/>
            <a:ext cx="5715000" cy="9888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Authoritative scoped evidence and history</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Bounded query and useful writeback</a:t>
            </a:r>
          </a:p>
        </p:txBody>
      </p:sp>
      <p:sp>
        <p:nvSpPr>
          <p:cNvPr id="6" name="partner-text-10">
            <a:extLst xmlns:a="http://schemas.openxmlformats.org/drawingml/2006/main">
              <a:ext uri="{FF2B5EF4-FFF2-40B4-BE49-F238E27FC236}">
                <a16:creationId xmlns:a16="http://schemas.microsoft.com/office/drawing/2014/main" id="{2B3DA934-7754-4803-868E-B601DE404917}"/>
              </a:ext>
            </a:extLst>
          </p:cNvPr>
          <p:cNvSpPr>
            <a:spLocks xmlns:a="http://schemas.openxmlformats.org/drawingml/2006/main" noGrp="1"/>
          </p:cNvSpPr>
          <p:nvPr/>
        </p:nvSpPr>
        <p:spPr>
          <a:xfrm xmlns:a="http://schemas.openxmlformats.org/drawingml/2006/main">
            <a:off x="800100" y="421957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Existing SQL foundation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Actual tool binding to qualify</a:t>
            </a:r>
          </a:p>
        </p:txBody>
      </p:sp>
      <p:sp>
        <p:nvSpPr>
          <p:cNvPr id="7" name="partner-node-11">
            <a:extLst xmlns:a="http://schemas.openxmlformats.org/drawingml/2006/main">
              <a:ext uri="{FF2B5EF4-FFF2-40B4-BE49-F238E27FC236}">
                <a16:creationId xmlns:a16="http://schemas.microsoft.com/office/drawing/2014/main" id="{2077BE8B-76C5-4B87-9960-9733451C3FB0}"/>
              </a:ext>
            </a:extLst>
          </p:cNvPr>
          <p:cNvSpPr>
            <a:spLocks xmlns:a="http://schemas.openxmlformats.org/drawingml/2006/main" noGrp="1"/>
          </p:cNvSpPr>
          <p:nvPr/>
        </p:nvSpPr>
        <p:spPr>
          <a:xfrm xmlns:a="http://schemas.openxmlformats.org/drawingml/2006/main">
            <a:off x="9810750" y="2095500"/>
            <a:ext cx="4819650" cy="2952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12">
            <a:extLst xmlns:a="http://schemas.openxmlformats.org/drawingml/2006/main">
              <a:ext uri="{FF2B5EF4-FFF2-40B4-BE49-F238E27FC236}">
                <a16:creationId xmlns:a16="http://schemas.microsoft.com/office/drawing/2014/main" id="{8CB56043-F187-4D29-A770-033355FC966F}"/>
              </a:ext>
            </a:extLst>
          </p:cNvPr>
          <p:cNvSpPr>
            <a:spLocks xmlns:a="http://schemas.openxmlformats.org/drawingml/2006/main" noGrp="1"/>
          </p:cNvSpPr>
          <p:nvPr/>
        </p:nvSpPr>
        <p:spPr>
          <a:xfrm xmlns:a="http://schemas.openxmlformats.org/drawingml/2006/main">
            <a:off x="10001250" y="2257425"/>
            <a:ext cx="4438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32E38"/>
                </a:solidFill>
                <a:latin typeface="Aptos"/>
                <a:ea typeface="Aptos"/>
                <a:cs typeface="Aptos"/>
              </a:defRPr>
            </a:defPPr>
            <a:lvl1pPr algn="l">
              <a:buNone/>
              <a:defRPr sz="2550" b="1">
                <a:solidFill>
                  <a:srgbClr val="132E38"/>
                </a:solidFill>
                <a:latin typeface="Aptos"/>
                <a:ea typeface="Aptos"/>
                <a:cs typeface="Aptos"/>
              </a:defRPr>
            </a:lvl1pPr>
            <a:lvl2pPr algn="l">
              <a:buNone/>
              <a:defRPr sz="2550" b="1">
                <a:solidFill>
                  <a:srgbClr val="132E38"/>
                </a:solidFill>
                <a:latin typeface="Aptos"/>
                <a:ea typeface="Aptos"/>
                <a:cs typeface="Aptos"/>
              </a:defRPr>
            </a:lvl2pPr>
            <a:lvl3pPr algn="l">
              <a:buNone/>
              <a:defRPr sz="2550" b="1">
                <a:solidFill>
                  <a:srgbClr val="132E38"/>
                </a:solidFill>
                <a:latin typeface="Aptos"/>
                <a:ea typeface="Aptos"/>
                <a:cs typeface="Aptos"/>
              </a:defRPr>
            </a:lvl3pPr>
            <a:lvl4pPr algn="l">
              <a:buNone/>
              <a:defRPr sz="2550" b="1">
                <a:solidFill>
                  <a:srgbClr val="132E38"/>
                </a:solidFill>
                <a:latin typeface="Aptos"/>
                <a:ea typeface="Aptos"/>
                <a:cs typeface="Aptos"/>
              </a:defRPr>
            </a:lvl4pPr>
            <a:lvl5pPr algn="l">
              <a:buNone/>
              <a:defRPr sz="2550" b="1">
                <a:solidFill>
                  <a:srgbClr val="132E38"/>
                </a:solidFill>
                <a:latin typeface="Aptos"/>
                <a:ea typeface="Aptos"/>
                <a:cs typeface="Aptos"/>
              </a:defRPr>
            </a:lvl5pPr>
            <a:lvl6pPr algn="l">
              <a:buNone/>
              <a:defRPr sz="2550" b="1">
                <a:solidFill>
                  <a:srgbClr val="132E38"/>
                </a:solidFill>
                <a:latin typeface="Aptos"/>
                <a:ea typeface="Aptos"/>
                <a:cs typeface="Aptos"/>
              </a:defRPr>
            </a:lvl6pPr>
            <a:lvl7pPr algn="l">
              <a:buNone/>
              <a:defRPr sz="2550" b="1">
                <a:solidFill>
                  <a:srgbClr val="132E38"/>
                </a:solidFill>
                <a:latin typeface="Aptos"/>
                <a:ea typeface="Aptos"/>
                <a:cs typeface="Aptos"/>
              </a:defRPr>
            </a:lvl7pPr>
            <a:lvl8pPr algn="l">
              <a:buNone/>
              <a:defRPr sz="2550" b="1">
                <a:solidFill>
                  <a:srgbClr val="132E38"/>
                </a:solidFill>
                <a:latin typeface="Aptos"/>
                <a:ea typeface="Aptos"/>
                <a:cs typeface="Aptos"/>
              </a:defRPr>
            </a:lvl8pPr>
            <a:lvl9pPr algn="l">
              <a:buNone/>
              <a:defRPr sz="2550" b="1">
                <a:solidFill>
                  <a:srgbClr val="132E38"/>
                </a:solidFill>
                <a:latin typeface="Aptos"/>
                <a:ea typeface="Aptos"/>
                <a:cs typeface="Aptos"/>
              </a:defRPr>
            </a:lvl9pPr>
          </a:lstStyle>
          <a:p xmlns:a="http://schemas.openxmlformats.org/drawingml/2006/main">
            <a:pPr algn="l">
              <a:buNone/>
              <a:defRPr sz="2550" b="1">
                <a:solidFill>
                  <a:srgbClr val="132E38"/>
                </a:solidFill>
                <a:latin typeface="Aptos"/>
                <a:ea typeface="Aptos"/>
                <a:cs typeface="Aptos"/>
              </a:defRPr>
            </a:pPr>
            <a:r>
              <a:rPr sz="2550" b="1">
                <a:solidFill>
                  <a:srgbClr val="132E38"/>
                </a:solidFill>
                <a:latin typeface="Aptos"/>
                <a:ea typeface="Aptos"/>
                <a:cs typeface="Aptos"/>
              </a:rPr>
              <a:t>Paperclip database</a:t>
            </a:r>
          </a:p>
        </p:txBody>
      </p:sp>
      <p:sp>
        <p:nvSpPr>
          <p:cNvPr id="9" name="partner-text-13">
            <a:extLst xmlns:a="http://schemas.openxmlformats.org/drawingml/2006/main">
              <a:ext uri="{FF2B5EF4-FFF2-40B4-BE49-F238E27FC236}">
                <a16:creationId xmlns:a16="http://schemas.microsoft.com/office/drawing/2014/main" id="{D61F985A-692C-4C66-82E1-CC6E05726C50}"/>
              </a:ext>
            </a:extLst>
          </p:cNvPr>
          <p:cNvSpPr>
            <a:spLocks xmlns:a="http://schemas.openxmlformats.org/drawingml/2006/main" noGrp="1"/>
          </p:cNvSpPr>
          <p:nvPr/>
        </p:nvSpPr>
        <p:spPr>
          <a:xfrm xmlns:a="http://schemas.openxmlformats.org/drawingml/2006/main">
            <a:off x="10001250" y="2700147"/>
            <a:ext cx="4438650" cy="102374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vl1pPr algn="l">
              <a:buNone/>
              <a:defRPr sz="2100" b="0">
                <a:solidFill>
                  <a:srgbClr val="4A6572"/>
                </a:solidFill>
                <a:latin typeface="Aptos"/>
                <a:ea typeface="Aptos"/>
                <a:cs typeface="Aptos"/>
              </a:defRPr>
            </a:lvl1pPr>
            <a:lvl2pPr algn="l">
              <a:buNone/>
              <a:defRPr sz="2100" b="0">
                <a:solidFill>
                  <a:srgbClr val="4A6572"/>
                </a:solidFill>
                <a:latin typeface="Aptos"/>
                <a:ea typeface="Aptos"/>
                <a:cs typeface="Aptos"/>
              </a:defRPr>
            </a:lvl2pPr>
            <a:lvl3pPr algn="l">
              <a:buNone/>
              <a:defRPr sz="2100" b="0">
                <a:solidFill>
                  <a:srgbClr val="4A6572"/>
                </a:solidFill>
                <a:latin typeface="Aptos"/>
                <a:ea typeface="Aptos"/>
                <a:cs typeface="Aptos"/>
              </a:defRPr>
            </a:lvl3pPr>
            <a:lvl4pPr algn="l">
              <a:buNone/>
              <a:defRPr sz="2100" b="0">
                <a:solidFill>
                  <a:srgbClr val="4A6572"/>
                </a:solidFill>
                <a:latin typeface="Aptos"/>
                <a:ea typeface="Aptos"/>
                <a:cs typeface="Aptos"/>
              </a:defRPr>
            </a:lvl4pPr>
            <a:lvl5pPr algn="l">
              <a:buNone/>
              <a:defRPr sz="2100" b="0">
                <a:solidFill>
                  <a:srgbClr val="4A6572"/>
                </a:solidFill>
                <a:latin typeface="Aptos"/>
                <a:ea typeface="Aptos"/>
                <a:cs typeface="Aptos"/>
              </a:defRPr>
            </a:lvl5pPr>
            <a:lvl6pPr algn="l">
              <a:buNone/>
              <a:defRPr sz="2100" b="0">
                <a:solidFill>
                  <a:srgbClr val="4A6572"/>
                </a:solidFill>
                <a:latin typeface="Aptos"/>
                <a:ea typeface="Aptos"/>
                <a:cs typeface="Aptos"/>
              </a:defRPr>
            </a:lvl6pPr>
            <a:lvl7pPr algn="l">
              <a:buNone/>
              <a:defRPr sz="2100" b="0">
                <a:solidFill>
                  <a:srgbClr val="4A6572"/>
                </a:solidFill>
                <a:latin typeface="Aptos"/>
                <a:ea typeface="Aptos"/>
                <a:cs typeface="Aptos"/>
              </a:defRPr>
            </a:lvl7pPr>
            <a:lvl8pPr algn="l">
              <a:buNone/>
              <a:defRPr sz="2100" b="0">
                <a:solidFill>
                  <a:srgbClr val="4A6572"/>
                </a:solidFill>
                <a:latin typeface="Aptos"/>
                <a:ea typeface="Aptos"/>
                <a:cs typeface="Aptos"/>
              </a:defRPr>
            </a:lvl8pPr>
            <a:lvl9pPr algn="l">
              <a:buNone/>
              <a:defRPr sz="2100" b="0">
                <a:solidFill>
                  <a:srgbClr val="4A6572"/>
                </a:solidFill>
                <a:latin typeface="Aptos"/>
                <a:ea typeface="Aptos"/>
                <a:cs typeface="Aptos"/>
              </a:defRPr>
            </a:lvl9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Runs and review decisions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Bridge transport state</a:t>
            </a:r>
          </a:p>
        </p:txBody>
      </p:sp>
      <p:cxnSp>
        <p:nvCxnSpPr>
          <p:cNvPr id="10" name="partner-flow-14">
            <a:extLst xmlns:a="http://schemas.openxmlformats.org/drawingml/2006/main">
              <a:ext uri="{FF2B5EF4-FFF2-40B4-BE49-F238E27FC236}">
                <a16:creationId xmlns:a16="http://schemas.microsoft.com/office/drawing/2014/main" id="{62A5FA2E-22D7-4F55-8139-9047D5C04DD1}"/>
              </a:ext>
            </a:extLst>
          </p:cNvPr>
          <p:cNvCxnSpPr/>
          <p:nvPr/>
        </p:nvCxnSpPr>
        <p:spPr>
          <a:xfrm xmlns:a="http://schemas.openxmlformats.org/drawingml/2006/main" flipH="0" flipV="0">
            <a:off x="6705600" y="3571875"/>
            <a:ext cx="310515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11" name="partner-text-15">
            <a:extLst xmlns:a="http://schemas.openxmlformats.org/drawingml/2006/main">
              <a:ext uri="{FF2B5EF4-FFF2-40B4-BE49-F238E27FC236}">
                <a16:creationId xmlns:a16="http://schemas.microsoft.com/office/drawing/2014/main" id="{C491AAC4-2C05-425E-8C24-66B765396D23}"/>
              </a:ext>
            </a:extLst>
          </p:cNvPr>
          <p:cNvSpPr>
            <a:spLocks xmlns:a="http://schemas.openxmlformats.org/drawingml/2006/main" noGrp="1"/>
          </p:cNvSpPr>
          <p:nvPr/>
        </p:nvSpPr>
        <p:spPr>
          <a:xfrm xmlns:a="http://schemas.openxmlformats.org/drawingml/2006/main">
            <a:off x="6724650" y="2647950"/>
            <a:ext cx="3067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Service adapters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Task links and decisions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Planned</a:t>
            </a:r>
          </a:p>
        </p:txBody>
      </p:sp>
      <p:sp>
        <p:nvSpPr>
          <p:cNvPr id="12" name="partner-node-16">
            <a:extLst xmlns:a="http://schemas.openxmlformats.org/drawingml/2006/main">
              <a:ext uri="{FF2B5EF4-FFF2-40B4-BE49-F238E27FC236}">
                <a16:creationId xmlns:a16="http://schemas.microsoft.com/office/drawing/2014/main" id="{351ADE2D-DFB6-4D38-B172-A87C9EA52074}"/>
              </a:ext>
            </a:extLst>
          </p:cNvPr>
          <p:cNvSpPr>
            <a:spLocks xmlns:a="http://schemas.openxmlformats.org/drawingml/2006/main" noGrp="1"/>
          </p:cNvSpPr>
          <p:nvPr/>
        </p:nvSpPr>
        <p:spPr>
          <a:xfrm xmlns:a="http://schemas.openxmlformats.org/drawingml/2006/main">
            <a:off x="609600" y="6334125"/>
            <a:ext cx="39052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partner-text-17">
            <a:extLst xmlns:a="http://schemas.openxmlformats.org/drawingml/2006/main">
              <a:ext uri="{FF2B5EF4-FFF2-40B4-BE49-F238E27FC236}">
                <a16:creationId xmlns:a16="http://schemas.microsoft.com/office/drawing/2014/main" id="{83E0CD4A-84F4-428A-999E-A3E75AE180FA}"/>
              </a:ext>
            </a:extLst>
          </p:cNvPr>
          <p:cNvSpPr>
            <a:spLocks xmlns:a="http://schemas.openxmlformats.org/drawingml/2006/main" noGrp="1"/>
          </p:cNvSpPr>
          <p:nvPr/>
        </p:nvSpPr>
        <p:spPr>
          <a:xfrm xmlns:a="http://schemas.openxmlformats.org/drawingml/2006/main">
            <a:off x="800100" y="6496050"/>
            <a:ext cx="3524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Domain sources</a:t>
            </a:r>
          </a:p>
        </p:txBody>
      </p:sp>
      <p:sp>
        <p:nvSpPr>
          <p:cNvPr id="14" name="partner-text-18">
            <a:extLst xmlns:a="http://schemas.openxmlformats.org/drawingml/2006/main">
              <a:ext uri="{FF2B5EF4-FFF2-40B4-BE49-F238E27FC236}">
                <a16:creationId xmlns:a16="http://schemas.microsoft.com/office/drawing/2014/main" id="{CECD3974-669C-49A8-8E62-F8664E29BEEB}"/>
              </a:ext>
            </a:extLst>
          </p:cNvPr>
          <p:cNvSpPr>
            <a:spLocks xmlns:a="http://schemas.openxmlformats.org/drawingml/2006/main" noGrp="1"/>
          </p:cNvSpPr>
          <p:nvPr/>
        </p:nvSpPr>
        <p:spPr>
          <a:xfrm xmlns:a="http://schemas.openxmlformats.org/drawingml/2006/main">
            <a:off x="800100" y="6903911"/>
            <a:ext cx="3524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and meetings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Protected private sources</a:t>
            </a:r>
          </a:p>
        </p:txBody>
      </p:sp>
      <p:cxnSp>
        <p:nvCxnSpPr>
          <p:cNvPr id="15" name="partner-flow-19">
            <a:extLst xmlns:a="http://schemas.openxmlformats.org/drawingml/2006/main">
              <a:ext uri="{FF2B5EF4-FFF2-40B4-BE49-F238E27FC236}">
                <a16:creationId xmlns:a16="http://schemas.microsoft.com/office/drawing/2014/main" id="{0B270CFB-D6FD-4216-A41E-0DD9D1622806}"/>
              </a:ext>
            </a:extLst>
          </p:cNvPr>
          <p:cNvCxnSpPr/>
          <p:nvPr/>
        </p:nvCxnSpPr>
        <p:spPr>
          <a:xfrm xmlns:a="http://schemas.openxmlformats.org/drawingml/2006/main" flipH="0" flipV="1">
            <a:off x="2562225" y="5048250"/>
            <a:ext cx="0" cy="1285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16" name="partner-text-20">
            <a:extLst xmlns:a="http://schemas.openxmlformats.org/drawingml/2006/main">
              <a:ext uri="{FF2B5EF4-FFF2-40B4-BE49-F238E27FC236}">
                <a16:creationId xmlns:a16="http://schemas.microsoft.com/office/drawing/2014/main" id="{D4AF4276-834B-49C1-8998-2EBDC8092811}"/>
              </a:ext>
            </a:extLst>
          </p:cNvPr>
          <p:cNvSpPr>
            <a:spLocks xmlns:a="http://schemas.openxmlformats.org/drawingml/2006/main" noGrp="1"/>
          </p:cNvSpPr>
          <p:nvPr/>
        </p:nvSpPr>
        <p:spPr>
          <a:xfrm xmlns:a="http://schemas.openxmlformats.org/drawingml/2006/main">
            <a:off x="609600" y="5572125"/>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Adapters pending</a:t>
            </a:r>
          </a:p>
        </p:txBody>
      </p:sp>
      <p:sp>
        <p:nvSpPr>
          <p:cNvPr id="17" name="partner-node-21">
            <a:extLst xmlns:a="http://schemas.openxmlformats.org/drawingml/2006/main">
              <a:ext uri="{FF2B5EF4-FFF2-40B4-BE49-F238E27FC236}">
                <a16:creationId xmlns:a16="http://schemas.microsoft.com/office/drawing/2014/main" id="{B9D80B4C-AC07-4902-93B4-B88A11A647C2}"/>
              </a:ext>
            </a:extLst>
          </p:cNvPr>
          <p:cNvSpPr>
            <a:spLocks xmlns:a="http://schemas.openxmlformats.org/drawingml/2006/main" noGrp="1"/>
          </p:cNvSpPr>
          <p:nvPr/>
        </p:nvSpPr>
        <p:spPr>
          <a:xfrm xmlns:a="http://schemas.openxmlformats.org/drawingml/2006/main">
            <a:off x="9810750" y="6334125"/>
            <a:ext cx="4819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dash"/>
          </a:ln>
        </p:spPr>
      </p:sp>
      <p:sp>
        <p:nvSpPr>
          <p:cNvPr id="18" name="partner-text-22">
            <a:extLst xmlns:a="http://schemas.openxmlformats.org/drawingml/2006/main">
              <a:ext uri="{FF2B5EF4-FFF2-40B4-BE49-F238E27FC236}">
                <a16:creationId xmlns:a16="http://schemas.microsoft.com/office/drawing/2014/main" id="{5A6817F6-D0E2-4D90-9F17-8E6A464ACEFA}"/>
              </a:ext>
            </a:extLst>
          </p:cNvPr>
          <p:cNvSpPr>
            <a:spLocks xmlns:a="http://schemas.openxmlformats.org/drawingml/2006/main" noGrp="1"/>
          </p:cNvSpPr>
          <p:nvPr/>
        </p:nvSpPr>
        <p:spPr>
          <a:xfrm xmlns:a="http://schemas.openxmlformats.org/drawingml/2006/main">
            <a:off x="10001250" y="6496050"/>
            <a:ext cx="44386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Deferred adapters</a:t>
            </a:r>
          </a:p>
        </p:txBody>
      </p:sp>
      <p:sp>
        <p:nvSpPr>
          <p:cNvPr id="19" name="partner-text-23">
            <a:extLst xmlns:a="http://schemas.openxmlformats.org/drawingml/2006/main">
              <a:ext uri="{FF2B5EF4-FFF2-40B4-BE49-F238E27FC236}">
                <a16:creationId xmlns:a16="http://schemas.microsoft.com/office/drawing/2014/main" id="{125E7553-4239-4D03-B7C1-20303550273E}"/>
              </a:ext>
            </a:extLst>
          </p:cNvPr>
          <p:cNvSpPr>
            <a:spLocks xmlns:a="http://schemas.openxmlformats.org/drawingml/2006/main" noGrp="1"/>
          </p:cNvSpPr>
          <p:nvPr/>
        </p:nvSpPr>
        <p:spPr>
          <a:xfrm xmlns:a="http://schemas.openxmlformats.org/drawingml/2006/main">
            <a:off x="10001250" y="6903911"/>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Helix and Y2</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Reversible, not Wednesday</a:t>
            </a:r>
          </a:p>
        </p:txBody>
      </p:sp>
      <p:cxnSp>
        <p:nvCxnSpPr>
          <p:cNvPr id="20" name="partner-flow-24">
            <a:extLst xmlns:a="http://schemas.openxmlformats.org/drawingml/2006/main">
              <a:ext uri="{FF2B5EF4-FFF2-40B4-BE49-F238E27FC236}">
                <a16:creationId xmlns:a16="http://schemas.microsoft.com/office/drawing/2014/main" id="{F2AA690B-A5BA-4486-8959-DD0BBE79A2BA}"/>
              </a:ext>
            </a:extLst>
          </p:cNvPr>
          <p:cNvCxnSpPr/>
          <p:nvPr/>
        </p:nvCxnSpPr>
        <p:spPr>
          <a:xfrm xmlns:a="http://schemas.openxmlformats.org/drawingml/2006/main" flipH="0" flipV="0">
            <a:off x="5715000" y="5048250"/>
            <a:ext cx="0" cy="714375"/>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partner-flow-25">
            <a:extLst xmlns:a="http://schemas.openxmlformats.org/drawingml/2006/main">
              <a:ext uri="{FF2B5EF4-FFF2-40B4-BE49-F238E27FC236}">
                <a16:creationId xmlns:a16="http://schemas.microsoft.com/office/drawing/2014/main" id="{5E4693A2-E0CC-42CB-973F-6B1BC7BF721C}"/>
              </a:ext>
            </a:extLst>
          </p:cNvPr>
          <p:cNvCxnSpPr/>
          <p:nvPr/>
        </p:nvCxnSpPr>
        <p:spPr>
          <a:xfrm xmlns:a="http://schemas.openxmlformats.org/drawingml/2006/main" flipH="0" flipV="0">
            <a:off x="5715000" y="5762625"/>
            <a:ext cx="6505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partner-flow-26">
            <a:extLst xmlns:a="http://schemas.openxmlformats.org/drawingml/2006/main">
              <a:ext uri="{FF2B5EF4-FFF2-40B4-BE49-F238E27FC236}">
                <a16:creationId xmlns:a16="http://schemas.microsoft.com/office/drawing/2014/main" id="{282DC3F2-D0F6-4C9F-880A-C93A7EB611AE}"/>
              </a:ext>
            </a:extLst>
          </p:cNvPr>
          <p:cNvCxnSpPr/>
          <p:nvPr/>
        </p:nvCxnSpPr>
        <p:spPr>
          <a:xfrm xmlns:a="http://schemas.openxmlformats.org/drawingml/2006/main" flipH="0" flipV="0">
            <a:off x="12220575" y="5762625"/>
            <a:ext cx="0" cy="5715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partner-text-27">
            <a:extLst xmlns:a="http://schemas.openxmlformats.org/drawingml/2006/main">
              <a:ext uri="{FF2B5EF4-FFF2-40B4-BE49-F238E27FC236}">
                <a16:creationId xmlns:a16="http://schemas.microsoft.com/office/drawing/2014/main" id="{597B8127-3B37-4AED-BFCE-07B971A0F383}"/>
              </a:ext>
            </a:extLst>
          </p:cNvPr>
          <p:cNvSpPr>
            <a:spLocks xmlns:a="http://schemas.openxmlformats.org/drawingml/2006/main" noGrp="1"/>
          </p:cNvSpPr>
          <p:nvPr/>
        </p:nvSpPr>
        <p:spPr>
          <a:xfrm xmlns:a="http://schemas.openxmlformats.org/drawingml/2006/main">
            <a:off x="7200900" y="5172075"/>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Future adapter path</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Not a demo dependency</a:t>
            </a:r>
          </a:p>
        </p:txBody>
      </p:sp>
      <p:sp>
        <p:nvSpPr>
          <p:cNvPr id="24" name="partner-text-28">
            <a:extLst xmlns:a="http://schemas.openxmlformats.org/drawingml/2006/main">
              <a:ext uri="{FF2B5EF4-FFF2-40B4-BE49-F238E27FC236}">
                <a16:creationId xmlns:a16="http://schemas.microsoft.com/office/drawing/2014/main" id="{75011ED0-C4B7-41DF-B653-DB10117B2406}"/>
              </a:ext>
            </a:extLst>
          </p:cNvPr>
          <p:cNvSpPr>
            <a:spLocks xmlns:a="http://schemas.openxmlformats.org/drawingml/2006/main" noGrp="1"/>
          </p:cNvSpPr>
          <p:nvPr/>
        </p:nvSpPr>
        <p:spPr>
          <a:xfrm xmlns:a="http://schemas.openxmlformats.org/drawingml/2006/main">
            <a:off x="4905375" y="6572250"/>
            <a:ext cx="428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vl1pPr algn="ctr">
              <a:buNone/>
              <a:defRPr sz="1875" b="0">
                <a:solidFill>
                  <a:srgbClr val="4A6572"/>
                </a:solidFill>
                <a:latin typeface="Aptos"/>
                <a:ea typeface="Aptos"/>
                <a:cs typeface="Aptos"/>
              </a:defRPr>
            </a:lvl1pPr>
            <a:lvl2pPr algn="ctr">
              <a:buNone/>
              <a:defRPr sz="1875" b="0">
                <a:solidFill>
                  <a:srgbClr val="4A6572"/>
                </a:solidFill>
                <a:latin typeface="Aptos"/>
                <a:ea typeface="Aptos"/>
                <a:cs typeface="Aptos"/>
              </a:defRPr>
            </a:lvl2pPr>
            <a:lvl3pPr algn="ctr">
              <a:buNone/>
              <a:defRPr sz="1875" b="0">
                <a:solidFill>
                  <a:srgbClr val="4A6572"/>
                </a:solidFill>
                <a:latin typeface="Aptos"/>
                <a:ea typeface="Aptos"/>
                <a:cs typeface="Aptos"/>
              </a:defRPr>
            </a:lvl3pPr>
            <a:lvl4pPr algn="ctr">
              <a:buNone/>
              <a:defRPr sz="1875" b="0">
                <a:solidFill>
                  <a:srgbClr val="4A6572"/>
                </a:solidFill>
                <a:latin typeface="Aptos"/>
                <a:ea typeface="Aptos"/>
                <a:cs typeface="Aptos"/>
              </a:defRPr>
            </a:lvl4pPr>
            <a:lvl5pPr algn="ctr">
              <a:buNone/>
              <a:defRPr sz="1875" b="0">
                <a:solidFill>
                  <a:srgbClr val="4A6572"/>
                </a:solidFill>
                <a:latin typeface="Aptos"/>
                <a:ea typeface="Aptos"/>
                <a:cs typeface="Aptos"/>
              </a:defRPr>
            </a:lvl5pPr>
            <a:lvl6pPr algn="ctr">
              <a:buNone/>
              <a:defRPr sz="1875" b="0">
                <a:solidFill>
                  <a:srgbClr val="4A6572"/>
                </a:solidFill>
                <a:latin typeface="Aptos"/>
                <a:ea typeface="Aptos"/>
                <a:cs typeface="Aptos"/>
              </a:defRPr>
            </a:lvl6pPr>
            <a:lvl7pPr algn="ctr">
              <a:buNone/>
              <a:defRPr sz="1875" b="0">
                <a:solidFill>
                  <a:srgbClr val="4A6572"/>
                </a:solidFill>
                <a:latin typeface="Aptos"/>
                <a:ea typeface="Aptos"/>
                <a:cs typeface="Aptos"/>
              </a:defRPr>
            </a:lvl7pPr>
            <a:lvl8pPr algn="ctr">
              <a:buNone/>
              <a:defRPr sz="1875" b="0">
                <a:solidFill>
                  <a:srgbClr val="4A6572"/>
                </a:solidFill>
                <a:latin typeface="Aptos"/>
                <a:ea typeface="Aptos"/>
                <a:cs typeface="Aptos"/>
              </a:defRPr>
            </a:lvl8pPr>
            <a:lvl9pPr algn="ctr">
              <a:buNone/>
              <a:defRPr sz="1875" b="0">
                <a:solidFill>
                  <a:srgbClr val="4A6572"/>
                </a:solidFill>
                <a:latin typeface="Aptos"/>
                <a:ea typeface="Aptos"/>
                <a:cs typeface="Aptos"/>
              </a:defRPr>
            </a:lvl9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SQL integration is selected</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Not claimed deployed</a:t>
            </a:r>
          </a:p>
        </p:txBody>
      </p:sp>
      <p:sp>
        <p:nvSpPr>
          <p:cNvPr id="25" name="partner-text-29">
            <a:extLst xmlns:a="http://schemas.openxmlformats.org/drawingml/2006/main">
              <a:ext uri="{FF2B5EF4-FFF2-40B4-BE49-F238E27FC236}">
                <a16:creationId xmlns:a16="http://schemas.microsoft.com/office/drawing/2014/main" id="{C2939154-352F-43C8-BBEC-DB3542370E00}"/>
              </a:ext>
            </a:extLst>
          </p:cNvPr>
          <p:cNvSpPr>
            <a:spLocks xmlns:a="http://schemas.openxmlformats.org/drawingml/2006/main" noGrp="1"/>
          </p:cNvSpPr>
          <p:nvPr/>
        </p:nvSpPr>
        <p:spPr>
          <a:xfrm xmlns:a="http://schemas.openxmlformats.org/drawingml/2006/main">
            <a:off x="9810750" y="7781925"/>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vl1pPr algn="l">
              <a:buNone/>
              <a:defRPr sz="1725" b="0">
                <a:solidFill>
                  <a:srgbClr val="4A6572"/>
                </a:solidFill>
                <a:latin typeface="Aptos"/>
                <a:ea typeface="Aptos"/>
                <a:cs typeface="Aptos"/>
              </a:defRPr>
            </a:lvl1pPr>
            <a:lvl2pPr algn="l">
              <a:buNone/>
              <a:defRPr sz="1725" b="0">
                <a:solidFill>
                  <a:srgbClr val="4A6572"/>
                </a:solidFill>
                <a:latin typeface="Aptos"/>
                <a:ea typeface="Aptos"/>
                <a:cs typeface="Aptos"/>
              </a:defRPr>
            </a:lvl2pPr>
            <a:lvl3pPr algn="l">
              <a:buNone/>
              <a:defRPr sz="1725" b="0">
                <a:solidFill>
                  <a:srgbClr val="4A6572"/>
                </a:solidFill>
                <a:latin typeface="Aptos"/>
                <a:ea typeface="Aptos"/>
                <a:cs typeface="Aptos"/>
              </a:defRPr>
            </a:lvl3pPr>
            <a:lvl4pPr algn="l">
              <a:buNone/>
              <a:defRPr sz="1725" b="0">
                <a:solidFill>
                  <a:srgbClr val="4A6572"/>
                </a:solidFill>
                <a:latin typeface="Aptos"/>
                <a:ea typeface="Aptos"/>
                <a:cs typeface="Aptos"/>
              </a:defRPr>
            </a:lvl4pPr>
            <a:lvl5pPr algn="l">
              <a:buNone/>
              <a:defRPr sz="1725" b="0">
                <a:solidFill>
                  <a:srgbClr val="4A6572"/>
                </a:solidFill>
                <a:latin typeface="Aptos"/>
                <a:ea typeface="Aptos"/>
                <a:cs typeface="Aptos"/>
              </a:defRPr>
            </a:lvl5pPr>
            <a:lvl6pPr algn="l">
              <a:buNone/>
              <a:defRPr sz="1725" b="0">
                <a:solidFill>
                  <a:srgbClr val="4A6572"/>
                </a:solidFill>
                <a:latin typeface="Aptos"/>
                <a:ea typeface="Aptos"/>
                <a:cs typeface="Aptos"/>
              </a:defRPr>
            </a:lvl6pPr>
            <a:lvl7pPr algn="l">
              <a:buNone/>
              <a:defRPr sz="1725" b="0">
                <a:solidFill>
                  <a:srgbClr val="4A6572"/>
                </a:solidFill>
                <a:latin typeface="Aptos"/>
                <a:ea typeface="Aptos"/>
                <a:cs typeface="Aptos"/>
              </a:defRPr>
            </a:lvl7pPr>
            <a:lvl8pPr algn="l">
              <a:buNone/>
              <a:defRPr sz="1725" b="0">
                <a:solidFill>
                  <a:srgbClr val="4A6572"/>
                </a:solidFill>
                <a:latin typeface="Aptos"/>
                <a:ea typeface="Aptos"/>
                <a:cs typeface="Aptos"/>
              </a:defRPr>
            </a:lvl8pPr>
            <a:lvl9pPr algn="l">
              <a:buNone/>
              <a:defRPr sz="1725" b="0">
                <a:solidFill>
                  <a:srgbClr val="4A6572"/>
                </a:solidFill>
                <a:latin typeface="Aptos"/>
                <a:ea typeface="Aptos"/>
                <a:cs typeface="Aptos"/>
              </a:defRPr>
            </a:lvl9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Deferred from the critical path</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31" name="partner-text-30">
            <a:extLst xmlns:a="http://schemas.openxmlformats.org/drawingml/2006/main">
              <a:ext uri="{FF2B5EF4-FFF2-40B4-BE49-F238E27FC236}">
                <a16:creationId xmlns:a16="http://schemas.microsoft.com/office/drawing/2014/main" id="{D9F6F098-606C-4753-8F35-53882B59748D}"/>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PostgreSQL knowledge and research</a:t>
            </a:r>
          </a:p>
        </p:txBody>
      </p:sp>
      <p:sp>
        <p:nvSpPr>
          <p:cNvPr id="2" name="partner-text-31">
            <a:extLst xmlns:a="http://schemas.openxmlformats.org/drawingml/2006/main">
              <a:ext uri="{FF2B5EF4-FFF2-40B4-BE49-F238E27FC236}">
                <a16:creationId xmlns:a16="http://schemas.microsoft.com/office/drawing/2014/main" id="{3C2D60C0-D3F6-4417-BBFD-1D96437A9D33}"/>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7</a:t>
            </a:r>
          </a:p>
        </p:txBody>
      </p:sp>
      <p:sp>
        <p:nvSpPr>
          <p:cNvPr id="3" name="partner-text-32">
            <a:extLst xmlns:a="http://schemas.openxmlformats.org/drawingml/2006/main">
              <a:ext uri="{FF2B5EF4-FFF2-40B4-BE49-F238E27FC236}">
                <a16:creationId xmlns:a16="http://schemas.microsoft.com/office/drawing/2014/main" id="{236CDD3D-5A11-42C1-B333-FC684E731BD1}"/>
              </a:ext>
            </a:extLst>
          </p:cNvPr>
          <p:cNvSpPr>
            <a:spLocks xmlns:a="http://schemas.openxmlformats.org/drawingml/2006/main" noGrp="1"/>
          </p:cNvSpPr>
          <p:nvPr/>
        </p:nvSpPr>
        <p:spPr>
          <a:xfrm xmlns:a="http://schemas.openxmlformats.org/drawingml/2006/main">
            <a:off x="609600" y="1381125"/>
            <a:ext cx="1402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Wednesday SQL path, live binding to qualify</a:t>
            </a:r>
          </a:p>
        </p:txBody>
      </p:sp>
      <p:sp>
        <p:nvSpPr>
          <p:cNvPr id="4" name="partner-node-33">
            <a:extLst xmlns:a="http://schemas.openxmlformats.org/drawingml/2006/main">
              <a:ext uri="{FF2B5EF4-FFF2-40B4-BE49-F238E27FC236}">
                <a16:creationId xmlns:a16="http://schemas.microsoft.com/office/drawing/2014/main" id="{9A2E6CB0-9202-4C48-BBE8-BE2D900D5049}"/>
              </a:ext>
            </a:extLst>
          </p:cNvPr>
          <p:cNvSpPr>
            <a:spLocks xmlns:a="http://schemas.openxmlformats.org/drawingml/2006/main" noGrp="1"/>
          </p:cNvSpPr>
          <p:nvPr/>
        </p:nvSpPr>
        <p:spPr>
          <a:xfrm xmlns:a="http://schemas.openxmlformats.org/drawingml/2006/main">
            <a:off x="609600" y="2714625"/>
            <a:ext cx="3276600" cy="1619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5" name="partner-text-34">
            <a:extLst xmlns:a="http://schemas.openxmlformats.org/drawingml/2006/main">
              <a:ext uri="{FF2B5EF4-FFF2-40B4-BE49-F238E27FC236}">
                <a16:creationId xmlns:a16="http://schemas.microsoft.com/office/drawing/2014/main" id="{49CF5225-6E8C-464F-80B5-D2620C4047FA}"/>
              </a:ext>
            </a:extLst>
          </p:cNvPr>
          <p:cNvSpPr>
            <a:spLocks xmlns:a="http://schemas.openxmlformats.org/drawingml/2006/main" noGrp="1"/>
          </p:cNvSpPr>
          <p:nvPr/>
        </p:nvSpPr>
        <p:spPr>
          <a:xfrm xmlns:a="http://schemas.openxmlformats.org/drawingml/2006/main">
            <a:off x="8001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57D80"/>
                </a:solidFill>
                <a:latin typeface="Aptos"/>
                <a:ea typeface="Aptos"/>
                <a:cs typeface="Aptos"/>
              </a:defRPr>
            </a:defPPr>
            <a:lvl1pPr algn="l">
              <a:buNone/>
              <a:defRPr sz="2100" b="1">
                <a:solidFill>
                  <a:srgbClr val="157D80"/>
                </a:solidFill>
                <a:latin typeface="Aptos"/>
                <a:ea typeface="Aptos"/>
                <a:cs typeface="Aptos"/>
              </a:defRPr>
            </a:lvl1pPr>
            <a:lvl2pPr algn="l">
              <a:buNone/>
              <a:defRPr sz="2100" b="1">
                <a:solidFill>
                  <a:srgbClr val="157D80"/>
                </a:solidFill>
                <a:latin typeface="Aptos"/>
                <a:ea typeface="Aptos"/>
                <a:cs typeface="Aptos"/>
              </a:defRPr>
            </a:lvl2pPr>
            <a:lvl3pPr algn="l">
              <a:buNone/>
              <a:defRPr sz="2100" b="1">
                <a:solidFill>
                  <a:srgbClr val="157D80"/>
                </a:solidFill>
                <a:latin typeface="Aptos"/>
                <a:ea typeface="Aptos"/>
                <a:cs typeface="Aptos"/>
              </a:defRPr>
            </a:lvl3pPr>
            <a:lvl4pPr algn="l">
              <a:buNone/>
              <a:defRPr sz="2100" b="1">
                <a:solidFill>
                  <a:srgbClr val="157D80"/>
                </a:solidFill>
                <a:latin typeface="Aptos"/>
                <a:ea typeface="Aptos"/>
                <a:cs typeface="Aptos"/>
              </a:defRPr>
            </a:lvl4pPr>
            <a:lvl5pPr algn="l">
              <a:buNone/>
              <a:defRPr sz="2100" b="1">
                <a:solidFill>
                  <a:srgbClr val="157D80"/>
                </a:solidFill>
                <a:latin typeface="Aptos"/>
                <a:ea typeface="Aptos"/>
                <a:cs typeface="Aptos"/>
              </a:defRPr>
            </a:lvl5pPr>
            <a:lvl6pPr algn="l">
              <a:buNone/>
              <a:defRPr sz="2100" b="1">
                <a:solidFill>
                  <a:srgbClr val="157D80"/>
                </a:solidFill>
                <a:latin typeface="Aptos"/>
                <a:ea typeface="Aptos"/>
                <a:cs typeface="Aptos"/>
              </a:defRPr>
            </a:lvl6pPr>
            <a:lvl7pPr algn="l">
              <a:buNone/>
              <a:defRPr sz="2100" b="1">
                <a:solidFill>
                  <a:srgbClr val="157D80"/>
                </a:solidFill>
                <a:latin typeface="Aptos"/>
                <a:ea typeface="Aptos"/>
                <a:cs typeface="Aptos"/>
              </a:defRPr>
            </a:lvl7pPr>
            <a:lvl8pPr algn="l">
              <a:buNone/>
              <a:defRPr sz="2100" b="1">
                <a:solidFill>
                  <a:srgbClr val="157D80"/>
                </a:solidFill>
                <a:latin typeface="Aptos"/>
                <a:ea typeface="Aptos"/>
                <a:cs typeface="Aptos"/>
              </a:defRPr>
            </a:lvl8pPr>
            <a:lvl9pPr algn="l">
              <a:buNone/>
              <a:defRPr sz="2100" b="1">
                <a:solidFill>
                  <a:srgbClr val="157D80"/>
                </a:solidFill>
                <a:latin typeface="Aptos"/>
                <a:ea typeface="Aptos"/>
                <a:cs typeface="Aptos"/>
              </a:defRPr>
            </a:lvl9pPr>
          </a:lstStyle>
          <a:p xmlns:a="http://schemas.openxmlformats.org/drawingml/2006/main">
            <a:pPr algn="l">
              <a:buNone/>
              <a:defRPr sz="2100" b="1">
                <a:solidFill>
                  <a:srgbClr val="157D80"/>
                </a:solidFill>
                <a:latin typeface="Aptos"/>
                <a:ea typeface="Aptos"/>
                <a:cs typeface="Aptos"/>
              </a:defRPr>
            </a:pPr>
            <a:r>
              <a:rPr sz="2100" b="1">
                <a:solidFill>
                  <a:srgbClr val="157D80"/>
                </a:solidFill>
                <a:latin typeface="Aptos"/>
                <a:ea typeface="Aptos"/>
                <a:cs typeface="Aptos"/>
              </a:rPr>
              <a:t>Query saved context</a:t>
            </a:r>
          </a:p>
        </p:txBody>
      </p:sp>
      <p:sp>
        <p:nvSpPr>
          <p:cNvPr id="6" name="partner-text-35">
            <a:extLst xmlns:a="http://schemas.openxmlformats.org/drawingml/2006/main">
              <a:ext uri="{FF2B5EF4-FFF2-40B4-BE49-F238E27FC236}">
                <a16:creationId xmlns:a16="http://schemas.microsoft.com/office/drawing/2014/main" id="{70DCBAF5-39BD-4A28-9819-D6963985ABB1}"/>
              </a:ext>
            </a:extLst>
          </p:cNvPr>
          <p:cNvSpPr>
            <a:spLocks xmlns:a="http://schemas.openxmlformats.org/drawingml/2006/main" noGrp="1"/>
          </p:cNvSpPr>
          <p:nvPr/>
        </p:nvSpPr>
        <p:spPr>
          <a:xfrm xmlns:a="http://schemas.openxmlformats.org/drawingml/2006/main">
            <a:off x="800100" y="3249549"/>
            <a:ext cx="2895600" cy="8494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vl1pPr algn="l">
              <a:buNone/>
              <a:defRPr sz="1725" b="0">
                <a:solidFill>
                  <a:srgbClr val="4A6572"/>
                </a:solidFill>
                <a:latin typeface="Aptos"/>
                <a:ea typeface="Aptos"/>
                <a:cs typeface="Aptos"/>
              </a:defRPr>
            </a:lvl1pPr>
            <a:lvl2pPr algn="l">
              <a:buNone/>
              <a:defRPr sz="1725" b="0">
                <a:solidFill>
                  <a:srgbClr val="4A6572"/>
                </a:solidFill>
                <a:latin typeface="Aptos"/>
                <a:ea typeface="Aptos"/>
                <a:cs typeface="Aptos"/>
              </a:defRPr>
            </a:lvl2pPr>
            <a:lvl3pPr algn="l">
              <a:buNone/>
              <a:defRPr sz="1725" b="0">
                <a:solidFill>
                  <a:srgbClr val="4A6572"/>
                </a:solidFill>
                <a:latin typeface="Aptos"/>
                <a:ea typeface="Aptos"/>
                <a:cs typeface="Aptos"/>
              </a:defRPr>
            </a:lvl3pPr>
            <a:lvl4pPr algn="l">
              <a:buNone/>
              <a:defRPr sz="1725" b="0">
                <a:solidFill>
                  <a:srgbClr val="4A6572"/>
                </a:solidFill>
                <a:latin typeface="Aptos"/>
                <a:ea typeface="Aptos"/>
                <a:cs typeface="Aptos"/>
              </a:defRPr>
            </a:lvl4pPr>
            <a:lvl5pPr algn="l">
              <a:buNone/>
              <a:defRPr sz="1725" b="0">
                <a:solidFill>
                  <a:srgbClr val="4A6572"/>
                </a:solidFill>
                <a:latin typeface="Aptos"/>
                <a:ea typeface="Aptos"/>
                <a:cs typeface="Aptos"/>
              </a:defRPr>
            </a:lvl5pPr>
            <a:lvl6pPr algn="l">
              <a:buNone/>
              <a:defRPr sz="1725" b="0">
                <a:solidFill>
                  <a:srgbClr val="4A6572"/>
                </a:solidFill>
                <a:latin typeface="Aptos"/>
                <a:ea typeface="Aptos"/>
                <a:cs typeface="Aptos"/>
              </a:defRPr>
            </a:lvl6pPr>
            <a:lvl7pPr algn="l">
              <a:buNone/>
              <a:defRPr sz="1725" b="0">
                <a:solidFill>
                  <a:srgbClr val="4A6572"/>
                </a:solidFill>
                <a:latin typeface="Aptos"/>
                <a:ea typeface="Aptos"/>
                <a:cs typeface="Aptos"/>
              </a:defRPr>
            </a:lvl7pPr>
            <a:lvl8pPr algn="l">
              <a:buNone/>
              <a:defRPr sz="1725" b="0">
                <a:solidFill>
                  <a:srgbClr val="4A6572"/>
                </a:solidFill>
                <a:latin typeface="Aptos"/>
                <a:ea typeface="Aptos"/>
                <a:cs typeface="Aptos"/>
              </a:defRPr>
            </a:lvl8pPr>
            <a:lvl9pPr algn="l">
              <a:buNone/>
              <a:defRPr sz="1725" b="0">
                <a:solidFill>
                  <a:srgbClr val="4A6572"/>
                </a:solidFill>
                <a:latin typeface="Aptos"/>
                <a:ea typeface="Aptos"/>
                <a:cs typeface="Aptos"/>
              </a:defRPr>
            </a:lvl9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Authorized SQL evidence</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Current source and access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Bounded retrieval</a:t>
            </a:r>
          </a:p>
        </p:txBody>
      </p:sp>
      <p:sp>
        <p:nvSpPr>
          <p:cNvPr id="7" name="partner-node-36">
            <a:extLst xmlns:a="http://schemas.openxmlformats.org/drawingml/2006/main">
              <a:ext uri="{FF2B5EF4-FFF2-40B4-BE49-F238E27FC236}">
                <a16:creationId xmlns:a16="http://schemas.microsoft.com/office/drawing/2014/main" id="{7EEA0802-5C4F-4EEF-A5C5-DFFC1E0EB808}"/>
              </a:ext>
            </a:extLst>
          </p:cNvPr>
          <p:cNvSpPr>
            <a:spLocks xmlns:a="http://schemas.openxmlformats.org/drawingml/2006/main" noGrp="1"/>
          </p:cNvSpPr>
          <p:nvPr/>
        </p:nvSpPr>
        <p:spPr>
          <a:xfrm xmlns:a="http://schemas.openxmlformats.org/drawingml/2006/main">
            <a:off x="41910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37">
            <a:extLst xmlns:a="http://schemas.openxmlformats.org/drawingml/2006/main">
              <a:ext uri="{FF2B5EF4-FFF2-40B4-BE49-F238E27FC236}">
                <a16:creationId xmlns:a16="http://schemas.microsoft.com/office/drawing/2014/main" id="{E577B525-C5A8-4FCD-930C-B7E12A8A6EF2}"/>
              </a:ext>
            </a:extLst>
          </p:cNvPr>
          <p:cNvSpPr>
            <a:spLocks xmlns:a="http://schemas.openxmlformats.org/drawingml/2006/main" noGrp="1"/>
          </p:cNvSpPr>
          <p:nvPr/>
        </p:nvSpPr>
        <p:spPr>
          <a:xfrm xmlns:a="http://schemas.openxmlformats.org/drawingml/2006/main">
            <a:off x="43815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Research if needed</a:t>
            </a:r>
          </a:p>
        </p:txBody>
      </p:sp>
      <p:sp>
        <p:nvSpPr>
          <p:cNvPr id="9" name="partner-text-38">
            <a:extLst xmlns:a="http://schemas.openxmlformats.org/drawingml/2006/main">
              <a:ext uri="{FF2B5EF4-FFF2-40B4-BE49-F238E27FC236}">
                <a16:creationId xmlns:a16="http://schemas.microsoft.com/office/drawing/2014/main" id="{44B9CCB7-3C35-49B1-8343-092B948E5F01}"/>
              </a:ext>
            </a:extLst>
          </p:cNvPr>
          <p:cNvSpPr>
            <a:spLocks xmlns:a="http://schemas.openxmlformats.org/drawingml/2006/main" noGrp="1"/>
          </p:cNvSpPr>
          <p:nvPr/>
        </p:nvSpPr>
        <p:spPr>
          <a:xfrm xmlns:a="http://schemas.openxmlformats.org/drawingml/2006/main">
            <a:off x="43815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Missing or stale evidence</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discoveries even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when a grant is rejected</a:t>
            </a:r>
          </a:p>
        </p:txBody>
      </p:sp>
      <p:sp>
        <p:nvSpPr>
          <p:cNvPr id="10" name="partner-node-39">
            <a:extLst xmlns:a="http://schemas.openxmlformats.org/drawingml/2006/main">
              <a:ext uri="{FF2B5EF4-FFF2-40B4-BE49-F238E27FC236}">
                <a16:creationId xmlns:a16="http://schemas.microsoft.com/office/drawing/2014/main" id="{D429AD53-CC8C-45D3-B23A-C737E7F7E7F1}"/>
              </a:ext>
            </a:extLst>
          </p:cNvPr>
          <p:cNvSpPr>
            <a:spLocks xmlns:a="http://schemas.openxmlformats.org/drawingml/2006/main" noGrp="1"/>
          </p:cNvSpPr>
          <p:nvPr/>
        </p:nvSpPr>
        <p:spPr>
          <a:xfrm xmlns:a="http://schemas.openxmlformats.org/drawingml/2006/main">
            <a:off x="77724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1" name="partner-text-40">
            <a:extLst xmlns:a="http://schemas.openxmlformats.org/drawingml/2006/main">
              <a:ext uri="{FF2B5EF4-FFF2-40B4-BE49-F238E27FC236}">
                <a16:creationId xmlns:a16="http://schemas.microsoft.com/office/drawing/2014/main" id="{1D3BA00C-2FEA-4227-B497-BB9471D7ADA0}"/>
              </a:ext>
            </a:extLst>
          </p:cNvPr>
          <p:cNvSpPr>
            <a:spLocks xmlns:a="http://schemas.openxmlformats.org/drawingml/2006/main" noGrp="1"/>
          </p:cNvSpPr>
          <p:nvPr/>
        </p:nvSpPr>
        <p:spPr>
          <a:xfrm xmlns:a="http://schemas.openxmlformats.org/drawingml/2006/main">
            <a:off x="79629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Commit findings</a:t>
            </a:r>
          </a:p>
        </p:txBody>
      </p:sp>
      <p:sp>
        <p:nvSpPr>
          <p:cNvPr id="12" name="partner-text-41">
            <a:extLst xmlns:a="http://schemas.openxmlformats.org/drawingml/2006/main">
              <a:ext uri="{FF2B5EF4-FFF2-40B4-BE49-F238E27FC236}">
                <a16:creationId xmlns:a16="http://schemas.microsoft.com/office/drawing/2014/main" id="{199F4A86-0AB5-4AFC-9256-DA9CB7E27484}"/>
              </a:ext>
            </a:extLst>
          </p:cNvPr>
          <p:cNvSpPr>
            <a:spLocks xmlns:a="http://schemas.openxmlformats.org/drawingml/2006/main" noGrp="1"/>
          </p:cNvSpPr>
          <p:nvPr/>
        </p:nvSpPr>
        <p:spPr>
          <a:xfrm xmlns:a="http://schemas.openxmlformats.org/drawingml/2006/main">
            <a:off x="79629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SQL writeback</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Revision and history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Replay-safe tools</a:t>
            </a:r>
          </a:p>
        </p:txBody>
      </p:sp>
      <p:sp>
        <p:nvSpPr>
          <p:cNvPr id="13" name="partner-node-42">
            <a:extLst xmlns:a="http://schemas.openxmlformats.org/drawingml/2006/main">
              <a:ext uri="{FF2B5EF4-FFF2-40B4-BE49-F238E27FC236}">
                <a16:creationId xmlns:a16="http://schemas.microsoft.com/office/drawing/2014/main" id="{725762E5-9C2F-46E4-9E2C-11BC4A5B8BA5}"/>
              </a:ext>
            </a:extLst>
          </p:cNvPr>
          <p:cNvSpPr>
            <a:spLocks xmlns:a="http://schemas.openxmlformats.org/drawingml/2006/main" noGrp="1"/>
          </p:cNvSpPr>
          <p:nvPr/>
        </p:nvSpPr>
        <p:spPr>
          <a:xfrm xmlns:a="http://schemas.openxmlformats.org/drawingml/2006/main">
            <a:off x="113538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4" name="partner-text-43">
            <a:extLst xmlns:a="http://schemas.openxmlformats.org/drawingml/2006/main">
              <a:ext uri="{FF2B5EF4-FFF2-40B4-BE49-F238E27FC236}">
                <a16:creationId xmlns:a16="http://schemas.microsoft.com/office/drawing/2014/main" id="{FA83D5FD-D167-4295-B601-2EF89F1459D6}"/>
              </a:ext>
            </a:extLst>
          </p:cNvPr>
          <p:cNvSpPr>
            <a:spLocks xmlns:a="http://schemas.openxmlformats.org/drawingml/2006/main" noGrp="1"/>
          </p:cNvSpPr>
          <p:nvPr/>
        </p:nvSpPr>
        <p:spPr>
          <a:xfrm xmlns:a="http://schemas.openxmlformats.org/drawingml/2006/main">
            <a:off x="115443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Reuse next run</a:t>
            </a:r>
          </a:p>
        </p:txBody>
      </p:sp>
      <p:sp>
        <p:nvSpPr>
          <p:cNvPr id="15" name="partner-text-44">
            <a:extLst xmlns:a="http://schemas.openxmlformats.org/drawingml/2006/main">
              <a:ext uri="{FF2B5EF4-FFF2-40B4-BE49-F238E27FC236}">
                <a16:creationId xmlns:a16="http://schemas.microsoft.com/office/drawing/2014/main" id="{B3C6C51B-A494-4A97-B1DA-4149A0C66C01}"/>
              </a:ext>
            </a:extLst>
          </p:cNvPr>
          <p:cNvSpPr>
            <a:spLocks xmlns:a="http://schemas.openxmlformats.org/drawingml/2006/main" noGrp="1"/>
          </p:cNvSpPr>
          <p:nvPr/>
        </p:nvSpPr>
        <p:spPr>
          <a:xfrm xmlns:a="http://schemas.openxmlformats.org/drawingml/2006/main">
            <a:off x="115443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Saved evidence next run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Correction and replay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Current access checks</a:t>
            </a:r>
          </a:p>
        </p:txBody>
      </p:sp>
      <p:cxnSp>
        <p:nvCxnSpPr>
          <p:cNvPr id="16" name="partner-flow-45">
            <a:extLst xmlns:a="http://schemas.openxmlformats.org/drawingml/2006/main">
              <a:ext uri="{FF2B5EF4-FFF2-40B4-BE49-F238E27FC236}">
                <a16:creationId xmlns:a16="http://schemas.microsoft.com/office/drawing/2014/main" id="{81339AEE-3B1B-4E4E-AE14-8E9E0A7F375F}"/>
              </a:ext>
            </a:extLst>
          </p:cNvPr>
          <p:cNvCxnSpPr/>
          <p:nvPr/>
        </p:nvCxnSpPr>
        <p:spPr>
          <a:xfrm xmlns:a="http://schemas.openxmlformats.org/drawingml/2006/main" flipH="0" flipV="0">
            <a:off x="38862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partner-flow-46">
            <a:extLst xmlns:a="http://schemas.openxmlformats.org/drawingml/2006/main">
              <a:ext uri="{FF2B5EF4-FFF2-40B4-BE49-F238E27FC236}">
                <a16:creationId xmlns:a16="http://schemas.microsoft.com/office/drawing/2014/main" id="{79DA3EE9-7700-40CF-B304-700D8E82116A}"/>
              </a:ext>
            </a:extLst>
          </p:cNvPr>
          <p:cNvCxnSpPr/>
          <p:nvPr/>
        </p:nvCxnSpPr>
        <p:spPr>
          <a:xfrm xmlns:a="http://schemas.openxmlformats.org/drawingml/2006/main" flipH="0" flipV="0">
            <a:off x="74676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partner-flow-47">
            <a:extLst xmlns:a="http://schemas.openxmlformats.org/drawingml/2006/main">
              <a:ext uri="{FF2B5EF4-FFF2-40B4-BE49-F238E27FC236}">
                <a16:creationId xmlns:a16="http://schemas.microsoft.com/office/drawing/2014/main" id="{AE26B34C-14A8-43EF-9793-61C8134261DD}"/>
              </a:ext>
            </a:extLst>
          </p:cNvPr>
          <p:cNvCxnSpPr/>
          <p:nvPr/>
        </p:nvCxnSpPr>
        <p:spPr>
          <a:xfrm xmlns:a="http://schemas.openxmlformats.org/drawingml/2006/main" flipH="0" flipV="0">
            <a:off x="110490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partner-flow-48">
            <a:extLst xmlns:a="http://schemas.openxmlformats.org/drawingml/2006/main">
              <a:ext uri="{FF2B5EF4-FFF2-40B4-BE49-F238E27FC236}">
                <a16:creationId xmlns:a16="http://schemas.microsoft.com/office/drawing/2014/main" id="{09BDA49A-D051-4CA7-9BBA-19D05D282D72}"/>
              </a:ext>
            </a:extLst>
          </p:cNvPr>
          <p:cNvCxnSpPr/>
          <p:nvPr/>
        </p:nvCxnSpPr>
        <p:spPr>
          <a:xfrm xmlns:a="http://schemas.openxmlformats.org/drawingml/2006/main" flipH="0" flipV="1">
            <a:off x="2247900" y="2238375"/>
            <a:ext cx="0" cy="476250"/>
          </a:xfrm>
          <a:prstGeom xmlns:a="http://schemas.openxmlformats.org/drawingml/2006/main" prst="straightConnector1">
            <a:avLst/>
          </a:prstGeom>
          <a:ln xmlns:a="http://schemas.openxmlformats.org/drawingml/2006/main" w="23813">
            <a:solidFill>
              <a:srgbClr val="157D80"/>
            </a:solidFill>
            <a:prstDash val="solid"/>
          </a:ln>
        </p:spPr>
      </p:cxnSp>
      <p:cxnSp>
        <p:nvCxnSpPr>
          <p:cNvPr id="20" name="partner-flow-49">
            <a:extLst xmlns:a="http://schemas.openxmlformats.org/drawingml/2006/main">
              <a:ext uri="{FF2B5EF4-FFF2-40B4-BE49-F238E27FC236}">
                <a16:creationId xmlns:a16="http://schemas.microsoft.com/office/drawing/2014/main" id="{7BDBA942-13F4-4605-B259-8F4BE9410844}"/>
              </a:ext>
            </a:extLst>
          </p:cNvPr>
          <p:cNvCxnSpPr/>
          <p:nvPr/>
        </p:nvCxnSpPr>
        <p:spPr>
          <a:xfrm xmlns:a="http://schemas.openxmlformats.org/drawingml/2006/main" flipH="0" flipV="0">
            <a:off x="2247900" y="2238375"/>
            <a:ext cx="7162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1" name="partner-flow-50">
            <a:extLst xmlns:a="http://schemas.openxmlformats.org/drawingml/2006/main">
              <a:ext uri="{FF2B5EF4-FFF2-40B4-BE49-F238E27FC236}">
                <a16:creationId xmlns:a16="http://schemas.microsoft.com/office/drawing/2014/main" id="{DE61B143-7DA6-4744-9990-532DE1ACCC06}"/>
              </a:ext>
            </a:extLst>
          </p:cNvPr>
          <p:cNvCxnSpPr/>
          <p:nvPr/>
        </p:nvCxnSpPr>
        <p:spPr>
          <a:xfrm xmlns:a="http://schemas.openxmlformats.org/drawingml/2006/main" flipH="0" flipV="0">
            <a:off x="9410700" y="2238375"/>
            <a:ext cx="0" cy="476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2" name="partner-text-51">
            <a:extLst xmlns:a="http://schemas.openxmlformats.org/drawingml/2006/main">
              <a:ext uri="{FF2B5EF4-FFF2-40B4-BE49-F238E27FC236}">
                <a16:creationId xmlns:a16="http://schemas.microsoft.com/office/drawing/2014/main" id="{F4E2E950-6D9E-4CB2-AC20-F5C7FC2CFC58}"/>
              </a:ext>
            </a:extLst>
          </p:cNvPr>
          <p:cNvSpPr>
            <a:spLocks xmlns:a="http://schemas.openxmlformats.org/drawingml/2006/main" noGrp="1"/>
          </p:cNvSpPr>
          <p:nvPr/>
        </p:nvSpPr>
        <p:spPr>
          <a:xfrm xmlns:a="http://schemas.openxmlformats.org/drawingml/2006/main">
            <a:off x="2247900" y="1914525"/>
            <a:ext cx="716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Sufficient evidence: answer + no-change receipt</a:t>
            </a:r>
          </a:p>
        </p:txBody>
      </p:sp>
      <p:cxnSp>
        <p:nvCxnSpPr>
          <p:cNvPr id="23" name="partner-flow-52">
            <a:extLst xmlns:a="http://schemas.openxmlformats.org/drawingml/2006/main">
              <a:ext uri="{FF2B5EF4-FFF2-40B4-BE49-F238E27FC236}">
                <a16:creationId xmlns:a16="http://schemas.microsoft.com/office/drawing/2014/main" id="{3107D102-18F0-43E5-A085-4B74015722DF}"/>
              </a:ext>
            </a:extLst>
          </p:cNvPr>
          <p:cNvCxnSpPr/>
          <p:nvPr/>
        </p:nvCxnSpPr>
        <p:spPr>
          <a:xfrm xmlns:a="http://schemas.openxmlformats.org/drawingml/2006/main" flipH="0" flipV="0">
            <a:off x="12992100" y="4333875"/>
            <a:ext cx="0" cy="333375"/>
          </a:xfrm>
          <a:prstGeom xmlns:a="http://schemas.openxmlformats.org/drawingml/2006/main" prst="straightConnector1">
            <a:avLst/>
          </a:prstGeom>
          <a:ln xmlns:a="http://schemas.openxmlformats.org/drawingml/2006/main" w="23813">
            <a:solidFill>
              <a:srgbClr val="157D80"/>
            </a:solidFill>
            <a:prstDash val="solid"/>
          </a:ln>
        </p:spPr>
      </p:cxnSp>
      <p:cxnSp>
        <p:nvCxnSpPr>
          <p:cNvPr id="24" name="partner-flow-53">
            <a:extLst xmlns:a="http://schemas.openxmlformats.org/drawingml/2006/main">
              <a:ext uri="{FF2B5EF4-FFF2-40B4-BE49-F238E27FC236}">
                <a16:creationId xmlns:a16="http://schemas.microsoft.com/office/drawing/2014/main" id="{D1C0988A-DBEF-4346-A9E6-75F35691E09F}"/>
              </a:ext>
            </a:extLst>
          </p:cNvPr>
          <p:cNvCxnSpPr/>
          <p:nvPr/>
        </p:nvCxnSpPr>
        <p:spPr>
          <a:xfrm xmlns:a="http://schemas.openxmlformats.org/drawingml/2006/main" flipH="1" flipV="0">
            <a:off x="2247900" y="4667250"/>
            <a:ext cx="10744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partner-flow-54">
            <a:extLst xmlns:a="http://schemas.openxmlformats.org/drawingml/2006/main">
              <a:ext uri="{FF2B5EF4-FFF2-40B4-BE49-F238E27FC236}">
                <a16:creationId xmlns:a16="http://schemas.microsoft.com/office/drawing/2014/main" id="{55278894-2AA9-4BA0-B649-5F8AC39CA834}"/>
              </a:ext>
            </a:extLst>
          </p:cNvPr>
          <p:cNvCxnSpPr/>
          <p:nvPr/>
        </p:nvCxnSpPr>
        <p:spPr>
          <a:xfrm xmlns:a="http://schemas.openxmlformats.org/drawingml/2006/main" flipH="0" flipV="1">
            <a:off x="2247900" y="4333875"/>
            <a:ext cx="0" cy="333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partner-text-55">
            <a:extLst xmlns:a="http://schemas.openxmlformats.org/drawingml/2006/main">
              <a:ext uri="{FF2B5EF4-FFF2-40B4-BE49-F238E27FC236}">
                <a16:creationId xmlns:a16="http://schemas.microsoft.com/office/drawing/2014/main" id="{F01A2471-98BD-4112-A4C9-A77115890286}"/>
              </a:ext>
            </a:extLst>
          </p:cNvPr>
          <p:cNvSpPr>
            <a:spLocks xmlns:a="http://schemas.openxmlformats.org/drawingml/2006/main" noGrp="1"/>
          </p:cNvSpPr>
          <p:nvPr/>
        </p:nvSpPr>
        <p:spPr>
          <a:xfrm xmlns:a="http://schemas.openxmlformats.org/drawingml/2006/main">
            <a:off x="3333750" y="484822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4A6572"/>
                </a:solidFill>
                <a:latin typeface="Aptos"/>
                <a:ea typeface="Aptos"/>
                <a:cs typeface="Aptos"/>
              </a:defRPr>
            </a:defPPr>
            <a:lvl1pPr algn="ctr">
              <a:buNone/>
              <a:defRPr sz="1950" b="0">
                <a:solidFill>
                  <a:srgbClr val="4A6572"/>
                </a:solidFill>
                <a:latin typeface="Aptos"/>
                <a:ea typeface="Aptos"/>
                <a:cs typeface="Aptos"/>
              </a:defRPr>
            </a:lvl1pPr>
            <a:lvl2pPr algn="ctr">
              <a:buNone/>
              <a:defRPr sz="1950" b="0">
                <a:solidFill>
                  <a:srgbClr val="4A6572"/>
                </a:solidFill>
                <a:latin typeface="Aptos"/>
                <a:ea typeface="Aptos"/>
                <a:cs typeface="Aptos"/>
              </a:defRPr>
            </a:lvl2pPr>
            <a:lvl3pPr algn="ctr">
              <a:buNone/>
              <a:defRPr sz="1950" b="0">
                <a:solidFill>
                  <a:srgbClr val="4A6572"/>
                </a:solidFill>
                <a:latin typeface="Aptos"/>
                <a:ea typeface="Aptos"/>
                <a:cs typeface="Aptos"/>
              </a:defRPr>
            </a:lvl3pPr>
            <a:lvl4pPr algn="ctr">
              <a:buNone/>
              <a:defRPr sz="1950" b="0">
                <a:solidFill>
                  <a:srgbClr val="4A6572"/>
                </a:solidFill>
                <a:latin typeface="Aptos"/>
                <a:ea typeface="Aptos"/>
                <a:cs typeface="Aptos"/>
              </a:defRPr>
            </a:lvl4pPr>
            <a:lvl5pPr algn="ctr">
              <a:buNone/>
              <a:defRPr sz="1950" b="0">
                <a:solidFill>
                  <a:srgbClr val="4A6572"/>
                </a:solidFill>
                <a:latin typeface="Aptos"/>
                <a:ea typeface="Aptos"/>
                <a:cs typeface="Aptos"/>
              </a:defRPr>
            </a:lvl5pPr>
            <a:lvl6pPr algn="ctr">
              <a:buNone/>
              <a:defRPr sz="1950" b="0">
                <a:solidFill>
                  <a:srgbClr val="4A6572"/>
                </a:solidFill>
                <a:latin typeface="Aptos"/>
                <a:ea typeface="Aptos"/>
                <a:cs typeface="Aptos"/>
              </a:defRPr>
            </a:lvl6pPr>
            <a:lvl7pPr algn="ctr">
              <a:buNone/>
              <a:defRPr sz="1950" b="0">
                <a:solidFill>
                  <a:srgbClr val="4A6572"/>
                </a:solidFill>
                <a:latin typeface="Aptos"/>
                <a:ea typeface="Aptos"/>
                <a:cs typeface="Aptos"/>
              </a:defRPr>
            </a:lvl7pPr>
            <a:lvl8pPr algn="ctr">
              <a:buNone/>
              <a:defRPr sz="1950" b="0">
                <a:solidFill>
                  <a:srgbClr val="4A6572"/>
                </a:solidFill>
                <a:latin typeface="Aptos"/>
                <a:ea typeface="Aptos"/>
                <a:cs typeface="Aptos"/>
              </a:defRPr>
            </a:lvl8pPr>
            <a:lvl9pPr algn="ctr">
              <a:buNone/>
              <a:defRPr sz="1950" b="0">
                <a:solidFill>
                  <a:srgbClr val="4A6572"/>
                </a:solidFill>
                <a:latin typeface="Aptos"/>
                <a:ea typeface="Aptos"/>
                <a:cs typeface="Aptos"/>
              </a:defRPr>
            </a:lvl9pPr>
          </a:lstStyle>
          <a:p xmlns:a="http://schemas.openxmlformats.org/drawingml/2006/main">
            <a:pPr algn="ctr">
              <a:buNone/>
              <a:defRPr sz="1950" b="0">
                <a:solidFill>
                  <a:srgbClr val="4A6572"/>
                </a:solidFill>
                <a:latin typeface="Aptos"/>
                <a:ea typeface="Aptos"/>
                <a:cs typeface="Aptos"/>
              </a:defRPr>
            </a:pPr>
            <a:r>
              <a:rPr sz="1950" b="0">
                <a:solidFill>
                  <a:srgbClr val="4A6572"/>
                </a:solidFill>
                <a:latin typeface="Aptos"/>
                <a:ea typeface="Aptos"/>
                <a:cs typeface="Aptos"/>
              </a:rPr>
              <a:t>The next task reuses the updated knowledge</a:t>
            </a:r>
          </a:p>
        </p:txBody>
      </p:sp>
      <p:sp>
        <p:nvSpPr>
          <p:cNvPr id="27" name="partner-text-56">
            <a:extLst xmlns:a="http://schemas.openxmlformats.org/drawingml/2006/main">
              <a:ext uri="{FF2B5EF4-FFF2-40B4-BE49-F238E27FC236}">
                <a16:creationId xmlns:a16="http://schemas.microsoft.com/office/drawing/2014/main" id="{A66860AA-21F4-41F0-BFC2-4EC8980DE83F}"/>
              </a:ext>
            </a:extLst>
          </p:cNvPr>
          <p:cNvSpPr>
            <a:spLocks xmlns:a="http://schemas.openxmlformats.org/drawingml/2006/main" noGrp="1"/>
          </p:cNvSpPr>
          <p:nvPr/>
        </p:nvSpPr>
        <p:spPr>
          <a:xfrm xmlns:a="http://schemas.openxmlformats.org/drawingml/2006/main">
            <a:off x="609600" y="5572125"/>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Bounded application knowledge</a:t>
            </a:r>
          </a:p>
        </p:txBody>
      </p:sp>
      <p:sp>
        <p:nvSpPr>
          <p:cNvPr id="28" name="partner-text-57">
            <a:extLst xmlns:a="http://schemas.openxmlformats.org/drawingml/2006/main">
              <a:ext uri="{FF2B5EF4-FFF2-40B4-BE49-F238E27FC236}">
                <a16:creationId xmlns:a16="http://schemas.microsoft.com/office/drawing/2014/main" id="{2782D3B6-3527-46B6-8D1E-15A60603C98B}"/>
              </a:ext>
            </a:extLst>
          </p:cNvPr>
          <p:cNvSpPr>
            <a:spLocks xmlns:a="http://schemas.openxmlformats.org/drawingml/2006/main" noGrp="1"/>
          </p:cNvSpPr>
          <p:nvPr/>
        </p:nvSpPr>
        <p:spPr>
          <a:xfrm xmlns:a="http://schemas.openxmlformats.org/drawingml/2006/main">
            <a:off x="609600" y="6143625"/>
            <a:ext cx="7048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Organizations, people and contact roles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Programs, projects, events and work history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Relationship owners and evidenced introductions</a:t>
            </a:r>
          </a:p>
        </p:txBody>
      </p:sp>
      <p:sp>
        <p:nvSpPr>
          <p:cNvPr id="29" name="partner-text-58">
            <a:extLst xmlns:a="http://schemas.openxmlformats.org/drawingml/2006/main">
              <a:ext uri="{FF2B5EF4-FFF2-40B4-BE49-F238E27FC236}">
                <a16:creationId xmlns:a16="http://schemas.microsoft.com/office/drawing/2014/main" id="{2516167F-50DE-49CA-9378-18DEB01F4A8E}"/>
              </a:ext>
            </a:extLst>
          </p:cNvPr>
          <p:cNvSpPr>
            <a:spLocks xmlns:a="http://schemas.openxmlformats.org/drawingml/2006/main" noGrp="1"/>
          </p:cNvSpPr>
          <p:nvPr/>
        </p:nvSpPr>
        <p:spPr>
          <a:xfrm xmlns:a="http://schemas.openxmlformats.org/drawingml/2006/main">
            <a:off x="8191500" y="6143625"/>
            <a:ext cx="6438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E38"/>
                </a:solidFill>
                <a:latin typeface="Aptos"/>
                <a:ea typeface="Aptos"/>
                <a:cs typeface="Aptos"/>
              </a:defRPr>
            </a:defPPr>
            <a:lvl1pPr algn="l">
              <a:buNone/>
              <a:defRPr sz="1950" b="0">
                <a:solidFill>
                  <a:srgbClr val="132E38"/>
                </a:solidFill>
                <a:latin typeface="Aptos"/>
                <a:ea typeface="Aptos"/>
                <a:cs typeface="Aptos"/>
              </a:defRPr>
            </a:lvl1pPr>
            <a:lvl2pPr algn="l">
              <a:buNone/>
              <a:defRPr sz="1950" b="0">
                <a:solidFill>
                  <a:srgbClr val="132E38"/>
                </a:solidFill>
                <a:latin typeface="Aptos"/>
                <a:ea typeface="Aptos"/>
                <a:cs typeface="Aptos"/>
              </a:defRPr>
            </a:lvl2pPr>
            <a:lvl3pPr algn="l">
              <a:buNone/>
              <a:defRPr sz="1950" b="0">
                <a:solidFill>
                  <a:srgbClr val="132E38"/>
                </a:solidFill>
                <a:latin typeface="Aptos"/>
                <a:ea typeface="Aptos"/>
                <a:cs typeface="Aptos"/>
              </a:defRPr>
            </a:lvl3pPr>
            <a:lvl4pPr algn="l">
              <a:buNone/>
              <a:defRPr sz="1950" b="0">
                <a:solidFill>
                  <a:srgbClr val="132E38"/>
                </a:solidFill>
                <a:latin typeface="Aptos"/>
                <a:ea typeface="Aptos"/>
                <a:cs typeface="Aptos"/>
              </a:defRPr>
            </a:lvl4pPr>
            <a:lvl5pPr algn="l">
              <a:buNone/>
              <a:defRPr sz="1950" b="0">
                <a:solidFill>
                  <a:srgbClr val="132E38"/>
                </a:solidFill>
                <a:latin typeface="Aptos"/>
                <a:ea typeface="Aptos"/>
                <a:cs typeface="Aptos"/>
              </a:defRPr>
            </a:lvl5pPr>
            <a:lvl6pPr algn="l">
              <a:buNone/>
              <a:defRPr sz="1950" b="0">
                <a:solidFill>
                  <a:srgbClr val="132E38"/>
                </a:solidFill>
                <a:latin typeface="Aptos"/>
                <a:ea typeface="Aptos"/>
                <a:cs typeface="Aptos"/>
              </a:defRPr>
            </a:lvl6pPr>
            <a:lvl7pPr algn="l">
              <a:buNone/>
              <a:defRPr sz="1950" b="0">
                <a:solidFill>
                  <a:srgbClr val="132E38"/>
                </a:solidFill>
                <a:latin typeface="Aptos"/>
                <a:ea typeface="Aptos"/>
                <a:cs typeface="Aptos"/>
              </a:defRPr>
            </a:lvl7pPr>
            <a:lvl8pPr algn="l">
              <a:buNone/>
              <a:defRPr sz="1950" b="0">
                <a:solidFill>
                  <a:srgbClr val="132E38"/>
                </a:solidFill>
                <a:latin typeface="Aptos"/>
                <a:ea typeface="Aptos"/>
                <a:cs typeface="Aptos"/>
              </a:defRPr>
            </a:lvl8pPr>
            <a:lvl9pPr algn="l">
              <a:buNone/>
              <a:defRPr sz="1950" b="0">
                <a:solidFill>
                  <a:srgbClr val="132E38"/>
                </a:solidFill>
                <a:latin typeface="Aptos"/>
                <a:ea typeface="Aptos"/>
                <a:cs typeface="Aptos"/>
              </a:defRPr>
            </a:lvl9pPr>
          </a:lstStyle>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Source, revision, date and audience on every fact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Prospects and collaborators stay distinct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Delivery stage: planned, started or completed</a:t>
            </a:r>
          </a:p>
        </p:txBody>
      </p:sp>
      <p:sp>
        <p:nvSpPr>
          <p:cNvPr id="30" name="partner-text-59">
            <a:extLst xmlns:a="http://schemas.openxmlformats.org/drawingml/2006/main">
              <a:ext uri="{FF2B5EF4-FFF2-40B4-BE49-F238E27FC236}">
                <a16:creationId xmlns:a16="http://schemas.microsoft.com/office/drawing/2014/main" id="{B350B102-319D-490B-9097-63C91AD72915}"/>
              </a:ext>
            </a:extLst>
          </p:cNvPr>
          <p:cNvSpPr>
            <a:spLocks xmlns:a="http://schemas.openxmlformats.org/drawingml/2006/main" noGrp="1"/>
          </p:cNvSpPr>
          <p:nvPr/>
        </p:nvSpPr>
        <p:spPr>
          <a:xfrm xmlns:a="http://schemas.openxmlformats.org/drawingml/2006/main">
            <a:off x="609600" y="7543800"/>
            <a:ext cx="1402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Bounded case inventory; Helix and Y2 deferred</a:t>
            </a:r>
          </a:p>
        </p:txBody>
      </p:sp>
      <p:sp>
        <p:nvSpPr>
          <p:cNvPr id="32" name="changed-assertions-edge-label">
            <a:extLst xmlns:a="http://schemas.openxmlformats.org/drawingml/2006/main">
              <a:ext uri="{FF2B5EF4-FFF2-40B4-BE49-F238E27FC236}">
                <a16:creationId xmlns:a16="http://schemas.microsoft.com/office/drawing/2014/main" id="{9544F418-1D5F-4E74-9EDB-4DA06BA69141}"/>
              </a:ext>
            </a:extLst>
          </p:cNvPr>
          <p:cNvSpPr>
            <a:spLocks xmlns:a="http://schemas.openxmlformats.org/drawingml/2006/main" noGrp="1"/>
          </p:cNvSpPr>
          <p:nvPr/>
        </p:nvSpPr>
        <p:spPr>
          <a:xfrm xmlns:a="http://schemas.openxmlformats.org/drawingml/2006/main">
            <a:off x="10096500" y="23431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Changed assertions</a:t>
            </a:r>
          </a:p>
        </p:txBody>
      </p:sp>
      <p:cxnSp>
        <p:nvCxnSpPr>
          <p:cNvPr id="33" name="changed-assertions-edge-label-leader">
            <a:extLst xmlns:a="http://schemas.openxmlformats.org/drawingml/2006/main">
              <a:ext uri="{FF2B5EF4-FFF2-40B4-BE49-F238E27FC236}">
                <a16:creationId xmlns:a16="http://schemas.microsoft.com/office/drawing/2014/main" id="{ACD93D52-E41C-4336-B030-5B5FC26429A4}"/>
              </a:ext>
            </a:extLst>
          </p:cNvPr>
          <p:cNvCxnSpPr/>
          <p:nvPr/>
        </p:nvCxnSpPr>
        <p:spPr>
          <a:xfrm xmlns:a="http://schemas.openxmlformats.org/drawingml/2006/main">
            <a:off x="11201400" y="2647950"/>
            <a:ext cx="0" cy="781050"/>
          </a:xfrm>
          <a:prstGeom xmlns:a="http://schemas.openxmlformats.org/drawingml/2006/main" prst="straightConnector1">
            <a:avLst/>
          </a:prstGeom>
          <a:ln xmlns:a="http://schemas.openxmlformats.org/drawingml/2006/main" w="9525">
            <a:solidFill>
              <a:srgbClr val="4A6572"/>
            </a:solidFill>
            <a:prstDash val="solid"/>
          </a:ln>
        </p:spPr>
      </p:cxnSp>
    </p:spTree>
    <p:extLst>
      <p:ext uri="{BB962C8B-B14F-4D97-AF65-F5344CB8AC3E}">
        <p14:creationId xmlns:p14="http://schemas.microsoft.com/office/powerpoint/2010/main" val="1464909274"/>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text-207">
            <a:extLst xmlns:a="http://schemas.openxmlformats.org/drawingml/2006/main">
              <a:ext uri="{FF2B5EF4-FFF2-40B4-BE49-F238E27FC236}">
                <a16:creationId xmlns:a16="http://schemas.microsoft.com/office/drawing/2014/main" id="{B34BF287-4654-4472-AEAE-43179009F69F}"/>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Integration interfaces</a:t>
            </a:r>
          </a:p>
        </p:txBody>
      </p:sp>
      <p:sp>
        <p:nvSpPr>
          <p:cNvPr id="2" name="text-208">
            <a:extLst xmlns:a="http://schemas.openxmlformats.org/drawingml/2006/main">
              <a:ext uri="{FF2B5EF4-FFF2-40B4-BE49-F238E27FC236}">
                <a16:creationId xmlns:a16="http://schemas.microsoft.com/office/drawing/2014/main" id="{38BB923A-7384-409B-93AE-9C78A3790C0B}"/>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8</a:t>
            </a:r>
          </a:p>
        </p:txBody>
      </p:sp>
      <p:graphicFrame>
        <p:nvGraphicFramePr>
          <p:cNvPr id="5" name="">
            <a:extLst xmlns:a="http://schemas.openxmlformats.org/drawingml/2006/main">
              <a:ext uri="{FF2B5EF4-FFF2-40B4-BE49-F238E27FC236}">
                <a16:creationId xmlns:a16="http://schemas.microsoft.com/office/drawing/2014/main" id="{F38271FE-45AE-431B-A466-52A52EA3418A}"/>
              </a:ext>
            </a:extLst>
          </p:cNvPr>
          <p:cNvGraphicFramePr/>
          <p:nvPr/>
        </p:nvGraphicFramePr>
        <p:xfrm>
          <a:off xmlns:a="http://schemas.openxmlformats.org/drawingml/2006/main" x="609600" y="1809750"/>
          <a:ext xmlns:a="http://schemas.openxmlformats.org/drawingml/2006/main" cx="14020800" cy="5924550"/>
        </p:xfrm>
        <a:graphic xmlns:a="http://schemas.openxmlformats.org/drawingml/2006/main">
          <a:graphicData uri="http://schemas.openxmlformats.org/drawingml/2006/table">
            <a:tbl>
              <a:tblPr/>
              <a:tblGrid>
                <a:gridCol w="3238500"/>
                <a:gridCol w="5143500"/>
                <a:gridCol w="5638800"/>
              </a:tblGrid>
              <a:tr h="590550">
                <a:tc>
                  <a:txBody>
                    <a:bodyPr lIns="152400" tIns="95250" rIns="152400" bIns="95250">
                      <a:noAutofit/>
                    </a:bodyPr>
                    <a:lstStyle/>
                    <a:p>
                      <a:r>
                        <a:rPr sz="2025" b="1">
                          <a:solidFill>
                            <a:srgbClr val="157D80"/>
                          </a:solidFill>
                          <a:latin typeface="Aptos"/>
                          <a:ea typeface="Aptos"/>
                          <a:cs typeface="Aptos"/>
                        </a:rPr>
                        <a:t>Interface</a:t>
                      </a:r>
                    </a:p>
                  </a:txBody>
                  <a:tcPr marL="91440" marR="91440" marT="45720" marB="45720" anchor="ctr">
                    <a:lnL w="6668">
                      <a:solidFill>
                        <a:srgbClr val="B8CACC"/>
                      </a:solidFill>
                      <a:prstDash val="solid"/>
                    </a:lnL>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Component responsibility</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Next connection</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r>
              <a:tr h="762000">
                <a:tc>
                  <a:txBody>
                    <a:bodyPr lIns="152400" tIns="95250" rIns="152400" bIns="95250">
                      <a:noAutofit/>
                    </a:bodyPr>
                    <a:lstStyle/>
                    <a:p>
                      <a:r>
                        <a:rPr sz="1875" b="1">
                          <a:solidFill>
                            <a:srgbClr val="132E38"/>
                          </a:solidFill>
                          <a:latin typeface="Aptos"/>
                          <a:ea typeface="Aptos"/>
                          <a:cs typeface="Aptos"/>
                        </a:rPr>
                        <a:t>Drive / Roundtable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Ready sources and source revisions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Confirm Drive sources and access</a:t>
                      </a:r>
                    </a:p>
                    <a:p>
                      <a:r>
                        <a:rPr sz="1875" b="0">
                          <a:solidFill>
                            <a:srgbClr val="132E38"/>
                          </a:solidFill>
                          <a:latin typeface="Aptos"/>
                          <a:ea typeface="Aptos"/>
                          <a:cs typeface="Aptos"/>
                        </a:rPr>
                        <a:t>Qualify the live source job</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Roundtable / website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Publish, enforce member access, read 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member publication and readback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Buzz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Paired identity and shared task state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Reuse existing authorized Buzz agent</a:t>
                      </a:r>
                    </a:p>
                    <a:p>
                      <a:r>
                        <a:rPr sz="1875" b="0">
                          <a:solidFill>
                            <a:srgbClr val="132E38"/>
                          </a:solidFill>
                          <a:latin typeface="Aptos"/>
                          <a:ea typeface="Aptos"/>
                          <a:cs typeface="Aptos"/>
                        </a:rPr>
                        <a:t>Qualify actual action and readback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Application / human action</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Native capture and delivery merged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draft UI and current access</a:t>
                      </a:r>
                    </a:p>
                    <a:p>
                      <a:r>
                        <a:rPr sz="1875" b="0">
                          <a:solidFill>
                            <a:srgbClr val="132E38"/>
                          </a:solidFill>
                          <a:latin typeface="Aptos"/>
                          <a:ea typeface="Aptos"/>
                          <a:cs typeface="Aptos"/>
                        </a:rPr>
                        <a:t>Actual governance only when required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DAO knowledge / SQL</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Named SQL-tool facade merged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real resolver and provider path</a:t>
                      </a:r>
                    </a:p>
                    <a:p>
                      <a:r>
                        <a:rPr sz="1875" b="0">
                          <a:solidFill>
                            <a:srgbClr val="132E38"/>
                          </a:solidFill>
                          <a:latin typeface="Aptos"/>
                          <a:ea typeface="Aptos"/>
                          <a:cs typeface="Aptos"/>
                        </a:rPr>
                        <a:t>Measure actual generated run</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Helix / Y2</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Deferred future adapters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Not Wednesday prerequisites</a:t>
                      </a:r>
                    </a:p>
                    <a:p>
                      <a:r>
                        <a:rPr sz="1875" b="0">
                          <a:solidFill>
                            <a:srgbClr val="132E38"/>
                          </a:solidFill>
                          <a:latin typeface="Aptos"/>
                          <a:ea typeface="Aptos"/>
                          <a:cs typeface="Aptos"/>
                        </a:rPr>
                        <a:t>Preserve reversibility and history</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Agent contribution</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Native roles and checkout</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Test funding and member objectives</a:t>
                      </a:r>
                    </a:p>
                    <a:p>
                      <a:r>
                        <a:rPr sz="1875" b="0">
                          <a:solidFill>
                            <a:srgbClr val="132E38"/>
                          </a:solidFill>
                          <a:latin typeface="Aptos"/>
                          <a:ea typeface="Aptos"/>
                          <a:cs typeface="Aptos"/>
                        </a:rPr>
                        <a:t>Human approval stays separate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bl>
          </a:graphicData>
        </a:graphic>
      </p:graphicFrame>
    </p:spTree>
    <p:extLst>
      <p:ext uri="{BB962C8B-B14F-4D97-AF65-F5344CB8AC3E}">
        <p14:creationId xmlns:p14="http://schemas.microsoft.com/office/powerpoint/2010/main" val="145855497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text-209">
            <a:extLst xmlns:a="http://schemas.openxmlformats.org/drawingml/2006/main">
              <a:ext uri="{FF2B5EF4-FFF2-40B4-BE49-F238E27FC236}">
                <a16:creationId xmlns:a16="http://schemas.microsoft.com/office/drawing/2014/main" id="{453D1065-A54D-45C7-8930-6D05E6C89ED7}"/>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Wednesday goal and Friday entry</a:t>
            </a:r>
          </a:p>
        </p:txBody>
      </p:sp>
      <p:sp>
        <p:nvSpPr>
          <p:cNvPr id="2" name="text-210">
            <a:extLst xmlns:a="http://schemas.openxmlformats.org/drawingml/2006/main">
              <a:ext uri="{FF2B5EF4-FFF2-40B4-BE49-F238E27FC236}">
                <a16:creationId xmlns:a16="http://schemas.microsoft.com/office/drawing/2014/main" id="{D28D0B75-16D3-4EFB-9D64-32206A0AAF82}"/>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9</a:t>
            </a:r>
          </a:p>
        </p:txBody>
      </p:sp>
      <p:sp>
        <p:nvSpPr>
          <p:cNvPr id="3" name="text-211">
            <a:extLst xmlns:a="http://schemas.openxmlformats.org/drawingml/2006/main">
              <a:ext uri="{FF2B5EF4-FFF2-40B4-BE49-F238E27FC236}">
                <a16:creationId xmlns:a16="http://schemas.microsoft.com/office/drawing/2014/main" id="{55B38816-67E8-4D3C-8922-E6FA2B4FF766}"/>
              </a:ext>
            </a:extLst>
          </p:cNvPr>
          <p:cNvSpPr>
            <a:spLocks xmlns:a="http://schemas.openxmlformats.org/drawingml/2006/main" noGrp="1"/>
          </p:cNvSpPr>
          <p:nvPr/>
        </p:nvSpPr>
        <p:spPr>
          <a:xfrm xmlns:a="http://schemas.openxmlformats.org/drawingml/2006/main">
            <a:off x="6096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Implemented</a:t>
            </a:r>
          </a:p>
        </p:txBody>
      </p:sp>
      <p:sp>
        <p:nvSpPr>
          <p:cNvPr id="4" name="text-212">
            <a:extLst xmlns:a="http://schemas.openxmlformats.org/drawingml/2006/main">
              <a:ext uri="{FF2B5EF4-FFF2-40B4-BE49-F238E27FC236}">
                <a16:creationId xmlns:a16="http://schemas.microsoft.com/office/drawing/2014/main" id="{F89881E5-6DC4-46ED-990B-EA855F60A6D1}"/>
              </a:ext>
            </a:extLst>
          </p:cNvPr>
          <p:cNvSpPr>
            <a:spLocks xmlns:a="http://schemas.openxmlformats.org/drawingml/2006/main" noGrp="1"/>
          </p:cNvSpPr>
          <p:nvPr/>
        </p:nvSpPr>
        <p:spPr>
          <a:xfrm xmlns:a="http://schemas.openxmlformats.org/drawingml/2006/main">
            <a:off x="55245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Priority outcomes</a:t>
            </a:r>
          </a:p>
        </p:txBody>
      </p:sp>
      <p:sp>
        <p:nvSpPr>
          <p:cNvPr id="5" name="text-213">
            <a:extLst xmlns:a="http://schemas.openxmlformats.org/drawingml/2006/main">
              <a:ext uri="{FF2B5EF4-FFF2-40B4-BE49-F238E27FC236}">
                <a16:creationId xmlns:a16="http://schemas.microsoft.com/office/drawing/2014/main" id="{92C13F8B-C2CE-4788-A20E-20558D8A5858}"/>
              </a:ext>
            </a:extLst>
          </p:cNvPr>
          <p:cNvSpPr>
            <a:spLocks xmlns:a="http://schemas.openxmlformats.org/drawingml/2006/main" noGrp="1"/>
          </p:cNvSpPr>
          <p:nvPr/>
        </p:nvSpPr>
        <p:spPr>
          <a:xfrm xmlns:a="http://schemas.openxmlformats.org/drawingml/2006/main">
            <a:off x="10439400" y="20955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Remaining work in order</a:t>
            </a:r>
          </a:p>
        </p:txBody>
      </p:sp>
      <p:sp>
        <p:nvSpPr>
          <p:cNvPr id="6" name="text-214">
            <a:extLst xmlns:a="http://schemas.openxmlformats.org/drawingml/2006/main">
              <a:ext uri="{FF2B5EF4-FFF2-40B4-BE49-F238E27FC236}">
                <a16:creationId xmlns:a16="http://schemas.microsoft.com/office/drawing/2014/main" id="{8409ABED-6605-4D91-B8EC-0EB777C9D073}"/>
              </a:ext>
            </a:extLst>
          </p:cNvPr>
          <p:cNvSpPr>
            <a:spLocks xmlns:a="http://schemas.openxmlformats.org/drawingml/2006/main" noGrp="1"/>
          </p:cNvSpPr>
          <p:nvPr/>
        </p:nvSpPr>
        <p:spPr>
          <a:xfrm xmlns:a="http://schemas.openxmlformats.org/drawingml/2006/main">
            <a:off x="6096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Merged cores</a:t>
            </a:r>
          </a:p>
        </p:txBody>
      </p:sp>
      <p:sp>
        <p:nvSpPr>
          <p:cNvPr id="7" name="text-215">
            <a:extLst xmlns:a="http://schemas.openxmlformats.org/drawingml/2006/main">
              <a:ext uri="{FF2B5EF4-FFF2-40B4-BE49-F238E27FC236}">
                <a16:creationId xmlns:a16="http://schemas.microsoft.com/office/drawing/2014/main" id="{9315B4A0-0735-4820-A2E2-5F0339E81D54}"/>
              </a:ext>
            </a:extLst>
          </p:cNvPr>
          <p:cNvSpPr>
            <a:spLocks xmlns:a="http://schemas.openxmlformats.org/drawingml/2006/main" noGrp="1"/>
          </p:cNvSpPr>
          <p:nvPr/>
        </p:nvSpPr>
        <p:spPr>
          <a:xfrm xmlns:a="http://schemas.openxmlformats.org/drawingml/2006/main">
            <a:off x="55245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In progress, not deployed</a:t>
            </a:r>
          </a:p>
        </p:txBody>
      </p:sp>
      <p:sp>
        <p:nvSpPr>
          <p:cNvPr id="8" name="text-216">
            <a:extLst xmlns:a="http://schemas.openxmlformats.org/drawingml/2006/main">
              <a:ext uri="{FF2B5EF4-FFF2-40B4-BE49-F238E27FC236}">
                <a16:creationId xmlns:a16="http://schemas.microsoft.com/office/drawing/2014/main" id="{B3E924A4-6621-41E1-9F93-CE058E78C920}"/>
              </a:ext>
            </a:extLst>
          </p:cNvPr>
          <p:cNvSpPr>
            <a:spLocks xmlns:a="http://schemas.openxmlformats.org/drawingml/2006/main" noGrp="1"/>
          </p:cNvSpPr>
          <p:nvPr/>
        </p:nvSpPr>
        <p:spPr>
          <a:xfrm xmlns:a="http://schemas.openxmlformats.org/drawingml/2006/main">
            <a:off x="10439400" y="26670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Wednesday Oct 28 Roundtable</a:t>
            </a:r>
          </a:p>
        </p:txBody>
      </p:sp>
      <p:cxnSp>
        <p:nvCxnSpPr>
          <p:cNvPr id="9" name="flow-217">
            <a:extLst xmlns:a="http://schemas.openxmlformats.org/drawingml/2006/main">
              <a:ext uri="{FF2B5EF4-FFF2-40B4-BE49-F238E27FC236}">
                <a16:creationId xmlns:a16="http://schemas.microsoft.com/office/drawing/2014/main" id="{9162338C-668C-4E97-A8D2-65D386866301}"/>
              </a:ext>
            </a:extLst>
          </p:cNvPr>
          <p:cNvCxnSpPr/>
          <p:nvPr/>
        </p:nvCxnSpPr>
        <p:spPr>
          <a:xfrm xmlns:a="http://schemas.openxmlformats.org/drawingml/2006/main" flipH="0" flipV="0">
            <a:off x="46101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0" name="flow-218">
            <a:extLst xmlns:a="http://schemas.openxmlformats.org/drawingml/2006/main">
              <a:ext uri="{FF2B5EF4-FFF2-40B4-BE49-F238E27FC236}">
                <a16:creationId xmlns:a16="http://schemas.microsoft.com/office/drawing/2014/main" id="{A8A09DA8-FCF8-46B0-A640-EFFCE3EDB027}"/>
              </a:ext>
            </a:extLst>
          </p:cNvPr>
          <p:cNvCxnSpPr/>
          <p:nvPr/>
        </p:nvCxnSpPr>
        <p:spPr>
          <a:xfrm xmlns:a="http://schemas.openxmlformats.org/drawingml/2006/main" flipH="0" flipV="0">
            <a:off x="95250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1" name="text-219">
            <a:extLst xmlns:a="http://schemas.openxmlformats.org/drawingml/2006/main">
              <a:ext uri="{FF2B5EF4-FFF2-40B4-BE49-F238E27FC236}">
                <a16:creationId xmlns:a16="http://schemas.microsoft.com/office/drawing/2014/main" id="{5458D523-F9D2-4AF8-BE72-B5D47AF83BAB}"/>
              </a:ext>
            </a:extLst>
          </p:cNvPr>
          <p:cNvSpPr>
            <a:spLocks xmlns:a="http://schemas.openxmlformats.org/drawingml/2006/main" noGrp="1"/>
          </p:cNvSpPr>
          <p:nvPr/>
        </p:nvSpPr>
        <p:spPr>
          <a:xfrm xmlns:a="http://schemas.openxmlformats.org/drawingml/2006/main">
            <a:off x="609600" y="3381375"/>
            <a:ext cx="4000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Buzz bridge and plugin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Meeting sources and follow-up</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V2 core, capture and delivery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Funding candidates and routes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SQL tools and evidence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Controlled native rehearsals</a:t>
            </a:r>
          </a:p>
        </p:txBody>
      </p:sp>
      <p:sp>
        <p:nvSpPr>
          <p:cNvPr id="12" name="text-220">
            <a:extLst xmlns:a="http://schemas.openxmlformats.org/drawingml/2006/main">
              <a:ext uri="{FF2B5EF4-FFF2-40B4-BE49-F238E27FC236}">
                <a16:creationId xmlns:a16="http://schemas.microsoft.com/office/drawing/2014/main" id="{A635FD90-9967-4675-ADA4-96FE6447321B}"/>
              </a:ext>
            </a:extLst>
          </p:cNvPr>
          <p:cNvSpPr>
            <a:spLocks xmlns:a="http://schemas.openxmlformats.org/drawingml/2006/main" noGrp="1"/>
          </p:cNvSpPr>
          <p:nvPr/>
        </p:nvSpPr>
        <p:spPr>
          <a:xfrm xmlns:a="http://schemas.openxmlformats.org/drawingml/2006/main">
            <a:off x="5524500" y="3381375"/>
            <a:ext cx="4000500"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Authorized PostgreSQL tools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Actual generated draft</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Agent contribution and critique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Current-member v2 confirmation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Mark submitted / later evidence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Helix and Y2 deferred</a:t>
            </a:r>
          </a:p>
        </p:txBody>
      </p:sp>
      <p:sp>
        <p:nvSpPr>
          <p:cNvPr id="13" name="text-221">
            <a:extLst xmlns:a="http://schemas.openxmlformats.org/drawingml/2006/main">
              <a:ext uri="{FF2B5EF4-FFF2-40B4-BE49-F238E27FC236}">
                <a16:creationId xmlns:a16="http://schemas.microsoft.com/office/drawing/2014/main" id="{5E56A611-E627-4F2C-A7F8-33D44283C721}"/>
              </a:ext>
            </a:extLst>
          </p:cNvPr>
          <p:cNvSpPr>
            <a:spLocks xmlns:a="http://schemas.openxmlformats.org/drawingml/2006/main" noGrp="1"/>
          </p:cNvSpPr>
          <p:nvPr/>
        </p:nvSpPr>
        <p:spPr>
          <a:xfrm xmlns:a="http://schemas.openxmlformats.org/drawingml/2006/main">
            <a:off x="10439400" y="3286125"/>
            <a:ext cx="4191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32E38"/>
                </a:solidFill>
                <a:latin typeface="Aptos"/>
                <a:ea typeface="Aptos"/>
                <a:cs typeface="Aptos"/>
              </a:defRPr>
            </a:defPPr>
            <a:lvl1pPr algn="l">
              <a:buNone/>
              <a:defRPr sz="1875" b="0">
                <a:solidFill>
                  <a:srgbClr val="132E38"/>
                </a:solidFill>
                <a:latin typeface="Aptos"/>
                <a:ea typeface="Aptos"/>
                <a:cs typeface="Aptos"/>
              </a:defRPr>
            </a:lvl1pPr>
            <a:lvl2pPr algn="l">
              <a:buNone/>
              <a:defRPr sz="1875" b="0">
                <a:solidFill>
                  <a:srgbClr val="132E38"/>
                </a:solidFill>
                <a:latin typeface="Aptos"/>
                <a:ea typeface="Aptos"/>
                <a:cs typeface="Aptos"/>
              </a:defRPr>
            </a:lvl2pPr>
            <a:lvl3pPr algn="l">
              <a:buNone/>
              <a:defRPr sz="1875" b="0">
                <a:solidFill>
                  <a:srgbClr val="132E38"/>
                </a:solidFill>
                <a:latin typeface="Aptos"/>
                <a:ea typeface="Aptos"/>
                <a:cs typeface="Aptos"/>
              </a:defRPr>
            </a:lvl3pPr>
            <a:lvl4pPr algn="l">
              <a:buNone/>
              <a:defRPr sz="1875" b="0">
                <a:solidFill>
                  <a:srgbClr val="132E38"/>
                </a:solidFill>
                <a:latin typeface="Aptos"/>
                <a:ea typeface="Aptos"/>
                <a:cs typeface="Aptos"/>
              </a:defRPr>
            </a:lvl4pPr>
            <a:lvl5pPr algn="l">
              <a:buNone/>
              <a:defRPr sz="1875" b="0">
                <a:solidFill>
                  <a:srgbClr val="132E38"/>
                </a:solidFill>
                <a:latin typeface="Aptos"/>
                <a:ea typeface="Aptos"/>
                <a:cs typeface="Aptos"/>
              </a:defRPr>
            </a:lvl5pPr>
            <a:lvl6pPr algn="l">
              <a:buNone/>
              <a:defRPr sz="1875" b="0">
                <a:solidFill>
                  <a:srgbClr val="132E38"/>
                </a:solidFill>
                <a:latin typeface="Aptos"/>
                <a:ea typeface="Aptos"/>
                <a:cs typeface="Aptos"/>
              </a:defRPr>
            </a:lvl6pPr>
            <a:lvl7pPr algn="l">
              <a:buNone/>
              <a:defRPr sz="1875" b="0">
                <a:solidFill>
                  <a:srgbClr val="132E38"/>
                </a:solidFill>
                <a:latin typeface="Aptos"/>
                <a:ea typeface="Aptos"/>
                <a:cs typeface="Aptos"/>
              </a:defRPr>
            </a:lvl7pPr>
            <a:lvl8pPr algn="l">
              <a:buNone/>
              <a:defRPr sz="1875" b="0">
                <a:solidFill>
                  <a:srgbClr val="132E38"/>
                </a:solidFill>
                <a:latin typeface="Aptos"/>
                <a:ea typeface="Aptos"/>
                <a:cs typeface="Aptos"/>
              </a:defRPr>
            </a:lvl8pPr>
            <a:lvl9pPr algn="l">
              <a:buNone/>
              <a:defRPr sz="1875" b="0">
                <a:solidFill>
                  <a:srgbClr val="132E38"/>
                </a:solidFill>
                <a:latin typeface="Aptos"/>
                <a:ea typeface="Aptos"/>
                <a:cs typeface="Aptos"/>
              </a:defRPr>
            </a:lvl9pPr>
          </a:lstStyle>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1 Funding research and draft</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2 SQL admission and reuse</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3 Member review to durable result</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4 Meeting / bounty collaboration</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5 Meeting publish and readback</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6 Measured rehearsal</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Friday Oct 30, 11am CDT entry</a:t>
            </a:r>
          </a:p>
        </p:txBody>
      </p:sp>
      <p:cxnSp>
        <p:nvCxnSpPr>
          <p:cNvPr id="14" name="flow-222">
            <a:extLst xmlns:a="http://schemas.openxmlformats.org/drawingml/2006/main">
              <a:ext uri="{FF2B5EF4-FFF2-40B4-BE49-F238E27FC236}">
                <a16:creationId xmlns:a16="http://schemas.microsoft.com/office/drawing/2014/main" id="{B8F002E2-1A2D-494E-A9E7-528F482C1212}"/>
              </a:ext>
            </a:extLst>
          </p:cNvPr>
          <p:cNvCxnSpPr/>
          <p:nvPr/>
        </p:nvCxnSpPr>
        <p:spPr>
          <a:xfrm xmlns:a="http://schemas.openxmlformats.org/drawingml/2006/main" flipH="0" flipV="0">
            <a:off x="609600" y="6000750"/>
            <a:ext cx="14020800" cy="0"/>
          </a:xfrm>
          <a:prstGeom xmlns:a="http://schemas.openxmlformats.org/drawingml/2006/main" prst="straightConnector1">
            <a:avLst/>
          </a:prstGeom>
          <a:ln xmlns:a="http://schemas.openxmlformats.org/drawingml/2006/main" w="14288">
            <a:solidFill>
              <a:srgbClr val="B8CACC"/>
            </a:solidFill>
            <a:prstDash val="solid"/>
          </a:ln>
        </p:spPr>
      </p:cxnSp>
      <p:sp>
        <p:nvSpPr>
          <p:cNvPr id="15" name="text-223">
            <a:extLst xmlns:a="http://schemas.openxmlformats.org/drawingml/2006/main">
              <a:ext uri="{FF2B5EF4-FFF2-40B4-BE49-F238E27FC236}">
                <a16:creationId xmlns:a16="http://schemas.microsoft.com/office/drawing/2014/main" id="{D899334B-4654-4790-8458-AC444D143C2A}"/>
              </a:ext>
            </a:extLst>
          </p:cNvPr>
          <p:cNvSpPr>
            <a:spLocks xmlns:a="http://schemas.openxmlformats.org/drawingml/2006/main" noGrp="1"/>
          </p:cNvSpPr>
          <p:nvPr/>
        </p:nvSpPr>
        <p:spPr>
          <a:xfrm xmlns:a="http://schemas.openxmlformats.org/drawingml/2006/main">
            <a:off x="609600" y="633412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Wednesday proof</a:t>
            </a:r>
          </a:p>
        </p:txBody>
      </p:sp>
      <p:sp>
        <p:nvSpPr>
          <p:cNvPr id="16" name="text-224">
            <a:extLst xmlns:a="http://schemas.openxmlformats.org/drawingml/2006/main">
              <a:ext uri="{FF2B5EF4-FFF2-40B4-BE49-F238E27FC236}">
                <a16:creationId xmlns:a16="http://schemas.microsoft.com/office/drawing/2014/main" id="{D6136617-4C71-4D5F-A308-8D9B3A120D8A}"/>
              </a:ext>
            </a:extLst>
          </p:cNvPr>
          <p:cNvSpPr>
            <a:spLocks xmlns:a="http://schemas.openxmlformats.org/drawingml/2006/main" noGrp="1"/>
          </p:cNvSpPr>
          <p:nvPr/>
        </p:nvSpPr>
        <p:spPr>
          <a:xfrm xmlns:a="http://schemas.openxmlformats.org/drawingml/2006/main">
            <a:off x="60960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Meeting transcript and notes</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on the member website</a:t>
            </a:r>
          </a:p>
        </p:txBody>
      </p:sp>
      <p:sp>
        <p:nvSpPr>
          <p:cNvPr id="17" name="text-225">
            <a:extLst xmlns:a="http://schemas.openxmlformats.org/drawingml/2006/main">
              <a:ext uri="{FF2B5EF4-FFF2-40B4-BE49-F238E27FC236}">
                <a16:creationId xmlns:a16="http://schemas.microsoft.com/office/drawing/2014/main" id="{13ADBA2A-5AD2-4867-9083-4F0A7F56805E}"/>
              </a:ext>
            </a:extLst>
          </p:cNvPr>
          <p:cNvSpPr>
            <a:spLocks xmlns:a="http://schemas.openxmlformats.org/drawingml/2006/main" noGrp="1"/>
          </p:cNvSpPr>
          <p:nvPr/>
        </p:nvSpPr>
        <p:spPr>
          <a:xfrm xmlns:a="http://schemas.openxmlformats.org/drawingml/2006/main">
            <a:off x="4200525"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System-generated draft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with agent critique</a:t>
            </a:r>
          </a:p>
        </p:txBody>
      </p:sp>
      <p:sp>
        <p:nvSpPr>
          <p:cNvPr id="18" name="text-226">
            <a:extLst xmlns:a="http://schemas.openxmlformats.org/drawingml/2006/main">
              <a:ext uri="{FF2B5EF4-FFF2-40B4-BE49-F238E27FC236}">
                <a16:creationId xmlns:a16="http://schemas.microsoft.com/office/drawing/2014/main" id="{119FA7FD-6420-4A53-B4FE-6BAFF2565CFE}"/>
              </a:ext>
            </a:extLst>
          </p:cNvPr>
          <p:cNvSpPr>
            <a:spLocks xmlns:a="http://schemas.openxmlformats.org/drawingml/2006/main" noGrp="1"/>
          </p:cNvSpPr>
          <p:nvPr/>
        </p:nvSpPr>
        <p:spPr>
          <a:xfrm xmlns:a="http://schemas.openxmlformats.org/drawingml/2006/main">
            <a:off x="11382375" y="7000875"/>
            <a:ext cx="32480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Exact-version member action</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V2 qualification pending</a:t>
            </a:r>
          </a:p>
        </p:txBody>
      </p:sp>
      <p:sp>
        <p:nvSpPr>
          <p:cNvPr id="20" name="partner-text-60">
            <a:extLst xmlns:a="http://schemas.openxmlformats.org/drawingml/2006/main">
              <a:ext uri="{FF2B5EF4-FFF2-40B4-BE49-F238E27FC236}">
                <a16:creationId xmlns:a16="http://schemas.microsoft.com/office/drawing/2014/main" id="{D9FAAC61-EA37-463A-9156-631276E6DC20}"/>
              </a:ext>
            </a:extLst>
          </p:cNvPr>
          <p:cNvSpPr>
            <a:spLocks xmlns:a="http://schemas.openxmlformats.org/drawingml/2006/main" noGrp="1"/>
          </p:cNvSpPr>
          <p:nvPr/>
        </p:nvSpPr>
        <p:spPr>
          <a:xfrm xmlns:a="http://schemas.openxmlformats.org/drawingml/2006/main">
            <a:off x="779145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SQL evidence saved</a:t>
            </a:r>
          </a:p>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and reused next run</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2026-10-25T00:06:01.6900000Z</dcterms:created>
  <dcterms:modified xsi:type="dcterms:W3CDTF">2026-10-25T00:06:01.6900000Z</dcterms:modified>
</coreProperties>
</file>