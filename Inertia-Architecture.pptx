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75344165b88402c" /><Relationship Type="http://schemas.openxmlformats.org/officeDocument/2006/relationships/extended-properties" Target="/docProps/app.xml" Id="R6934a1ae2c2f4387" /><Relationship Type="http://schemas.openxmlformats.org/officeDocument/2006/relationships/officeDocument" Target="/ppt/presentation.xml" Id="Rfcb51b090e8547f4" /></Relationships>
</file>

<file path=ppt/presentation.xml><?xml version="1.0" encoding="utf-8"?>
<p:presentation xmlns:p="http://schemas.openxmlformats.org/presentationml/2006/main">
  <p:sldMasterIdLst>
    <p:sldMasterId xmlns:r="http://schemas.openxmlformats.org/officeDocument/2006/relationships" id="2147483648" r:id="R74b17b4c3c3b4e7a"/>
  </p:sldMasterIdLst>
  <p:notesMasterIdLst>
    <p:notesMasterId xmlns:r="http://schemas.openxmlformats.org/officeDocument/2006/relationships" r:id="R1bf1294df75445b7"/>
  </p:notesMasterIdLst>
  <p:sldIdLst>
    <p:sldId xmlns:r="http://schemas.openxmlformats.org/officeDocument/2006/relationships" id="256" r:id="Re584fdd3160a4753"/>
    <p:sldId xmlns:r="http://schemas.openxmlformats.org/officeDocument/2006/relationships" id="257" r:id="R57ed7ec8487148b4"/>
    <p:sldId xmlns:r="http://schemas.openxmlformats.org/officeDocument/2006/relationships" id="258" r:id="R07db8bf7daaf4691"/>
    <p:sldId xmlns:r="http://schemas.openxmlformats.org/officeDocument/2006/relationships" id="259" r:id="Rd26739d3630a4973"/>
    <p:sldId xmlns:r="http://schemas.openxmlformats.org/officeDocument/2006/relationships" id="260" r:id="R200d494e39844c9b"/>
    <p:sldId xmlns:r="http://schemas.openxmlformats.org/officeDocument/2006/relationships" id="261" r:id="R473ea16bb8e24fb1"/>
    <p:sldId xmlns:r="http://schemas.openxmlformats.org/officeDocument/2006/relationships" id="262" r:id="Rffa4ed34521a4189"/>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eb8ac183b942f8" /><Relationship Type="http://schemas.openxmlformats.org/officeDocument/2006/relationships/slideMaster" Target="/ppt/slideMasters/slideMaster1.xml" Id="R74b17b4c3c3b4e7a" /><Relationship Type="http://schemas.openxmlformats.org/officeDocument/2006/relationships/notesMaster" Target="/ppt/notesMasters/notesMaster1.xml" Id="R1bf1294df75445b7" /><Relationship Type="http://schemas.openxmlformats.org/officeDocument/2006/relationships/presProps" Target="/ppt/presProps.xml" Id="Ra2d361bebc914b27" /><Relationship Type="http://schemas.openxmlformats.org/officeDocument/2006/relationships/tableStyles" Target="/ppt/tableStyles.xml" Id="R399b7505bdc34032" /><Relationship Type="http://schemas.openxmlformats.org/officeDocument/2006/relationships/slide" Target="/ppt/slides/slide1.xml" Id="Re584fdd3160a4753" /><Relationship Type="http://schemas.openxmlformats.org/officeDocument/2006/relationships/slide" Target="/ppt/slides/slide2.xml" Id="R57ed7ec8487148b4" /><Relationship Type="http://schemas.openxmlformats.org/officeDocument/2006/relationships/slide" Target="/ppt/slides/slide3.xml" Id="R07db8bf7daaf4691" /><Relationship Type="http://schemas.openxmlformats.org/officeDocument/2006/relationships/slide" Target="/ppt/slides/slide4.xml" Id="Rd26739d3630a4973" /><Relationship Type="http://schemas.openxmlformats.org/officeDocument/2006/relationships/slide" Target="/ppt/slides/slide5.xml" Id="R200d494e39844c9b" /><Relationship Type="http://schemas.openxmlformats.org/officeDocument/2006/relationships/slide" Target="/ppt/slides/slide6.xml" Id="R473ea16bb8e24fb1" /><Relationship Type="http://schemas.openxmlformats.org/officeDocument/2006/relationships/slide" Target="/ppt/slides/slide7.xml" Id="Rffa4ed34521a418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3eee00741c249f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8d60fe5ec794e8d" /><Relationship Type="http://schemas.openxmlformats.org/officeDocument/2006/relationships/notesMaster" Target="/ppt/notesMasters/notesMaster1.xml" Id="R1dbf00c4ee2d4a9d" /></Relationships>
</file>

<file path=ppt/notesSlides/_rels/notesSlide2.xml.rels>&#65279;<?xml version="1.0" encoding="utf-8"?><Relationships xmlns="http://schemas.openxmlformats.org/package/2006/relationships"><Relationship Type="http://schemas.openxmlformats.org/officeDocument/2006/relationships/slide" Target="/ppt/slides/slide2.xml" Id="R163bbb4e587e4284" /><Relationship Type="http://schemas.openxmlformats.org/officeDocument/2006/relationships/notesMaster" Target="/ppt/notesMasters/notesMaster1.xml" Id="Rbda485d7feb0431c" /></Relationships>
</file>

<file path=ppt/notesSlides/_rels/notesSlide3.xml.rels>&#65279;<?xml version="1.0" encoding="utf-8"?><Relationships xmlns="http://schemas.openxmlformats.org/package/2006/relationships"><Relationship Type="http://schemas.openxmlformats.org/officeDocument/2006/relationships/slide" Target="/ppt/slides/slide3.xml" Id="R8eb6cd482e7e4db2" /><Relationship Type="http://schemas.openxmlformats.org/officeDocument/2006/relationships/notesMaster" Target="/ppt/notesMasters/notesMaster1.xml" Id="R3a096eda7eb54a32" /></Relationships>
</file>

<file path=ppt/notesSlides/_rels/notesSlide4.xml.rels>&#65279;<?xml version="1.0" encoding="utf-8"?><Relationships xmlns="http://schemas.openxmlformats.org/package/2006/relationships"><Relationship Type="http://schemas.openxmlformats.org/officeDocument/2006/relationships/slide" Target="/ppt/slides/slide4.xml" Id="R2d6b30c2636e41df" /><Relationship Type="http://schemas.openxmlformats.org/officeDocument/2006/relationships/notesMaster" Target="/ppt/notesMasters/notesMaster1.xml" Id="R78d706c123264147" /></Relationships>
</file>

<file path=ppt/notesSlides/_rels/notesSlide5.xml.rels>&#65279;<?xml version="1.0" encoding="utf-8"?><Relationships xmlns="http://schemas.openxmlformats.org/package/2006/relationships"><Relationship Type="http://schemas.openxmlformats.org/officeDocument/2006/relationships/slide" Target="/ppt/slides/slide5.xml" Id="R31e32e536fbb47fc" /><Relationship Type="http://schemas.openxmlformats.org/officeDocument/2006/relationships/notesMaster" Target="/ppt/notesMasters/notesMaster1.xml" Id="R9bfaf9e20a184a47"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372cff152440c0" /><Relationship Type="http://schemas.openxmlformats.org/officeDocument/2006/relationships/notesMaster" Target="/ppt/notesMasters/notesMaster1.xml" Id="R9e07ad937967448c" /></Relationships>
</file>

<file path=ppt/notesSlides/_rels/notesSlide7.xml.rels>&#65279;<?xml version="1.0" encoding="utf-8"?><Relationships xmlns="http://schemas.openxmlformats.org/package/2006/relationships"><Relationship Type="http://schemas.openxmlformats.org/officeDocument/2006/relationships/slide" Target="/ppt/slides/slide7.xml" Id="R42c659b44f7341ca" /><Relationship Type="http://schemas.openxmlformats.org/officeDocument/2006/relationships/notesMaster" Target="/ppt/notesMasters/notesMaster1.xml" Id="Rc8c8a54a5e0449c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INERTIA-2026-10-22-r4, 2026-10-22. Active synchronized artifacts: spec.md, testing.md, decisions.md, plan.md, Inertia-Architecture.pptx. Previous PDF is historical and excluded. Sources: user directions through 22 October 2026. Public project home: https://github.com/NetRxn/Inertia . Original overview preserved unchanged at docs/reference/Inertia-beta-product-overview.pdf; older sequencing is superseded. Publication authorized on a focused branch and draft PR; no merge or deployment authorized. October 30 deadline confirmed; October 29 buffer proposed; https://github.com/FWTX-DAO/dao-platform ; https://github.com/orgs/FWTX-DAO/repositories ; https://dao.fwtx.city/ ; https://github.com/NetRxn/DFW-Gov-Fund (3.4.0, root README stale); https://y2.dev/ . Lab resources user-described, endpoints/API unverified: https://texas-nova.labs.fwtx.city/ and https://990-g2.ntx.labs.fwtx.city/login . Full sources in spec.md section 8. Proposed integrations do not imply deployed support. R-M01–04, R-G01–04, R-C01–05, R-O01, R-Y01. D01–D17. Diagram is logical: the Drive event enters managed processing through the trusted control plane. Management UI and orchestration can share a runtime. Member clients claim work and return candidates, never publish directly. Bidirectional request/response details are on slide 4. Google Drive platform is confirmed; exact folder, readiness, output types, access, retention and fixed publication audience remain TBD. Local OpenAI-compatible Buzz inference is unconfirmed. Change summary: source platform and PlanetScale confirmed; third objective added; Helix de-prioritized; 990 integration stretch. No new services authorized.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INERTIA-2026-10-22-r4, 2026-10-22. Active synchronized artifacts: spec.md, testing.md, decisions.md, plan.md, Inertia-Architecture.pptx. Previous PDF is historical and excluded. Sources: user directions through 22 October 2026. Public project home: https://github.com/NetRxn/Inertia . Original overview preserved unchanged at docs/reference/Inertia-beta-product-overview.pdf; older sequencing is superseded. Publication authorized on a focused branch and draft PR; no merge or deployment authorized. October 30 deadline confirmed; October 29 buffer proposed; https://github.com/FWTX-DAO/dao-platform ; https://github.com/orgs/FWTX-DAO/repositories ; https://dao.fwtx.city/ ; https://github.com/NetRxn/DFW-Gov-Fund (3.4.0, root README stale); https://y2.dev/ . Lab resources user-described, endpoints/API unverified: https://texas-nova.labs.fwtx.city/ and https://990-g2.ntx.labs.fwtx.city/login . Full sources in spec.md section 8. Proposed integrations do not imply deployed support. Requirements R-M01–04, tests T-M01–05 and T-I01, decisions D02–D04, plan P1/P3. Proposed versioned publication policy preauthorizes routine jobs within a fixed source/audience/type/retention envelope. Trusted publisher chooses destinations, never model output. Exception handling does not add mandatory human review to every meeting. Source-only summaries do not satisfy transcript acceptance. Preserve configured authorized audience and verify deployed document storage supports it; Pinata/IPFS presence does not prove restricted storage. No guarantee that automated quality checks detect all semantic errors. External side effects need idempotency plus reconciliation, not DB uniqueness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INERTIA-2026-10-22-r4, 2026-10-22. Active synchronized artifacts: spec.md, testing.md, decisions.md, plan.md, Inertia-Architecture.pptx. Previous PDF is historical and excluded. Sources: user directions through 22 October 2026. Public project home: https://github.com/NetRxn/Inertia . Original overview preserved unchanged at docs/reference/Inertia-beta-product-overview.pdf; older sequencing is superseded. Publication authorized on a focused branch and draft PR; no merge or deployment authorized. October 30 deadline confirmed; October 29 buffer proposed; https://github.com/FWTX-DAO/dao-platform ; https://github.com/orgs/FWTX-DAO/repositories ; https://dao.fwtx.city/ ; https://github.com/NetRxn/DFW-Gov-Fund (3.4.0, root README stale); https://y2.dev/ . Lab resources user-described, endpoints/API unverified: https://texas-nova.labs.fwtx.city/ and https://990-g2.ntx.labs.fwtx.city/login . Full sources in spec.md section 8. Proposed integrations do not imply deployed support. R-G01–04, R-Y01; T-G01–04, T-Y01; D06–D07, D13; P4. Engine 3.4.0 already supplies Python rules, weighted matching, template-first drafts, bounded cited external-model proposals, human acceptance into new immutable packets, role signoffs and manual portal receipt logging. No embedded full LLM/OpenAI config or blockchain bridge established. Governance intent is settled; exact adapter/finality/access still TBD. No required top-three selection vote. A vote is not arbitrary external submission authority or permission to transmit sensitive data. Y2 alerts supply evidence, not intent or automatic acceptance. Integration with the existing 990 workbench is a stretch TODO, distinct from any new Helix 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INERTIA-2026-10-22-r4, 2026-10-22. Active synchronized artifacts: spec.md, testing.md, decisions.md, plan.md, Inertia-Architecture.pptx. Previous PDF is historical and excluded. Sources: user directions through 22 October 2026. Public project home: https://github.com/NetRxn/Inertia . Original overview preserved unchanged at docs/reference/Inertia-beta-product-overview.pdf; older sequencing is superseded. Publication authorized on a focused branch and draft PR; no merge or deployment authorized. October 30 deadline confirmed; October 29 buffer proposed; https://github.com/FWTX-DAO/dao-platform ; https://github.com/orgs/FWTX-DAO/repositories ; https://dao.fwtx.city/ ; https://github.com/NetRxn/DFW-Gov-Fund (3.4.0, root README stale); https://y2.dev/ . Lab resources user-described, endpoints/API unverified: https://texas-nova.labs.fwtx.city/ and https://990-g2.ntx.labs.fwtx.city/login . Full sources in spec.md section 8. Proposed integrations do not imply deployed support. R-C01–05, R-O01; T-C01–04, T-S01–06, T-I01; D09–D12/D16; P2/P5. Public/synthetic-only is a proposed week-one policy, not a user-established prohibition on future confidential work. Client devices and their providers are untrusted. Per-job participation never grants broad production access. Use fresh non-root container/VM/OS isolation, read-only inputs, narrow writable outputs, no home/SSH/cloud mounts, no Docker socket/host networking/common Git checkout, resource limits, default-denied network with narrow model adapter. Sandbox protects local execution but cannot ensure owner compliance, confidentiality after download or secure remote deletion. Clients cannot set trusted acceptance state, destinations or commands. The server issues the immutable receipt and acceptance state. Start with size-limited JSON/plain text. See testing.md for attack cases. References: https://git-scm.com/docs/git-worktree.html ; https://docs.docker.com/engine/security/ ; https://cheatsheetseries.owasp.org/cheatsheets/Authorization_Cheat_Sheet.html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INERTIA-2026-10-22-r4, 2026-10-22. Active synchronized artifacts: spec.md, testing.md, decisions.md, plan.md, Inertia-Architecture.pptx. Previous PDF is historical and excluded. Sources: user directions through 22 October 2026. Public project home: https://github.com/NetRxn/Inertia . Original overview preserved unchanged at docs/reference/Inertia-beta-product-overview.pdf; older sequencing is superseded. Publication authorized on a focused branch and draft PR; no merge or deployment authorized. October 30 deadline confirmed; October 29 buffer proposed; https://github.com/FWTX-DAO/dao-platform ; https://github.com/orgs/FWTX-DAO/repositories ; https://dao.fwtx.city/ ; https://github.com/NetRxn/DFW-Gov-Fund (3.4.0, root README stale); https://y2.dev/ . Lab resources user-described, endpoints/API unverified: https://texas-nova.labs.fwtx.city/ and https://990-g2.ntx.labs.fwtx.city/login . Full sources in spec.md section 8. Proposed integrations do not imply deployed support. R-C04–05, R-D01, R-O01; T-C02–04, T-O01–02; D04/D08/D12; P2. Identity comes from authentication, not submitted member IDs. Every endpoint checks current membership/agent/job/epoch authorization. Pairing/credential mechanism is proposed and revocable. Suggested configurable demo leases: 5 minutes, heartbeat 1 minute, maximum 30 minutes, one active job per agent; values are proposals not standards. Queued to leased to submitted/validating to accepted/rejected; accepted result proceeds through separate publisher. Cancellation/expiry/reassignment increments fencing epoch. Same idempotency key and bytes yields original receipt; changed bytes conflict. Server uniqueness plus transactional outbox prevents multiple accepted results but cannot guarantee exactly one external document without reconciliation. Helix de-prioritized; integration with the existing 990 service is a stretch TODO. Cloudflare service selection remains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INERTIA-2026-10-22-r4, 2026-10-22. Active synchronized artifacts: spec.md, testing.md, decisions.md, plan.md, Inertia-Architecture.pptx. Previous PDF is historical and excluded. Sources: user directions through 22 October 2026. Public project home: https://github.com/NetRxn/Inertia . Original overview preserved unchanged at docs/reference/Inertia-beta-product-overview.pdf; older sequencing is superseded. Publication authorized on a focused branch and draft PR; no merge or deployment authorized. October 30 deadline confirmed; October 29 buffer proposed; https://github.com/FWTX-DAO/dao-platform ; https://github.com/orgs/FWTX-DAO/repositories ; https://dao.fwtx.city/ ; https://github.com/NetRxn/DFW-Gov-Fund (3.4.0, root README stale); https://y2.dev/ . Lab resources user-described, endpoints/API unverified: https://texas-nova.labs.fwtx.city/ and https://990-g2.ntx.labs.fwtx.city/login . Full sources in spec.md section 8. Proposed integrations do not imply deployed support. Full test matrix and requirement mapping in testing.md, plus conditional T-H01 for webhook HMAC/raw-body verification, scope and delivery deduplication if selected. T-X01 is stretch only. Every test is Planned / Not run. Evidence includes build, environment, policy/schema version, fixtures/hashes, actor roles, actions, observations, links and reviewer. Critical cases include 20 concurrent claims, revocation races, stale epochs, same-key changed bytes, timeout after publication, malicious paths/symlinks/HTML/schema/forged hashes, no production credentials, client false test claims, and immutable packet changes. Tests require isolated environments and approved fixtures. No application testing occurred while creating these documents. Security sources in testing.md. Plan P1–P6 gates and D01–D17 decisions remain linked.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INERTIA-2026-10-22-r4, 2026-10-22. Active synchronized artifacts: spec.md, testing.md, decisions.md, plan.md, Inertia-Architecture.pptx. Previous PDF is historical and excluded. Sources: user directions through 22 October 2026. Public project home: https://github.com/NetRxn/Inertia . Original overview preserved unchanged at docs/reference/Inertia-beta-product-overview.pdf; older sequencing is superseded. Publication authorized on a focused branch and draft PR; no merge or deployment authorized. October 30 deadline confirmed; October 29 buffer proposed; https://github.com/FWTX-DAO/dao-platform ; https://github.com/orgs/FWTX-DAO/repositories ; https://dao.fwtx.city/ ; https://github.com/NetRxn/DFW-Gov-Fund (3.4.0, root README stale); https://y2.dev/ . Lab resources user-described, endpoints/API unverified: https://texas-nova.labs.fwtx.city/ and https://990-g2.ntx.labs.fwtx.city/login . Full sources in spec.md section 8. Proposed integrations do not imply deployed support. Cross-references: spec.md requirements, testing.md acceptance matrix, decisions.md D01–D17, plan.md P1–P6. Change summary: confirmed Meet/Gemini/org Drive path and PlanetScale, third secure member-agent objective, Helix de-prioritized, 990 integration stretch, test-first plan and synchronized artifacts. Core implementation is not authorized by artifact maintenance. No deployments, scans, service creation, live votes, submissions or monitors were performed. P4 and P5 may proceed in parallel after P2 trust contract. Y2 access limitations must remain visible. A labeled fixture supports development but does not prove live integration. Future user updates reconcile all five artifacts and increment the common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e0ad26979e340a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4ee318acc8744c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cddce95e24548e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ccbcb148db14ca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d29035da9f54d4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e18869fddb540e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A7DC66-6701-46A4-B354-260E88BFDB50}"/>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5E443D9-A37A-4CCF-9FAC-1CFF91F3CB7C}"/>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514DABD-EA40-48B3-9A31-D2E240BF5AD8}"/>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D5E8755-12AF-45F8-8EF5-40EE5289E102}"/>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DCA3F11-12AA-42D5-BB14-3E7FA6F9E48A}"/>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EB3E7EF-1943-4A86-AA96-D0EA88130948}"/>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8476356-93C1-4619-93A4-ABDB96212DFD}"/>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020D69B-A7DB-4E83-A96E-4E8ABF71FB3E}"/>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CF140A-9812-4E32-A0D0-5D1CD9C1B490}"/>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1AB8E1B-FDC9-4E2C-A02E-57A2EF78103F}"/>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5f34d54362e41d8" /><Relationship Type="http://schemas.openxmlformats.org/officeDocument/2006/relationships/slideLayout" Target="/ppt/slideLayouts/slideLayout1.xml" Id="R8284aa78a64e4aab" /><Relationship Type="http://schemas.openxmlformats.org/officeDocument/2006/relationships/slideLayout" Target="/ppt/slideLayouts/slideLayout2.xml" Id="R5facd4ae601a46d6" /><Relationship Type="http://schemas.openxmlformats.org/officeDocument/2006/relationships/slideLayout" Target="/ppt/slideLayouts/slideLayout3.xml" Id="Re16cac2055424719" /><Relationship Type="http://schemas.openxmlformats.org/officeDocument/2006/relationships/slideLayout" Target="/ppt/slideLayouts/slideLayout4.xml" Id="Rcd5b4d7b534a4b44" /><Relationship Type="http://schemas.openxmlformats.org/officeDocument/2006/relationships/slideLayout" Target="/ppt/slideLayouts/slideLayout5.xml" Id="R209f6609d9644aee" /><Relationship Type="http://schemas.openxmlformats.org/officeDocument/2006/relationships/slideLayout" Target="/ppt/slideLayouts/slideLayout6.xml" Id="Rba6d8878ae634b6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284aa78a64e4aab"/>
    <p:sldLayoutId xmlns:r="http://schemas.openxmlformats.org/officeDocument/2006/relationships" id="2147483650" r:id="R5facd4ae601a46d6"/>
    <p:sldLayoutId xmlns:r="http://schemas.openxmlformats.org/officeDocument/2006/relationships" id="2147483651" r:id="Re16cac2055424719"/>
    <p:sldLayoutId xmlns:r="http://schemas.openxmlformats.org/officeDocument/2006/relationships" id="2147483652" r:id="Rcd5b4d7b534a4b44"/>
    <p:sldLayoutId xmlns:r="http://schemas.openxmlformats.org/officeDocument/2006/relationships" id="2147483653" r:id="R209f6609d9644aee"/>
    <p:sldLayoutId xmlns:r="http://schemas.openxmlformats.org/officeDocument/2006/relationships" id="2147483654" r:id="Rba6d8878ae634b6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29721a82b2b427d" /><Relationship Type="http://schemas.openxmlformats.org/officeDocument/2006/relationships/notesSlide" Target="/ppt/notesSlides/notesSlide1.xml" Id="R8e2c723fa6474ed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5ddffcb98c048c0" /><Relationship Type="http://schemas.openxmlformats.org/officeDocument/2006/relationships/notesSlide" Target="/ppt/notesSlides/notesSlide2.xml" Id="Reb539ad54f6046f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49b25fa5a66442f" /><Relationship Type="http://schemas.openxmlformats.org/officeDocument/2006/relationships/notesSlide" Target="/ppt/notesSlides/notesSlide3.xml" Id="R4632ae1283df428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e4b7b7774374e61" /><Relationship Type="http://schemas.openxmlformats.org/officeDocument/2006/relationships/notesSlide" Target="/ppt/notesSlides/notesSlide4.xml" Id="Rf0f499c36777461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230ae8f37d948b9" /><Relationship Type="http://schemas.openxmlformats.org/officeDocument/2006/relationships/notesSlide" Target="/ppt/notesSlides/notesSlide5.xml" Id="Ra0beb4a2fc3c4c1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58c493421a24aa9" /><Relationship Type="http://schemas.openxmlformats.org/officeDocument/2006/relationships/notesSlide" Target="/ppt/notesSlides/notesSlide6.xml" Id="R96f809cf939944e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68fb58986e84154" /><Relationship Type="http://schemas.openxmlformats.org/officeDocument/2006/relationships/notesSlide" Target="/ppt/notesSlides/notesSlide7.xml" Id="R912c27a9aff541cc" /></Relationships>
</file>

<file path=ppt/slides/slide1.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42" name="">
            <a:extLst xmlns:a="http://schemas.openxmlformats.org/drawingml/2006/main">
              <a:ext uri="{FF2B5EF4-FFF2-40B4-BE49-F238E27FC236}">
                <a16:creationId xmlns:a16="http://schemas.microsoft.com/office/drawing/2014/main" id="{BD6D97AB-C440-4913-B0FE-7DD80AAFC92B}"/>
              </a:ext>
            </a:extLst>
          </p:cNvPr>
          <p:cNvCxnSpPr>
            <a:stCxn xmlns:a="http://schemas.openxmlformats.org/drawingml/2006/main" id="20" idx="2"/>
            <a:endCxn xmlns:a="http://schemas.openxmlformats.org/drawingml/2006/main" id="23" idx="0"/>
          </p:cNvCxnSpPr>
          <p:nvPr/>
        </p:nvCxnSpPr>
        <p:spPr>
          <a:xfrm xmlns:a="http://schemas.openxmlformats.org/drawingml/2006/main">
            <a:off x="7620000" y="5762625"/>
            <a:ext cx="0" cy="476250"/>
          </a:xfrm>
          <a:prstGeom xmlns:a="http://schemas.openxmlformats.org/drawingml/2006/main" prst="straightConnector1">
            <a:avLst/>
          </a:prstGeom>
          <a:ln xmlns:a="http://schemas.openxmlformats.org/drawingml/2006/main" w="19050">
            <a:solidFill>
              <a:srgbClr val="157D80"/>
            </a:solidFill>
            <a:prstDash val="dash"/>
          </a:ln>
        </p:spPr>
      </p:cxnSp>
      <p:cxnSp>
        <p:nvCxnSpPr>
          <p:cNvPr id="41" name="">
            <a:extLst xmlns:a="http://schemas.openxmlformats.org/drawingml/2006/main">
              <a:ext uri="{FF2B5EF4-FFF2-40B4-BE49-F238E27FC236}">
                <a16:creationId xmlns:a16="http://schemas.microsoft.com/office/drawing/2014/main" id="{12BFA441-F06D-41EC-AF7B-9E0534035D3E}"/>
              </a:ext>
            </a:extLst>
          </p:cNvPr>
          <p:cNvCxnSpPr>
            <a:stCxn xmlns:a="http://schemas.openxmlformats.org/drawingml/2006/main" id="32" idx="0"/>
            <a:endCxn xmlns:a="http://schemas.openxmlformats.org/drawingml/2006/main" id="29" idx="2"/>
          </p:cNvCxnSpPr>
          <p:nvPr/>
        </p:nvCxnSpPr>
        <p:spPr>
          <a:xfrm xmlns:a="http://schemas.openxmlformats.org/drawingml/2006/main" flipV="1">
            <a:off x="12811125" y="5762625"/>
            <a:ext cx="0" cy="47625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cxnSp>
        <p:nvCxnSpPr>
          <p:cNvPr id="40" name="">
            <a:extLst xmlns:a="http://schemas.openxmlformats.org/drawingml/2006/main">
              <a:ext uri="{FF2B5EF4-FFF2-40B4-BE49-F238E27FC236}">
                <a16:creationId xmlns:a16="http://schemas.microsoft.com/office/drawing/2014/main" id="{9CD30F66-836C-439F-930E-A0BE5EC94ADF}"/>
              </a:ext>
            </a:extLst>
          </p:cNvPr>
          <p:cNvCxnSpPr>
            <a:stCxn xmlns:a="http://schemas.openxmlformats.org/drawingml/2006/main" id="20" idx="3"/>
            <a:endCxn xmlns:a="http://schemas.openxmlformats.org/drawingml/2006/main" id="29" idx="1"/>
          </p:cNvCxnSpPr>
          <p:nvPr/>
        </p:nvCxnSpPr>
        <p:spPr>
          <a:xfrm xmlns:a="http://schemas.openxmlformats.org/drawingml/2006/main">
            <a:off x="9667875" y="5048250"/>
            <a:ext cx="1285875" cy="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cxnSp>
        <p:nvCxnSpPr>
          <p:cNvPr id="39" name="">
            <a:extLst xmlns:a="http://schemas.openxmlformats.org/drawingml/2006/main">
              <a:ext uri="{FF2B5EF4-FFF2-40B4-BE49-F238E27FC236}">
                <a16:creationId xmlns:a16="http://schemas.microsoft.com/office/drawing/2014/main" id="{AF2BF5BB-9B00-49BA-A764-1366CEF6F7B7}"/>
              </a:ext>
            </a:extLst>
          </p:cNvPr>
          <p:cNvCxnSpPr>
            <a:stCxn xmlns:a="http://schemas.openxmlformats.org/drawingml/2006/main" id="20" idx="3"/>
            <a:endCxn xmlns:a="http://schemas.openxmlformats.org/drawingml/2006/main" id="26" idx="1"/>
          </p:cNvCxnSpPr>
          <p:nvPr/>
        </p:nvCxnSpPr>
        <p:spPr>
          <a:xfrm xmlns:a="http://schemas.openxmlformats.org/drawingml/2006/main" flipV="1">
            <a:off x="9667875" y="3143250"/>
            <a:ext cx="1285875" cy="190500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cxnSp>
        <p:nvCxnSpPr>
          <p:cNvPr id="38" name="">
            <a:extLst xmlns:a="http://schemas.openxmlformats.org/drawingml/2006/main">
              <a:ext uri="{FF2B5EF4-FFF2-40B4-BE49-F238E27FC236}">
                <a16:creationId xmlns:a16="http://schemas.microsoft.com/office/drawing/2014/main" id="{EB3F5435-1FE8-4EED-8716-58B58A95A8EC}"/>
              </a:ext>
            </a:extLst>
          </p:cNvPr>
          <p:cNvCxnSpPr>
            <a:stCxn xmlns:a="http://schemas.openxmlformats.org/drawingml/2006/main" id="14" idx="3"/>
            <a:endCxn xmlns:a="http://schemas.openxmlformats.org/drawingml/2006/main" id="20" idx="1"/>
          </p:cNvCxnSpPr>
          <p:nvPr/>
        </p:nvCxnSpPr>
        <p:spPr>
          <a:xfrm xmlns:a="http://schemas.openxmlformats.org/drawingml/2006/main" flipV="1">
            <a:off x="4286250" y="5048250"/>
            <a:ext cx="1285875" cy="1881188"/>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cxnSp>
        <p:nvCxnSpPr>
          <p:cNvPr id="37" name="">
            <a:extLst xmlns:a="http://schemas.openxmlformats.org/drawingml/2006/main">
              <a:ext uri="{FF2B5EF4-FFF2-40B4-BE49-F238E27FC236}">
                <a16:creationId xmlns:a16="http://schemas.microsoft.com/office/drawing/2014/main" id="{C88D1A89-4500-498F-A52D-2766C25BADF2}"/>
              </a:ext>
            </a:extLst>
          </p:cNvPr>
          <p:cNvCxnSpPr>
            <a:stCxn xmlns:a="http://schemas.openxmlformats.org/drawingml/2006/main" id="17" idx="2"/>
            <a:endCxn xmlns:a="http://schemas.openxmlformats.org/drawingml/2006/main" id="20" idx="0"/>
          </p:cNvCxnSpPr>
          <p:nvPr/>
        </p:nvCxnSpPr>
        <p:spPr>
          <a:xfrm xmlns:a="http://schemas.openxmlformats.org/drawingml/2006/main">
            <a:off x="7620000" y="3857625"/>
            <a:ext cx="0" cy="47625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cxnSp>
        <p:nvCxnSpPr>
          <p:cNvPr id="36" name="">
            <a:extLst xmlns:a="http://schemas.openxmlformats.org/drawingml/2006/main">
              <a:ext uri="{FF2B5EF4-FFF2-40B4-BE49-F238E27FC236}">
                <a16:creationId xmlns:a16="http://schemas.microsoft.com/office/drawing/2014/main" id="{61600552-9CD7-4968-8C8D-4AE8675667ED}"/>
              </a:ext>
            </a:extLst>
          </p:cNvPr>
          <p:cNvCxnSpPr>
            <a:stCxn xmlns:a="http://schemas.openxmlformats.org/drawingml/2006/main" id="11" idx="3"/>
            <a:endCxn xmlns:a="http://schemas.openxmlformats.org/drawingml/2006/main" id="17" idx="1"/>
          </p:cNvCxnSpPr>
          <p:nvPr/>
        </p:nvCxnSpPr>
        <p:spPr>
          <a:xfrm xmlns:a="http://schemas.openxmlformats.org/drawingml/2006/main">
            <a:off x="4286250" y="3143250"/>
            <a:ext cx="1285875" cy="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cxnSp>
        <p:nvCxnSpPr>
          <p:cNvPr id="35" name="">
            <a:extLst xmlns:a="http://schemas.openxmlformats.org/drawingml/2006/main">
              <a:ext uri="{FF2B5EF4-FFF2-40B4-BE49-F238E27FC236}">
                <a16:creationId xmlns:a16="http://schemas.microsoft.com/office/drawing/2014/main" id="{F2B3DF8D-24EF-4925-88D6-2D35B77E3B88}"/>
              </a:ext>
            </a:extLst>
          </p:cNvPr>
          <p:cNvCxnSpPr>
            <a:stCxn xmlns:a="http://schemas.openxmlformats.org/drawingml/2006/main" id="8" idx="3"/>
            <a:endCxn xmlns:a="http://schemas.openxmlformats.org/drawingml/2006/main" id="20" idx="1"/>
          </p:cNvCxnSpPr>
          <p:nvPr/>
        </p:nvCxnSpPr>
        <p:spPr>
          <a:xfrm xmlns:a="http://schemas.openxmlformats.org/drawingml/2006/main">
            <a:off x="4286250" y="5048250"/>
            <a:ext cx="1285875" cy="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sp>
        <p:nvSpPr>
          <p:cNvPr id="43" name="">
            <a:extLst xmlns:a="http://schemas.openxmlformats.org/drawingml/2006/main">
              <a:ext uri="{FF2B5EF4-FFF2-40B4-BE49-F238E27FC236}">
                <a16:creationId xmlns:a16="http://schemas.microsoft.com/office/drawing/2014/main" id="{5C2A17DC-7AFB-419C-86BA-E5A58C510F38}"/>
              </a:ext>
            </a:extLst>
          </p:cNvPr>
          <p:cNvSpPr>
            <a:spLocks xmlns:a="http://schemas.openxmlformats.org/drawingml/2006/main" noGrp="1"/>
          </p:cNvSpPr>
          <p:nvPr/>
        </p:nvSpPr>
        <p:spPr>
          <a:xfrm xmlns:a="http://schemas.openxmlformats.org/drawingml/2006/main">
            <a:off x="571500" y="295275"/>
            <a:ext cx="952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1">
                <a:solidFill>
                  <a:srgbClr val="157D80"/>
                </a:solidFill>
                <a:latin typeface="Aptos"/>
                <a:ea typeface="Aptos"/>
                <a:cs typeface="Aptos"/>
              </a:defRPr>
            </a:defPPr>
          </a:lstStyle>
          <a:p xmlns:a="http://schemas.openxmlformats.org/drawingml/2006/main">
            <a:pPr>
              <a:defRPr sz="1350" b="1">
                <a:solidFill>
                  <a:srgbClr val="157D80"/>
                </a:solidFill>
                <a:latin typeface="Aptos"/>
                <a:ea typeface="Aptos"/>
                <a:cs typeface="Aptos"/>
              </a:defRPr>
            </a:pPr>
            <a:r>
              <a:rPr sz="1350" b="1">
                <a:solidFill>
                  <a:srgbClr val="157D80"/>
                </a:solidFill>
                <a:latin typeface="Aptos"/>
                <a:ea typeface="Aptos"/>
                <a:cs typeface="Aptos"/>
              </a:rPr>
              <a:t>INERTIA / FORT WORTH DAO</a:t>
            </a:r>
          </a:p>
        </p:txBody>
      </p:sp>
      <p:sp>
        <p:nvSpPr>
          <p:cNvPr id="2" name="">
            <a:extLst xmlns:a="http://schemas.openxmlformats.org/drawingml/2006/main">
              <a:ext uri="{FF2B5EF4-FFF2-40B4-BE49-F238E27FC236}">
                <a16:creationId xmlns:a16="http://schemas.microsoft.com/office/drawing/2014/main" id="{D97DDC95-9F16-418C-BAF4-2B0B426E8936}"/>
              </a:ext>
            </a:extLst>
          </p:cNvPr>
          <p:cNvSpPr>
            <a:spLocks xmlns:a="http://schemas.openxmlformats.org/drawingml/2006/main" noGrp="1"/>
          </p:cNvSpPr>
          <p:nvPr/>
        </p:nvSpPr>
        <p:spPr>
          <a:xfrm xmlns:a="http://schemas.openxmlformats.org/drawingml/2006/main">
            <a:off x="571500" y="723900"/>
            <a:ext cx="1409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450" b="1">
                <a:solidFill>
                  <a:srgbClr val="132E38"/>
                </a:solidFill>
                <a:latin typeface="Aptos"/>
                <a:ea typeface="Aptos"/>
                <a:cs typeface="Aptos"/>
              </a:defRPr>
            </a:defPPr>
          </a:lstStyle>
          <a:p xmlns:a="http://schemas.openxmlformats.org/drawingml/2006/main">
            <a:pPr>
              <a:defRPr sz="3450" b="1">
                <a:solidFill>
                  <a:srgbClr val="132E38"/>
                </a:solidFill>
                <a:latin typeface="Aptos"/>
                <a:ea typeface="Aptos"/>
                <a:cs typeface="Aptos"/>
              </a:defRPr>
            </a:pPr>
            <a:r>
              <a:rPr sz="3450" b="1">
                <a:solidFill>
                  <a:srgbClr val="132E38"/>
                </a:solidFill>
                <a:latin typeface="Aptos"/>
                <a:ea typeface="Aptos"/>
                <a:cs typeface="Aptos"/>
              </a:rPr>
              <a:t>Inertia architecture</a:t>
            </a:r>
          </a:p>
        </p:txBody>
      </p:sp>
      <p:sp>
        <p:nvSpPr>
          <p:cNvPr id="3" name="">
            <a:extLst xmlns:a="http://schemas.openxmlformats.org/drawingml/2006/main">
              <a:ext uri="{FF2B5EF4-FFF2-40B4-BE49-F238E27FC236}">
                <a16:creationId xmlns:a16="http://schemas.microsoft.com/office/drawing/2014/main" id="{388B9B1D-7C49-4C85-BF3A-DAB8DA9616FE}"/>
              </a:ext>
            </a:extLst>
          </p:cNvPr>
          <p:cNvSpPr>
            <a:spLocks xmlns:a="http://schemas.openxmlformats.org/drawingml/2006/main" noGrp="1"/>
          </p:cNvSpPr>
          <p:nvPr/>
        </p:nvSpPr>
        <p:spPr>
          <a:xfrm xmlns:a="http://schemas.openxmlformats.org/drawingml/2006/main">
            <a:off x="571500" y="1362075"/>
            <a:ext cx="1409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49616A"/>
                </a:solidFill>
                <a:latin typeface="Aptos"/>
                <a:ea typeface="Aptos"/>
                <a:cs typeface="Aptos"/>
              </a:defRPr>
            </a:defPPr>
          </a:lstStyle>
          <a:p xmlns:a="http://schemas.openxmlformats.org/drawingml/2006/main">
            <a:pPr>
              <a:defRPr sz="1800" b="0">
                <a:solidFill>
                  <a:srgbClr val="49616A"/>
                </a:solidFill>
                <a:latin typeface="Aptos"/>
                <a:ea typeface="Aptos"/>
                <a:cs typeface="Aptos"/>
              </a:defRPr>
            </a:pPr>
            <a:r>
              <a:rPr sz="1800" b="0">
                <a:solidFill>
                  <a:srgbClr val="49616A"/>
                </a:solidFill>
                <a:latin typeface="Aptos"/>
                <a:ea typeface="Aptos"/>
                <a:cs typeface="Aptos"/>
              </a:rPr>
              <a:t>Three required objectives: automatic meetings, grant submission decisions, and member-agent contributions</a:t>
            </a:r>
          </a:p>
        </p:txBody>
      </p:sp>
      <p:sp>
        <p:nvSpPr>
          <p:cNvPr id="4" name="">
            <a:extLst xmlns:a="http://schemas.openxmlformats.org/drawingml/2006/main">
              <a:ext uri="{FF2B5EF4-FFF2-40B4-BE49-F238E27FC236}">
                <a16:creationId xmlns:a16="http://schemas.microsoft.com/office/drawing/2014/main" id="{518D7554-0422-484F-B447-FB1B5CC7FB0F}"/>
              </a:ext>
            </a:extLst>
          </p:cNvPr>
          <p:cNvSpPr>
            <a:spLocks xmlns:a="http://schemas.openxmlformats.org/drawingml/2006/main" noGrp="1"/>
          </p:cNvSpPr>
          <p:nvPr/>
        </p:nvSpPr>
        <p:spPr>
          <a:xfrm xmlns:a="http://schemas.openxmlformats.org/drawingml/2006/main">
            <a:off x="571500" y="7962900"/>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3B1C67C-0B44-469A-8662-143BA943FF06}"/>
              </a:ext>
            </a:extLst>
          </p:cNvPr>
          <p:cNvSpPr>
            <a:spLocks xmlns:a="http://schemas.openxmlformats.org/drawingml/2006/main" noGrp="1"/>
          </p:cNvSpPr>
          <p:nvPr/>
        </p:nvSpPr>
        <p:spPr>
          <a:xfrm xmlns:a="http://schemas.openxmlformats.org/drawingml/2006/main">
            <a:off x="571500" y="8105775"/>
            <a:ext cx="13144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75" b="0">
                <a:solidFill>
                  <a:srgbClr val="49616A"/>
                </a:solidFill>
                <a:latin typeface="Aptos"/>
                <a:ea typeface="Aptos"/>
                <a:cs typeface="Aptos"/>
              </a:defRPr>
            </a:defPPr>
          </a:lstStyle>
          <a:p xmlns:a="http://schemas.openxmlformats.org/drawingml/2006/main">
            <a:pPr>
              <a:defRPr sz="1275" b="0">
                <a:solidFill>
                  <a:srgbClr val="49616A"/>
                </a:solidFill>
                <a:latin typeface="Aptos"/>
                <a:ea typeface="Aptos"/>
                <a:cs typeface="Aptos"/>
              </a:defRPr>
            </a:pPr>
            <a:r>
              <a:rPr sz="1275" b="0">
                <a:solidFill>
                  <a:srgbClr val="49616A"/>
                </a:solidFill>
                <a:latin typeface="Aptos"/>
                <a:ea typeface="Aptos"/>
                <a:cs typeface="Aptos"/>
              </a:rPr>
              <a:t>INERTIA-2026-10-22-r4 · 22 October 2026 · Planning, not implemented</a:t>
            </a:r>
          </a:p>
        </p:txBody>
      </p:sp>
      <p:sp>
        <p:nvSpPr>
          <p:cNvPr id="6" name="">
            <a:extLst xmlns:a="http://schemas.openxmlformats.org/drawingml/2006/main">
              <a:ext uri="{FF2B5EF4-FFF2-40B4-BE49-F238E27FC236}">
                <a16:creationId xmlns:a16="http://schemas.microsoft.com/office/drawing/2014/main" id="{AB7E7EEF-DCFA-4C4E-BC32-3CD7EB12D00D}"/>
              </a:ext>
            </a:extLst>
          </p:cNvPr>
          <p:cNvSpPr>
            <a:spLocks xmlns:a="http://schemas.openxmlformats.org/drawingml/2006/main" noGrp="1"/>
          </p:cNvSpPr>
          <p:nvPr/>
        </p:nvSpPr>
        <p:spPr>
          <a:xfrm xmlns:a="http://schemas.openxmlformats.org/drawingml/2006/main">
            <a:off x="14001750" y="8067675"/>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1">
                <a:solidFill>
                  <a:srgbClr val="157D80"/>
                </a:solidFill>
                <a:latin typeface="Aptos"/>
                <a:ea typeface="Aptos"/>
                <a:cs typeface="Aptos"/>
              </a:defRPr>
            </a:defPPr>
          </a:lstStyle>
          <a:p xmlns:a="http://schemas.openxmlformats.org/drawingml/2006/main">
            <a:pPr>
              <a:defRPr sz="1800" b="1">
                <a:solidFill>
                  <a:srgbClr val="157D80"/>
                </a:solidFill>
                <a:latin typeface="Aptos"/>
                <a:ea typeface="Aptos"/>
                <a:cs typeface="Aptos"/>
              </a:defRPr>
            </a:pPr>
            <a:r>
              <a:rPr sz="1800" b="1">
                <a:solidFill>
                  <a:srgbClr val="157D80"/>
                </a:solidFill>
                <a:latin typeface="Aptos"/>
                <a:ea typeface="Aptos"/>
                <a:cs typeface="Aptos"/>
              </a:rPr>
              <a:t>01</a:t>
            </a:r>
          </a:p>
        </p:txBody>
      </p:sp>
      <p:sp>
        <p:nvSpPr>
          <p:cNvPr id="7" name="">
            <a:extLst xmlns:a="http://schemas.openxmlformats.org/drawingml/2006/main">
              <a:ext uri="{FF2B5EF4-FFF2-40B4-BE49-F238E27FC236}">
                <a16:creationId xmlns:a16="http://schemas.microsoft.com/office/drawing/2014/main" id="{D3C5F463-16F7-46D1-938F-D9CB78FDD45F}"/>
              </a:ext>
            </a:extLst>
          </p:cNvPr>
          <p:cNvSpPr>
            <a:spLocks xmlns:a="http://schemas.openxmlformats.org/drawingml/2006/main" noGrp="1"/>
          </p:cNvSpPr>
          <p:nvPr/>
        </p:nvSpPr>
        <p:spPr>
          <a:xfrm xmlns:a="http://schemas.openxmlformats.org/drawingml/2006/main">
            <a:off x="571500" y="1933575"/>
            <a:ext cx="1409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00" b="0">
                <a:solidFill>
                  <a:srgbClr val="49616A"/>
                </a:solidFill>
                <a:latin typeface="Aptos"/>
                <a:ea typeface="Aptos"/>
                <a:cs typeface="Aptos"/>
              </a:defRPr>
            </a:defPPr>
          </a:lstStyle>
          <a:p xmlns:a="http://schemas.openxmlformats.org/drawingml/2006/main">
            <a:pPr>
              <a:defRPr sz="1500" b="0">
                <a:solidFill>
                  <a:srgbClr val="49616A"/>
                </a:solidFill>
                <a:latin typeface="Aptos"/>
                <a:ea typeface="Aptos"/>
                <a:cs typeface="Aptos"/>
              </a:defRPr>
            </a:pPr>
            <a:r>
              <a:rPr sz="1500" b="0">
                <a:solidFill>
                  <a:srgbClr val="49616A"/>
                </a:solidFill>
                <a:latin typeface="Aptos"/>
                <a:ea typeface="Aptos"/>
                <a:cs typeface="Aptos"/>
              </a:rPr>
              <a:t>Solid border: existing / confirmed context     Dashed teal: proposed integration     Amber: TBD     Arrows: data or request flow</a:t>
            </a:r>
          </a:p>
        </p:txBody>
      </p:sp>
      <p:sp>
        <p:nvSpPr>
          <p:cNvPr id="8" name="">
            <a:extLst xmlns:a="http://schemas.openxmlformats.org/drawingml/2006/main">
              <a:ext uri="{FF2B5EF4-FFF2-40B4-BE49-F238E27FC236}">
                <a16:creationId xmlns:a16="http://schemas.microsoft.com/office/drawing/2014/main" id="{6CEE85E4-97BA-48AE-B183-AD8176ACE62F}"/>
              </a:ext>
            </a:extLst>
          </p:cNvPr>
          <p:cNvSpPr>
            <a:spLocks xmlns:a="http://schemas.openxmlformats.org/drawingml/2006/main" noGrp="1"/>
          </p:cNvSpPr>
          <p:nvPr/>
        </p:nvSpPr>
        <p:spPr>
          <a:xfrm xmlns:a="http://schemas.openxmlformats.org/drawingml/2006/main">
            <a:off x="571500" y="4333875"/>
            <a:ext cx="371475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132E38"/>
            </a:solidFill>
            <a:prstDash val="solid"/>
          </a:ln>
        </p:spPr>
      </p:sp>
      <p:sp>
        <p:nvSpPr>
          <p:cNvPr id="9" name="">
            <a:extLst xmlns:a="http://schemas.openxmlformats.org/drawingml/2006/main">
              <a:ext uri="{FF2B5EF4-FFF2-40B4-BE49-F238E27FC236}">
                <a16:creationId xmlns:a16="http://schemas.microsoft.com/office/drawing/2014/main" id="{B808F1E7-D2DC-43CC-AEDC-C61A3E42064F}"/>
              </a:ext>
            </a:extLst>
          </p:cNvPr>
          <p:cNvSpPr>
            <a:spLocks xmlns:a="http://schemas.openxmlformats.org/drawingml/2006/main" noGrp="1"/>
          </p:cNvSpPr>
          <p:nvPr/>
        </p:nvSpPr>
        <p:spPr>
          <a:xfrm xmlns:a="http://schemas.openxmlformats.org/drawingml/2006/main">
            <a:off x="742950" y="4467225"/>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32E38"/>
                </a:solidFill>
                <a:latin typeface="Aptos"/>
                <a:ea typeface="Aptos"/>
                <a:cs typeface="Aptos"/>
              </a:defRPr>
            </a:defPPr>
          </a:lstStyle>
          <a:p xmlns:a="http://schemas.openxmlformats.org/drawingml/2006/main">
            <a:pPr>
              <a:defRPr sz="1875" b="1">
                <a:solidFill>
                  <a:srgbClr val="132E38"/>
                </a:solidFill>
                <a:latin typeface="Aptos"/>
                <a:ea typeface="Aptos"/>
                <a:cs typeface="Aptos"/>
              </a:defRPr>
            </a:pPr>
            <a:r>
              <a:rPr sz="1875" b="1">
                <a:solidFill>
                  <a:srgbClr val="132E38"/>
                </a:solidFill>
                <a:latin typeface="Aptos"/>
                <a:ea typeface="Aptos"/>
                <a:cs typeface="Aptos"/>
              </a:rPr>
              <a:t>Meet + Gemini + Drive</a:t>
            </a:r>
          </a:p>
        </p:txBody>
      </p:sp>
      <p:sp>
        <p:nvSpPr>
          <p:cNvPr id="10" name="">
            <a:extLst xmlns:a="http://schemas.openxmlformats.org/drawingml/2006/main">
              <a:ext uri="{FF2B5EF4-FFF2-40B4-BE49-F238E27FC236}">
                <a16:creationId xmlns:a16="http://schemas.microsoft.com/office/drawing/2014/main" id="{0F24C3E9-3A49-456C-8E2C-DB37F316587C}"/>
              </a:ext>
            </a:extLst>
          </p:cNvPr>
          <p:cNvSpPr>
            <a:spLocks xmlns:a="http://schemas.openxmlformats.org/drawingml/2006/main" noGrp="1"/>
          </p:cNvSpPr>
          <p:nvPr/>
        </p:nvSpPr>
        <p:spPr>
          <a:xfrm xmlns:a="http://schemas.openxmlformats.org/drawingml/2006/main">
            <a:off x="742950" y="5000625"/>
            <a:ext cx="3371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Video and Gemini processing</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Organization Drive folder confirmed</a:t>
            </a:r>
          </a:p>
        </p:txBody>
      </p:sp>
      <p:sp>
        <p:nvSpPr>
          <p:cNvPr id="11" name="">
            <a:extLst xmlns:a="http://schemas.openxmlformats.org/drawingml/2006/main">
              <a:ext uri="{FF2B5EF4-FFF2-40B4-BE49-F238E27FC236}">
                <a16:creationId xmlns:a16="http://schemas.microsoft.com/office/drawing/2014/main" id="{DD6ADE94-B167-4E4B-861B-F1DA864370B0}"/>
              </a:ext>
            </a:extLst>
          </p:cNvPr>
          <p:cNvSpPr>
            <a:spLocks xmlns:a="http://schemas.openxmlformats.org/drawingml/2006/main" noGrp="1"/>
          </p:cNvSpPr>
          <p:nvPr/>
        </p:nvSpPr>
        <p:spPr>
          <a:xfrm xmlns:a="http://schemas.openxmlformats.org/drawingml/2006/main">
            <a:off x="571500" y="2428875"/>
            <a:ext cx="371475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132E38"/>
            </a:solidFill>
            <a:prstDash val="solid"/>
          </a:ln>
        </p:spPr>
      </p:sp>
      <p:sp>
        <p:nvSpPr>
          <p:cNvPr id="12" name="">
            <a:extLst xmlns:a="http://schemas.openxmlformats.org/drawingml/2006/main">
              <a:ext uri="{FF2B5EF4-FFF2-40B4-BE49-F238E27FC236}">
                <a16:creationId xmlns:a16="http://schemas.microsoft.com/office/drawing/2014/main" id="{E8BC74C4-0870-49DA-B4FB-763DCD63F67E}"/>
              </a:ext>
            </a:extLst>
          </p:cNvPr>
          <p:cNvSpPr>
            <a:spLocks xmlns:a="http://schemas.openxmlformats.org/drawingml/2006/main" noGrp="1"/>
          </p:cNvSpPr>
          <p:nvPr/>
        </p:nvSpPr>
        <p:spPr>
          <a:xfrm xmlns:a="http://schemas.openxmlformats.org/drawingml/2006/main">
            <a:off x="742950" y="2562225"/>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32E38"/>
                </a:solidFill>
                <a:latin typeface="Aptos"/>
                <a:ea typeface="Aptos"/>
                <a:cs typeface="Aptos"/>
              </a:defRPr>
            </a:defPPr>
          </a:lstStyle>
          <a:p xmlns:a="http://schemas.openxmlformats.org/drawingml/2006/main">
            <a:pPr>
              <a:defRPr sz="1875" b="1">
                <a:solidFill>
                  <a:srgbClr val="132E38"/>
                </a:solidFill>
                <a:latin typeface="Aptos"/>
                <a:ea typeface="Aptos"/>
                <a:cs typeface="Aptos"/>
              </a:defRPr>
            </a:pPr>
            <a:r>
              <a:rPr sz="1875" b="1">
                <a:solidFill>
                  <a:srgbClr val="132E38"/>
                </a:solidFill>
                <a:latin typeface="Aptos"/>
                <a:ea typeface="Aptos"/>
                <a:cs typeface="Aptos"/>
              </a:rPr>
              <a:t>Buzz member chat</a:t>
            </a:r>
          </a:p>
        </p:txBody>
      </p:sp>
      <p:sp>
        <p:nvSpPr>
          <p:cNvPr id="13" name="">
            <a:extLst xmlns:a="http://schemas.openxmlformats.org/drawingml/2006/main">
              <a:ext uri="{FF2B5EF4-FFF2-40B4-BE49-F238E27FC236}">
                <a16:creationId xmlns:a16="http://schemas.microsoft.com/office/drawing/2014/main" id="{748ED3C0-7D66-4877-8413-6E7142C8FD22}"/>
              </a:ext>
            </a:extLst>
          </p:cNvPr>
          <p:cNvSpPr>
            <a:spLocks xmlns:a="http://schemas.openxmlformats.org/drawingml/2006/main" noGrp="1"/>
          </p:cNvSpPr>
          <p:nvPr/>
        </p:nvSpPr>
        <p:spPr>
          <a:xfrm xmlns:a="http://schemas.openxmlformats.org/drawingml/2006/main">
            <a:off x="742950" y="3095625"/>
            <a:ext cx="3371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Existing chat + site-building agent</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Separate from durable task state</a:t>
            </a:r>
          </a:p>
        </p:txBody>
      </p:sp>
      <p:sp>
        <p:nvSpPr>
          <p:cNvPr id="14" name="">
            <a:extLst xmlns:a="http://schemas.openxmlformats.org/drawingml/2006/main">
              <a:ext uri="{FF2B5EF4-FFF2-40B4-BE49-F238E27FC236}">
                <a16:creationId xmlns:a16="http://schemas.microsoft.com/office/drawing/2014/main" id="{E00B95D5-2C5B-464C-A9E5-2788110A5787}"/>
              </a:ext>
            </a:extLst>
          </p:cNvPr>
          <p:cNvSpPr>
            <a:spLocks xmlns:a="http://schemas.openxmlformats.org/drawingml/2006/main" noGrp="1"/>
          </p:cNvSpPr>
          <p:nvPr/>
        </p:nvSpPr>
        <p:spPr>
          <a:xfrm xmlns:a="http://schemas.openxmlformats.org/drawingml/2006/main">
            <a:off x="571500" y="6238875"/>
            <a:ext cx="371475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5" name="">
            <a:extLst xmlns:a="http://schemas.openxmlformats.org/drawingml/2006/main">
              <a:ext uri="{FF2B5EF4-FFF2-40B4-BE49-F238E27FC236}">
                <a16:creationId xmlns:a16="http://schemas.microsoft.com/office/drawing/2014/main" id="{D250957B-EE8D-404F-9488-609029118B43}"/>
              </a:ext>
            </a:extLst>
          </p:cNvPr>
          <p:cNvSpPr>
            <a:spLocks xmlns:a="http://schemas.openxmlformats.org/drawingml/2006/main" noGrp="1"/>
          </p:cNvSpPr>
          <p:nvPr/>
        </p:nvSpPr>
        <p:spPr>
          <a:xfrm xmlns:a="http://schemas.openxmlformats.org/drawingml/2006/main">
            <a:off x="742950" y="6372225"/>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defRPr sz="1875" b="1">
                <a:solidFill>
                  <a:srgbClr val="157D80"/>
                </a:solidFill>
                <a:latin typeface="Aptos"/>
                <a:ea typeface="Aptos"/>
                <a:cs typeface="Aptos"/>
              </a:defRPr>
            </a:pPr>
            <a:r>
              <a:rPr sz="1875" b="1">
                <a:solidFill>
                  <a:srgbClr val="157D80"/>
                </a:solidFill>
                <a:latin typeface="Aptos"/>
                <a:ea typeface="Aptos"/>
                <a:cs typeface="Aptos"/>
              </a:rPr>
              <a:t>Member agents</a:t>
            </a:r>
          </a:p>
        </p:txBody>
      </p:sp>
      <p:sp>
        <p:nvSpPr>
          <p:cNvPr id="16" name="">
            <a:extLst xmlns:a="http://schemas.openxmlformats.org/drawingml/2006/main">
              <a:ext uri="{FF2B5EF4-FFF2-40B4-BE49-F238E27FC236}">
                <a16:creationId xmlns:a16="http://schemas.microsoft.com/office/drawing/2014/main" id="{92704178-5D4F-4D63-A27C-304DAE5F0C79}"/>
              </a:ext>
            </a:extLst>
          </p:cNvPr>
          <p:cNvSpPr>
            <a:spLocks xmlns:a="http://schemas.openxmlformats.org/drawingml/2006/main" noGrp="1"/>
          </p:cNvSpPr>
          <p:nvPr/>
        </p:nvSpPr>
        <p:spPr>
          <a:xfrm xmlns:a="http://schemas.openxmlformats.org/drawingml/2006/main">
            <a:off x="742950" y="6905625"/>
            <a:ext cx="33718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Own client runtime / model</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Sandboxed jobs; untrusted results</a:t>
            </a:r>
          </a:p>
        </p:txBody>
      </p:sp>
      <p:sp>
        <p:nvSpPr>
          <p:cNvPr id="17" name="">
            <a:extLst xmlns:a="http://schemas.openxmlformats.org/drawingml/2006/main">
              <a:ext uri="{FF2B5EF4-FFF2-40B4-BE49-F238E27FC236}">
                <a16:creationId xmlns:a16="http://schemas.microsoft.com/office/drawing/2014/main" id="{4D967E10-744C-450D-B995-BEEF0E83111C}"/>
              </a:ext>
            </a:extLst>
          </p:cNvPr>
          <p:cNvSpPr>
            <a:spLocks xmlns:a="http://schemas.openxmlformats.org/drawingml/2006/main" noGrp="1"/>
          </p:cNvSpPr>
          <p:nvPr/>
        </p:nvSpPr>
        <p:spPr>
          <a:xfrm xmlns:a="http://schemas.openxmlformats.org/drawingml/2006/main">
            <a:off x="5572125" y="2428875"/>
            <a:ext cx="409575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8" name="">
            <a:extLst xmlns:a="http://schemas.openxmlformats.org/drawingml/2006/main">
              <a:ext uri="{FF2B5EF4-FFF2-40B4-BE49-F238E27FC236}">
                <a16:creationId xmlns:a16="http://schemas.microsoft.com/office/drawing/2014/main" id="{A15EFB00-2E28-4ACD-8894-C76AA2AD620B}"/>
              </a:ext>
            </a:extLst>
          </p:cNvPr>
          <p:cNvSpPr>
            <a:spLocks xmlns:a="http://schemas.openxmlformats.org/drawingml/2006/main" noGrp="1"/>
          </p:cNvSpPr>
          <p:nvPr/>
        </p:nvSpPr>
        <p:spPr>
          <a:xfrm xmlns:a="http://schemas.openxmlformats.org/drawingml/2006/main">
            <a:off x="5743575" y="2562225"/>
            <a:ext cx="3752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defRPr sz="1875" b="1">
                <a:solidFill>
                  <a:srgbClr val="157D80"/>
                </a:solidFill>
                <a:latin typeface="Aptos"/>
                <a:ea typeface="Aptos"/>
                <a:cs typeface="Aptos"/>
              </a:defRPr>
            </a:pPr>
            <a:r>
              <a:rPr sz="1875" b="1">
                <a:solidFill>
                  <a:srgbClr val="157D80"/>
                </a:solidFill>
                <a:latin typeface="Aptos"/>
                <a:ea typeface="Aptos"/>
                <a:cs typeface="Aptos"/>
              </a:rPr>
              <a:t>Management UI</a:t>
            </a:r>
          </a:p>
        </p:txBody>
      </p:sp>
      <p:sp>
        <p:nvSpPr>
          <p:cNvPr id="19" name="">
            <a:extLst xmlns:a="http://schemas.openxmlformats.org/drawingml/2006/main">
              <a:ext uri="{FF2B5EF4-FFF2-40B4-BE49-F238E27FC236}">
                <a16:creationId xmlns:a16="http://schemas.microsoft.com/office/drawing/2014/main" id="{AB2012D4-5552-41E8-B39D-DE656DD16C79}"/>
              </a:ext>
            </a:extLst>
          </p:cNvPr>
          <p:cNvSpPr>
            <a:spLocks xmlns:a="http://schemas.openxmlformats.org/drawingml/2006/main" noGrp="1"/>
          </p:cNvSpPr>
          <p:nvPr/>
        </p:nvSpPr>
        <p:spPr>
          <a:xfrm xmlns:a="http://schemas.openxmlformats.org/drawingml/2006/main">
            <a:off x="5743575" y="3095625"/>
            <a:ext cx="3752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Paperclip-style candidate</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May also own orchestration</a:t>
            </a:r>
          </a:p>
        </p:txBody>
      </p:sp>
      <p:sp>
        <p:nvSpPr>
          <p:cNvPr id="20" name="">
            <a:extLst xmlns:a="http://schemas.openxmlformats.org/drawingml/2006/main">
              <a:ext uri="{FF2B5EF4-FFF2-40B4-BE49-F238E27FC236}">
                <a16:creationId xmlns:a16="http://schemas.microsoft.com/office/drawing/2014/main" id="{81271577-E81E-4285-8C17-F05D378CF184}"/>
              </a:ext>
            </a:extLst>
          </p:cNvPr>
          <p:cNvSpPr>
            <a:spLocks xmlns:a="http://schemas.openxmlformats.org/drawingml/2006/main" noGrp="1"/>
          </p:cNvSpPr>
          <p:nvPr/>
        </p:nvSpPr>
        <p:spPr>
          <a:xfrm xmlns:a="http://schemas.openxmlformats.org/drawingml/2006/main">
            <a:off x="5572125" y="4333875"/>
            <a:ext cx="409575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21" name="">
            <a:extLst xmlns:a="http://schemas.openxmlformats.org/drawingml/2006/main">
              <a:ext uri="{FF2B5EF4-FFF2-40B4-BE49-F238E27FC236}">
                <a16:creationId xmlns:a16="http://schemas.microsoft.com/office/drawing/2014/main" id="{A92896C5-7529-4321-B460-3A1CB01B718B}"/>
              </a:ext>
            </a:extLst>
          </p:cNvPr>
          <p:cNvSpPr>
            <a:spLocks xmlns:a="http://schemas.openxmlformats.org/drawingml/2006/main" noGrp="1"/>
          </p:cNvSpPr>
          <p:nvPr/>
        </p:nvSpPr>
        <p:spPr>
          <a:xfrm xmlns:a="http://schemas.openxmlformats.org/drawingml/2006/main">
            <a:off x="5743575" y="4467225"/>
            <a:ext cx="3752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defRPr sz="1875" b="1">
                <a:solidFill>
                  <a:srgbClr val="157D80"/>
                </a:solidFill>
                <a:latin typeface="Aptos"/>
                <a:ea typeface="Aptos"/>
                <a:cs typeface="Aptos"/>
              </a:defRPr>
            </a:pPr>
            <a:r>
              <a:rPr sz="1875" b="1">
                <a:solidFill>
                  <a:srgbClr val="157D80"/>
                </a:solidFill>
                <a:latin typeface="Aptos"/>
                <a:ea typeface="Aptos"/>
                <a:cs typeface="Aptos"/>
              </a:rPr>
              <a:t>Trusted control plane</a:t>
            </a:r>
          </a:p>
        </p:txBody>
      </p:sp>
      <p:sp>
        <p:nvSpPr>
          <p:cNvPr id="22" name="">
            <a:extLst xmlns:a="http://schemas.openxmlformats.org/drawingml/2006/main">
              <a:ext uri="{FF2B5EF4-FFF2-40B4-BE49-F238E27FC236}">
                <a16:creationId xmlns:a16="http://schemas.microsoft.com/office/drawing/2014/main" id="{76C1B7B5-6490-4259-8B23-7D16672C415C}"/>
              </a:ext>
            </a:extLst>
          </p:cNvPr>
          <p:cNvSpPr>
            <a:spLocks xmlns:a="http://schemas.openxmlformats.org/drawingml/2006/main" noGrp="1"/>
          </p:cNvSpPr>
          <p:nvPr/>
        </p:nvSpPr>
        <p:spPr>
          <a:xfrm xmlns:a="http://schemas.openxmlformats.org/drawingml/2006/main">
            <a:off x="5743575" y="5000625"/>
            <a:ext cx="3752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Durable tasks, leases, validation</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Credentialed publication adapters</a:t>
            </a:r>
          </a:p>
        </p:txBody>
      </p:sp>
      <p:sp>
        <p:nvSpPr>
          <p:cNvPr id="23" name="">
            <a:extLst xmlns:a="http://schemas.openxmlformats.org/drawingml/2006/main">
              <a:ext uri="{FF2B5EF4-FFF2-40B4-BE49-F238E27FC236}">
                <a16:creationId xmlns:a16="http://schemas.microsoft.com/office/drawing/2014/main" id="{F8A9CA8C-EDB6-4706-A4D7-724CB1B15114}"/>
              </a:ext>
            </a:extLst>
          </p:cNvPr>
          <p:cNvSpPr>
            <a:spLocks xmlns:a="http://schemas.openxmlformats.org/drawingml/2006/main" noGrp="1"/>
          </p:cNvSpPr>
          <p:nvPr/>
        </p:nvSpPr>
        <p:spPr>
          <a:xfrm xmlns:a="http://schemas.openxmlformats.org/drawingml/2006/main">
            <a:off x="5572125" y="6238875"/>
            <a:ext cx="4095750" cy="1381125"/>
          </a:xfrm>
          <a:prstGeom xmlns:a="http://schemas.openxmlformats.org/drawingml/2006/main" prst="rect">
            <a:avLst/>
          </a:prstGeom>
          <a:solidFill xmlns:a="http://schemas.openxmlformats.org/drawingml/2006/main">
            <a:srgbClr val="FFF1D6"/>
          </a:solidFill>
          <a:ln xmlns:a="http://schemas.openxmlformats.org/drawingml/2006/main" w="19050">
            <a:solidFill>
              <a:srgbClr val="B67717"/>
            </a:solidFill>
            <a:prstDash val="dash"/>
          </a:ln>
        </p:spPr>
      </p:sp>
      <p:sp>
        <p:nvSpPr>
          <p:cNvPr id="24" name="">
            <a:extLst xmlns:a="http://schemas.openxmlformats.org/drawingml/2006/main">
              <a:ext uri="{FF2B5EF4-FFF2-40B4-BE49-F238E27FC236}">
                <a16:creationId xmlns:a16="http://schemas.microsoft.com/office/drawing/2014/main" id="{21381EEC-7077-4966-903B-AA24025A7619}"/>
              </a:ext>
            </a:extLst>
          </p:cNvPr>
          <p:cNvSpPr>
            <a:spLocks xmlns:a="http://schemas.openxmlformats.org/drawingml/2006/main" noGrp="1"/>
          </p:cNvSpPr>
          <p:nvPr/>
        </p:nvSpPr>
        <p:spPr>
          <a:xfrm xmlns:a="http://schemas.openxmlformats.org/drawingml/2006/main">
            <a:off x="5743575" y="6372225"/>
            <a:ext cx="3752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B67717"/>
                </a:solidFill>
                <a:latin typeface="Aptos"/>
                <a:ea typeface="Aptos"/>
                <a:cs typeface="Aptos"/>
              </a:defRPr>
            </a:defPPr>
          </a:lstStyle>
          <a:p xmlns:a="http://schemas.openxmlformats.org/drawingml/2006/main">
            <a:pPr>
              <a:defRPr sz="1875" b="1">
                <a:solidFill>
                  <a:srgbClr val="B67717"/>
                </a:solidFill>
                <a:latin typeface="Aptos"/>
                <a:ea typeface="Aptos"/>
                <a:cs typeface="Aptos"/>
              </a:defRPr>
            </a:pPr>
            <a:r>
              <a:rPr sz="1875" b="1">
                <a:solidFill>
                  <a:srgbClr val="B67717"/>
                </a:solidFill>
                <a:latin typeface="Aptos"/>
                <a:ea typeface="Aptos"/>
                <a:cs typeface="Aptos"/>
              </a:rPr>
              <a:t>Inference + hosting</a:t>
            </a:r>
          </a:p>
        </p:txBody>
      </p:sp>
      <p:sp>
        <p:nvSpPr>
          <p:cNvPr id="25" name="">
            <a:extLst xmlns:a="http://schemas.openxmlformats.org/drawingml/2006/main">
              <a:ext uri="{FF2B5EF4-FFF2-40B4-BE49-F238E27FC236}">
                <a16:creationId xmlns:a16="http://schemas.microsoft.com/office/drawing/2014/main" id="{A881BF42-88B9-435C-8553-D83A18078528}"/>
              </a:ext>
            </a:extLst>
          </p:cNvPr>
          <p:cNvSpPr>
            <a:spLocks xmlns:a="http://schemas.openxmlformats.org/drawingml/2006/main" noGrp="1"/>
          </p:cNvSpPr>
          <p:nvPr/>
        </p:nvSpPr>
        <p:spPr>
          <a:xfrm xmlns:a="http://schemas.openxmlformats.org/drawingml/2006/main">
            <a:off x="5743575" y="6905625"/>
            <a:ext cx="37528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Provider/runtime TBD</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Cloudflare optional, fit unverified</a:t>
            </a:r>
          </a:p>
        </p:txBody>
      </p:sp>
      <p:sp>
        <p:nvSpPr>
          <p:cNvPr id="26" name="">
            <a:extLst xmlns:a="http://schemas.openxmlformats.org/drawingml/2006/main">
              <a:ext uri="{FF2B5EF4-FFF2-40B4-BE49-F238E27FC236}">
                <a16:creationId xmlns:a16="http://schemas.microsoft.com/office/drawing/2014/main" id="{9FF42568-D815-45EA-AF42-854FE8032CE1}"/>
              </a:ext>
            </a:extLst>
          </p:cNvPr>
          <p:cNvSpPr>
            <a:spLocks xmlns:a="http://schemas.openxmlformats.org/drawingml/2006/main" noGrp="1"/>
          </p:cNvSpPr>
          <p:nvPr/>
        </p:nvSpPr>
        <p:spPr>
          <a:xfrm xmlns:a="http://schemas.openxmlformats.org/drawingml/2006/main">
            <a:off x="10953750" y="2428875"/>
            <a:ext cx="371475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132E38"/>
            </a:solidFill>
            <a:prstDash val="solid"/>
          </a:ln>
        </p:spPr>
      </p:sp>
      <p:sp>
        <p:nvSpPr>
          <p:cNvPr id="27" name="">
            <a:extLst xmlns:a="http://schemas.openxmlformats.org/drawingml/2006/main">
              <a:ext uri="{FF2B5EF4-FFF2-40B4-BE49-F238E27FC236}">
                <a16:creationId xmlns:a16="http://schemas.microsoft.com/office/drawing/2014/main" id="{8CA510D6-B89E-429C-B5A7-402D58246CE4}"/>
              </a:ext>
            </a:extLst>
          </p:cNvPr>
          <p:cNvSpPr>
            <a:spLocks xmlns:a="http://schemas.openxmlformats.org/drawingml/2006/main" noGrp="1"/>
          </p:cNvSpPr>
          <p:nvPr/>
        </p:nvSpPr>
        <p:spPr>
          <a:xfrm xmlns:a="http://schemas.openxmlformats.org/drawingml/2006/main">
            <a:off x="11125200" y="2562225"/>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32E38"/>
                </a:solidFill>
                <a:latin typeface="Aptos"/>
                <a:ea typeface="Aptos"/>
                <a:cs typeface="Aptos"/>
              </a:defRPr>
            </a:defPPr>
          </a:lstStyle>
          <a:p xmlns:a="http://schemas.openxmlformats.org/drawingml/2006/main">
            <a:pPr>
              <a:defRPr sz="1875" b="1">
                <a:solidFill>
                  <a:srgbClr val="132E38"/>
                </a:solidFill>
                <a:latin typeface="Aptos"/>
                <a:ea typeface="Aptos"/>
                <a:cs typeface="Aptos"/>
              </a:defRPr>
            </a:pPr>
            <a:r>
              <a:rPr sz="1875" b="1">
                <a:solidFill>
                  <a:srgbClr val="132E38"/>
                </a:solidFill>
                <a:latin typeface="Aptos"/>
                <a:ea typeface="Aptos"/>
                <a:cs typeface="Aptos"/>
              </a:rPr>
              <a:t>DAO website</a:t>
            </a:r>
          </a:p>
        </p:txBody>
      </p:sp>
      <p:sp>
        <p:nvSpPr>
          <p:cNvPr id="28" name="">
            <a:extLst xmlns:a="http://schemas.openxmlformats.org/drawingml/2006/main">
              <a:ext uri="{FF2B5EF4-FFF2-40B4-BE49-F238E27FC236}">
                <a16:creationId xmlns:a16="http://schemas.microsoft.com/office/drawing/2014/main" id="{C39B873B-43BD-4185-ADB2-BC8FAE887FA7}"/>
              </a:ext>
            </a:extLst>
          </p:cNvPr>
          <p:cNvSpPr>
            <a:spLocks xmlns:a="http://schemas.openxmlformats.org/drawingml/2006/main" noGrp="1"/>
          </p:cNvSpPr>
          <p:nvPr/>
        </p:nvSpPr>
        <p:spPr>
          <a:xfrm xmlns:a="http://schemas.openxmlformats.org/drawingml/2006/main">
            <a:off x="11125200" y="3095625"/>
            <a:ext cx="3371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PlanetScale PostgreSQL / Drizzle</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Configured-audience publication</a:t>
            </a:r>
          </a:p>
        </p:txBody>
      </p:sp>
      <p:sp>
        <p:nvSpPr>
          <p:cNvPr id="29" name="">
            <a:extLst xmlns:a="http://schemas.openxmlformats.org/drawingml/2006/main">
              <a:ext uri="{FF2B5EF4-FFF2-40B4-BE49-F238E27FC236}">
                <a16:creationId xmlns:a16="http://schemas.microsoft.com/office/drawing/2014/main" id="{28ED64E1-7DC6-4996-8B9E-CED25A7C59EA}"/>
              </a:ext>
            </a:extLst>
          </p:cNvPr>
          <p:cNvSpPr>
            <a:spLocks xmlns:a="http://schemas.openxmlformats.org/drawingml/2006/main" noGrp="1"/>
          </p:cNvSpPr>
          <p:nvPr/>
        </p:nvSpPr>
        <p:spPr>
          <a:xfrm xmlns:a="http://schemas.openxmlformats.org/drawingml/2006/main">
            <a:off x="10953750" y="4333875"/>
            <a:ext cx="371475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132E38"/>
            </a:solidFill>
            <a:prstDash val="solid"/>
          </a:ln>
        </p:spPr>
      </p:sp>
      <p:sp>
        <p:nvSpPr>
          <p:cNvPr id="30" name="">
            <a:extLst xmlns:a="http://schemas.openxmlformats.org/drawingml/2006/main">
              <a:ext uri="{FF2B5EF4-FFF2-40B4-BE49-F238E27FC236}">
                <a16:creationId xmlns:a16="http://schemas.microsoft.com/office/drawing/2014/main" id="{2828E25C-C3D3-452C-A3DF-DE14EE06DDF3}"/>
              </a:ext>
            </a:extLst>
          </p:cNvPr>
          <p:cNvSpPr>
            <a:spLocks xmlns:a="http://schemas.openxmlformats.org/drawingml/2006/main" noGrp="1"/>
          </p:cNvSpPr>
          <p:nvPr/>
        </p:nvSpPr>
        <p:spPr>
          <a:xfrm xmlns:a="http://schemas.openxmlformats.org/drawingml/2006/main">
            <a:off x="11125200" y="4467225"/>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32E38"/>
                </a:solidFill>
                <a:latin typeface="Aptos"/>
                <a:ea typeface="Aptos"/>
                <a:cs typeface="Aptos"/>
              </a:defRPr>
            </a:defPPr>
          </a:lstStyle>
          <a:p xmlns:a="http://schemas.openxmlformats.org/drawingml/2006/main">
            <a:pPr>
              <a:defRPr sz="1875" b="1">
                <a:solidFill>
                  <a:srgbClr val="132E38"/>
                </a:solidFill>
                <a:latin typeface="Aptos"/>
                <a:ea typeface="Aptos"/>
                <a:cs typeface="Aptos"/>
              </a:defRPr>
            </a:pPr>
            <a:r>
              <a:rPr sz="1875" b="1">
                <a:solidFill>
                  <a:srgbClr val="132E38"/>
                </a:solidFill>
                <a:latin typeface="Aptos"/>
                <a:ea typeface="Aptos"/>
                <a:cs typeface="Aptos"/>
              </a:rPr>
              <a:t>DFW-Gov-Fund 3.4.0</a:t>
            </a:r>
          </a:p>
        </p:txBody>
      </p:sp>
      <p:sp>
        <p:nvSpPr>
          <p:cNvPr id="31" name="">
            <a:extLst xmlns:a="http://schemas.openxmlformats.org/drawingml/2006/main">
              <a:ext uri="{FF2B5EF4-FFF2-40B4-BE49-F238E27FC236}">
                <a16:creationId xmlns:a16="http://schemas.microsoft.com/office/drawing/2014/main" id="{4FB773B5-ADC0-4F51-8ECD-98C621CFF467}"/>
              </a:ext>
            </a:extLst>
          </p:cNvPr>
          <p:cNvSpPr>
            <a:spLocks xmlns:a="http://schemas.openxmlformats.org/drawingml/2006/main" noGrp="1"/>
          </p:cNvSpPr>
          <p:nvPr/>
        </p:nvSpPr>
        <p:spPr>
          <a:xfrm xmlns:a="http://schemas.openxmlformats.org/drawingml/2006/main">
            <a:off x="11125200" y="5000625"/>
            <a:ext cx="3371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Separate grant store + packets</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Vote adapter still TBD</a:t>
            </a:r>
          </a:p>
        </p:txBody>
      </p:sp>
      <p:sp>
        <p:nvSpPr>
          <p:cNvPr id="32" name="">
            <a:extLst xmlns:a="http://schemas.openxmlformats.org/drawingml/2006/main">
              <a:ext uri="{FF2B5EF4-FFF2-40B4-BE49-F238E27FC236}">
                <a16:creationId xmlns:a16="http://schemas.microsoft.com/office/drawing/2014/main" id="{68A74C7A-5671-4CF8-B726-AEB0DB5FD016}"/>
              </a:ext>
            </a:extLst>
          </p:cNvPr>
          <p:cNvSpPr>
            <a:spLocks xmlns:a="http://schemas.openxmlformats.org/drawingml/2006/main" noGrp="1"/>
          </p:cNvSpPr>
          <p:nvPr/>
        </p:nvSpPr>
        <p:spPr>
          <a:xfrm xmlns:a="http://schemas.openxmlformats.org/drawingml/2006/main">
            <a:off x="10953750" y="6238875"/>
            <a:ext cx="371475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33" name="">
            <a:extLst xmlns:a="http://schemas.openxmlformats.org/drawingml/2006/main">
              <a:ext uri="{FF2B5EF4-FFF2-40B4-BE49-F238E27FC236}">
                <a16:creationId xmlns:a16="http://schemas.microsoft.com/office/drawing/2014/main" id="{23882FB1-A345-480B-8B5C-E04439CF41B4}"/>
              </a:ext>
            </a:extLst>
          </p:cNvPr>
          <p:cNvSpPr>
            <a:spLocks xmlns:a="http://schemas.openxmlformats.org/drawingml/2006/main" noGrp="1"/>
          </p:cNvSpPr>
          <p:nvPr/>
        </p:nvSpPr>
        <p:spPr>
          <a:xfrm xmlns:a="http://schemas.openxmlformats.org/drawingml/2006/main">
            <a:off x="11125200" y="6372225"/>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defRPr sz="1875" b="1">
                <a:solidFill>
                  <a:srgbClr val="157D80"/>
                </a:solidFill>
                <a:latin typeface="Aptos"/>
                <a:ea typeface="Aptos"/>
                <a:cs typeface="Aptos"/>
              </a:defRPr>
            </a:pPr>
            <a:r>
              <a:rPr sz="1875" b="1">
                <a:solidFill>
                  <a:srgbClr val="157D80"/>
                </a:solidFill>
                <a:latin typeface="Aptos"/>
                <a:ea typeface="Aptos"/>
                <a:cs typeface="Aptos"/>
              </a:rPr>
              <a:t>Y2 watch loop</a:t>
            </a:r>
          </a:p>
        </p:txBody>
      </p:sp>
      <p:sp>
        <p:nvSpPr>
          <p:cNvPr id="34" name="">
            <a:extLst xmlns:a="http://schemas.openxmlformats.org/drawingml/2006/main">
              <a:ext uri="{FF2B5EF4-FFF2-40B4-BE49-F238E27FC236}">
                <a16:creationId xmlns:a16="http://schemas.microsoft.com/office/drawing/2014/main" id="{F8519B83-7D58-4984-B17C-4F00D453AE67}"/>
              </a:ext>
            </a:extLst>
          </p:cNvPr>
          <p:cNvSpPr>
            <a:spLocks xmlns:a="http://schemas.openxmlformats.org/drawingml/2006/main" noGrp="1"/>
          </p:cNvSpPr>
          <p:nvPr/>
        </p:nvSpPr>
        <p:spPr>
          <a:xfrm xmlns:a="http://schemas.openxmlformats.org/drawingml/2006/main">
            <a:off x="11125200" y="6905625"/>
            <a:ext cx="33718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Teammate-owned planned flow</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Access / adapter TBD</a:t>
            </a:r>
          </a:p>
        </p:txBody>
      </p:sp>
    </p:spTree>
    <p:extLst>
      <p:ext uri="{BB962C8B-B14F-4D97-AF65-F5344CB8AC3E}">
        <p14:creationId xmlns:p14="http://schemas.microsoft.com/office/powerpoint/2010/main" val="237742432"/>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1" name="">
            <a:extLst xmlns:a="http://schemas.openxmlformats.org/drawingml/2006/main">
              <a:ext uri="{FF2B5EF4-FFF2-40B4-BE49-F238E27FC236}">
                <a16:creationId xmlns:a16="http://schemas.microsoft.com/office/drawing/2014/main" id="{3B86E1FE-501D-4213-81E6-46EF0759441B}"/>
              </a:ext>
            </a:extLst>
          </p:cNvPr>
          <p:cNvCxnSpPr>
            <a:stCxn xmlns:a="http://schemas.openxmlformats.org/drawingml/2006/main" id="13" idx="3"/>
            <a:endCxn xmlns:a="http://schemas.openxmlformats.org/drawingml/2006/main" id="16" idx="1"/>
          </p:cNvCxnSpPr>
          <p:nvPr/>
        </p:nvCxnSpPr>
        <p:spPr>
          <a:xfrm xmlns:a="http://schemas.openxmlformats.org/drawingml/2006/main">
            <a:off x="10953750" y="3333750"/>
            <a:ext cx="476250" cy="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cxnSp>
        <p:nvCxnSpPr>
          <p:cNvPr id="20" name="">
            <a:extLst xmlns:a="http://schemas.openxmlformats.org/drawingml/2006/main">
              <a:ext uri="{FF2B5EF4-FFF2-40B4-BE49-F238E27FC236}">
                <a16:creationId xmlns:a16="http://schemas.microsoft.com/office/drawing/2014/main" id="{8677BBFB-DC11-4A7F-BF33-7F02093A8504}"/>
              </a:ext>
            </a:extLst>
          </p:cNvPr>
          <p:cNvCxnSpPr>
            <a:stCxn xmlns:a="http://schemas.openxmlformats.org/drawingml/2006/main" id="10" idx="3"/>
            <a:endCxn xmlns:a="http://schemas.openxmlformats.org/drawingml/2006/main" id="13" idx="1"/>
          </p:cNvCxnSpPr>
          <p:nvPr/>
        </p:nvCxnSpPr>
        <p:spPr>
          <a:xfrm xmlns:a="http://schemas.openxmlformats.org/drawingml/2006/main">
            <a:off x="7334250" y="3333750"/>
            <a:ext cx="476250" cy="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cxnSp>
        <p:nvCxnSpPr>
          <p:cNvPr id="19" name="">
            <a:extLst xmlns:a="http://schemas.openxmlformats.org/drawingml/2006/main">
              <a:ext uri="{FF2B5EF4-FFF2-40B4-BE49-F238E27FC236}">
                <a16:creationId xmlns:a16="http://schemas.microsoft.com/office/drawing/2014/main" id="{5A94B50B-CB88-4B78-9C08-4017628B856A}"/>
              </a:ext>
            </a:extLst>
          </p:cNvPr>
          <p:cNvCxnSpPr>
            <a:stCxn xmlns:a="http://schemas.openxmlformats.org/drawingml/2006/main" id="7" idx="3"/>
            <a:endCxn xmlns:a="http://schemas.openxmlformats.org/drawingml/2006/main" id="10" idx="1"/>
          </p:cNvCxnSpPr>
          <p:nvPr/>
        </p:nvCxnSpPr>
        <p:spPr>
          <a:xfrm xmlns:a="http://schemas.openxmlformats.org/drawingml/2006/main">
            <a:off x="3714750" y="3333750"/>
            <a:ext cx="476250" cy="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sp>
        <p:nvSpPr>
          <p:cNvPr id="29" name="">
            <a:extLst xmlns:a="http://schemas.openxmlformats.org/drawingml/2006/main">
              <a:ext uri="{FF2B5EF4-FFF2-40B4-BE49-F238E27FC236}">
                <a16:creationId xmlns:a16="http://schemas.microsoft.com/office/drawing/2014/main" id="{D06850C0-9B19-489E-BC87-F7BFEDCAC723}"/>
              </a:ext>
            </a:extLst>
          </p:cNvPr>
          <p:cNvSpPr>
            <a:spLocks xmlns:a="http://schemas.openxmlformats.org/drawingml/2006/main" noGrp="1"/>
          </p:cNvSpPr>
          <p:nvPr/>
        </p:nvSpPr>
        <p:spPr>
          <a:xfrm xmlns:a="http://schemas.openxmlformats.org/drawingml/2006/main">
            <a:off x="571500" y="295275"/>
            <a:ext cx="952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1">
                <a:solidFill>
                  <a:srgbClr val="157D80"/>
                </a:solidFill>
                <a:latin typeface="Aptos"/>
                <a:ea typeface="Aptos"/>
                <a:cs typeface="Aptos"/>
              </a:defRPr>
            </a:defPPr>
          </a:lstStyle>
          <a:p xmlns:a="http://schemas.openxmlformats.org/drawingml/2006/main">
            <a:pPr>
              <a:defRPr sz="1350" b="1">
                <a:solidFill>
                  <a:srgbClr val="157D80"/>
                </a:solidFill>
                <a:latin typeface="Aptos"/>
                <a:ea typeface="Aptos"/>
                <a:cs typeface="Aptos"/>
              </a:defRPr>
            </a:pPr>
            <a:r>
              <a:rPr sz="1350" b="1">
                <a:solidFill>
                  <a:srgbClr val="157D80"/>
                </a:solidFill>
                <a:latin typeface="Aptos"/>
                <a:ea typeface="Aptos"/>
                <a:cs typeface="Aptos"/>
              </a:rPr>
              <a:t>INERTIA / FORT WORTH DAO</a:t>
            </a:r>
          </a:p>
        </p:txBody>
      </p:sp>
      <p:sp>
        <p:nvSpPr>
          <p:cNvPr id="2" name="">
            <a:extLst xmlns:a="http://schemas.openxmlformats.org/drawingml/2006/main">
              <a:ext uri="{FF2B5EF4-FFF2-40B4-BE49-F238E27FC236}">
                <a16:creationId xmlns:a16="http://schemas.microsoft.com/office/drawing/2014/main" id="{3ADCC39B-9FF7-40E1-B8F6-DFA343953346}"/>
              </a:ext>
            </a:extLst>
          </p:cNvPr>
          <p:cNvSpPr>
            <a:spLocks xmlns:a="http://schemas.openxmlformats.org/drawingml/2006/main" noGrp="1"/>
          </p:cNvSpPr>
          <p:nvPr/>
        </p:nvSpPr>
        <p:spPr>
          <a:xfrm xmlns:a="http://schemas.openxmlformats.org/drawingml/2006/main">
            <a:off x="571500" y="723900"/>
            <a:ext cx="1409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450" b="1">
                <a:solidFill>
                  <a:srgbClr val="132E38"/>
                </a:solidFill>
                <a:latin typeface="Aptos"/>
                <a:ea typeface="Aptos"/>
                <a:cs typeface="Aptos"/>
              </a:defRPr>
            </a:defPPr>
          </a:lstStyle>
          <a:p xmlns:a="http://schemas.openxmlformats.org/drawingml/2006/main">
            <a:pPr>
              <a:defRPr sz="3450" b="1">
                <a:solidFill>
                  <a:srgbClr val="132E38"/>
                </a:solidFill>
                <a:latin typeface="Aptos"/>
                <a:ea typeface="Aptos"/>
                <a:cs typeface="Aptos"/>
              </a:defRPr>
            </a:pPr>
            <a:r>
              <a:rPr sz="3450" b="1">
                <a:solidFill>
                  <a:srgbClr val="132E38"/>
                </a:solidFill>
                <a:latin typeface="Aptos"/>
                <a:ea typeface="Aptos"/>
                <a:cs typeface="Aptos"/>
              </a:rPr>
              <a:t>Automatic meeting publication</a:t>
            </a:r>
          </a:p>
        </p:txBody>
      </p:sp>
      <p:sp>
        <p:nvSpPr>
          <p:cNvPr id="3" name="">
            <a:extLst xmlns:a="http://schemas.openxmlformats.org/drawingml/2006/main">
              <a:ext uri="{FF2B5EF4-FFF2-40B4-BE49-F238E27FC236}">
                <a16:creationId xmlns:a16="http://schemas.microsoft.com/office/drawing/2014/main" id="{7764ED52-352B-4308-919B-15C7424B9287}"/>
              </a:ext>
            </a:extLst>
          </p:cNvPr>
          <p:cNvSpPr>
            <a:spLocks xmlns:a="http://schemas.openxmlformats.org/drawingml/2006/main" noGrp="1"/>
          </p:cNvSpPr>
          <p:nvPr/>
        </p:nvSpPr>
        <p:spPr>
          <a:xfrm xmlns:a="http://schemas.openxmlformats.org/drawingml/2006/main">
            <a:off x="571500" y="1362075"/>
            <a:ext cx="1409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49616A"/>
                </a:solidFill>
                <a:latin typeface="Aptos"/>
                <a:ea typeface="Aptos"/>
                <a:cs typeface="Aptos"/>
              </a:defRPr>
            </a:defPPr>
          </a:lstStyle>
          <a:p xmlns:a="http://schemas.openxmlformats.org/drawingml/2006/main">
            <a:pPr>
              <a:defRPr sz="1800" b="0">
                <a:solidFill>
                  <a:srgbClr val="49616A"/>
                </a:solidFill>
                <a:latin typeface="Aptos"/>
                <a:ea typeface="Aptos"/>
                <a:cs typeface="Aptos"/>
              </a:defRPr>
            </a:pPr>
            <a:r>
              <a:rPr sz="1800" b="0">
                <a:solidFill>
                  <a:srgbClr val="49616A"/>
                </a:solidFill>
                <a:latin typeface="Aptos"/>
                <a:ea typeface="Aptos"/>
                <a:cs typeface="Aptos"/>
              </a:rPr>
              <a:t>Google Meet video and Gemini processing feed the organization’s Drive folder. Normal runs need no per-meeting approval.</a:t>
            </a:r>
          </a:p>
        </p:txBody>
      </p:sp>
      <p:sp>
        <p:nvSpPr>
          <p:cNvPr id="4" name="">
            <a:extLst xmlns:a="http://schemas.openxmlformats.org/drawingml/2006/main">
              <a:ext uri="{FF2B5EF4-FFF2-40B4-BE49-F238E27FC236}">
                <a16:creationId xmlns:a16="http://schemas.microsoft.com/office/drawing/2014/main" id="{AB01ADC6-9AB7-4234-8DC1-5337D3994ED0}"/>
              </a:ext>
            </a:extLst>
          </p:cNvPr>
          <p:cNvSpPr>
            <a:spLocks xmlns:a="http://schemas.openxmlformats.org/drawingml/2006/main" noGrp="1"/>
          </p:cNvSpPr>
          <p:nvPr/>
        </p:nvSpPr>
        <p:spPr>
          <a:xfrm xmlns:a="http://schemas.openxmlformats.org/drawingml/2006/main">
            <a:off x="571500" y="7962900"/>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F7C5277-9B07-42B4-80D5-8271D7A76B3C}"/>
              </a:ext>
            </a:extLst>
          </p:cNvPr>
          <p:cNvSpPr>
            <a:spLocks xmlns:a="http://schemas.openxmlformats.org/drawingml/2006/main" noGrp="1"/>
          </p:cNvSpPr>
          <p:nvPr/>
        </p:nvSpPr>
        <p:spPr>
          <a:xfrm xmlns:a="http://schemas.openxmlformats.org/drawingml/2006/main">
            <a:off x="571500" y="8105775"/>
            <a:ext cx="13144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75" b="0">
                <a:solidFill>
                  <a:srgbClr val="49616A"/>
                </a:solidFill>
                <a:latin typeface="Aptos"/>
                <a:ea typeface="Aptos"/>
                <a:cs typeface="Aptos"/>
              </a:defRPr>
            </a:defPPr>
          </a:lstStyle>
          <a:p xmlns:a="http://schemas.openxmlformats.org/drawingml/2006/main">
            <a:pPr>
              <a:defRPr sz="1275" b="0">
                <a:solidFill>
                  <a:srgbClr val="49616A"/>
                </a:solidFill>
                <a:latin typeface="Aptos"/>
                <a:ea typeface="Aptos"/>
                <a:cs typeface="Aptos"/>
              </a:defRPr>
            </a:pPr>
            <a:r>
              <a:rPr sz="1275" b="0">
                <a:solidFill>
                  <a:srgbClr val="49616A"/>
                </a:solidFill>
                <a:latin typeface="Aptos"/>
                <a:ea typeface="Aptos"/>
                <a:cs typeface="Aptos"/>
              </a:rPr>
              <a:t>INERTIA-2026-10-22-r4 · 22 October 2026 · Planning, not implemented</a:t>
            </a:r>
          </a:p>
        </p:txBody>
      </p:sp>
      <p:sp>
        <p:nvSpPr>
          <p:cNvPr id="6" name="">
            <a:extLst xmlns:a="http://schemas.openxmlformats.org/drawingml/2006/main">
              <a:ext uri="{FF2B5EF4-FFF2-40B4-BE49-F238E27FC236}">
                <a16:creationId xmlns:a16="http://schemas.microsoft.com/office/drawing/2014/main" id="{EA3EA25D-7B47-46E6-A850-71B0F042BED4}"/>
              </a:ext>
            </a:extLst>
          </p:cNvPr>
          <p:cNvSpPr>
            <a:spLocks xmlns:a="http://schemas.openxmlformats.org/drawingml/2006/main" noGrp="1"/>
          </p:cNvSpPr>
          <p:nvPr/>
        </p:nvSpPr>
        <p:spPr>
          <a:xfrm xmlns:a="http://schemas.openxmlformats.org/drawingml/2006/main">
            <a:off x="14001750" y="8067675"/>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1">
                <a:solidFill>
                  <a:srgbClr val="157D80"/>
                </a:solidFill>
                <a:latin typeface="Aptos"/>
                <a:ea typeface="Aptos"/>
                <a:cs typeface="Aptos"/>
              </a:defRPr>
            </a:defPPr>
          </a:lstStyle>
          <a:p xmlns:a="http://schemas.openxmlformats.org/drawingml/2006/main">
            <a:pPr>
              <a:defRPr sz="1800" b="1">
                <a:solidFill>
                  <a:srgbClr val="157D80"/>
                </a:solidFill>
                <a:latin typeface="Aptos"/>
                <a:ea typeface="Aptos"/>
                <a:cs typeface="Aptos"/>
              </a:defRPr>
            </a:pPr>
            <a:r>
              <a:rPr sz="1800" b="1">
                <a:solidFill>
                  <a:srgbClr val="157D80"/>
                </a:solidFill>
                <a:latin typeface="Aptos"/>
                <a:ea typeface="Aptos"/>
                <a:cs typeface="Aptos"/>
              </a:rPr>
              <a:t>02</a:t>
            </a:r>
          </a:p>
        </p:txBody>
      </p:sp>
      <p:sp>
        <p:nvSpPr>
          <p:cNvPr id="7" name="">
            <a:extLst xmlns:a="http://schemas.openxmlformats.org/drawingml/2006/main">
              <a:ext uri="{FF2B5EF4-FFF2-40B4-BE49-F238E27FC236}">
                <a16:creationId xmlns:a16="http://schemas.microsoft.com/office/drawing/2014/main" id="{8DC76271-46D3-4C68-BB76-80ABF6FC6A74}"/>
              </a:ext>
            </a:extLst>
          </p:cNvPr>
          <p:cNvSpPr>
            <a:spLocks xmlns:a="http://schemas.openxmlformats.org/drawingml/2006/main" noGrp="1"/>
          </p:cNvSpPr>
          <p:nvPr/>
        </p:nvSpPr>
        <p:spPr>
          <a:xfrm xmlns:a="http://schemas.openxmlformats.org/drawingml/2006/main">
            <a:off x="571500" y="2428875"/>
            <a:ext cx="3143250" cy="1809750"/>
          </a:xfrm>
          <a:prstGeom xmlns:a="http://schemas.openxmlformats.org/drawingml/2006/main" prst="rect">
            <a:avLst/>
          </a:prstGeom>
          <a:solidFill xmlns:a="http://schemas.openxmlformats.org/drawingml/2006/main">
            <a:srgbClr val="FFFFFF"/>
          </a:solidFill>
          <a:ln xmlns:a="http://schemas.openxmlformats.org/drawingml/2006/main" w="19050">
            <a:solidFill>
              <a:srgbClr val="132E38"/>
            </a:solidFill>
            <a:prstDash val="solid"/>
          </a:ln>
        </p:spPr>
      </p:sp>
      <p:sp>
        <p:nvSpPr>
          <p:cNvPr id="8" name="">
            <a:extLst xmlns:a="http://schemas.openxmlformats.org/drawingml/2006/main">
              <a:ext uri="{FF2B5EF4-FFF2-40B4-BE49-F238E27FC236}">
                <a16:creationId xmlns:a16="http://schemas.microsoft.com/office/drawing/2014/main" id="{681BEE0E-FB78-4765-BD76-FA3356DCEC0D}"/>
              </a:ext>
            </a:extLst>
          </p:cNvPr>
          <p:cNvSpPr>
            <a:spLocks xmlns:a="http://schemas.openxmlformats.org/drawingml/2006/main" noGrp="1"/>
          </p:cNvSpPr>
          <p:nvPr/>
        </p:nvSpPr>
        <p:spPr>
          <a:xfrm xmlns:a="http://schemas.openxmlformats.org/drawingml/2006/main">
            <a:off x="742950" y="2562225"/>
            <a:ext cx="2800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32E38"/>
                </a:solidFill>
                <a:latin typeface="Aptos"/>
                <a:ea typeface="Aptos"/>
                <a:cs typeface="Aptos"/>
              </a:defRPr>
            </a:defPPr>
          </a:lstStyle>
          <a:p xmlns:a="http://schemas.openxmlformats.org/drawingml/2006/main">
            <a:pPr>
              <a:defRPr sz="1875" b="1">
                <a:solidFill>
                  <a:srgbClr val="132E38"/>
                </a:solidFill>
                <a:latin typeface="Aptos"/>
                <a:ea typeface="Aptos"/>
                <a:cs typeface="Aptos"/>
              </a:defRPr>
            </a:pPr>
            <a:r>
              <a:rPr sz="1875" b="1">
                <a:solidFill>
                  <a:srgbClr val="132E38"/>
                </a:solidFill>
                <a:latin typeface="Aptos"/>
                <a:ea typeface="Aptos"/>
                <a:cs typeface="Aptos"/>
              </a:rPr>
              <a:t>1  Ready Drive source</a:t>
            </a:r>
          </a:p>
        </p:txBody>
      </p:sp>
      <p:sp>
        <p:nvSpPr>
          <p:cNvPr id="9" name="">
            <a:extLst xmlns:a="http://schemas.openxmlformats.org/drawingml/2006/main">
              <a:ext uri="{FF2B5EF4-FFF2-40B4-BE49-F238E27FC236}">
                <a16:creationId xmlns:a16="http://schemas.microsoft.com/office/drawing/2014/main" id="{A436CFF2-43F7-471A-B4C4-2D9662EBF8E4}"/>
              </a:ext>
            </a:extLst>
          </p:cNvPr>
          <p:cNvSpPr>
            <a:spLocks xmlns:a="http://schemas.openxmlformats.org/drawingml/2006/main" noGrp="1"/>
          </p:cNvSpPr>
          <p:nvPr/>
        </p:nvSpPr>
        <p:spPr>
          <a:xfrm xmlns:a="http://schemas.openxmlformats.org/drawingml/2006/main">
            <a:off x="742950" y="3095625"/>
            <a:ext cx="28003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Stable meeting ID + hash</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Immutable original reference</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Exact output contract TBD</a:t>
            </a:r>
          </a:p>
        </p:txBody>
      </p:sp>
      <p:sp>
        <p:nvSpPr>
          <p:cNvPr id="10" name="">
            <a:extLst xmlns:a="http://schemas.openxmlformats.org/drawingml/2006/main">
              <a:ext uri="{FF2B5EF4-FFF2-40B4-BE49-F238E27FC236}">
                <a16:creationId xmlns:a16="http://schemas.microsoft.com/office/drawing/2014/main" id="{86DD35D7-ABB3-4E3F-BC93-C7A0C3DBDCB0}"/>
              </a:ext>
            </a:extLst>
          </p:cNvPr>
          <p:cNvSpPr>
            <a:spLocks xmlns:a="http://schemas.openxmlformats.org/drawingml/2006/main" noGrp="1"/>
          </p:cNvSpPr>
          <p:nvPr/>
        </p:nvSpPr>
        <p:spPr>
          <a:xfrm xmlns:a="http://schemas.openxmlformats.org/drawingml/2006/main">
            <a:off x="4191000" y="2428875"/>
            <a:ext cx="3143250" cy="18097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1" name="">
            <a:extLst xmlns:a="http://schemas.openxmlformats.org/drawingml/2006/main">
              <a:ext uri="{FF2B5EF4-FFF2-40B4-BE49-F238E27FC236}">
                <a16:creationId xmlns:a16="http://schemas.microsoft.com/office/drawing/2014/main" id="{EA113C2F-8E55-4545-BB9C-A274A86BFFAF}"/>
              </a:ext>
            </a:extLst>
          </p:cNvPr>
          <p:cNvSpPr>
            <a:spLocks xmlns:a="http://schemas.openxmlformats.org/drawingml/2006/main" noGrp="1"/>
          </p:cNvSpPr>
          <p:nvPr/>
        </p:nvSpPr>
        <p:spPr>
          <a:xfrm xmlns:a="http://schemas.openxmlformats.org/drawingml/2006/main">
            <a:off x="4362450" y="2562225"/>
            <a:ext cx="2800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defRPr sz="1875" b="1">
                <a:solidFill>
                  <a:srgbClr val="157D80"/>
                </a:solidFill>
                <a:latin typeface="Aptos"/>
                <a:ea typeface="Aptos"/>
                <a:cs typeface="Aptos"/>
              </a:defRPr>
            </a:pPr>
            <a:r>
              <a:rPr sz="1875" b="1">
                <a:solidFill>
                  <a:srgbClr val="157D80"/>
                </a:solidFill>
                <a:latin typeface="Aptos"/>
                <a:ea typeface="Aptos"/>
                <a:cs typeface="Aptos"/>
              </a:rPr>
              <a:t>2  Clean and extract</a:t>
            </a:r>
          </a:p>
        </p:txBody>
      </p:sp>
      <p:sp>
        <p:nvSpPr>
          <p:cNvPr id="12" name="">
            <a:extLst xmlns:a="http://schemas.openxmlformats.org/drawingml/2006/main">
              <a:ext uri="{FF2B5EF4-FFF2-40B4-BE49-F238E27FC236}">
                <a16:creationId xmlns:a16="http://schemas.microsoft.com/office/drawing/2014/main" id="{3292BBF5-BBCF-485C-A4F2-402A76A8514D}"/>
              </a:ext>
            </a:extLst>
          </p:cNvPr>
          <p:cNvSpPr>
            <a:spLocks xmlns:a="http://schemas.openxmlformats.org/drawingml/2006/main" noGrp="1"/>
          </p:cNvSpPr>
          <p:nvPr/>
        </p:nvSpPr>
        <p:spPr>
          <a:xfrm xmlns:a="http://schemas.openxmlformats.org/drawingml/2006/main">
            <a:off x="4362450" y="3095625"/>
            <a:ext cx="28003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Faithful cleaned transcript</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Separate source-linked notes</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Uncertainty stays explicit</a:t>
            </a:r>
          </a:p>
        </p:txBody>
      </p:sp>
      <p:sp>
        <p:nvSpPr>
          <p:cNvPr id="13" name="">
            <a:extLst xmlns:a="http://schemas.openxmlformats.org/drawingml/2006/main">
              <a:ext uri="{FF2B5EF4-FFF2-40B4-BE49-F238E27FC236}">
                <a16:creationId xmlns:a16="http://schemas.microsoft.com/office/drawing/2014/main" id="{FC4143C3-E273-432D-B3F9-2EEA3A69AEC4}"/>
              </a:ext>
            </a:extLst>
          </p:cNvPr>
          <p:cNvSpPr>
            <a:spLocks xmlns:a="http://schemas.openxmlformats.org/drawingml/2006/main" noGrp="1"/>
          </p:cNvSpPr>
          <p:nvPr/>
        </p:nvSpPr>
        <p:spPr>
          <a:xfrm xmlns:a="http://schemas.openxmlformats.org/drawingml/2006/main">
            <a:off x="7810500" y="2428875"/>
            <a:ext cx="3143250" cy="18097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4" name="">
            <a:extLst xmlns:a="http://schemas.openxmlformats.org/drawingml/2006/main">
              <a:ext uri="{FF2B5EF4-FFF2-40B4-BE49-F238E27FC236}">
                <a16:creationId xmlns:a16="http://schemas.microsoft.com/office/drawing/2014/main" id="{C23A64FE-7D08-4568-9ABD-1C99A090AD1B}"/>
              </a:ext>
            </a:extLst>
          </p:cNvPr>
          <p:cNvSpPr>
            <a:spLocks xmlns:a="http://schemas.openxmlformats.org/drawingml/2006/main" noGrp="1"/>
          </p:cNvSpPr>
          <p:nvPr/>
        </p:nvSpPr>
        <p:spPr>
          <a:xfrm xmlns:a="http://schemas.openxmlformats.org/drawingml/2006/main">
            <a:off x="7981950" y="2562225"/>
            <a:ext cx="2800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defRPr sz="1875" b="1">
                <a:solidFill>
                  <a:srgbClr val="157D80"/>
                </a:solidFill>
                <a:latin typeface="Aptos"/>
                <a:ea typeface="Aptos"/>
                <a:cs typeface="Aptos"/>
              </a:defRPr>
            </a:pPr>
            <a:r>
              <a:rPr sz="1875" b="1">
                <a:solidFill>
                  <a:srgbClr val="157D80"/>
                </a:solidFill>
                <a:latin typeface="Aptos"/>
                <a:ea typeface="Aptos"/>
                <a:cs typeface="Aptos"/>
              </a:rPr>
              <a:t>3  Trusted publisher</a:t>
            </a:r>
          </a:p>
        </p:txBody>
      </p:sp>
      <p:sp>
        <p:nvSpPr>
          <p:cNvPr id="15" name="">
            <a:extLst xmlns:a="http://schemas.openxmlformats.org/drawingml/2006/main">
              <a:ext uri="{FF2B5EF4-FFF2-40B4-BE49-F238E27FC236}">
                <a16:creationId xmlns:a16="http://schemas.microsoft.com/office/drawing/2014/main" id="{BBDF1121-A060-4012-9874-9F92D012739C}"/>
              </a:ext>
            </a:extLst>
          </p:cNvPr>
          <p:cNvSpPr>
            <a:spLocks xmlns:a="http://schemas.openxmlformats.org/drawingml/2006/main" noGrp="1"/>
          </p:cNvSpPr>
          <p:nvPr/>
        </p:nvSpPr>
        <p:spPr>
          <a:xfrm xmlns:a="http://schemas.openxmlformats.org/drawingml/2006/main">
            <a:off x="7981950" y="3095625"/>
            <a:ext cx="28003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Versioned policy + fixed scope</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Upload / upsert both outputs</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No model-selected destination</a:t>
            </a:r>
          </a:p>
        </p:txBody>
      </p:sp>
      <p:sp>
        <p:nvSpPr>
          <p:cNvPr id="16" name="">
            <a:extLst xmlns:a="http://schemas.openxmlformats.org/drawingml/2006/main">
              <a:ext uri="{FF2B5EF4-FFF2-40B4-BE49-F238E27FC236}">
                <a16:creationId xmlns:a16="http://schemas.microsoft.com/office/drawing/2014/main" id="{B0A99C10-055E-4CE5-B706-C1F3477B98FC}"/>
              </a:ext>
            </a:extLst>
          </p:cNvPr>
          <p:cNvSpPr>
            <a:spLocks xmlns:a="http://schemas.openxmlformats.org/drawingml/2006/main" noGrp="1"/>
          </p:cNvSpPr>
          <p:nvPr/>
        </p:nvSpPr>
        <p:spPr>
          <a:xfrm xmlns:a="http://schemas.openxmlformats.org/drawingml/2006/main">
            <a:off x="11430000" y="2428875"/>
            <a:ext cx="3238500" cy="18097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7" name="">
            <a:extLst xmlns:a="http://schemas.openxmlformats.org/drawingml/2006/main">
              <a:ext uri="{FF2B5EF4-FFF2-40B4-BE49-F238E27FC236}">
                <a16:creationId xmlns:a16="http://schemas.microsoft.com/office/drawing/2014/main" id="{FB0D7773-D739-43A6-A403-2C12893006DB}"/>
              </a:ext>
            </a:extLst>
          </p:cNvPr>
          <p:cNvSpPr>
            <a:spLocks xmlns:a="http://schemas.openxmlformats.org/drawingml/2006/main" noGrp="1"/>
          </p:cNvSpPr>
          <p:nvPr/>
        </p:nvSpPr>
        <p:spPr>
          <a:xfrm xmlns:a="http://schemas.openxmlformats.org/drawingml/2006/main">
            <a:off x="11601450" y="2562225"/>
            <a:ext cx="2895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defRPr sz="1875" b="1">
                <a:solidFill>
                  <a:srgbClr val="157D80"/>
                </a:solidFill>
                <a:latin typeface="Aptos"/>
                <a:ea typeface="Aptos"/>
                <a:cs typeface="Aptos"/>
              </a:defRPr>
            </a:pPr>
            <a:r>
              <a:rPr sz="1875" b="1">
                <a:solidFill>
                  <a:srgbClr val="157D80"/>
                </a:solidFill>
                <a:latin typeface="Aptos"/>
                <a:ea typeface="Aptos"/>
                <a:cs typeface="Aptos"/>
              </a:rPr>
              <a:t>4  Read back</a:t>
            </a:r>
          </a:p>
        </p:txBody>
      </p:sp>
      <p:sp>
        <p:nvSpPr>
          <p:cNvPr id="18" name="">
            <a:extLst xmlns:a="http://schemas.openxmlformats.org/drawingml/2006/main">
              <a:ext uri="{FF2B5EF4-FFF2-40B4-BE49-F238E27FC236}">
                <a16:creationId xmlns:a16="http://schemas.microsoft.com/office/drawing/2014/main" id="{E961E8DA-B786-4AA2-8795-B04824008911}"/>
              </a:ext>
            </a:extLst>
          </p:cNvPr>
          <p:cNvSpPr>
            <a:spLocks xmlns:a="http://schemas.openxmlformats.org/drawingml/2006/main" noGrp="1"/>
          </p:cNvSpPr>
          <p:nvPr/>
        </p:nvSpPr>
        <p:spPr>
          <a:xfrm xmlns:a="http://schemas.openxmlformats.org/drawingml/2006/main">
            <a:off x="11601450" y="3095625"/>
            <a:ext cx="2895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Verify content and audience</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Record URLs + hashes</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Complete or queue exception</a:t>
            </a:r>
          </a:p>
        </p:txBody>
      </p:sp>
      <p:sp>
        <p:nvSpPr>
          <p:cNvPr id="22" name="">
            <a:extLst xmlns:a="http://schemas.openxmlformats.org/drawingml/2006/main">
              <a:ext uri="{FF2B5EF4-FFF2-40B4-BE49-F238E27FC236}">
                <a16:creationId xmlns:a16="http://schemas.microsoft.com/office/drawing/2014/main" id="{B2BE4E9A-26DF-4B1E-A64F-990F457C06EC}"/>
              </a:ext>
            </a:extLst>
          </p:cNvPr>
          <p:cNvSpPr>
            <a:spLocks xmlns:a="http://schemas.openxmlformats.org/drawingml/2006/main" noGrp="1"/>
          </p:cNvSpPr>
          <p:nvPr/>
        </p:nvSpPr>
        <p:spPr>
          <a:xfrm xmlns:a="http://schemas.openxmlformats.org/drawingml/2006/main">
            <a:off x="571500" y="4762500"/>
            <a:ext cx="657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1">
                <a:solidFill>
                  <a:srgbClr val="157D80"/>
                </a:solidFill>
                <a:latin typeface="Aptos"/>
                <a:ea typeface="Aptos"/>
                <a:cs typeface="Aptos"/>
              </a:defRPr>
            </a:defPPr>
          </a:lstStyle>
          <a:p xmlns:a="http://schemas.openxmlformats.org/drawingml/2006/main">
            <a:pPr>
              <a:defRPr sz="2100" b="1">
                <a:solidFill>
                  <a:srgbClr val="157D80"/>
                </a:solidFill>
                <a:latin typeface="Aptos"/>
                <a:ea typeface="Aptos"/>
                <a:cs typeface="Aptos"/>
              </a:defRPr>
            </a:pPr>
            <a:r>
              <a:rPr sz="2100" b="1">
                <a:solidFill>
                  <a:srgbClr val="157D80"/>
                </a:solidFill>
                <a:latin typeface="Aptos"/>
                <a:ea typeface="Aptos"/>
                <a:cs typeface="Aptos"/>
              </a:rPr>
              <a:t>Source fidelity</a:t>
            </a:r>
          </a:p>
        </p:txBody>
      </p:sp>
      <p:sp>
        <p:nvSpPr>
          <p:cNvPr id="23" name="">
            <a:extLst xmlns:a="http://schemas.openxmlformats.org/drawingml/2006/main">
              <a:ext uri="{FF2B5EF4-FFF2-40B4-BE49-F238E27FC236}">
                <a16:creationId xmlns:a16="http://schemas.microsoft.com/office/drawing/2014/main" id="{0BD40E00-24D4-4F75-B1F1-A98C47612F2B}"/>
              </a:ext>
            </a:extLst>
          </p:cNvPr>
          <p:cNvSpPr>
            <a:spLocks xmlns:a="http://schemas.openxmlformats.org/drawingml/2006/main" noGrp="1"/>
          </p:cNvSpPr>
          <p:nvPr/>
        </p:nvSpPr>
        <p:spPr>
          <a:xfrm xmlns:a="http://schemas.openxmlformats.org/drawingml/2006/main">
            <a:off x="571500" y="5219700"/>
            <a:ext cx="6572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132E38"/>
                </a:solidFill>
                <a:latin typeface="Aptos"/>
                <a:ea typeface="Aptos"/>
                <a:cs typeface="Aptos"/>
              </a:defRPr>
            </a:defPPr>
          </a:lstStyle>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September 9 and May 6 examples are notes. Summary-only input cannot establish a transcript. Preserve original material and uncertain attribution.</a:t>
            </a:r>
          </a:p>
        </p:txBody>
      </p:sp>
      <p:sp>
        <p:nvSpPr>
          <p:cNvPr id="24" name="">
            <a:extLst xmlns:a="http://schemas.openxmlformats.org/drawingml/2006/main">
              <a:ext uri="{FF2B5EF4-FFF2-40B4-BE49-F238E27FC236}">
                <a16:creationId xmlns:a16="http://schemas.microsoft.com/office/drawing/2014/main" id="{E6F72B6B-B2DA-4B43-8EB7-35BD0AD4331B}"/>
              </a:ext>
            </a:extLst>
          </p:cNvPr>
          <p:cNvSpPr>
            <a:spLocks xmlns:a="http://schemas.openxmlformats.org/drawingml/2006/main" noGrp="1"/>
          </p:cNvSpPr>
          <p:nvPr/>
        </p:nvSpPr>
        <p:spPr>
          <a:xfrm xmlns:a="http://schemas.openxmlformats.org/drawingml/2006/main">
            <a:off x="8096250" y="4762500"/>
            <a:ext cx="657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1">
                <a:solidFill>
                  <a:srgbClr val="157D80"/>
                </a:solidFill>
                <a:latin typeface="Aptos"/>
                <a:ea typeface="Aptos"/>
                <a:cs typeface="Aptos"/>
              </a:defRPr>
            </a:defPPr>
          </a:lstStyle>
          <a:p xmlns:a="http://schemas.openxmlformats.org/drawingml/2006/main">
            <a:pPr>
              <a:defRPr sz="2100" b="1">
                <a:solidFill>
                  <a:srgbClr val="157D80"/>
                </a:solidFill>
                <a:latin typeface="Aptos"/>
                <a:ea typeface="Aptos"/>
                <a:cs typeface="Aptos"/>
              </a:defRPr>
            </a:pPr>
            <a:r>
              <a:rPr sz="2100" b="1">
                <a:solidFill>
                  <a:srgbClr val="157D80"/>
                </a:solidFill>
                <a:latin typeface="Aptos"/>
                <a:ea typeface="Aptos"/>
                <a:cs typeface="Aptos"/>
              </a:rPr>
              <a:t>Recovery and privacy</a:t>
            </a:r>
          </a:p>
        </p:txBody>
      </p:sp>
      <p:sp>
        <p:nvSpPr>
          <p:cNvPr id="25" name="">
            <a:extLst xmlns:a="http://schemas.openxmlformats.org/drawingml/2006/main">
              <a:ext uri="{FF2B5EF4-FFF2-40B4-BE49-F238E27FC236}">
                <a16:creationId xmlns:a16="http://schemas.microsoft.com/office/drawing/2014/main" id="{7A46CD88-292F-4679-8EA1-F771880C48C7}"/>
              </a:ext>
            </a:extLst>
          </p:cNvPr>
          <p:cNvSpPr>
            <a:spLocks xmlns:a="http://schemas.openxmlformats.org/drawingml/2006/main" noGrp="1"/>
          </p:cNvSpPr>
          <p:nvPr/>
        </p:nvSpPr>
        <p:spPr>
          <a:xfrm xmlns:a="http://schemas.openxmlformats.org/drawingml/2006/main">
            <a:off x="8096250" y="5219700"/>
            <a:ext cx="6572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132E38"/>
                </a:solidFill>
                <a:latin typeface="Aptos"/>
                <a:ea typeface="Aptos"/>
                <a:cs typeface="Aptos"/>
              </a:defRPr>
            </a:defPPr>
          </a:lstStyle>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Deduplicate by meeting ID + source hash. Version corrections. Reconcile ambiguous writes before retrying. Keep restricted data in the trusted lane.</a:t>
            </a:r>
          </a:p>
        </p:txBody>
      </p:sp>
      <p:sp>
        <p:nvSpPr>
          <p:cNvPr id="26" name="">
            <a:extLst xmlns:a="http://schemas.openxmlformats.org/drawingml/2006/main">
              <a:ext uri="{FF2B5EF4-FFF2-40B4-BE49-F238E27FC236}">
                <a16:creationId xmlns:a16="http://schemas.microsoft.com/office/drawing/2014/main" id="{D56968E8-6623-410E-9A2A-583510607E44}"/>
              </a:ext>
            </a:extLst>
          </p:cNvPr>
          <p:cNvSpPr>
            <a:spLocks xmlns:a="http://schemas.openxmlformats.org/drawingml/2006/main" noGrp="1"/>
          </p:cNvSpPr>
          <p:nvPr/>
        </p:nvSpPr>
        <p:spPr>
          <a:xfrm xmlns:a="http://schemas.openxmlformats.org/drawingml/2006/main">
            <a:off x="571500" y="6810375"/>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7DEBB25-425D-4A02-A094-E04A15C397D9}"/>
              </a:ext>
            </a:extLst>
          </p:cNvPr>
          <p:cNvSpPr>
            <a:spLocks xmlns:a="http://schemas.openxmlformats.org/drawingml/2006/main" noGrp="1"/>
          </p:cNvSpPr>
          <p:nvPr/>
        </p:nvSpPr>
        <p:spPr>
          <a:xfrm xmlns:a="http://schemas.openxmlformats.org/drawingml/2006/main">
            <a:off x="571500" y="70485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1">
                <a:solidFill>
                  <a:srgbClr val="B67717"/>
                </a:solidFill>
                <a:latin typeface="Aptos"/>
                <a:ea typeface="Aptos"/>
                <a:cs typeface="Aptos"/>
              </a:defRPr>
            </a:defPPr>
          </a:lstStyle>
          <a:p xmlns:a="http://schemas.openxmlformats.org/drawingml/2006/main">
            <a:pPr>
              <a:defRPr sz="2100" b="1">
                <a:solidFill>
                  <a:srgbClr val="B67717"/>
                </a:solidFill>
                <a:latin typeface="Aptos"/>
                <a:ea typeface="Aptos"/>
                <a:cs typeface="Aptos"/>
              </a:defRPr>
            </a:pPr>
            <a:r>
              <a:rPr sz="2100" b="1">
                <a:solidFill>
                  <a:srgbClr val="B67717"/>
                </a:solidFill>
                <a:latin typeface="Aptos"/>
                <a:ea typeface="Aptos"/>
                <a:cs typeface="Aptos"/>
              </a:rPr>
              <a:t>Contract still TBD</a:t>
            </a:r>
          </a:p>
        </p:txBody>
      </p:sp>
      <p:sp>
        <p:nvSpPr>
          <p:cNvPr id="28" name="">
            <a:extLst xmlns:a="http://schemas.openxmlformats.org/drawingml/2006/main">
              <a:ext uri="{FF2B5EF4-FFF2-40B4-BE49-F238E27FC236}">
                <a16:creationId xmlns:a16="http://schemas.microsoft.com/office/drawing/2014/main" id="{7E91EB81-496E-45E0-9D28-619375645560}"/>
              </a:ext>
            </a:extLst>
          </p:cNvPr>
          <p:cNvSpPr>
            <a:spLocks xmlns:a="http://schemas.openxmlformats.org/drawingml/2006/main" noGrp="1"/>
          </p:cNvSpPr>
          <p:nvPr/>
        </p:nvSpPr>
        <p:spPr>
          <a:xfrm xmlns:a="http://schemas.openxmlformats.org/drawingml/2006/main">
            <a:off x="3762375" y="7038975"/>
            <a:ext cx="1090612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132E38"/>
                </a:solidFill>
                <a:latin typeface="Aptos"/>
                <a:ea typeface="Aptos"/>
                <a:cs typeface="Aptos"/>
              </a:defRPr>
            </a:defPPr>
          </a:lstStyle>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Folder IDs, Gemini output types, readiness signals, access, fixed publication audience and retention. Drive storage itself is confirmed.</a:t>
            </a:r>
          </a:p>
        </p:txBody>
      </p:sp>
    </p:spTree>
    <p:extLst>
      <p:ext uri="{BB962C8B-B14F-4D97-AF65-F5344CB8AC3E}">
        <p14:creationId xmlns:p14="http://schemas.microsoft.com/office/powerpoint/2010/main" val="719726306"/>
      </p:ext>
    </p:extLst>
  </p:cSld>
</p:sld>
</file>

<file path=ppt/slides/slide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E41A1207-7565-4BF0-8CB9-4D18ABC072BF}"/>
              </a:ext>
            </a:extLst>
          </p:cNvPr>
          <p:cNvCxnSpPr>
            <a:stCxn xmlns:a="http://schemas.openxmlformats.org/drawingml/2006/main" id="21" idx="0"/>
            <a:endCxn xmlns:a="http://schemas.openxmlformats.org/drawingml/2006/main" id="10" idx="2"/>
          </p:cNvCxnSpPr>
          <p:nvPr/>
        </p:nvCxnSpPr>
        <p:spPr>
          <a:xfrm xmlns:a="http://schemas.openxmlformats.org/drawingml/2006/main" flipH="1" flipV="1">
            <a:off x="7620000" y="4010025"/>
            <a:ext cx="3381375" cy="85725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cxnSp>
        <p:nvCxnSpPr>
          <p:cNvPr id="25" name="">
            <a:extLst xmlns:a="http://schemas.openxmlformats.org/drawingml/2006/main">
              <a:ext uri="{FF2B5EF4-FFF2-40B4-BE49-F238E27FC236}">
                <a16:creationId xmlns:a16="http://schemas.microsoft.com/office/drawing/2014/main" id="{29AB24B2-C91B-488A-BB07-0DB9B9AD8F7A}"/>
              </a:ext>
            </a:extLst>
          </p:cNvPr>
          <p:cNvCxnSpPr>
            <a:stCxn xmlns:a="http://schemas.openxmlformats.org/drawingml/2006/main" id="7" idx="2"/>
            <a:endCxn xmlns:a="http://schemas.openxmlformats.org/drawingml/2006/main" id="18" idx="0"/>
          </p:cNvCxnSpPr>
          <p:nvPr/>
        </p:nvCxnSpPr>
        <p:spPr>
          <a:xfrm xmlns:a="http://schemas.openxmlformats.org/drawingml/2006/main">
            <a:off x="2619375" y="4010025"/>
            <a:ext cx="666750" cy="85725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cxnSp>
        <p:nvCxnSpPr>
          <p:cNvPr id="24" name="">
            <a:extLst xmlns:a="http://schemas.openxmlformats.org/drawingml/2006/main">
              <a:ext uri="{FF2B5EF4-FFF2-40B4-BE49-F238E27FC236}">
                <a16:creationId xmlns:a16="http://schemas.microsoft.com/office/drawing/2014/main" id="{7912F108-F11E-42DC-96F5-76BD9BFD7C7C}"/>
              </a:ext>
            </a:extLst>
          </p:cNvPr>
          <p:cNvCxnSpPr>
            <a:stCxn xmlns:a="http://schemas.openxmlformats.org/drawingml/2006/main" id="18" idx="3"/>
            <a:endCxn xmlns:a="http://schemas.openxmlformats.org/drawingml/2006/main" id="21" idx="1"/>
          </p:cNvCxnSpPr>
          <p:nvPr/>
        </p:nvCxnSpPr>
        <p:spPr>
          <a:xfrm xmlns:a="http://schemas.openxmlformats.org/drawingml/2006/main">
            <a:off x="6000750" y="5581650"/>
            <a:ext cx="1333500" cy="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cxnSp>
        <p:nvCxnSpPr>
          <p:cNvPr id="17" name="">
            <a:extLst xmlns:a="http://schemas.openxmlformats.org/drawingml/2006/main">
              <a:ext uri="{FF2B5EF4-FFF2-40B4-BE49-F238E27FC236}">
                <a16:creationId xmlns:a16="http://schemas.microsoft.com/office/drawing/2014/main" id="{0C182D20-69B2-4FF0-ADB3-FEB0767CFDDB}"/>
              </a:ext>
            </a:extLst>
          </p:cNvPr>
          <p:cNvCxnSpPr>
            <a:stCxn xmlns:a="http://schemas.openxmlformats.org/drawingml/2006/main" id="10" idx="3"/>
            <a:endCxn xmlns:a="http://schemas.openxmlformats.org/drawingml/2006/main" id="13" idx="1"/>
          </p:cNvCxnSpPr>
          <p:nvPr/>
        </p:nvCxnSpPr>
        <p:spPr>
          <a:xfrm xmlns:a="http://schemas.openxmlformats.org/drawingml/2006/main">
            <a:off x="9667875" y="3152775"/>
            <a:ext cx="904875" cy="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cxnSp>
        <p:nvCxnSpPr>
          <p:cNvPr id="16" name="">
            <a:extLst xmlns:a="http://schemas.openxmlformats.org/drawingml/2006/main">
              <a:ext uri="{FF2B5EF4-FFF2-40B4-BE49-F238E27FC236}">
                <a16:creationId xmlns:a16="http://schemas.microsoft.com/office/drawing/2014/main" id="{BD3278C7-662A-4D58-AB12-B4AD5D0620D6}"/>
              </a:ext>
            </a:extLst>
          </p:cNvPr>
          <p:cNvCxnSpPr>
            <a:stCxn xmlns:a="http://schemas.openxmlformats.org/drawingml/2006/main" id="7" idx="3"/>
            <a:endCxn xmlns:a="http://schemas.openxmlformats.org/drawingml/2006/main" id="10" idx="1"/>
          </p:cNvCxnSpPr>
          <p:nvPr/>
        </p:nvCxnSpPr>
        <p:spPr>
          <a:xfrm xmlns:a="http://schemas.openxmlformats.org/drawingml/2006/main">
            <a:off x="4667250" y="3152775"/>
            <a:ext cx="904875" cy="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sp>
        <p:nvSpPr>
          <p:cNvPr id="31" name="">
            <a:extLst xmlns:a="http://schemas.openxmlformats.org/drawingml/2006/main">
              <a:ext uri="{FF2B5EF4-FFF2-40B4-BE49-F238E27FC236}">
                <a16:creationId xmlns:a16="http://schemas.microsoft.com/office/drawing/2014/main" id="{DC3D333A-1676-46B8-8516-A7B68F4A1463}"/>
              </a:ext>
            </a:extLst>
          </p:cNvPr>
          <p:cNvSpPr>
            <a:spLocks xmlns:a="http://schemas.openxmlformats.org/drawingml/2006/main" noGrp="1"/>
          </p:cNvSpPr>
          <p:nvPr/>
        </p:nvSpPr>
        <p:spPr>
          <a:xfrm xmlns:a="http://schemas.openxmlformats.org/drawingml/2006/main">
            <a:off x="571500" y="295275"/>
            <a:ext cx="952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1">
                <a:solidFill>
                  <a:srgbClr val="157D80"/>
                </a:solidFill>
                <a:latin typeface="Aptos"/>
                <a:ea typeface="Aptos"/>
                <a:cs typeface="Aptos"/>
              </a:defRPr>
            </a:defPPr>
          </a:lstStyle>
          <a:p xmlns:a="http://schemas.openxmlformats.org/drawingml/2006/main">
            <a:pPr>
              <a:defRPr sz="1350" b="1">
                <a:solidFill>
                  <a:srgbClr val="157D80"/>
                </a:solidFill>
                <a:latin typeface="Aptos"/>
                <a:ea typeface="Aptos"/>
                <a:cs typeface="Aptos"/>
              </a:defRPr>
            </a:pPr>
            <a:r>
              <a:rPr sz="1350" b="1">
                <a:solidFill>
                  <a:srgbClr val="157D80"/>
                </a:solidFill>
                <a:latin typeface="Aptos"/>
                <a:ea typeface="Aptos"/>
                <a:cs typeface="Aptos"/>
              </a:rPr>
              <a:t>INERTIA / FORT WORTH DAO</a:t>
            </a:r>
          </a:p>
        </p:txBody>
      </p:sp>
      <p:sp>
        <p:nvSpPr>
          <p:cNvPr id="2" name="">
            <a:extLst xmlns:a="http://schemas.openxmlformats.org/drawingml/2006/main">
              <a:ext uri="{FF2B5EF4-FFF2-40B4-BE49-F238E27FC236}">
                <a16:creationId xmlns:a16="http://schemas.microsoft.com/office/drawing/2014/main" id="{983E4B14-BB54-4180-8D80-DE09D56CD86A}"/>
              </a:ext>
            </a:extLst>
          </p:cNvPr>
          <p:cNvSpPr>
            <a:spLocks xmlns:a="http://schemas.openxmlformats.org/drawingml/2006/main" noGrp="1"/>
          </p:cNvSpPr>
          <p:nvPr/>
        </p:nvSpPr>
        <p:spPr>
          <a:xfrm xmlns:a="http://schemas.openxmlformats.org/drawingml/2006/main">
            <a:off x="571500" y="723900"/>
            <a:ext cx="1409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450" b="1">
                <a:solidFill>
                  <a:srgbClr val="132E38"/>
                </a:solidFill>
                <a:latin typeface="Aptos"/>
                <a:ea typeface="Aptos"/>
                <a:cs typeface="Aptos"/>
              </a:defRPr>
            </a:defPPr>
          </a:lstStyle>
          <a:p xmlns:a="http://schemas.openxmlformats.org/drawingml/2006/main">
            <a:pPr>
              <a:defRPr sz="3450" b="1">
                <a:solidFill>
                  <a:srgbClr val="132E38"/>
                </a:solidFill>
                <a:latin typeface="Aptos"/>
                <a:ea typeface="Aptos"/>
                <a:cs typeface="Aptos"/>
              </a:defRPr>
            </a:pPr>
            <a:r>
              <a:rPr sz="3450" b="1">
                <a:solidFill>
                  <a:srgbClr val="132E38"/>
                </a:solidFill>
                <a:latin typeface="Aptos"/>
                <a:ea typeface="Aptos"/>
                <a:cs typeface="Aptos"/>
              </a:rPr>
              <a:t>Grant workflow and Y2 watches</a:t>
            </a:r>
          </a:p>
        </p:txBody>
      </p:sp>
      <p:sp>
        <p:nvSpPr>
          <p:cNvPr id="3" name="">
            <a:extLst xmlns:a="http://schemas.openxmlformats.org/drawingml/2006/main">
              <a:ext uri="{FF2B5EF4-FFF2-40B4-BE49-F238E27FC236}">
                <a16:creationId xmlns:a16="http://schemas.microsoft.com/office/drawing/2014/main" id="{A1C367F8-C0C2-4FCF-A01E-42422860CD1E}"/>
              </a:ext>
            </a:extLst>
          </p:cNvPr>
          <p:cNvSpPr>
            <a:spLocks xmlns:a="http://schemas.openxmlformats.org/drawingml/2006/main" noGrp="1"/>
          </p:cNvSpPr>
          <p:nvPr/>
        </p:nvSpPr>
        <p:spPr>
          <a:xfrm xmlns:a="http://schemas.openxmlformats.org/drawingml/2006/main">
            <a:off x="571500" y="1362075"/>
            <a:ext cx="1409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49616A"/>
                </a:solidFill>
                <a:latin typeface="Aptos"/>
                <a:ea typeface="Aptos"/>
                <a:cs typeface="Aptos"/>
              </a:defRPr>
            </a:defPPr>
          </a:lstStyle>
          <a:p xmlns:a="http://schemas.openxmlformats.org/drawingml/2006/main">
            <a:pPr>
              <a:defRPr sz="1800" b="0">
                <a:solidFill>
                  <a:srgbClr val="49616A"/>
                </a:solidFill>
                <a:latin typeface="Aptos"/>
                <a:ea typeface="Aptos"/>
                <a:cs typeface="Aptos"/>
              </a:defRPr>
            </a:pPr>
            <a:r>
              <a:rPr sz="1800" b="0">
                <a:solidFill>
                  <a:srgbClr val="49616A"/>
                </a:solidFill>
                <a:latin typeface="Aptos"/>
                <a:ea typeface="Aptos"/>
                <a:cs typeface="Aptos"/>
              </a:rPr>
              <a:t>Existing permissions cover research and drafting. A blockchain vote decides whether to submit one exact packet.</a:t>
            </a:r>
          </a:p>
        </p:txBody>
      </p:sp>
      <p:sp>
        <p:nvSpPr>
          <p:cNvPr id="4" name="">
            <a:extLst xmlns:a="http://schemas.openxmlformats.org/drawingml/2006/main">
              <a:ext uri="{FF2B5EF4-FFF2-40B4-BE49-F238E27FC236}">
                <a16:creationId xmlns:a16="http://schemas.microsoft.com/office/drawing/2014/main" id="{21C1F1D7-563E-42DF-A52A-FA6374F70E36}"/>
              </a:ext>
            </a:extLst>
          </p:cNvPr>
          <p:cNvSpPr>
            <a:spLocks xmlns:a="http://schemas.openxmlformats.org/drawingml/2006/main" noGrp="1"/>
          </p:cNvSpPr>
          <p:nvPr/>
        </p:nvSpPr>
        <p:spPr>
          <a:xfrm xmlns:a="http://schemas.openxmlformats.org/drawingml/2006/main">
            <a:off x="571500" y="7962900"/>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F72E340-E54E-4052-A016-98A49D88AC6D}"/>
              </a:ext>
            </a:extLst>
          </p:cNvPr>
          <p:cNvSpPr>
            <a:spLocks xmlns:a="http://schemas.openxmlformats.org/drawingml/2006/main" noGrp="1"/>
          </p:cNvSpPr>
          <p:nvPr/>
        </p:nvSpPr>
        <p:spPr>
          <a:xfrm xmlns:a="http://schemas.openxmlformats.org/drawingml/2006/main">
            <a:off x="571500" y="8105775"/>
            <a:ext cx="13144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75" b="0">
                <a:solidFill>
                  <a:srgbClr val="49616A"/>
                </a:solidFill>
                <a:latin typeface="Aptos"/>
                <a:ea typeface="Aptos"/>
                <a:cs typeface="Aptos"/>
              </a:defRPr>
            </a:defPPr>
          </a:lstStyle>
          <a:p xmlns:a="http://schemas.openxmlformats.org/drawingml/2006/main">
            <a:pPr>
              <a:defRPr sz="1275" b="0">
                <a:solidFill>
                  <a:srgbClr val="49616A"/>
                </a:solidFill>
                <a:latin typeface="Aptos"/>
                <a:ea typeface="Aptos"/>
                <a:cs typeface="Aptos"/>
              </a:defRPr>
            </a:pPr>
            <a:r>
              <a:rPr sz="1275" b="0">
                <a:solidFill>
                  <a:srgbClr val="49616A"/>
                </a:solidFill>
                <a:latin typeface="Aptos"/>
                <a:ea typeface="Aptos"/>
                <a:cs typeface="Aptos"/>
              </a:rPr>
              <a:t>INERTIA-2026-10-22-r4 · 22 October 2026 · Planning, not implemented</a:t>
            </a:r>
          </a:p>
        </p:txBody>
      </p:sp>
      <p:sp>
        <p:nvSpPr>
          <p:cNvPr id="6" name="">
            <a:extLst xmlns:a="http://schemas.openxmlformats.org/drawingml/2006/main">
              <a:ext uri="{FF2B5EF4-FFF2-40B4-BE49-F238E27FC236}">
                <a16:creationId xmlns:a16="http://schemas.microsoft.com/office/drawing/2014/main" id="{447ADF3C-E311-4860-89A4-A8259346F6E4}"/>
              </a:ext>
            </a:extLst>
          </p:cNvPr>
          <p:cNvSpPr>
            <a:spLocks xmlns:a="http://schemas.openxmlformats.org/drawingml/2006/main" noGrp="1"/>
          </p:cNvSpPr>
          <p:nvPr/>
        </p:nvSpPr>
        <p:spPr>
          <a:xfrm xmlns:a="http://schemas.openxmlformats.org/drawingml/2006/main">
            <a:off x="14001750" y="8067675"/>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1">
                <a:solidFill>
                  <a:srgbClr val="157D80"/>
                </a:solidFill>
                <a:latin typeface="Aptos"/>
                <a:ea typeface="Aptos"/>
                <a:cs typeface="Aptos"/>
              </a:defRPr>
            </a:defPPr>
          </a:lstStyle>
          <a:p xmlns:a="http://schemas.openxmlformats.org/drawingml/2006/main">
            <a:pPr>
              <a:defRPr sz="1800" b="1">
                <a:solidFill>
                  <a:srgbClr val="157D80"/>
                </a:solidFill>
                <a:latin typeface="Aptos"/>
                <a:ea typeface="Aptos"/>
                <a:cs typeface="Aptos"/>
              </a:defRPr>
            </a:pPr>
            <a:r>
              <a:rPr sz="1800" b="1">
                <a:solidFill>
                  <a:srgbClr val="157D80"/>
                </a:solidFill>
                <a:latin typeface="Aptos"/>
                <a:ea typeface="Aptos"/>
                <a:cs typeface="Aptos"/>
              </a:rPr>
              <a:t>03</a:t>
            </a:r>
          </a:p>
        </p:txBody>
      </p:sp>
      <p:sp>
        <p:nvSpPr>
          <p:cNvPr id="7" name="">
            <a:extLst xmlns:a="http://schemas.openxmlformats.org/drawingml/2006/main">
              <a:ext uri="{FF2B5EF4-FFF2-40B4-BE49-F238E27FC236}">
                <a16:creationId xmlns:a16="http://schemas.microsoft.com/office/drawing/2014/main" id="{0B7C94FA-08E8-4E6D-ADE0-1EA2742F22B8}"/>
              </a:ext>
            </a:extLst>
          </p:cNvPr>
          <p:cNvSpPr>
            <a:spLocks xmlns:a="http://schemas.openxmlformats.org/drawingml/2006/main" noGrp="1"/>
          </p:cNvSpPr>
          <p:nvPr/>
        </p:nvSpPr>
        <p:spPr>
          <a:xfrm xmlns:a="http://schemas.openxmlformats.org/drawingml/2006/main">
            <a:off x="571500" y="2295525"/>
            <a:ext cx="4095750" cy="1714500"/>
          </a:xfrm>
          <a:prstGeom xmlns:a="http://schemas.openxmlformats.org/drawingml/2006/main" prst="rect">
            <a:avLst/>
          </a:prstGeom>
          <a:solidFill xmlns:a="http://schemas.openxmlformats.org/drawingml/2006/main">
            <a:srgbClr val="FFFFFF"/>
          </a:solidFill>
          <a:ln xmlns:a="http://schemas.openxmlformats.org/drawingml/2006/main" w="19050">
            <a:solidFill>
              <a:srgbClr val="132E38"/>
            </a:solidFill>
            <a:prstDash val="solid"/>
          </a:ln>
        </p:spPr>
      </p:sp>
      <p:sp>
        <p:nvSpPr>
          <p:cNvPr id="8" name="">
            <a:extLst xmlns:a="http://schemas.openxmlformats.org/drawingml/2006/main">
              <a:ext uri="{FF2B5EF4-FFF2-40B4-BE49-F238E27FC236}">
                <a16:creationId xmlns:a16="http://schemas.microsoft.com/office/drawing/2014/main" id="{72DBC61C-2335-475F-BE14-47C668BE4023}"/>
              </a:ext>
            </a:extLst>
          </p:cNvPr>
          <p:cNvSpPr>
            <a:spLocks xmlns:a="http://schemas.openxmlformats.org/drawingml/2006/main" noGrp="1"/>
          </p:cNvSpPr>
          <p:nvPr/>
        </p:nvSpPr>
        <p:spPr>
          <a:xfrm xmlns:a="http://schemas.openxmlformats.org/drawingml/2006/main">
            <a:off x="742950" y="2428875"/>
            <a:ext cx="3752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32E38"/>
                </a:solidFill>
                <a:latin typeface="Aptos"/>
                <a:ea typeface="Aptos"/>
                <a:cs typeface="Aptos"/>
              </a:defRPr>
            </a:defPPr>
          </a:lstStyle>
          <a:p xmlns:a="http://schemas.openxmlformats.org/drawingml/2006/main">
            <a:pPr>
              <a:defRPr sz="1875" b="1">
                <a:solidFill>
                  <a:srgbClr val="132E38"/>
                </a:solidFill>
                <a:latin typeface="Aptos"/>
                <a:ea typeface="Aptos"/>
                <a:cs typeface="Aptos"/>
              </a:defRPr>
            </a:pPr>
            <a:r>
              <a:rPr sz="1875" b="1">
                <a:solidFill>
                  <a:srgbClr val="132E38"/>
                </a:solidFill>
                <a:latin typeface="Aptos"/>
                <a:ea typeface="Aptos"/>
                <a:cs typeface="Aptos"/>
              </a:rPr>
              <a:t>1  Current shortlist</a:t>
            </a:r>
          </a:p>
        </p:txBody>
      </p:sp>
      <p:sp>
        <p:nvSpPr>
          <p:cNvPr id="9" name="">
            <a:extLst xmlns:a="http://schemas.openxmlformats.org/drawingml/2006/main">
              <a:ext uri="{FF2B5EF4-FFF2-40B4-BE49-F238E27FC236}">
                <a16:creationId xmlns:a16="http://schemas.microsoft.com/office/drawing/2014/main" id="{82369FDD-FCF4-4971-9C13-89BFF59024C5}"/>
              </a:ext>
            </a:extLst>
          </p:cNvPr>
          <p:cNvSpPr>
            <a:spLocks xmlns:a="http://schemas.openxmlformats.org/drawingml/2006/main" noGrp="1"/>
          </p:cNvSpPr>
          <p:nvPr/>
        </p:nvSpPr>
        <p:spPr>
          <a:xfrm xmlns:a="http://schemas.openxmlformats.org/drawingml/2006/main">
            <a:off x="742950" y="2962275"/>
            <a:ext cx="37528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Existing grant rules + matching</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Source freshness + eligibility</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Direct versus partner route</a:t>
            </a:r>
          </a:p>
        </p:txBody>
      </p:sp>
      <p:sp>
        <p:nvSpPr>
          <p:cNvPr id="10" name="">
            <a:extLst xmlns:a="http://schemas.openxmlformats.org/drawingml/2006/main">
              <a:ext uri="{FF2B5EF4-FFF2-40B4-BE49-F238E27FC236}">
                <a16:creationId xmlns:a16="http://schemas.microsoft.com/office/drawing/2014/main" id="{C7A1A031-3D0A-41D9-A45E-58D3CBA22401}"/>
              </a:ext>
            </a:extLst>
          </p:cNvPr>
          <p:cNvSpPr>
            <a:spLocks xmlns:a="http://schemas.openxmlformats.org/drawingml/2006/main" noGrp="1"/>
          </p:cNvSpPr>
          <p:nvPr/>
        </p:nvSpPr>
        <p:spPr>
          <a:xfrm xmlns:a="http://schemas.openxmlformats.org/drawingml/2006/main">
            <a:off x="5572125" y="2295525"/>
            <a:ext cx="4095750" cy="1714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1" name="">
            <a:extLst xmlns:a="http://schemas.openxmlformats.org/drawingml/2006/main">
              <a:ext uri="{FF2B5EF4-FFF2-40B4-BE49-F238E27FC236}">
                <a16:creationId xmlns:a16="http://schemas.microsoft.com/office/drawing/2014/main" id="{ACA9E7AB-E8B6-4947-91FF-D666ED203DE4}"/>
              </a:ext>
            </a:extLst>
          </p:cNvPr>
          <p:cNvSpPr>
            <a:spLocks xmlns:a="http://schemas.openxmlformats.org/drawingml/2006/main" noGrp="1"/>
          </p:cNvSpPr>
          <p:nvPr/>
        </p:nvSpPr>
        <p:spPr>
          <a:xfrm xmlns:a="http://schemas.openxmlformats.org/drawingml/2006/main">
            <a:off x="5743575" y="2428875"/>
            <a:ext cx="3752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defRPr sz="1875" b="1">
                <a:solidFill>
                  <a:srgbClr val="157D80"/>
                </a:solidFill>
                <a:latin typeface="Aptos"/>
                <a:ea typeface="Aptos"/>
                <a:cs typeface="Aptos"/>
              </a:defRPr>
            </a:pPr>
            <a:r>
              <a:rPr sz="1875" b="1">
                <a:solidFill>
                  <a:srgbClr val="157D80"/>
                </a:solidFill>
                <a:latin typeface="Aptos"/>
                <a:ea typeface="Aptos"/>
                <a:cs typeface="Aptos"/>
              </a:rPr>
              <a:t>2  Draft and review</a:t>
            </a:r>
          </a:p>
        </p:txBody>
      </p:sp>
      <p:sp>
        <p:nvSpPr>
          <p:cNvPr id="12" name="">
            <a:extLst xmlns:a="http://schemas.openxmlformats.org/drawingml/2006/main">
              <a:ext uri="{FF2B5EF4-FFF2-40B4-BE49-F238E27FC236}">
                <a16:creationId xmlns:a16="http://schemas.microsoft.com/office/drawing/2014/main" id="{AF761CB6-52F5-4AA2-A895-D591FA2A976A}"/>
              </a:ext>
            </a:extLst>
          </p:cNvPr>
          <p:cNvSpPr>
            <a:spLocks xmlns:a="http://schemas.openxmlformats.org/drawingml/2006/main" noGrp="1"/>
          </p:cNvSpPr>
          <p:nvPr/>
        </p:nvSpPr>
        <p:spPr>
          <a:xfrm xmlns:a="http://schemas.openxmlformats.org/drawingml/2006/main">
            <a:off x="5743575" y="2962275"/>
            <a:ext cx="37528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Template-first draft + citations</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Human-reviewed immutable version</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Signoffs bind that exact packet</a:t>
            </a:r>
          </a:p>
        </p:txBody>
      </p:sp>
      <p:sp>
        <p:nvSpPr>
          <p:cNvPr id="13" name="">
            <a:extLst xmlns:a="http://schemas.openxmlformats.org/drawingml/2006/main">
              <a:ext uri="{FF2B5EF4-FFF2-40B4-BE49-F238E27FC236}">
                <a16:creationId xmlns:a16="http://schemas.microsoft.com/office/drawing/2014/main" id="{591ACCA9-1CD5-4AF7-ADB7-3BCF275F371D}"/>
              </a:ext>
            </a:extLst>
          </p:cNvPr>
          <p:cNvSpPr>
            <a:spLocks xmlns:a="http://schemas.openxmlformats.org/drawingml/2006/main" noGrp="1"/>
          </p:cNvSpPr>
          <p:nvPr/>
        </p:nvSpPr>
        <p:spPr>
          <a:xfrm xmlns:a="http://schemas.openxmlformats.org/drawingml/2006/main">
            <a:off x="10572750" y="2295525"/>
            <a:ext cx="4095750" cy="171450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4" name="">
            <a:extLst xmlns:a="http://schemas.openxmlformats.org/drawingml/2006/main">
              <a:ext uri="{FF2B5EF4-FFF2-40B4-BE49-F238E27FC236}">
                <a16:creationId xmlns:a16="http://schemas.microsoft.com/office/drawing/2014/main" id="{3175738F-F4F7-402B-B518-2F3D68B85126}"/>
              </a:ext>
            </a:extLst>
          </p:cNvPr>
          <p:cNvSpPr>
            <a:spLocks xmlns:a="http://schemas.openxmlformats.org/drawingml/2006/main" noGrp="1"/>
          </p:cNvSpPr>
          <p:nvPr/>
        </p:nvSpPr>
        <p:spPr>
          <a:xfrm xmlns:a="http://schemas.openxmlformats.org/drawingml/2006/main">
            <a:off x="10744200" y="2428875"/>
            <a:ext cx="3752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defRPr sz="1875" b="1">
                <a:solidFill>
                  <a:srgbClr val="157D80"/>
                </a:solidFill>
                <a:latin typeface="Aptos"/>
                <a:ea typeface="Aptos"/>
                <a:cs typeface="Aptos"/>
              </a:defRPr>
            </a:pPr>
            <a:r>
              <a:rPr sz="1875" b="1">
                <a:solidFill>
                  <a:srgbClr val="157D80"/>
                </a:solidFill>
                <a:latin typeface="Aptos"/>
                <a:ea typeface="Aptos"/>
                <a:cs typeface="Aptos"/>
              </a:rPr>
              <a:t>3  Packet-bound vote</a:t>
            </a:r>
          </a:p>
        </p:txBody>
      </p:sp>
      <p:sp>
        <p:nvSpPr>
          <p:cNvPr id="15" name="">
            <a:extLst xmlns:a="http://schemas.openxmlformats.org/drawingml/2006/main">
              <a:ext uri="{FF2B5EF4-FFF2-40B4-BE49-F238E27FC236}">
                <a16:creationId xmlns:a16="http://schemas.microsoft.com/office/drawing/2014/main" id="{9A90057B-E954-4A41-AEFD-DACDB7FCEB63}"/>
              </a:ext>
            </a:extLst>
          </p:cNvPr>
          <p:cNvSpPr>
            <a:spLocks xmlns:a="http://schemas.openxmlformats.org/drawingml/2006/main" noGrp="1"/>
          </p:cNvSpPr>
          <p:nvPr/>
        </p:nvSpPr>
        <p:spPr>
          <a:xfrm xmlns:a="http://schemas.openxmlformats.org/drawingml/2006/main">
            <a:off x="10744200" y="2962275"/>
            <a:ext cx="37528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Packet ID + version + hash</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Blockchain / Vocdoni adapter TBD</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Changed packet needs new authority</a:t>
            </a:r>
          </a:p>
        </p:txBody>
      </p:sp>
      <p:sp>
        <p:nvSpPr>
          <p:cNvPr id="18" name="">
            <a:extLst xmlns:a="http://schemas.openxmlformats.org/drawingml/2006/main">
              <a:ext uri="{FF2B5EF4-FFF2-40B4-BE49-F238E27FC236}">
                <a16:creationId xmlns:a16="http://schemas.microsoft.com/office/drawing/2014/main" id="{BCF3BE2E-3CF2-48D9-99D0-3B85DB10FDC8}"/>
              </a:ext>
            </a:extLst>
          </p:cNvPr>
          <p:cNvSpPr>
            <a:spLocks xmlns:a="http://schemas.openxmlformats.org/drawingml/2006/main" noGrp="1"/>
          </p:cNvSpPr>
          <p:nvPr/>
        </p:nvSpPr>
        <p:spPr>
          <a:xfrm xmlns:a="http://schemas.openxmlformats.org/drawingml/2006/main">
            <a:off x="571500" y="4867275"/>
            <a:ext cx="542925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9" name="">
            <a:extLst xmlns:a="http://schemas.openxmlformats.org/drawingml/2006/main">
              <a:ext uri="{FF2B5EF4-FFF2-40B4-BE49-F238E27FC236}">
                <a16:creationId xmlns:a16="http://schemas.microsoft.com/office/drawing/2014/main" id="{DA33CAB2-182C-4664-BC63-BA5A4E501047}"/>
              </a:ext>
            </a:extLst>
          </p:cNvPr>
          <p:cNvSpPr>
            <a:spLocks xmlns:a="http://schemas.openxmlformats.org/drawingml/2006/main" noGrp="1"/>
          </p:cNvSpPr>
          <p:nvPr/>
        </p:nvSpPr>
        <p:spPr>
          <a:xfrm xmlns:a="http://schemas.openxmlformats.org/drawingml/2006/main">
            <a:off x="742950" y="5000625"/>
            <a:ext cx="508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defRPr sz="1875" b="1">
                <a:solidFill>
                  <a:srgbClr val="157D80"/>
                </a:solidFill>
                <a:latin typeface="Aptos"/>
                <a:ea typeface="Aptos"/>
                <a:cs typeface="Aptos"/>
              </a:defRPr>
            </a:pPr>
            <a:r>
              <a:rPr sz="1875" b="1">
                <a:solidFill>
                  <a:srgbClr val="157D80"/>
                </a:solidFill>
                <a:latin typeface="Aptos"/>
                <a:ea typeface="Aptos"/>
                <a:cs typeface="Aptos"/>
              </a:rPr>
              <a:t>Y2 registered interest</a:t>
            </a:r>
          </a:p>
        </p:txBody>
      </p:sp>
      <p:sp>
        <p:nvSpPr>
          <p:cNvPr id="20" name="">
            <a:extLst xmlns:a="http://schemas.openxmlformats.org/drawingml/2006/main">
              <a:ext uri="{FF2B5EF4-FFF2-40B4-BE49-F238E27FC236}">
                <a16:creationId xmlns:a16="http://schemas.microsoft.com/office/drawing/2014/main" id="{13CD2CA2-3609-4469-838F-900C9928ABE3}"/>
              </a:ext>
            </a:extLst>
          </p:cNvPr>
          <p:cNvSpPr>
            <a:spLocks xmlns:a="http://schemas.openxmlformats.org/drawingml/2006/main" noGrp="1"/>
          </p:cNvSpPr>
          <p:nvPr/>
        </p:nvSpPr>
        <p:spPr>
          <a:xfrm xmlns:a="http://schemas.openxmlformats.org/drawingml/2006/main">
            <a:off x="742950" y="5534025"/>
            <a:ext cx="50863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Initiative / grant / program / partner</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Teammate-owned; access contract TBD</a:t>
            </a:r>
          </a:p>
        </p:txBody>
      </p:sp>
      <p:sp>
        <p:nvSpPr>
          <p:cNvPr id="21" name="">
            <a:extLst xmlns:a="http://schemas.openxmlformats.org/drawingml/2006/main">
              <a:ext uri="{FF2B5EF4-FFF2-40B4-BE49-F238E27FC236}">
                <a16:creationId xmlns:a16="http://schemas.microsoft.com/office/drawing/2014/main" id="{597763B3-651D-4FC5-99D7-EBD9D0409BF2}"/>
              </a:ext>
            </a:extLst>
          </p:cNvPr>
          <p:cNvSpPr>
            <a:spLocks xmlns:a="http://schemas.openxmlformats.org/drawingml/2006/main" noGrp="1"/>
          </p:cNvSpPr>
          <p:nvPr/>
        </p:nvSpPr>
        <p:spPr>
          <a:xfrm xmlns:a="http://schemas.openxmlformats.org/drawingml/2006/main">
            <a:off x="7334250" y="4867275"/>
            <a:ext cx="733425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22" name="">
            <a:extLst xmlns:a="http://schemas.openxmlformats.org/drawingml/2006/main">
              <a:ext uri="{FF2B5EF4-FFF2-40B4-BE49-F238E27FC236}">
                <a16:creationId xmlns:a16="http://schemas.microsoft.com/office/drawing/2014/main" id="{4086F06D-8FB1-4256-8439-4A9BE90DCE31}"/>
              </a:ext>
            </a:extLst>
          </p:cNvPr>
          <p:cNvSpPr>
            <a:spLocks xmlns:a="http://schemas.openxmlformats.org/drawingml/2006/main" noGrp="1"/>
          </p:cNvSpPr>
          <p:nvPr/>
        </p:nvSpPr>
        <p:spPr>
          <a:xfrm xmlns:a="http://schemas.openxmlformats.org/drawingml/2006/main">
            <a:off x="7505700" y="5000625"/>
            <a:ext cx="6991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defRPr sz="1875" b="1">
                <a:solidFill>
                  <a:srgbClr val="157D80"/>
                </a:solidFill>
                <a:latin typeface="Aptos"/>
                <a:ea typeface="Aptos"/>
                <a:cs typeface="Aptos"/>
              </a:defRPr>
            </a:pPr>
            <a:r>
              <a:rPr sz="1875" b="1">
                <a:solidFill>
                  <a:srgbClr val="157D80"/>
                </a:solidFill>
                <a:latin typeface="Aptos"/>
                <a:ea typeface="Aptos"/>
                <a:cs typeface="Aptos"/>
              </a:rPr>
              <a:t>Source-backed update</a:t>
            </a:r>
          </a:p>
        </p:txBody>
      </p:sp>
      <p:sp>
        <p:nvSpPr>
          <p:cNvPr id="23" name="">
            <a:extLst xmlns:a="http://schemas.openxmlformats.org/drawingml/2006/main">
              <a:ext uri="{FF2B5EF4-FFF2-40B4-BE49-F238E27FC236}">
                <a16:creationId xmlns:a16="http://schemas.microsoft.com/office/drawing/2014/main" id="{90E5D3E5-012F-480F-869A-63E94D3E0A5F}"/>
              </a:ext>
            </a:extLst>
          </p:cNvPr>
          <p:cNvSpPr>
            <a:spLocks xmlns:a="http://schemas.openxmlformats.org/drawingml/2006/main" noGrp="1"/>
          </p:cNvSpPr>
          <p:nvPr/>
        </p:nvSpPr>
        <p:spPr>
          <a:xfrm xmlns:a="http://schemas.openxmlformats.org/drawingml/2006/main">
            <a:off x="7505700" y="5534025"/>
            <a:ext cx="69913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Source URL + observation time + related ID</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Return to work; retire watch when closed</a:t>
            </a:r>
          </a:p>
        </p:txBody>
      </p:sp>
      <p:sp>
        <p:nvSpPr>
          <p:cNvPr id="27" name="">
            <a:extLst xmlns:a="http://schemas.openxmlformats.org/drawingml/2006/main">
              <a:ext uri="{FF2B5EF4-FFF2-40B4-BE49-F238E27FC236}">
                <a16:creationId xmlns:a16="http://schemas.microsoft.com/office/drawing/2014/main" id="{BC0679AB-6146-4FED-B302-A882198C0DE2}"/>
              </a:ext>
            </a:extLst>
          </p:cNvPr>
          <p:cNvSpPr>
            <a:spLocks xmlns:a="http://schemas.openxmlformats.org/drawingml/2006/main" noGrp="1"/>
          </p:cNvSpPr>
          <p:nvPr/>
        </p:nvSpPr>
        <p:spPr>
          <a:xfrm xmlns:a="http://schemas.openxmlformats.org/drawingml/2006/main">
            <a:off x="571500" y="6534150"/>
            <a:ext cx="14097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49616A"/>
                </a:solidFill>
                <a:latin typeface="Aptos"/>
                <a:ea typeface="Aptos"/>
                <a:cs typeface="Aptos"/>
              </a:defRPr>
            </a:defPPr>
          </a:lstStyle>
          <a:p xmlns:a="http://schemas.openxmlformats.org/drawingml/2006/main">
            <a:pPr>
              <a:defRPr sz="1800" b="0">
                <a:solidFill>
                  <a:srgbClr val="49616A"/>
                </a:solidFill>
                <a:latin typeface="Aptos"/>
                <a:ea typeface="Aptos"/>
                <a:cs typeface="Aptos"/>
              </a:defRPr>
            </a:pPr>
            <a:r>
              <a:rPr sz="1800" b="0">
                <a:solidFill>
                  <a:srgbClr val="49616A"/>
                </a:solidFill>
                <a:latin typeface="Aptos"/>
                <a:ea typeface="Aptos"/>
                <a:cs typeface="Aptos"/>
              </a:rPr>
              <a:t>Historical assessments do not establish current openings. Verify applicant evidence for the chosen grant route.</a:t>
            </a:r>
          </a:p>
        </p:txBody>
      </p:sp>
      <p:sp>
        <p:nvSpPr>
          <p:cNvPr id="28" name="">
            <a:extLst xmlns:a="http://schemas.openxmlformats.org/drawingml/2006/main">
              <a:ext uri="{FF2B5EF4-FFF2-40B4-BE49-F238E27FC236}">
                <a16:creationId xmlns:a16="http://schemas.microsoft.com/office/drawing/2014/main" id="{76F60691-1C73-4A5D-ABC5-38CE29572910}"/>
              </a:ext>
            </a:extLst>
          </p:cNvPr>
          <p:cNvSpPr>
            <a:spLocks xmlns:a="http://schemas.openxmlformats.org/drawingml/2006/main" noGrp="1"/>
          </p:cNvSpPr>
          <p:nvPr/>
        </p:nvSpPr>
        <p:spPr>
          <a:xfrm xmlns:a="http://schemas.openxmlformats.org/drawingml/2006/main">
            <a:off x="571500" y="7172325"/>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E187BB6D-DD3B-4924-B5D6-228B5B2E7D97}"/>
              </a:ext>
            </a:extLst>
          </p:cNvPr>
          <p:cNvSpPr>
            <a:spLocks xmlns:a="http://schemas.openxmlformats.org/drawingml/2006/main" noGrp="1"/>
          </p:cNvSpPr>
          <p:nvPr/>
        </p:nvSpPr>
        <p:spPr>
          <a:xfrm xmlns:a="http://schemas.openxmlformats.org/drawingml/2006/main">
            <a:off x="571500" y="7315200"/>
            <a:ext cx="25241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950" b="1">
                <a:solidFill>
                  <a:srgbClr val="157D80"/>
                </a:solidFill>
                <a:latin typeface="Aptos"/>
                <a:ea typeface="Aptos"/>
                <a:cs typeface="Aptos"/>
              </a:defRPr>
            </a:defPPr>
          </a:lstStyle>
          <a:p xmlns:a="http://schemas.openxmlformats.org/drawingml/2006/main">
            <a:pPr>
              <a:defRPr sz="1950" b="1">
                <a:solidFill>
                  <a:srgbClr val="157D80"/>
                </a:solidFill>
                <a:latin typeface="Aptos"/>
                <a:ea typeface="Aptos"/>
                <a:cs typeface="Aptos"/>
              </a:defRPr>
            </a:pPr>
            <a:r>
              <a:rPr sz="1950" b="1">
                <a:solidFill>
                  <a:srgbClr val="157D80"/>
                </a:solidFill>
                <a:latin typeface="Aptos"/>
                <a:ea typeface="Aptos"/>
                <a:cs typeface="Aptos"/>
              </a:rPr>
              <a:t>Demo boundary</a:t>
            </a:r>
          </a:p>
        </p:txBody>
      </p:sp>
      <p:sp>
        <p:nvSpPr>
          <p:cNvPr id="30" name="">
            <a:extLst xmlns:a="http://schemas.openxmlformats.org/drawingml/2006/main">
              <a:ext uri="{FF2B5EF4-FFF2-40B4-BE49-F238E27FC236}">
                <a16:creationId xmlns:a16="http://schemas.microsoft.com/office/drawing/2014/main" id="{6867EB61-AF35-4920-96B7-577E9C787B09}"/>
              </a:ext>
            </a:extLst>
          </p:cNvPr>
          <p:cNvSpPr>
            <a:spLocks xmlns:a="http://schemas.openxmlformats.org/drawingml/2006/main" noGrp="1"/>
          </p:cNvSpPr>
          <p:nvPr/>
        </p:nvSpPr>
        <p:spPr>
          <a:xfrm xmlns:a="http://schemas.openxmlformats.org/drawingml/2006/main">
            <a:off x="3238500" y="7286625"/>
            <a:ext cx="11430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132E38"/>
                </a:solidFill>
                <a:latin typeface="Aptos"/>
                <a:ea typeface="Aptos"/>
                <a:cs typeface="Aptos"/>
              </a:defRPr>
            </a:defPPr>
          </a:lstStyle>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No funder submission required. A vote does not override eligibility, signoffs, submitter authority or portal rules.</a:t>
            </a:r>
          </a:p>
        </p:txBody>
      </p:sp>
    </p:spTree>
    <p:extLst>
      <p:ext uri="{BB962C8B-B14F-4D97-AF65-F5344CB8AC3E}">
        <p14:creationId xmlns:p14="http://schemas.microsoft.com/office/powerpoint/2010/main" val="520663927"/>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8EE329C0-D3C0-458A-B110-3E43C21A16A5}"/>
              </a:ext>
            </a:extLst>
          </p:cNvPr>
          <p:cNvCxnSpPr>
            <a:stCxn xmlns:a="http://schemas.openxmlformats.org/drawingml/2006/main" id="9" idx="2"/>
            <a:endCxn xmlns:a="http://schemas.openxmlformats.org/drawingml/2006/main" id="15" idx="0"/>
          </p:cNvCxnSpPr>
          <p:nvPr/>
        </p:nvCxnSpPr>
        <p:spPr>
          <a:xfrm xmlns:a="http://schemas.openxmlformats.org/drawingml/2006/main">
            <a:off x="3476625" y="4095750"/>
            <a:ext cx="0" cy="85725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cxnSp>
        <p:nvCxnSpPr>
          <p:cNvPr id="24" name="">
            <a:extLst xmlns:a="http://schemas.openxmlformats.org/drawingml/2006/main">
              <a:ext uri="{FF2B5EF4-FFF2-40B4-BE49-F238E27FC236}">
                <a16:creationId xmlns:a16="http://schemas.microsoft.com/office/drawing/2014/main" id="{564891C1-F200-4E18-B8F5-0B61160770BE}"/>
              </a:ext>
            </a:extLst>
          </p:cNvPr>
          <p:cNvCxnSpPr>
            <a:stCxn xmlns:a="http://schemas.openxmlformats.org/drawingml/2006/main" id="18" idx="1"/>
            <a:endCxn xmlns:a="http://schemas.openxmlformats.org/drawingml/2006/main" id="15" idx="3"/>
          </p:cNvCxnSpPr>
          <p:nvPr/>
        </p:nvCxnSpPr>
        <p:spPr>
          <a:xfrm xmlns:a="http://schemas.openxmlformats.org/drawingml/2006/main" flipH="1">
            <a:off x="6381750" y="5667375"/>
            <a:ext cx="2286000" cy="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cxnSp>
        <p:nvCxnSpPr>
          <p:cNvPr id="23" name="">
            <a:extLst xmlns:a="http://schemas.openxmlformats.org/drawingml/2006/main">
              <a:ext uri="{FF2B5EF4-FFF2-40B4-BE49-F238E27FC236}">
                <a16:creationId xmlns:a16="http://schemas.microsoft.com/office/drawing/2014/main" id="{509E08C7-C5E9-40BE-A729-5B40E7B27B46}"/>
              </a:ext>
            </a:extLst>
          </p:cNvPr>
          <p:cNvCxnSpPr>
            <a:stCxn xmlns:a="http://schemas.openxmlformats.org/drawingml/2006/main" id="12" idx="2"/>
            <a:endCxn xmlns:a="http://schemas.openxmlformats.org/drawingml/2006/main" id="18" idx="0"/>
          </p:cNvCxnSpPr>
          <p:nvPr/>
        </p:nvCxnSpPr>
        <p:spPr>
          <a:xfrm xmlns:a="http://schemas.openxmlformats.org/drawingml/2006/main">
            <a:off x="11668125" y="4095750"/>
            <a:ext cx="0" cy="85725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cxnSp>
        <p:nvCxnSpPr>
          <p:cNvPr id="21" name="">
            <a:extLst xmlns:a="http://schemas.openxmlformats.org/drawingml/2006/main">
              <a:ext uri="{FF2B5EF4-FFF2-40B4-BE49-F238E27FC236}">
                <a16:creationId xmlns:a16="http://schemas.microsoft.com/office/drawing/2014/main" id="{CDF0C9FE-1DFE-4899-9494-5FC44782CB7D}"/>
              </a:ext>
            </a:extLst>
          </p:cNvPr>
          <p:cNvCxnSpPr>
            <a:stCxn xmlns:a="http://schemas.openxmlformats.org/drawingml/2006/main" id="9" idx="3"/>
            <a:endCxn xmlns:a="http://schemas.openxmlformats.org/drawingml/2006/main" id="12" idx="1"/>
          </p:cNvCxnSpPr>
          <p:nvPr/>
        </p:nvCxnSpPr>
        <p:spPr>
          <a:xfrm xmlns:a="http://schemas.openxmlformats.org/drawingml/2006/main">
            <a:off x="6381750" y="3381375"/>
            <a:ext cx="2286000" cy="0"/>
          </a:xfrm>
          <a:prstGeom xmlns:a="http://schemas.openxmlformats.org/drawingml/2006/main" prst="straightConnector1">
            <a:avLst/>
          </a:prstGeom>
          <a:ln xmlns:a="http://schemas.openxmlformats.org/drawingml/2006/main" w="19050">
            <a:solidFill>
              <a:srgbClr val="157D80"/>
            </a:solidFill>
            <a:prstDash val="dash"/>
            <a:tailEnd type="arrow" w="med" len="med"/>
          </a:ln>
        </p:spPr>
      </p:cxnSp>
      <p:sp>
        <p:nvSpPr>
          <p:cNvPr id="29" name="">
            <a:extLst xmlns:a="http://schemas.openxmlformats.org/drawingml/2006/main">
              <a:ext uri="{FF2B5EF4-FFF2-40B4-BE49-F238E27FC236}">
                <a16:creationId xmlns:a16="http://schemas.microsoft.com/office/drawing/2014/main" id="{06DA5DD9-BC3D-4601-8AF6-A7F12060DE10}"/>
              </a:ext>
            </a:extLst>
          </p:cNvPr>
          <p:cNvSpPr>
            <a:spLocks xmlns:a="http://schemas.openxmlformats.org/drawingml/2006/main" noGrp="1"/>
          </p:cNvSpPr>
          <p:nvPr/>
        </p:nvSpPr>
        <p:spPr>
          <a:xfrm xmlns:a="http://schemas.openxmlformats.org/drawingml/2006/main">
            <a:off x="571500" y="295275"/>
            <a:ext cx="952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1">
                <a:solidFill>
                  <a:srgbClr val="157D80"/>
                </a:solidFill>
                <a:latin typeface="Aptos"/>
                <a:ea typeface="Aptos"/>
                <a:cs typeface="Aptos"/>
              </a:defRPr>
            </a:defPPr>
          </a:lstStyle>
          <a:p xmlns:a="http://schemas.openxmlformats.org/drawingml/2006/main">
            <a:pPr>
              <a:defRPr sz="1350" b="1">
                <a:solidFill>
                  <a:srgbClr val="157D80"/>
                </a:solidFill>
                <a:latin typeface="Aptos"/>
                <a:ea typeface="Aptos"/>
                <a:cs typeface="Aptos"/>
              </a:defRPr>
            </a:pPr>
            <a:r>
              <a:rPr sz="1350" b="1">
                <a:solidFill>
                  <a:srgbClr val="157D80"/>
                </a:solidFill>
                <a:latin typeface="Aptos"/>
                <a:ea typeface="Aptos"/>
                <a:cs typeface="Aptos"/>
              </a:rPr>
              <a:t>INERTIA / FORT WORTH DAO</a:t>
            </a:r>
          </a:p>
        </p:txBody>
      </p:sp>
      <p:sp>
        <p:nvSpPr>
          <p:cNvPr id="2" name="">
            <a:extLst xmlns:a="http://schemas.openxmlformats.org/drawingml/2006/main">
              <a:ext uri="{FF2B5EF4-FFF2-40B4-BE49-F238E27FC236}">
                <a16:creationId xmlns:a16="http://schemas.microsoft.com/office/drawing/2014/main" id="{186CB797-BA3E-499E-A991-3F80BA3E50E2}"/>
              </a:ext>
            </a:extLst>
          </p:cNvPr>
          <p:cNvSpPr>
            <a:spLocks xmlns:a="http://schemas.openxmlformats.org/drawingml/2006/main" noGrp="1"/>
          </p:cNvSpPr>
          <p:nvPr/>
        </p:nvSpPr>
        <p:spPr>
          <a:xfrm xmlns:a="http://schemas.openxmlformats.org/drawingml/2006/main">
            <a:off x="571500" y="723900"/>
            <a:ext cx="1409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450" b="1">
                <a:solidFill>
                  <a:srgbClr val="132E38"/>
                </a:solidFill>
                <a:latin typeface="Aptos"/>
                <a:ea typeface="Aptos"/>
                <a:cs typeface="Aptos"/>
              </a:defRPr>
            </a:defPPr>
          </a:lstStyle>
          <a:p xmlns:a="http://schemas.openxmlformats.org/drawingml/2006/main">
            <a:pPr>
              <a:defRPr sz="3450" b="1">
                <a:solidFill>
                  <a:srgbClr val="132E38"/>
                </a:solidFill>
                <a:latin typeface="Aptos"/>
                <a:ea typeface="Aptos"/>
                <a:cs typeface="Aptos"/>
              </a:defRPr>
            </a:pPr>
            <a:r>
              <a:rPr sz="3450" b="1">
                <a:solidFill>
                  <a:srgbClr val="132E38"/>
                </a:solidFill>
                <a:latin typeface="Aptos"/>
                <a:ea typeface="Aptos"/>
                <a:cs typeface="Aptos"/>
              </a:rPr>
              <a:t>Member-agent trust boundary</a:t>
            </a:r>
          </a:p>
        </p:txBody>
      </p:sp>
      <p:sp>
        <p:nvSpPr>
          <p:cNvPr id="3" name="">
            <a:extLst xmlns:a="http://schemas.openxmlformats.org/drawingml/2006/main">
              <a:ext uri="{FF2B5EF4-FFF2-40B4-BE49-F238E27FC236}">
                <a16:creationId xmlns:a16="http://schemas.microsoft.com/office/drawing/2014/main" id="{002DC229-10D2-48A8-ADF4-4373979FD10C}"/>
              </a:ext>
            </a:extLst>
          </p:cNvPr>
          <p:cNvSpPr>
            <a:spLocks xmlns:a="http://schemas.openxmlformats.org/drawingml/2006/main" noGrp="1"/>
          </p:cNvSpPr>
          <p:nvPr/>
        </p:nvSpPr>
        <p:spPr>
          <a:xfrm xmlns:a="http://schemas.openxmlformats.org/drawingml/2006/main">
            <a:off x="571500" y="1362075"/>
            <a:ext cx="1409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49616A"/>
                </a:solidFill>
                <a:latin typeface="Aptos"/>
                <a:ea typeface="Aptos"/>
                <a:cs typeface="Aptos"/>
              </a:defRPr>
            </a:defPPr>
          </a:lstStyle>
          <a:p xmlns:a="http://schemas.openxmlformats.org/drawingml/2006/main">
            <a:pPr>
              <a:defRPr sz="1800" b="0">
                <a:solidFill>
                  <a:srgbClr val="49616A"/>
                </a:solidFill>
                <a:latin typeface="Aptos"/>
                <a:ea typeface="Aptos"/>
                <a:cs typeface="Aptos"/>
              </a:defRPr>
            </a:pPr>
            <a:r>
              <a:rPr sz="1800" b="0">
                <a:solidFill>
                  <a:srgbClr val="49616A"/>
                </a:solidFill>
                <a:latin typeface="Aptos"/>
                <a:ea typeface="Aptos"/>
                <a:cs typeface="Aptos"/>
              </a:rPr>
              <a:t>Members contribute their own compute. The server retains authority over jobs, accepted results and publication.</a:t>
            </a:r>
          </a:p>
        </p:txBody>
      </p:sp>
      <p:sp>
        <p:nvSpPr>
          <p:cNvPr id="4" name="">
            <a:extLst xmlns:a="http://schemas.openxmlformats.org/drawingml/2006/main">
              <a:ext uri="{FF2B5EF4-FFF2-40B4-BE49-F238E27FC236}">
                <a16:creationId xmlns:a16="http://schemas.microsoft.com/office/drawing/2014/main" id="{CE3CEBC9-CB4F-4B8B-9C99-75E96FD75736}"/>
              </a:ext>
            </a:extLst>
          </p:cNvPr>
          <p:cNvSpPr>
            <a:spLocks xmlns:a="http://schemas.openxmlformats.org/drawingml/2006/main" noGrp="1"/>
          </p:cNvSpPr>
          <p:nvPr/>
        </p:nvSpPr>
        <p:spPr>
          <a:xfrm xmlns:a="http://schemas.openxmlformats.org/drawingml/2006/main">
            <a:off x="571500" y="7962900"/>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601A5C3-2CF2-49B5-90E1-CA30DC809ACF}"/>
              </a:ext>
            </a:extLst>
          </p:cNvPr>
          <p:cNvSpPr>
            <a:spLocks xmlns:a="http://schemas.openxmlformats.org/drawingml/2006/main" noGrp="1"/>
          </p:cNvSpPr>
          <p:nvPr/>
        </p:nvSpPr>
        <p:spPr>
          <a:xfrm xmlns:a="http://schemas.openxmlformats.org/drawingml/2006/main">
            <a:off x="571500" y="8105775"/>
            <a:ext cx="13144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75" b="0">
                <a:solidFill>
                  <a:srgbClr val="49616A"/>
                </a:solidFill>
                <a:latin typeface="Aptos"/>
                <a:ea typeface="Aptos"/>
                <a:cs typeface="Aptos"/>
              </a:defRPr>
            </a:defPPr>
          </a:lstStyle>
          <a:p xmlns:a="http://schemas.openxmlformats.org/drawingml/2006/main">
            <a:pPr>
              <a:defRPr sz="1275" b="0">
                <a:solidFill>
                  <a:srgbClr val="49616A"/>
                </a:solidFill>
                <a:latin typeface="Aptos"/>
                <a:ea typeface="Aptos"/>
                <a:cs typeface="Aptos"/>
              </a:defRPr>
            </a:pPr>
            <a:r>
              <a:rPr sz="1275" b="0">
                <a:solidFill>
                  <a:srgbClr val="49616A"/>
                </a:solidFill>
                <a:latin typeface="Aptos"/>
                <a:ea typeface="Aptos"/>
                <a:cs typeface="Aptos"/>
              </a:rPr>
              <a:t>INERTIA-2026-10-22-r4 · 22 October 2026 · Planning, not implemented</a:t>
            </a:r>
          </a:p>
        </p:txBody>
      </p:sp>
      <p:sp>
        <p:nvSpPr>
          <p:cNvPr id="6" name="">
            <a:extLst xmlns:a="http://schemas.openxmlformats.org/drawingml/2006/main">
              <a:ext uri="{FF2B5EF4-FFF2-40B4-BE49-F238E27FC236}">
                <a16:creationId xmlns:a16="http://schemas.microsoft.com/office/drawing/2014/main" id="{2E0FCF06-B941-48A3-A72A-CB395BBAF954}"/>
              </a:ext>
            </a:extLst>
          </p:cNvPr>
          <p:cNvSpPr>
            <a:spLocks xmlns:a="http://schemas.openxmlformats.org/drawingml/2006/main" noGrp="1"/>
          </p:cNvSpPr>
          <p:nvPr/>
        </p:nvSpPr>
        <p:spPr>
          <a:xfrm xmlns:a="http://schemas.openxmlformats.org/drawingml/2006/main">
            <a:off x="14001750" y="8067675"/>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1">
                <a:solidFill>
                  <a:srgbClr val="157D80"/>
                </a:solidFill>
                <a:latin typeface="Aptos"/>
                <a:ea typeface="Aptos"/>
                <a:cs typeface="Aptos"/>
              </a:defRPr>
            </a:defPPr>
          </a:lstStyle>
          <a:p xmlns:a="http://schemas.openxmlformats.org/drawingml/2006/main">
            <a:pPr>
              <a:defRPr sz="1800" b="1">
                <a:solidFill>
                  <a:srgbClr val="157D80"/>
                </a:solidFill>
                <a:latin typeface="Aptos"/>
                <a:ea typeface="Aptos"/>
                <a:cs typeface="Aptos"/>
              </a:defRPr>
            </a:pPr>
            <a:r>
              <a:rPr sz="1800" b="1">
                <a:solidFill>
                  <a:srgbClr val="157D80"/>
                </a:solidFill>
                <a:latin typeface="Aptos"/>
                <a:ea typeface="Aptos"/>
                <a:cs typeface="Aptos"/>
              </a:rPr>
              <a:t>04</a:t>
            </a:r>
          </a:p>
        </p:txBody>
      </p:sp>
      <p:sp>
        <p:nvSpPr>
          <p:cNvPr id="7" name="">
            <a:extLst xmlns:a="http://schemas.openxmlformats.org/drawingml/2006/main">
              <a:ext uri="{FF2B5EF4-FFF2-40B4-BE49-F238E27FC236}">
                <a16:creationId xmlns:a16="http://schemas.microsoft.com/office/drawing/2014/main" id="{C813BA76-19D1-4C1E-9C59-CCFA7FC71B06}"/>
              </a:ext>
            </a:extLst>
          </p:cNvPr>
          <p:cNvSpPr>
            <a:spLocks xmlns:a="http://schemas.openxmlformats.org/drawingml/2006/main" noGrp="1"/>
          </p:cNvSpPr>
          <p:nvPr/>
        </p:nvSpPr>
        <p:spPr>
          <a:xfrm xmlns:a="http://schemas.openxmlformats.org/drawingml/2006/main">
            <a:off x="571500" y="2095500"/>
            <a:ext cx="619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TRUSTED SERVER</a:t>
            </a:r>
          </a:p>
        </p:txBody>
      </p:sp>
      <p:sp>
        <p:nvSpPr>
          <p:cNvPr id="8" name="">
            <a:extLst xmlns:a="http://schemas.openxmlformats.org/drawingml/2006/main">
              <a:ext uri="{FF2B5EF4-FFF2-40B4-BE49-F238E27FC236}">
                <a16:creationId xmlns:a16="http://schemas.microsoft.com/office/drawing/2014/main" id="{33A9FCDC-3155-480A-B918-3988C9DEFD40}"/>
              </a:ext>
            </a:extLst>
          </p:cNvPr>
          <p:cNvSpPr>
            <a:spLocks xmlns:a="http://schemas.openxmlformats.org/drawingml/2006/main" noGrp="1"/>
          </p:cNvSpPr>
          <p:nvPr/>
        </p:nvSpPr>
        <p:spPr>
          <a:xfrm xmlns:a="http://schemas.openxmlformats.org/drawingml/2006/main">
            <a:off x="8667750" y="2095500"/>
            <a:ext cx="600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B67717"/>
                </a:solidFill>
                <a:latin typeface="Aptos"/>
                <a:ea typeface="Aptos"/>
                <a:cs typeface="Aptos"/>
              </a:defRPr>
            </a:defPPr>
          </a:lstStyle>
          <a:p xmlns:a="http://schemas.openxmlformats.org/drawingml/2006/main">
            <a:pPr>
              <a:defRPr sz="1650" b="1">
                <a:solidFill>
                  <a:srgbClr val="B67717"/>
                </a:solidFill>
                <a:latin typeface="Aptos"/>
                <a:ea typeface="Aptos"/>
                <a:cs typeface="Aptos"/>
              </a:defRPr>
            </a:pPr>
            <a:r>
              <a:rPr sz="1650" b="1">
                <a:solidFill>
                  <a:srgbClr val="B67717"/>
                </a:solidFill>
                <a:latin typeface="Aptos"/>
                <a:ea typeface="Aptos"/>
                <a:cs typeface="Aptos"/>
              </a:rPr>
              <a:t>UNTRUSTED MEMBER CLIENT</a:t>
            </a:r>
          </a:p>
        </p:txBody>
      </p:sp>
      <p:sp>
        <p:nvSpPr>
          <p:cNvPr id="9" name="">
            <a:extLst xmlns:a="http://schemas.openxmlformats.org/drawingml/2006/main">
              <a:ext uri="{FF2B5EF4-FFF2-40B4-BE49-F238E27FC236}">
                <a16:creationId xmlns:a16="http://schemas.microsoft.com/office/drawing/2014/main" id="{CC76AF7F-C677-41CF-A326-375D6486A217}"/>
              </a:ext>
            </a:extLst>
          </p:cNvPr>
          <p:cNvSpPr>
            <a:spLocks xmlns:a="http://schemas.openxmlformats.org/drawingml/2006/main" noGrp="1"/>
          </p:cNvSpPr>
          <p:nvPr/>
        </p:nvSpPr>
        <p:spPr>
          <a:xfrm xmlns:a="http://schemas.openxmlformats.org/drawingml/2006/main">
            <a:off x="571500" y="2667000"/>
            <a:ext cx="581025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0" name="">
            <a:extLst xmlns:a="http://schemas.openxmlformats.org/drawingml/2006/main">
              <a:ext uri="{FF2B5EF4-FFF2-40B4-BE49-F238E27FC236}">
                <a16:creationId xmlns:a16="http://schemas.microsoft.com/office/drawing/2014/main" id="{809B7821-6A7C-4B05-8243-FC8FE021C0B9}"/>
              </a:ext>
            </a:extLst>
          </p:cNvPr>
          <p:cNvSpPr>
            <a:spLocks xmlns:a="http://schemas.openxmlformats.org/drawingml/2006/main" noGrp="1"/>
          </p:cNvSpPr>
          <p:nvPr/>
        </p:nvSpPr>
        <p:spPr>
          <a:xfrm xmlns:a="http://schemas.openxmlformats.org/drawingml/2006/main">
            <a:off x="742950" y="2800350"/>
            <a:ext cx="5467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defRPr sz="1875" b="1">
                <a:solidFill>
                  <a:srgbClr val="157D80"/>
                </a:solidFill>
                <a:latin typeface="Aptos"/>
                <a:ea typeface="Aptos"/>
                <a:cs typeface="Aptos"/>
              </a:defRPr>
            </a:pPr>
            <a:r>
              <a:rPr sz="1875" b="1">
                <a:solidFill>
                  <a:srgbClr val="157D80"/>
                </a:solidFill>
                <a:latin typeface="Aptos"/>
                <a:ea typeface="Aptos"/>
                <a:cs typeface="Aptos"/>
              </a:rPr>
              <a:t>Authorize + lease</a:t>
            </a:r>
          </a:p>
        </p:txBody>
      </p:sp>
      <p:sp>
        <p:nvSpPr>
          <p:cNvPr id="11" name="">
            <a:extLst xmlns:a="http://schemas.openxmlformats.org/drawingml/2006/main">
              <a:ext uri="{FF2B5EF4-FFF2-40B4-BE49-F238E27FC236}">
                <a16:creationId xmlns:a16="http://schemas.microsoft.com/office/drawing/2014/main" id="{0BB64162-0548-45BF-AE35-BF52D13B75BD}"/>
              </a:ext>
            </a:extLst>
          </p:cNvPr>
          <p:cNvSpPr>
            <a:spLocks xmlns:a="http://schemas.openxmlformats.org/drawingml/2006/main" noGrp="1"/>
          </p:cNvSpPr>
          <p:nvPr/>
        </p:nvSpPr>
        <p:spPr>
          <a:xfrm xmlns:a="http://schemas.openxmlformats.org/drawingml/2006/main">
            <a:off x="742950" y="3333750"/>
            <a:ext cx="54673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Member / agent / job scope</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Atomic claim + epoch + expiry</a:t>
            </a:r>
          </a:p>
        </p:txBody>
      </p:sp>
      <p:sp>
        <p:nvSpPr>
          <p:cNvPr id="12" name="">
            <a:extLst xmlns:a="http://schemas.openxmlformats.org/drawingml/2006/main">
              <a:ext uri="{FF2B5EF4-FFF2-40B4-BE49-F238E27FC236}">
                <a16:creationId xmlns:a16="http://schemas.microsoft.com/office/drawing/2014/main" id="{5C9C370F-A92D-42ED-8282-C4C8F28D9012}"/>
              </a:ext>
            </a:extLst>
          </p:cNvPr>
          <p:cNvSpPr>
            <a:spLocks xmlns:a="http://schemas.openxmlformats.org/drawingml/2006/main" noGrp="1"/>
          </p:cNvSpPr>
          <p:nvPr/>
        </p:nvSpPr>
        <p:spPr>
          <a:xfrm xmlns:a="http://schemas.openxmlformats.org/drawingml/2006/main">
            <a:off x="8667750" y="2667000"/>
            <a:ext cx="600075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3" name="">
            <a:extLst xmlns:a="http://schemas.openxmlformats.org/drawingml/2006/main">
              <a:ext uri="{FF2B5EF4-FFF2-40B4-BE49-F238E27FC236}">
                <a16:creationId xmlns:a16="http://schemas.microsoft.com/office/drawing/2014/main" id="{D6EB29CF-A6A8-4EDB-BF97-AA640CF92F25}"/>
              </a:ext>
            </a:extLst>
          </p:cNvPr>
          <p:cNvSpPr>
            <a:spLocks xmlns:a="http://schemas.openxmlformats.org/drawingml/2006/main" noGrp="1"/>
          </p:cNvSpPr>
          <p:nvPr/>
        </p:nvSpPr>
        <p:spPr>
          <a:xfrm xmlns:a="http://schemas.openxmlformats.org/drawingml/2006/main">
            <a:off x="8839200" y="2800350"/>
            <a:ext cx="5657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defRPr sz="1875" b="1">
                <a:solidFill>
                  <a:srgbClr val="157D80"/>
                </a:solidFill>
                <a:latin typeface="Aptos"/>
                <a:ea typeface="Aptos"/>
                <a:cs typeface="Aptos"/>
              </a:defRPr>
            </a:pPr>
            <a:r>
              <a:rPr sz="1875" b="1">
                <a:solidFill>
                  <a:srgbClr val="157D80"/>
                </a:solidFill>
                <a:latin typeface="Aptos"/>
                <a:ea typeface="Aptos"/>
                <a:cs typeface="Aptos"/>
              </a:rPr>
              <a:t>Client sandbox + worktree</a:t>
            </a:r>
          </a:p>
        </p:txBody>
      </p:sp>
      <p:sp>
        <p:nvSpPr>
          <p:cNvPr id="14" name="">
            <a:extLst xmlns:a="http://schemas.openxmlformats.org/drawingml/2006/main">
              <a:ext uri="{FF2B5EF4-FFF2-40B4-BE49-F238E27FC236}">
                <a16:creationId xmlns:a16="http://schemas.microsoft.com/office/drawing/2014/main" id="{15F71045-EBAD-441A-BF2C-198849191614}"/>
              </a:ext>
            </a:extLst>
          </p:cNvPr>
          <p:cNvSpPr>
            <a:spLocks xmlns:a="http://schemas.openxmlformats.org/drawingml/2006/main" noGrp="1"/>
          </p:cNvSpPr>
          <p:nvPr/>
        </p:nvSpPr>
        <p:spPr>
          <a:xfrm xmlns:a="http://schemas.openxmlformats.org/drawingml/2006/main">
            <a:off x="8839200" y="3333750"/>
            <a:ext cx="5657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Own model/runtime; bounded job</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Worktree is not a security boundary</a:t>
            </a:r>
          </a:p>
        </p:txBody>
      </p:sp>
      <p:sp>
        <p:nvSpPr>
          <p:cNvPr id="15" name="">
            <a:extLst xmlns:a="http://schemas.openxmlformats.org/drawingml/2006/main">
              <a:ext uri="{FF2B5EF4-FFF2-40B4-BE49-F238E27FC236}">
                <a16:creationId xmlns:a16="http://schemas.microsoft.com/office/drawing/2014/main" id="{7C1606F1-E821-4FF1-8225-CB0B6514B76B}"/>
              </a:ext>
            </a:extLst>
          </p:cNvPr>
          <p:cNvSpPr>
            <a:spLocks xmlns:a="http://schemas.openxmlformats.org/drawingml/2006/main" noGrp="1"/>
          </p:cNvSpPr>
          <p:nvPr/>
        </p:nvSpPr>
        <p:spPr>
          <a:xfrm xmlns:a="http://schemas.openxmlformats.org/drawingml/2006/main">
            <a:off x="571500" y="4953000"/>
            <a:ext cx="581025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6" name="">
            <a:extLst xmlns:a="http://schemas.openxmlformats.org/drawingml/2006/main">
              <a:ext uri="{FF2B5EF4-FFF2-40B4-BE49-F238E27FC236}">
                <a16:creationId xmlns:a16="http://schemas.microsoft.com/office/drawing/2014/main" id="{45E0FDEE-ABF0-4231-BD6D-D93E4D00AFDF}"/>
              </a:ext>
            </a:extLst>
          </p:cNvPr>
          <p:cNvSpPr>
            <a:spLocks xmlns:a="http://schemas.openxmlformats.org/drawingml/2006/main" noGrp="1"/>
          </p:cNvSpPr>
          <p:nvPr/>
        </p:nvSpPr>
        <p:spPr>
          <a:xfrm xmlns:a="http://schemas.openxmlformats.org/drawingml/2006/main">
            <a:off x="742950" y="5086350"/>
            <a:ext cx="5467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defRPr sz="1875" b="1">
                <a:solidFill>
                  <a:srgbClr val="157D80"/>
                </a:solidFill>
                <a:latin typeface="Aptos"/>
                <a:ea typeface="Aptos"/>
                <a:cs typeface="Aptos"/>
              </a:defRPr>
            </a:pPr>
            <a:r>
              <a:rPr sz="1875" b="1">
                <a:solidFill>
                  <a:srgbClr val="157D80"/>
                </a:solidFill>
                <a:latin typeface="Aptos"/>
                <a:ea typeface="Aptos"/>
                <a:cs typeface="Aptos"/>
              </a:rPr>
              <a:t>Validate candidate</a:t>
            </a:r>
          </a:p>
        </p:txBody>
      </p:sp>
      <p:sp>
        <p:nvSpPr>
          <p:cNvPr id="17" name="">
            <a:extLst xmlns:a="http://schemas.openxmlformats.org/drawingml/2006/main">
              <a:ext uri="{FF2B5EF4-FFF2-40B4-BE49-F238E27FC236}">
                <a16:creationId xmlns:a16="http://schemas.microsoft.com/office/drawing/2014/main" id="{585A7B90-235B-4D01-B175-F7C7821721F2}"/>
              </a:ext>
            </a:extLst>
          </p:cNvPr>
          <p:cNvSpPr>
            <a:spLocks xmlns:a="http://schemas.openxmlformats.org/drawingml/2006/main" noGrp="1"/>
          </p:cNvSpPr>
          <p:nvPr/>
        </p:nvSpPr>
        <p:spPr>
          <a:xfrm xmlns:a="http://schemas.openxmlformats.org/drawingml/2006/main">
            <a:off x="742950" y="5619750"/>
            <a:ext cx="54673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Recheck lease, hashes and schema</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Independent checks; quarantine failures</a:t>
            </a:r>
          </a:p>
        </p:txBody>
      </p:sp>
      <p:sp>
        <p:nvSpPr>
          <p:cNvPr id="18" name="">
            <a:extLst xmlns:a="http://schemas.openxmlformats.org/drawingml/2006/main">
              <a:ext uri="{FF2B5EF4-FFF2-40B4-BE49-F238E27FC236}">
                <a16:creationId xmlns:a16="http://schemas.microsoft.com/office/drawing/2014/main" id="{53377D42-7B7C-4D1F-B329-E0EFF2ACAB83}"/>
              </a:ext>
            </a:extLst>
          </p:cNvPr>
          <p:cNvSpPr>
            <a:spLocks xmlns:a="http://schemas.openxmlformats.org/drawingml/2006/main" noGrp="1"/>
          </p:cNvSpPr>
          <p:nvPr/>
        </p:nvSpPr>
        <p:spPr>
          <a:xfrm xmlns:a="http://schemas.openxmlformats.org/drawingml/2006/main">
            <a:off x="8667750" y="4953000"/>
            <a:ext cx="600075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9" name="">
            <a:extLst xmlns:a="http://schemas.openxmlformats.org/drawingml/2006/main">
              <a:ext uri="{FF2B5EF4-FFF2-40B4-BE49-F238E27FC236}">
                <a16:creationId xmlns:a16="http://schemas.microsoft.com/office/drawing/2014/main" id="{56C3CEC2-3D63-4B58-87F2-5A955E41E6FC}"/>
              </a:ext>
            </a:extLst>
          </p:cNvPr>
          <p:cNvSpPr>
            <a:spLocks xmlns:a="http://schemas.openxmlformats.org/drawingml/2006/main" noGrp="1"/>
          </p:cNvSpPr>
          <p:nvPr/>
        </p:nvSpPr>
        <p:spPr>
          <a:xfrm xmlns:a="http://schemas.openxmlformats.org/drawingml/2006/main">
            <a:off x="8839200" y="5086350"/>
            <a:ext cx="5657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1">
                <a:solidFill>
                  <a:srgbClr val="157D80"/>
                </a:solidFill>
                <a:latin typeface="Aptos"/>
                <a:ea typeface="Aptos"/>
                <a:cs typeface="Aptos"/>
              </a:defRPr>
            </a:defPPr>
          </a:lstStyle>
          <a:p xmlns:a="http://schemas.openxmlformats.org/drawingml/2006/main">
            <a:pPr>
              <a:defRPr sz="1875" b="1">
                <a:solidFill>
                  <a:srgbClr val="157D80"/>
                </a:solidFill>
                <a:latin typeface="Aptos"/>
                <a:ea typeface="Aptos"/>
                <a:cs typeface="Aptos"/>
              </a:defRPr>
            </a:pPr>
            <a:r>
              <a:rPr sz="1875" b="1">
                <a:solidFill>
                  <a:srgbClr val="157D80"/>
                </a:solidFill>
                <a:latin typeface="Aptos"/>
                <a:ea typeface="Aptos"/>
                <a:cs typeface="Aptos"/>
              </a:rPr>
              <a:t>Candidate result manifest</a:t>
            </a:r>
          </a:p>
        </p:txBody>
      </p:sp>
      <p:sp>
        <p:nvSpPr>
          <p:cNvPr id="20" name="">
            <a:extLst xmlns:a="http://schemas.openxmlformats.org/drawingml/2006/main">
              <a:ext uri="{FF2B5EF4-FFF2-40B4-BE49-F238E27FC236}">
                <a16:creationId xmlns:a16="http://schemas.microsoft.com/office/drawing/2014/main" id="{F6B12DC5-5D75-4F12-9FDA-3BAC20DFA197}"/>
              </a:ext>
            </a:extLst>
          </p:cNvPr>
          <p:cNvSpPr>
            <a:spLocks xmlns:a="http://schemas.openxmlformats.org/drawingml/2006/main" noGrp="1"/>
          </p:cNvSpPr>
          <p:nvPr/>
        </p:nvSpPr>
        <p:spPr>
          <a:xfrm xmlns:a="http://schemas.openxmlformats.org/drawingml/2006/main">
            <a:off x="8839200" y="5619750"/>
            <a:ext cx="5657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Task / attempt / epoch / input hash</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Output hash + provenance + citations</a:t>
            </a:r>
          </a:p>
        </p:txBody>
      </p:sp>
      <p:sp>
        <p:nvSpPr>
          <p:cNvPr id="22" name="">
            <a:extLst xmlns:a="http://schemas.openxmlformats.org/drawingml/2006/main">
              <a:ext uri="{FF2B5EF4-FFF2-40B4-BE49-F238E27FC236}">
                <a16:creationId xmlns:a16="http://schemas.microsoft.com/office/drawing/2014/main" id="{A8E401D8-FBE4-4FE6-971A-50519DAF69DD}"/>
              </a:ext>
            </a:extLst>
          </p:cNvPr>
          <p:cNvSpPr>
            <a:spLocks xmlns:a="http://schemas.openxmlformats.org/drawingml/2006/main" noGrp="1"/>
          </p:cNvSpPr>
          <p:nvPr/>
        </p:nvSpPr>
        <p:spPr>
          <a:xfrm xmlns:a="http://schemas.openxmlformats.org/drawingml/2006/main">
            <a:off x="6629400" y="2952750"/>
            <a:ext cx="1809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Scoped bundle</a:t>
            </a:r>
          </a:p>
        </p:txBody>
      </p:sp>
      <p:sp>
        <p:nvSpPr>
          <p:cNvPr id="25" name="">
            <a:extLst xmlns:a="http://schemas.openxmlformats.org/drawingml/2006/main">
              <a:ext uri="{FF2B5EF4-FFF2-40B4-BE49-F238E27FC236}">
                <a16:creationId xmlns:a16="http://schemas.microsoft.com/office/drawing/2014/main" id="{D00820DE-CB7C-4D2D-9F94-833519ABA271}"/>
              </a:ext>
            </a:extLst>
          </p:cNvPr>
          <p:cNvSpPr>
            <a:spLocks xmlns:a="http://schemas.openxmlformats.org/drawingml/2006/main" noGrp="1"/>
          </p:cNvSpPr>
          <p:nvPr/>
        </p:nvSpPr>
        <p:spPr>
          <a:xfrm xmlns:a="http://schemas.openxmlformats.org/drawingml/2006/main">
            <a:off x="6629400" y="5286375"/>
            <a:ext cx="1809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Candidate only</a:t>
            </a:r>
          </a:p>
        </p:txBody>
      </p:sp>
      <p:sp>
        <p:nvSpPr>
          <p:cNvPr id="27" name="">
            <a:extLst xmlns:a="http://schemas.openxmlformats.org/drawingml/2006/main">
              <a:ext uri="{FF2B5EF4-FFF2-40B4-BE49-F238E27FC236}">
                <a16:creationId xmlns:a16="http://schemas.microsoft.com/office/drawing/2014/main" id="{B2D15B81-87B4-4BDA-9DF8-28D45B2862E4}"/>
              </a:ext>
            </a:extLst>
          </p:cNvPr>
          <p:cNvSpPr>
            <a:spLocks xmlns:a="http://schemas.openxmlformats.org/drawingml/2006/main" noGrp="1"/>
          </p:cNvSpPr>
          <p:nvPr/>
        </p:nvSpPr>
        <p:spPr>
          <a:xfrm xmlns:a="http://schemas.openxmlformats.org/drawingml/2006/main">
            <a:off x="571500" y="6677025"/>
            <a:ext cx="1409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950" b="1">
                <a:solidFill>
                  <a:srgbClr val="157D80"/>
                </a:solidFill>
                <a:latin typeface="Aptos"/>
                <a:ea typeface="Aptos"/>
                <a:cs typeface="Aptos"/>
              </a:defRPr>
            </a:defPPr>
          </a:lstStyle>
          <a:p xmlns:a="http://schemas.openxmlformats.org/drawingml/2006/main">
            <a:pPr>
              <a:defRPr sz="1950" b="1">
                <a:solidFill>
                  <a:srgbClr val="157D80"/>
                </a:solidFill>
                <a:latin typeface="Aptos"/>
                <a:ea typeface="Aptos"/>
                <a:cs typeface="Aptos"/>
              </a:defRPr>
            </a:pPr>
            <a:r>
              <a:rPr sz="1950" b="1">
                <a:solidFill>
                  <a:srgbClr val="157D80"/>
                </a:solidFill>
                <a:latin typeface="Aptos"/>
                <a:ea typeface="Aptos"/>
                <a:cs typeface="Aptos"/>
              </a:rPr>
              <a:t>Trusted publisher accepts validated results and applies configured side effects. No production secrets or direct publish rights reach clients.</a:t>
            </a:r>
          </a:p>
        </p:txBody>
      </p:sp>
      <p:sp>
        <p:nvSpPr>
          <p:cNvPr id="28" name="">
            <a:extLst xmlns:a="http://schemas.openxmlformats.org/drawingml/2006/main">
              <a:ext uri="{FF2B5EF4-FFF2-40B4-BE49-F238E27FC236}">
                <a16:creationId xmlns:a16="http://schemas.microsoft.com/office/drawing/2014/main" id="{1BEF728E-AB0D-42AB-8790-33F9520D533B}"/>
              </a:ext>
            </a:extLst>
          </p:cNvPr>
          <p:cNvSpPr>
            <a:spLocks xmlns:a="http://schemas.openxmlformats.org/drawingml/2006/main" noGrp="1"/>
          </p:cNvSpPr>
          <p:nvPr/>
        </p:nvSpPr>
        <p:spPr>
          <a:xfrm xmlns:a="http://schemas.openxmlformats.org/drawingml/2006/main">
            <a:off x="571500" y="7439025"/>
            <a:ext cx="1409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0">
                <a:solidFill>
                  <a:srgbClr val="49616A"/>
                </a:solidFill>
                <a:latin typeface="Aptos"/>
                <a:ea typeface="Aptos"/>
                <a:cs typeface="Aptos"/>
              </a:defRPr>
            </a:defPPr>
          </a:lstStyle>
          <a:p xmlns:a="http://schemas.openxmlformats.org/drawingml/2006/main">
            <a:pPr>
              <a:defRPr sz="1650" b="0">
                <a:solidFill>
                  <a:srgbClr val="49616A"/>
                </a:solidFill>
                <a:latin typeface="Aptos"/>
                <a:ea typeface="Aptos"/>
                <a:cs typeface="Aptos"/>
              </a:defRPr>
            </a:pPr>
            <a:r>
              <a:rPr sz="1650" b="0">
                <a:solidFill>
                  <a:srgbClr val="49616A"/>
                </a:solidFill>
                <a:latin typeface="Aptos"/>
                <a:ea typeface="Aptos"/>
                <a:cs typeface="Aptos"/>
              </a:rPr>
              <a:t>Proposed demo policy: approved public / synthetic bundles only. Restricted meetings stay trusted. Revocation cannot erase downloaded data.</a:t>
            </a:r>
          </a:p>
        </p:txBody>
      </p:sp>
    </p:spTree>
    <p:extLst>
      <p:ext uri="{BB962C8B-B14F-4D97-AF65-F5344CB8AC3E}">
        <p14:creationId xmlns:p14="http://schemas.microsoft.com/office/powerpoint/2010/main" val="176564862"/>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F16FE736-1CFB-4187-AA2D-FD7625F99E27}"/>
              </a:ext>
            </a:extLst>
          </p:cNvPr>
          <p:cNvSpPr>
            <a:spLocks xmlns:a="http://schemas.openxmlformats.org/drawingml/2006/main" noGrp="1"/>
          </p:cNvSpPr>
          <p:nvPr/>
        </p:nvSpPr>
        <p:spPr>
          <a:xfrm xmlns:a="http://schemas.openxmlformats.org/drawingml/2006/main">
            <a:off x="571500" y="295275"/>
            <a:ext cx="952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1">
                <a:solidFill>
                  <a:srgbClr val="157D80"/>
                </a:solidFill>
                <a:latin typeface="Aptos"/>
                <a:ea typeface="Aptos"/>
                <a:cs typeface="Aptos"/>
              </a:defRPr>
            </a:defPPr>
          </a:lstStyle>
          <a:p xmlns:a="http://schemas.openxmlformats.org/drawingml/2006/main">
            <a:pPr>
              <a:defRPr sz="1350" b="1">
                <a:solidFill>
                  <a:srgbClr val="157D80"/>
                </a:solidFill>
                <a:latin typeface="Aptos"/>
                <a:ea typeface="Aptos"/>
                <a:cs typeface="Aptos"/>
              </a:defRPr>
            </a:pPr>
            <a:r>
              <a:rPr sz="1350" b="1">
                <a:solidFill>
                  <a:srgbClr val="157D80"/>
                </a:solidFill>
                <a:latin typeface="Aptos"/>
                <a:ea typeface="Aptos"/>
                <a:cs typeface="Aptos"/>
              </a:rPr>
              <a:t>INERTIA / FORT WORTH DAO</a:t>
            </a:r>
          </a:p>
        </p:txBody>
      </p:sp>
      <p:sp>
        <p:nvSpPr>
          <p:cNvPr id="2" name="">
            <a:extLst xmlns:a="http://schemas.openxmlformats.org/drawingml/2006/main">
              <a:ext uri="{FF2B5EF4-FFF2-40B4-BE49-F238E27FC236}">
                <a16:creationId xmlns:a16="http://schemas.microsoft.com/office/drawing/2014/main" id="{262399D4-CFFB-45B2-B588-887A815BCBC4}"/>
              </a:ext>
            </a:extLst>
          </p:cNvPr>
          <p:cNvSpPr>
            <a:spLocks xmlns:a="http://schemas.openxmlformats.org/drawingml/2006/main" noGrp="1"/>
          </p:cNvSpPr>
          <p:nvPr/>
        </p:nvSpPr>
        <p:spPr>
          <a:xfrm xmlns:a="http://schemas.openxmlformats.org/drawingml/2006/main">
            <a:off x="571500" y="723900"/>
            <a:ext cx="1409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450" b="1">
                <a:solidFill>
                  <a:srgbClr val="132E38"/>
                </a:solidFill>
                <a:latin typeface="Aptos"/>
                <a:ea typeface="Aptos"/>
                <a:cs typeface="Aptos"/>
              </a:defRPr>
            </a:defPPr>
          </a:lstStyle>
          <a:p xmlns:a="http://schemas.openxmlformats.org/drawingml/2006/main">
            <a:pPr>
              <a:defRPr sz="3450" b="1">
                <a:solidFill>
                  <a:srgbClr val="132E38"/>
                </a:solidFill>
                <a:latin typeface="Aptos"/>
                <a:ea typeface="Aptos"/>
                <a:cs typeface="Aptos"/>
              </a:defRPr>
            </a:pPr>
            <a:r>
              <a:rPr sz="3450" b="1">
                <a:solidFill>
                  <a:srgbClr val="132E38"/>
                </a:solidFill>
                <a:latin typeface="Aptos"/>
                <a:ea typeface="Aptos"/>
                <a:cs typeface="Aptos"/>
              </a:rPr>
              <a:t>Authoritative state and narrow contracts</a:t>
            </a:r>
          </a:p>
        </p:txBody>
      </p:sp>
      <p:sp>
        <p:nvSpPr>
          <p:cNvPr id="3" name="">
            <a:extLst xmlns:a="http://schemas.openxmlformats.org/drawingml/2006/main">
              <a:ext uri="{FF2B5EF4-FFF2-40B4-BE49-F238E27FC236}">
                <a16:creationId xmlns:a16="http://schemas.microsoft.com/office/drawing/2014/main" id="{9CAE8F1F-621A-46E1-B169-89AFBF2E9E6A}"/>
              </a:ext>
            </a:extLst>
          </p:cNvPr>
          <p:cNvSpPr>
            <a:spLocks xmlns:a="http://schemas.openxmlformats.org/drawingml/2006/main" noGrp="1"/>
          </p:cNvSpPr>
          <p:nvPr/>
        </p:nvSpPr>
        <p:spPr>
          <a:xfrm xmlns:a="http://schemas.openxmlformats.org/drawingml/2006/main">
            <a:off x="571500" y="1362075"/>
            <a:ext cx="1409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49616A"/>
                </a:solidFill>
                <a:latin typeface="Aptos"/>
                <a:ea typeface="Aptos"/>
                <a:cs typeface="Aptos"/>
              </a:defRPr>
            </a:defPPr>
          </a:lstStyle>
          <a:p xmlns:a="http://schemas.openxmlformats.org/drawingml/2006/main">
            <a:pPr>
              <a:defRPr sz="1800" b="0">
                <a:solidFill>
                  <a:srgbClr val="49616A"/>
                </a:solidFill>
                <a:latin typeface="Aptos"/>
                <a:ea typeface="Aptos"/>
                <a:cs typeface="Aptos"/>
              </a:defRPr>
            </a:pPr>
            <a:r>
              <a:rPr sz="1800" b="0">
                <a:solidFill>
                  <a:srgbClr val="49616A"/>
                </a:solidFill>
                <a:latin typeface="Aptos"/>
                <a:ea typeface="Aptos"/>
                <a:cs typeface="Aptos"/>
              </a:rPr>
              <a:t>Keep existing stores. Add durable work state where the selected runtime can enforce authorization and concurrency.</a:t>
            </a:r>
          </a:p>
        </p:txBody>
      </p:sp>
      <p:sp>
        <p:nvSpPr>
          <p:cNvPr id="4" name="">
            <a:extLst xmlns:a="http://schemas.openxmlformats.org/drawingml/2006/main">
              <a:ext uri="{FF2B5EF4-FFF2-40B4-BE49-F238E27FC236}">
                <a16:creationId xmlns:a16="http://schemas.microsoft.com/office/drawing/2014/main" id="{6281D898-01C8-4732-B6D0-F5EC4A812ADA}"/>
              </a:ext>
            </a:extLst>
          </p:cNvPr>
          <p:cNvSpPr>
            <a:spLocks xmlns:a="http://schemas.openxmlformats.org/drawingml/2006/main" noGrp="1"/>
          </p:cNvSpPr>
          <p:nvPr/>
        </p:nvSpPr>
        <p:spPr>
          <a:xfrm xmlns:a="http://schemas.openxmlformats.org/drawingml/2006/main">
            <a:off x="571500" y="7962900"/>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25E10AC-FA57-4F81-80CD-76C458C04657}"/>
              </a:ext>
            </a:extLst>
          </p:cNvPr>
          <p:cNvSpPr>
            <a:spLocks xmlns:a="http://schemas.openxmlformats.org/drawingml/2006/main" noGrp="1"/>
          </p:cNvSpPr>
          <p:nvPr/>
        </p:nvSpPr>
        <p:spPr>
          <a:xfrm xmlns:a="http://schemas.openxmlformats.org/drawingml/2006/main">
            <a:off x="571500" y="8105775"/>
            <a:ext cx="13144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75" b="0">
                <a:solidFill>
                  <a:srgbClr val="49616A"/>
                </a:solidFill>
                <a:latin typeface="Aptos"/>
                <a:ea typeface="Aptos"/>
                <a:cs typeface="Aptos"/>
              </a:defRPr>
            </a:defPPr>
          </a:lstStyle>
          <a:p xmlns:a="http://schemas.openxmlformats.org/drawingml/2006/main">
            <a:pPr>
              <a:defRPr sz="1275" b="0">
                <a:solidFill>
                  <a:srgbClr val="49616A"/>
                </a:solidFill>
                <a:latin typeface="Aptos"/>
                <a:ea typeface="Aptos"/>
                <a:cs typeface="Aptos"/>
              </a:defRPr>
            </a:pPr>
            <a:r>
              <a:rPr sz="1275" b="0">
                <a:solidFill>
                  <a:srgbClr val="49616A"/>
                </a:solidFill>
                <a:latin typeface="Aptos"/>
                <a:ea typeface="Aptos"/>
                <a:cs typeface="Aptos"/>
              </a:rPr>
              <a:t>INERTIA-2026-10-22-r4 · 22 October 2026 · Planning, not implemented</a:t>
            </a:r>
          </a:p>
        </p:txBody>
      </p:sp>
      <p:sp>
        <p:nvSpPr>
          <p:cNvPr id="6" name="">
            <a:extLst xmlns:a="http://schemas.openxmlformats.org/drawingml/2006/main">
              <a:ext uri="{FF2B5EF4-FFF2-40B4-BE49-F238E27FC236}">
                <a16:creationId xmlns:a16="http://schemas.microsoft.com/office/drawing/2014/main" id="{AB80518A-B48A-40EF-8020-429D1CA36959}"/>
              </a:ext>
            </a:extLst>
          </p:cNvPr>
          <p:cNvSpPr>
            <a:spLocks xmlns:a="http://schemas.openxmlformats.org/drawingml/2006/main" noGrp="1"/>
          </p:cNvSpPr>
          <p:nvPr/>
        </p:nvSpPr>
        <p:spPr>
          <a:xfrm xmlns:a="http://schemas.openxmlformats.org/drawingml/2006/main">
            <a:off x="14001750" y="8067675"/>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1">
                <a:solidFill>
                  <a:srgbClr val="157D80"/>
                </a:solidFill>
                <a:latin typeface="Aptos"/>
                <a:ea typeface="Aptos"/>
                <a:cs typeface="Aptos"/>
              </a:defRPr>
            </a:defPPr>
          </a:lstStyle>
          <a:p xmlns:a="http://schemas.openxmlformats.org/drawingml/2006/main">
            <a:pPr>
              <a:defRPr sz="1800" b="1">
                <a:solidFill>
                  <a:srgbClr val="157D80"/>
                </a:solidFill>
                <a:latin typeface="Aptos"/>
                <a:ea typeface="Aptos"/>
                <a:cs typeface="Aptos"/>
              </a:defRPr>
            </a:pPr>
            <a:r>
              <a:rPr sz="1800" b="1">
                <a:solidFill>
                  <a:srgbClr val="157D80"/>
                </a:solidFill>
                <a:latin typeface="Aptos"/>
                <a:ea typeface="Aptos"/>
                <a:cs typeface="Aptos"/>
              </a:rPr>
              <a:t>05</a:t>
            </a:r>
          </a:p>
        </p:txBody>
      </p:sp>
      <p:sp>
        <p:nvSpPr>
          <p:cNvPr id="7" name="">
            <a:extLst xmlns:a="http://schemas.openxmlformats.org/drawingml/2006/main">
              <a:ext uri="{FF2B5EF4-FFF2-40B4-BE49-F238E27FC236}">
                <a16:creationId xmlns:a16="http://schemas.microsoft.com/office/drawing/2014/main" id="{ADDCE7BB-B542-48DB-9D90-2B58F1DD4762}"/>
              </a:ext>
            </a:extLst>
          </p:cNvPr>
          <p:cNvSpPr>
            <a:spLocks xmlns:a="http://schemas.openxmlformats.org/drawingml/2006/main" noGrp="1"/>
          </p:cNvSpPr>
          <p:nvPr/>
        </p:nvSpPr>
        <p:spPr>
          <a:xfrm xmlns:a="http://schemas.openxmlformats.org/drawingml/2006/main">
            <a:off x="571500" y="22860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57D80"/>
                </a:solidFill>
                <a:latin typeface="Aptos"/>
                <a:ea typeface="Aptos"/>
                <a:cs typeface="Aptos"/>
              </a:defRPr>
            </a:defPPr>
          </a:lstStyle>
          <a:p xmlns:a="http://schemas.openxmlformats.org/drawingml/2006/main">
            <a:pPr>
              <a:defRPr sz="2025" b="1">
                <a:solidFill>
                  <a:srgbClr val="157D80"/>
                </a:solidFill>
                <a:latin typeface="Aptos"/>
                <a:ea typeface="Aptos"/>
                <a:cs typeface="Aptos"/>
              </a:defRPr>
            </a:pPr>
            <a:r>
              <a:rPr sz="2025" b="1">
                <a:solidFill>
                  <a:srgbClr val="157D80"/>
                </a:solidFill>
                <a:latin typeface="Aptos"/>
                <a:ea typeface="Aptos"/>
                <a:cs typeface="Aptos"/>
              </a:rPr>
              <a:t>DAO website</a:t>
            </a:r>
          </a:p>
        </p:txBody>
      </p:sp>
      <p:sp>
        <p:nvSpPr>
          <p:cNvPr id="8" name="">
            <a:extLst xmlns:a="http://schemas.openxmlformats.org/drawingml/2006/main">
              <a:ext uri="{FF2B5EF4-FFF2-40B4-BE49-F238E27FC236}">
                <a16:creationId xmlns:a16="http://schemas.microsoft.com/office/drawing/2014/main" id="{049A5D8E-862B-4309-BE66-B73A858D79F5}"/>
              </a:ext>
            </a:extLst>
          </p:cNvPr>
          <p:cNvSpPr>
            <a:spLocks xmlns:a="http://schemas.openxmlformats.org/drawingml/2006/main" noGrp="1"/>
          </p:cNvSpPr>
          <p:nvPr/>
        </p:nvSpPr>
        <p:spPr>
          <a:xfrm xmlns:a="http://schemas.openxmlformats.org/drawingml/2006/main">
            <a:off x="571500" y="2714625"/>
            <a:ext cx="6477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132E38"/>
                </a:solidFill>
                <a:latin typeface="Aptos"/>
                <a:ea typeface="Aptos"/>
                <a:cs typeface="Aptos"/>
              </a:defRPr>
            </a:defPPr>
          </a:lstStyle>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PlanetScale PostgreSQL / Drizzle.</a:t>
            </a:r>
          </a:p>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Existing document integration; verify audience enforcement.</a:t>
            </a:r>
          </a:p>
        </p:txBody>
      </p:sp>
      <p:sp>
        <p:nvSpPr>
          <p:cNvPr id="9" name="">
            <a:extLst xmlns:a="http://schemas.openxmlformats.org/drawingml/2006/main">
              <a:ext uri="{FF2B5EF4-FFF2-40B4-BE49-F238E27FC236}">
                <a16:creationId xmlns:a16="http://schemas.microsoft.com/office/drawing/2014/main" id="{EE8A7AC5-E911-4A45-AF6F-F1C06091B482}"/>
              </a:ext>
            </a:extLst>
          </p:cNvPr>
          <p:cNvSpPr>
            <a:spLocks xmlns:a="http://schemas.openxmlformats.org/drawingml/2006/main" noGrp="1"/>
          </p:cNvSpPr>
          <p:nvPr/>
        </p:nvSpPr>
        <p:spPr>
          <a:xfrm xmlns:a="http://schemas.openxmlformats.org/drawingml/2006/main">
            <a:off x="7905750" y="2286000"/>
            <a:ext cx="676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57D80"/>
                </a:solidFill>
                <a:latin typeface="Aptos"/>
                <a:ea typeface="Aptos"/>
                <a:cs typeface="Aptos"/>
              </a:defRPr>
            </a:defPPr>
          </a:lstStyle>
          <a:p xmlns:a="http://schemas.openxmlformats.org/drawingml/2006/main">
            <a:pPr>
              <a:defRPr sz="2025" b="1">
                <a:solidFill>
                  <a:srgbClr val="157D80"/>
                </a:solidFill>
                <a:latin typeface="Aptos"/>
                <a:ea typeface="Aptos"/>
                <a:cs typeface="Aptos"/>
              </a:defRPr>
            </a:pPr>
            <a:r>
              <a:rPr sz="2025" b="1">
                <a:solidFill>
                  <a:srgbClr val="157D80"/>
                </a:solidFill>
                <a:latin typeface="Aptos"/>
                <a:ea typeface="Aptos"/>
                <a:cs typeface="Aptos"/>
              </a:rPr>
              <a:t>Meeting publication</a:t>
            </a:r>
          </a:p>
        </p:txBody>
      </p:sp>
      <p:sp>
        <p:nvSpPr>
          <p:cNvPr id="10" name="">
            <a:extLst xmlns:a="http://schemas.openxmlformats.org/drawingml/2006/main">
              <a:ext uri="{FF2B5EF4-FFF2-40B4-BE49-F238E27FC236}">
                <a16:creationId xmlns:a16="http://schemas.microsoft.com/office/drawing/2014/main" id="{FFF1EC57-0850-45D3-BD46-A61BA8E4A8C6}"/>
              </a:ext>
            </a:extLst>
          </p:cNvPr>
          <p:cNvSpPr>
            <a:spLocks xmlns:a="http://schemas.openxmlformats.org/drawingml/2006/main" noGrp="1"/>
          </p:cNvSpPr>
          <p:nvPr/>
        </p:nvSpPr>
        <p:spPr>
          <a:xfrm xmlns:a="http://schemas.openxmlformats.org/drawingml/2006/main">
            <a:off x="7905750" y="2714625"/>
            <a:ext cx="67627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132E38"/>
                </a:solidFill>
                <a:latin typeface="Aptos"/>
                <a:ea typeface="Aptos"/>
                <a:cs typeface="Aptos"/>
              </a:defRPr>
            </a:defPPr>
          </a:lstStyle>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meeting_id + source_hash + version</a:t>
            </a:r>
          </a:p>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Transcript / notes references + verified scope</a:t>
            </a:r>
          </a:p>
        </p:txBody>
      </p:sp>
      <p:sp>
        <p:nvSpPr>
          <p:cNvPr id="11" name="">
            <a:extLst xmlns:a="http://schemas.openxmlformats.org/drawingml/2006/main">
              <a:ext uri="{FF2B5EF4-FFF2-40B4-BE49-F238E27FC236}">
                <a16:creationId xmlns:a16="http://schemas.microsoft.com/office/drawing/2014/main" id="{2D06F86C-1CB6-44D3-946B-D382D62C3277}"/>
              </a:ext>
            </a:extLst>
          </p:cNvPr>
          <p:cNvSpPr>
            <a:spLocks xmlns:a="http://schemas.openxmlformats.org/drawingml/2006/main" noGrp="1"/>
          </p:cNvSpPr>
          <p:nvPr/>
        </p:nvSpPr>
        <p:spPr>
          <a:xfrm xmlns:a="http://schemas.openxmlformats.org/drawingml/2006/main">
            <a:off x="571500" y="3714750"/>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79BA5CE-A658-4497-8D13-39480EC3EE00}"/>
              </a:ext>
            </a:extLst>
          </p:cNvPr>
          <p:cNvSpPr>
            <a:spLocks xmlns:a="http://schemas.openxmlformats.org/drawingml/2006/main" noGrp="1"/>
          </p:cNvSpPr>
          <p:nvPr/>
        </p:nvSpPr>
        <p:spPr>
          <a:xfrm xmlns:a="http://schemas.openxmlformats.org/drawingml/2006/main">
            <a:off x="571500" y="3876675"/>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57D80"/>
                </a:solidFill>
                <a:latin typeface="Aptos"/>
                <a:ea typeface="Aptos"/>
                <a:cs typeface="Aptos"/>
              </a:defRPr>
            </a:defPPr>
          </a:lstStyle>
          <a:p xmlns:a="http://schemas.openxmlformats.org/drawingml/2006/main">
            <a:pPr>
              <a:defRPr sz="2025" b="1">
                <a:solidFill>
                  <a:srgbClr val="157D80"/>
                </a:solidFill>
                <a:latin typeface="Aptos"/>
                <a:ea typeface="Aptos"/>
                <a:cs typeface="Aptos"/>
              </a:defRPr>
            </a:pPr>
            <a:r>
              <a:rPr sz="2025" b="1">
                <a:solidFill>
                  <a:srgbClr val="157D80"/>
                </a:solidFill>
                <a:latin typeface="Aptos"/>
                <a:ea typeface="Aptos"/>
                <a:cs typeface="Aptos"/>
              </a:rPr>
              <a:t>Grant engine + governance</a:t>
            </a:r>
          </a:p>
        </p:txBody>
      </p:sp>
      <p:sp>
        <p:nvSpPr>
          <p:cNvPr id="13" name="">
            <a:extLst xmlns:a="http://schemas.openxmlformats.org/drawingml/2006/main">
              <a:ext uri="{FF2B5EF4-FFF2-40B4-BE49-F238E27FC236}">
                <a16:creationId xmlns:a16="http://schemas.microsoft.com/office/drawing/2014/main" id="{45571914-5F3D-4359-B5D4-36CA23288B05}"/>
              </a:ext>
            </a:extLst>
          </p:cNvPr>
          <p:cNvSpPr>
            <a:spLocks xmlns:a="http://schemas.openxmlformats.org/drawingml/2006/main" noGrp="1"/>
          </p:cNvSpPr>
          <p:nvPr/>
        </p:nvSpPr>
        <p:spPr>
          <a:xfrm xmlns:a="http://schemas.openxmlformats.org/drawingml/2006/main">
            <a:off x="571500" y="4305300"/>
            <a:ext cx="6477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132E38"/>
                </a:solidFill>
                <a:latin typeface="Aptos"/>
                <a:ea typeface="Aptos"/>
                <a:cs typeface="Aptos"/>
              </a:defRPr>
            </a:defPPr>
          </a:lstStyle>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Separate grant DB and filesystem packets.</a:t>
            </a:r>
          </a:p>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Governance records exact decision scope and chain evidence.</a:t>
            </a:r>
          </a:p>
        </p:txBody>
      </p:sp>
      <p:sp>
        <p:nvSpPr>
          <p:cNvPr id="14" name="">
            <a:extLst xmlns:a="http://schemas.openxmlformats.org/drawingml/2006/main">
              <a:ext uri="{FF2B5EF4-FFF2-40B4-BE49-F238E27FC236}">
                <a16:creationId xmlns:a16="http://schemas.microsoft.com/office/drawing/2014/main" id="{A983132D-EF58-4611-8F1A-AEA7761179F4}"/>
              </a:ext>
            </a:extLst>
          </p:cNvPr>
          <p:cNvSpPr>
            <a:spLocks xmlns:a="http://schemas.openxmlformats.org/drawingml/2006/main" noGrp="1"/>
          </p:cNvSpPr>
          <p:nvPr/>
        </p:nvSpPr>
        <p:spPr>
          <a:xfrm xmlns:a="http://schemas.openxmlformats.org/drawingml/2006/main">
            <a:off x="7905750" y="3876675"/>
            <a:ext cx="676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57D80"/>
                </a:solidFill>
                <a:latin typeface="Aptos"/>
                <a:ea typeface="Aptos"/>
                <a:cs typeface="Aptos"/>
              </a:defRPr>
            </a:defPPr>
          </a:lstStyle>
          <a:p xmlns:a="http://schemas.openxmlformats.org/drawingml/2006/main">
            <a:pPr>
              <a:defRPr sz="2025" b="1">
                <a:solidFill>
                  <a:srgbClr val="157D80"/>
                </a:solidFill>
                <a:latin typeface="Aptos"/>
                <a:ea typeface="Aptos"/>
                <a:cs typeface="Aptos"/>
              </a:defRPr>
            </a:pPr>
            <a:r>
              <a:rPr sz="2025" b="1">
                <a:solidFill>
                  <a:srgbClr val="157D80"/>
                </a:solidFill>
                <a:latin typeface="Aptos"/>
                <a:ea typeface="Aptos"/>
                <a:cs typeface="Aptos"/>
              </a:rPr>
              <a:t>Packet and vote</a:t>
            </a:r>
          </a:p>
        </p:txBody>
      </p:sp>
      <p:sp>
        <p:nvSpPr>
          <p:cNvPr id="15" name="">
            <a:extLst xmlns:a="http://schemas.openxmlformats.org/drawingml/2006/main">
              <a:ext uri="{FF2B5EF4-FFF2-40B4-BE49-F238E27FC236}">
                <a16:creationId xmlns:a16="http://schemas.microsoft.com/office/drawing/2014/main" id="{38303168-06A1-4A1B-8CAC-BFA129D274D2}"/>
              </a:ext>
            </a:extLst>
          </p:cNvPr>
          <p:cNvSpPr>
            <a:spLocks xmlns:a="http://schemas.openxmlformats.org/drawingml/2006/main" noGrp="1"/>
          </p:cNvSpPr>
          <p:nvPr/>
        </p:nvSpPr>
        <p:spPr>
          <a:xfrm xmlns:a="http://schemas.openxmlformats.org/drawingml/2006/main">
            <a:off x="7905750" y="4305300"/>
            <a:ext cx="67627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132E38"/>
                </a:solidFill>
                <a:latin typeface="Aptos"/>
                <a:ea typeface="Aptos"/>
                <a:cs typeface="Aptos"/>
              </a:defRPr>
            </a:defPPr>
          </a:lstStyle>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packet_id + version + hash + signoffs</a:t>
            </a:r>
          </a:p>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vote_id + scope + outcome + finality</a:t>
            </a:r>
          </a:p>
        </p:txBody>
      </p:sp>
      <p:sp>
        <p:nvSpPr>
          <p:cNvPr id="16" name="">
            <a:extLst xmlns:a="http://schemas.openxmlformats.org/drawingml/2006/main">
              <a:ext uri="{FF2B5EF4-FFF2-40B4-BE49-F238E27FC236}">
                <a16:creationId xmlns:a16="http://schemas.microsoft.com/office/drawing/2014/main" id="{3CB03AF9-A13D-4887-828F-C468F49642C6}"/>
              </a:ext>
            </a:extLst>
          </p:cNvPr>
          <p:cNvSpPr>
            <a:spLocks xmlns:a="http://schemas.openxmlformats.org/drawingml/2006/main" noGrp="1"/>
          </p:cNvSpPr>
          <p:nvPr/>
        </p:nvSpPr>
        <p:spPr>
          <a:xfrm xmlns:a="http://schemas.openxmlformats.org/drawingml/2006/main">
            <a:off x="571500" y="5305425"/>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D4AAA9E-9BBE-4BF2-949D-523C1D64F069}"/>
              </a:ext>
            </a:extLst>
          </p:cNvPr>
          <p:cNvSpPr>
            <a:spLocks xmlns:a="http://schemas.openxmlformats.org/drawingml/2006/main" noGrp="1"/>
          </p:cNvSpPr>
          <p:nvPr/>
        </p:nvSpPr>
        <p:spPr>
          <a:xfrm xmlns:a="http://schemas.openxmlformats.org/drawingml/2006/main">
            <a:off x="571500" y="546735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57D80"/>
                </a:solidFill>
                <a:latin typeface="Aptos"/>
                <a:ea typeface="Aptos"/>
                <a:cs typeface="Aptos"/>
              </a:defRPr>
            </a:defPPr>
          </a:lstStyle>
          <a:p xmlns:a="http://schemas.openxmlformats.org/drawingml/2006/main">
            <a:pPr>
              <a:defRPr sz="2025" b="1">
                <a:solidFill>
                  <a:srgbClr val="157D80"/>
                </a:solidFill>
                <a:latin typeface="Aptos"/>
                <a:ea typeface="Aptos"/>
                <a:cs typeface="Aptos"/>
              </a:defRPr>
            </a:pPr>
            <a:r>
              <a:rPr sz="2025" b="1">
                <a:solidFill>
                  <a:srgbClr val="157D80"/>
                </a:solidFill>
                <a:latin typeface="Aptos"/>
                <a:ea typeface="Aptos"/>
                <a:cs typeface="Aptos"/>
              </a:rPr>
              <a:t>Trusted work ledger</a:t>
            </a:r>
          </a:p>
        </p:txBody>
      </p:sp>
      <p:sp>
        <p:nvSpPr>
          <p:cNvPr id="18" name="">
            <a:extLst xmlns:a="http://schemas.openxmlformats.org/drawingml/2006/main">
              <a:ext uri="{FF2B5EF4-FFF2-40B4-BE49-F238E27FC236}">
                <a16:creationId xmlns:a16="http://schemas.microsoft.com/office/drawing/2014/main" id="{38EA8C9F-0E4F-4B29-B1F0-E3DBB5D1C0A0}"/>
              </a:ext>
            </a:extLst>
          </p:cNvPr>
          <p:cNvSpPr>
            <a:spLocks xmlns:a="http://schemas.openxmlformats.org/drawingml/2006/main" noGrp="1"/>
          </p:cNvSpPr>
          <p:nvPr/>
        </p:nvSpPr>
        <p:spPr>
          <a:xfrm xmlns:a="http://schemas.openxmlformats.org/drawingml/2006/main">
            <a:off x="571500" y="5895975"/>
            <a:ext cx="6477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132E38"/>
                </a:solidFill>
                <a:latin typeface="Aptos"/>
                <a:ea typeface="Aptos"/>
                <a:cs typeface="Aptos"/>
              </a:defRPr>
            </a:defPPr>
          </a:lstStyle>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Tasks, claims, attempts, receipts, exceptions and audit.</a:t>
            </a:r>
          </a:p>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Product / storage owner TBD; separate from Buzz chat.</a:t>
            </a:r>
          </a:p>
        </p:txBody>
      </p:sp>
      <p:sp>
        <p:nvSpPr>
          <p:cNvPr id="19" name="">
            <a:extLst xmlns:a="http://schemas.openxmlformats.org/drawingml/2006/main">
              <a:ext uri="{FF2B5EF4-FFF2-40B4-BE49-F238E27FC236}">
                <a16:creationId xmlns:a16="http://schemas.microsoft.com/office/drawing/2014/main" id="{9FC41C9D-2197-4DA5-838F-0F06F2B42BA9}"/>
              </a:ext>
            </a:extLst>
          </p:cNvPr>
          <p:cNvSpPr>
            <a:spLocks xmlns:a="http://schemas.openxmlformats.org/drawingml/2006/main" noGrp="1"/>
          </p:cNvSpPr>
          <p:nvPr/>
        </p:nvSpPr>
        <p:spPr>
          <a:xfrm xmlns:a="http://schemas.openxmlformats.org/drawingml/2006/main">
            <a:off x="7905750" y="5467350"/>
            <a:ext cx="676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57D80"/>
                </a:solidFill>
                <a:latin typeface="Aptos"/>
                <a:ea typeface="Aptos"/>
                <a:cs typeface="Aptos"/>
              </a:defRPr>
            </a:defPPr>
          </a:lstStyle>
          <a:p xmlns:a="http://schemas.openxmlformats.org/drawingml/2006/main">
            <a:pPr>
              <a:defRPr sz="2025" b="1">
                <a:solidFill>
                  <a:srgbClr val="157D80"/>
                </a:solidFill>
                <a:latin typeface="Aptos"/>
                <a:ea typeface="Aptos"/>
                <a:cs typeface="Aptos"/>
              </a:defRPr>
            </a:pPr>
            <a:r>
              <a:rPr sz="2025" b="1">
                <a:solidFill>
                  <a:srgbClr val="157D80"/>
                </a:solidFill>
                <a:latin typeface="Aptos"/>
                <a:ea typeface="Aptos"/>
                <a:cs typeface="Aptos"/>
              </a:rPr>
              <a:t>Client contribution</a:t>
            </a:r>
          </a:p>
        </p:txBody>
      </p:sp>
      <p:sp>
        <p:nvSpPr>
          <p:cNvPr id="20" name="">
            <a:extLst xmlns:a="http://schemas.openxmlformats.org/drawingml/2006/main">
              <a:ext uri="{FF2B5EF4-FFF2-40B4-BE49-F238E27FC236}">
                <a16:creationId xmlns:a16="http://schemas.microsoft.com/office/drawing/2014/main" id="{F197BBF5-6310-4B14-A06E-D2AE52C3954C}"/>
              </a:ext>
            </a:extLst>
          </p:cNvPr>
          <p:cNvSpPr>
            <a:spLocks xmlns:a="http://schemas.openxmlformats.org/drawingml/2006/main" noGrp="1"/>
          </p:cNvSpPr>
          <p:nvPr/>
        </p:nvSpPr>
        <p:spPr>
          <a:xfrm xmlns:a="http://schemas.openxmlformats.org/drawingml/2006/main">
            <a:off x="7905750" y="5895975"/>
            <a:ext cx="67627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132E38"/>
                </a:solidFill>
                <a:latin typeface="Aptos"/>
                <a:ea typeface="Aptos"/>
                <a:cs typeface="Aptos"/>
              </a:defRPr>
            </a:defPPr>
          </a:lstStyle>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member + agent + task + epoch + expiry</a:t>
            </a:r>
          </a:p>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input_hash + output_hash + immutable receipt</a:t>
            </a:r>
          </a:p>
        </p:txBody>
      </p:sp>
      <p:sp>
        <p:nvSpPr>
          <p:cNvPr id="21" name="">
            <a:extLst xmlns:a="http://schemas.openxmlformats.org/drawingml/2006/main">
              <a:ext uri="{FF2B5EF4-FFF2-40B4-BE49-F238E27FC236}">
                <a16:creationId xmlns:a16="http://schemas.microsoft.com/office/drawing/2014/main" id="{1DE7978C-9AF5-491D-83B8-27FEF81A7F37}"/>
              </a:ext>
            </a:extLst>
          </p:cNvPr>
          <p:cNvSpPr>
            <a:spLocks xmlns:a="http://schemas.openxmlformats.org/drawingml/2006/main" noGrp="1"/>
          </p:cNvSpPr>
          <p:nvPr/>
        </p:nvSpPr>
        <p:spPr>
          <a:xfrm xmlns:a="http://schemas.openxmlformats.org/drawingml/2006/main">
            <a:off x="571500" y="7058025"/>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BBB9C8A-EE45-4C32-9266-AEFA31A7C1AE}"/>
              </a:ext>
            </a:extLst>
          </p:cNvPr>
          <p:cNvSpPr>
            <a:spLocks xmlns:a="http://schemas.openxmlformats.org/drawingml/2006/main" noGrp="1"/>
          </p:cNvSpPr>
          <p:nvPr/>
        </p:nvSpPr>
        <p:spPr>
          <a:xfrm xmlns:a="http://schemas.openxmlformats.org/drawingml/2006/main">
            <a:off x="571500" y="727710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950" b="1">
                <a:solidFill>
                  <a:srgbClr val="157D80"/>
                </a:solidFill>
                <a:latin typeface="Aptos"/>
                <a:ea typeface="Aptos"/>
                <a:cs typeface="Aptos"/>
              </a:defRPr>
            </a:defPPr>
          </a:lstStyle>
          <a:p xmlns:a="http://schemas.openxmlformats.org/drawingml/2006/main">
            <a:pPr>
              <a:defRPr sz="1950" b="1">
                <a:solidFill>
                  <a:srgbClr val="157D80"/>
                </a:solidFill>
                <a:latin typeface="Aptos"/>
                <a:ea typeface="Aptos"/>
                <a:cs typeface="Aptos"/>
              </a:defRPr>
            </a:pPr>
            <a:r>
              <a:rPr sz="1950" b="1">
                <a:solidFill>
                  <a:srgbClr val="157D80"/>
                </a:solidFill>
                <a:latin typeface="Aptos"/>
                <a:ea typeface="Aptos"/>
                <a:cs typeface="Aptos"/>
              </a:rPr>
              <a:t>Correctness contract</a:t>
            </a:r>
          </a:p>
        </p:txBody>
      </p:sp>
      <p:sp>
        <p:nvSpPr>
          <p:cNvPr id="23" name="">
            <a:extLst xmlns:a="http://schemas.openxmlformats.org/drawingml/2006/main">
              <a:ext uri="{FF2B5EF4-FFF2-40B4-BE49-F238E27FC236}">
                <a16:creationId xmlns:a16="http://schemas.microsoft.com/office/drawing/2014/main" id="{13BE232D-BC6B-41AB-8EE1-ED4D5A4EF061}"/>
              </a:ext>
            </a:extLst>
          </p:cNvPr>
          <p:cNvSpPr>
            <a:spLocks xmlns:a="http://schemas.openxmlformats.org/drawingml/2006/main" noGrp="1"/>
          </p:cNvSpPr>
          <p:nvPr/>
        </p:nvSpPr>
        <p:spPr>
          <a:xfrm xmlns:a="http://schemas.openxmlformats.org/drawingml/2006/main">
            <a:off x="4191000" y="7239000"/>
            <a:ext cx="10477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132E38"/>
                </a:solidFill>
                <a:latin typeface="Aptos"/>
                <a:ea typeface="Aptos"/>
                <a:cs typeface="Aptos"/>
              </a:defRPr>
            </a:defPPr>
          </a:lstStyle>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At-most-once accepted result through uniqueness + fencing. External writes use an outbox and reconciliation; never assume exactly-once effects.</a:t>
            </a:r>
          </a:p>
        </p:txBody>
      </p:sp>
    </p:spTree>
    <p:extLst>
      <p:ext uri="{BB962C8B-B14F-4D97-AF65-F5344CB8AC3E}">
        <p14:creationId xmlns:p14="http://schemas.microsoft.com/office/powerpoint/2010/main" val="50654765"/>
      </p:ext>
    </p:extLst>
  </p:cSld>
</p:sld>
</file>

<file path=ppt/slides/slide6.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20B0686-353B-458E-90B8-E4B0EDFA0167}"/>
              </a:ext>
            </a:extLst>
          </p:cNvPr>
          <p:cNvSpPr>
            <a:spLocks xmlns:a="http://schemas.openxmlformats.org/drawingml/2006/main" noGrp="1"/>
          </p:cNvSpPr>
          <p:nvPr/>
        </p:nvSpPr>
        <p:spPr>
          <a:xfrm xmlns:a="http://schemas.openxmlformats.org/drawingml/2006/main">
            <a:off x="571500" y="295275"/>
            <a:ext cx="952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1">
                <a:solidFill>
                  <a:srgbClr val="157D80"/>
                </a:solidFill>
                <a:latin typeface="Aptos"/>
                <a:ea typeface="Aptos"/>
                <a:cs typeface="Aptos"/>
              </a:defRPr>
            </a:defPPr>
          </a:lstStyle>
          <a:p xmlns:a="http://schemas.openxmlformats.org/drawingml/2006/main">
            <a:pPr>
              <a:defRPr sz="1350" b="1">
                <a:solidFill>
                  <a:srgbClr val="157D80"/>
                </a:solidFill>
                <a:latin typeface="Aptos"/>
                <a:ea typeface="Aptos"/>
                <a:cs typeface="Aptos"/>
              </a:defRPr>
            </a:pPr>
            <a:r>
              <a:rPr sz="1350" b="1">
                <a:solidFill>
                  <a:srgbClr val="157D80"/>
                </a:solidFill>
                <a:latin typeface="Aptos"/>
                <a:ea typeface="Aptos"/>
                <a:cs typeface="Aptos"/>
              </a:rPr>
              <a:t>INERTIA / FORT WORTH DAO</a:t>
            </a:r>
          </a:p>
        </p:txBody>
      </p:sp>
      <p:sp>
        <p:nvSpPr>
          <p:cNvPr id="2" name="">
            <a:extLst xmlns:a="http://schemas.openxmlformats.org/drawingml/2006/main">
              <a:ext uri="{FF2B5EF4-FFF2-40B4-BE49-F238E27FC236}">
                <a16:creationId xmlns:a16="http://schemas.microsoft.com/office/drawing/2014/main" id="{E2840DA2-734E-4A32-AA65-B6A7E5B73DF8}"/>
              </a:ext>
            </a:extLst>
          </p:cNvPr>
          <p:cNvSpPr>
            <a:spLocks xmlns:a="http://schemas.openxmlformats.org/drawingml/2006/main" noGrp="1"/>
          </p:cNvSpPr>
          <p:nvPr/>
        </p:nvSpPr>
        <p:spPr>
          <a:xfrm xmlns:a="http://schemas.openxmlformats.org/drawingml/2006/main">
            <a:off x="571500" y="723900"/>
            <a:ext cx="1409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450" b="1">
                <a:solidFill>
                  <a:srgbClr val="132E38"/>
                </a:solidFill>
                <a:latin typeface="Aptos"/>
                <a:ea typeface="Aptos"/>
                <a:cs typeface="Aptos"/>
              </a:defRPr>
            </a:defPPr>
          </a:lstStyle>
          <a:p xmlns:a="http://schemas.openxmlformats.org/drawingml/2006/main">
            <a:pPr>
              <a:defRPr sz="3450" b="1">
                <a:solidFill>
                  <a:srgbClr val="132E38"/>
                </a:solidFill>
                <a:latin typeface="Aptos"/>
                <a:ea typeface="Aptos"/>
                <a:cs typeface="Aptos"/>
              </a:defRPr>
            </a:pPr>
            <a:r>
              <a:rPr sz="3450" b="1">
                <a:solidFill>
                  <a:srgbClr val="132E38"/>
                </a:solidFill>
                <a:latin typeface="Aptos"/>
                <a:ea typeface="Aptos"/>
                <a:cs typeface="Aptos"/>
              </a:rPr>
              <a:t>Tests defined before implementation</a:t>
            </a:r>
          </a:p>
        </p:txBody>
      </p:sp>
      <p:sp>
        <p:nvSpPr>
          <p:cNvPr id="3" name="">
            <a:extLst xmlns:a="http://schemas.openxmlformats.org/drawingml/2006/main">
              <a:ext uri="{FF2B5EF4-FFF2-40B4-BE49-F238E27FC236}">
                <a16:creationId xmlns:a16="http://schemas.microsoft.com/office/drawing/2014/main" id="{486A5440-9D95-4517-BE0E-1023F89B7BD8}"/>
              </a:ext>
            </a:extLst>
          </p:cNvPr>
          <p:cNvSpPr>
            <a:spLocks xmlns:a="http://schemas.openxmlformats.org/drawingml/2006/main" noGrp="1"/>
          </p:cNvSpPr>
          <p:nvPr/>
        </p:nvSpPr>
        <p:spPr>
          <a:xfrm xmlns:a="http://schemas.openxmlformats.org/drawingml/2006/main">
            <a:off x="571500" y="1362075"/>
            <a:ext cx="1409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49616A"/>
                </a:solidFill>
                <a:latin typeface="Aptos"/>
                <a:ea typeface="Aptos"/>
                <a:cs typeface="Aptos"/>
              </a:defRPr>
            </a:defPPr>
          </a:lstStyle>
          <a:p xmlns:a="http://schemas.openxmlformats.org/drawingml/2006/main">
            <a:pPr>
              <a:defRPr sz="1800" b="0">
                <a:solidFill>
                  <a:srgbClr val="49616A"/>
                </a:solidFill>
                <a:latin typeface="Aptos"/>
                <a:ea typeface="Aptos"/>
                <a:cs typeface="Aptos"/>
              </a:defRPr>
            </a:pPr>
            <a:r>
              <a:rPr sz="1800" b="0">
                <a:solidFill>
                  <a:srgbClr val="49616A"/>
                </a:solidFill>
                <a:latin typeface="Aptos"/>
                <a:ea typeface="Aptos"/>
                <a:cs typeface="Aptos"/>
              </a:rPr>
              <a:t>All application and security tests are planned, not run. Evidence gates determine what the demo can honestly claim.</a:t>
            </a:r>
          </a:p>
        </p:txBody>
      </p:sp>
      <p:sp>
        <p:nvSpPr>
          <p:cNvPr id="4" name="">
            <a:extLst xmlns:a="http://schemas.openxmlformats.org/drawingml/2006/main">
              <a:ext uri="{FF2B5EF4-FFF2-40B4-BE49-F238E27FC236}">
                <a16:creationId xmlns:a16="http://schemas.microsoft.com/office/drawing/2014/main" id="{CDB6DA59-E8D7-42B6-A605-9DB30A8E75C2}"/>
              </a:ext>
            </a:extLst>
          </p:cNvPr>
          <p:cNvSpPr>
            <a:spLocks xmlns:a="http://schemas.openxmlformats.org/drawingml/2006/main" noGrp="1"/>
          </p:cNvSpPr>
          <p:nvPr/>
        </p:nvSpPr>
        <p:spPr>
          <a:xfrm xmlns:a="http://schemas.openxmlformats.org/drawingml/2006/main">
            <a:off x="571500" y="7962900"/>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13E92AE-D7B6-4266-B89D-9FEDE8430C92}"/>
              </a:ext>
            </a:extLst>
          </p:cNvPr>
          <p:cNvSpPr>
            <a:spLocks xmlns:a="http://schemas.openxmlformats.org/drawingml/2006/main" noGrp="1"/>
          </p:cNvSpPr>
          <p:nvPr/>
        </p:nvSpPr>
        <p:spPr>
          <a:xfrm xmlns:a="http://schemas.openxmlformats.org/drawingml/2006/main">
            <a:off x="571500" y="8105775"/>
            <a:ext cx="13144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75" b="0">
                <a:solidFill>
                  <a:srgbClr val="49616A"/>
                </a:solidFill>
                <a:latin typeface="Aptos"/>
                <a:ea typeface="Aptos"/>
                <a:cs typeface="Aptos"/>
              </a:defRPr>
            </a:defPPr>
          </a:lstStyle>
          <a:p xmlns:a="http://schemas.openxmlformats.org/drawingml/2006/main">
            <a:pPr>
              <a:defRPr sz="1275" b="0">
                <a:solidFill>
                  <a:srgbClr val="49616A"/>
                </a:solidFill>
                <a:latin typeface="Aptos"/>
                <a:ea typeface="Aptos"/>
                <a:cs typeface="Aptos"/>
              </a:defRPr>
            </a:pPr>
            <a:r>
              <a:rPr sz="1275" b="0">
                <a:solidFill>
                  <a:srgbClr val="49616A"/>
                </a:solidFill>
                <a:latin typeface="Aptos"/>
                <a:ea typeface="Aptos"/>
                <a:cs typeface="Aptos"/>
              </a:rPr>
              <a:t>INERTIA-2026-10-22-r4 · 22 October 2026 · Planning, not implemented</a:t>
            </a:r>
          </a:p>
        </p:txBody>
      </p:sp>
      <p:sp>
        <p:nvSpPr>
          <p:cNvPr id="6" name="">
            <a:extLst xmlns:a="http://schemas.openxmlformats.org/drawingml/2006/main">
              <a:ext uri="{FF2B5EF4-FFF2-40B4-BE49-F238E27FC236}">
                <a16:creationId xmlns:a16="http://schemas.microsoft.com/office/drawing/2014/main" id="{6B29612C-01DA-46DE-BC71-D0C45C64EDA6}"/>
              </a:ext>
            </a:extLst>
          </p:cNvPr>
          <p:cNvSpPr>
            <a:spLocks xmlns:a="http://schemas.openxmlformats.org/drawingml/2006/main" noGrp="1"/>
          </p:cNvSpPr>
          <p:nvPr/>
        </p:nvSpPr>
        <p:spPr>
          <a:xfrm xmlns:a="http://schemas.openxmlformats.org/drawingml/2006/main">
            <a:off x="14001750" y="8067675"/>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1">
                <a:solidFill>
                  <a:srgbClr val="157D80"/>
                </a:solidFill>
                <a:latin typeface="Aptos"/>
                <a:ea typeface="Aptos"/>
                <a:cs typeface="Aptos"/>
              </a:defRPr>
            </a:defPPr>
          </a:lstStyle>
          <a:p xmlns:a="http://schemas.openxmlformats.org/drawingml/2006/main">
            <a:pPr>
              <a:defRPr sz="1800" b="1">
                <a:solidFill>
                  <a:srgbClr val="157D80"/>
                </a:solidFill>
                <a:latin typeface="Aptos"/>
                <a:ea typeface="Aptos"/>
                <a:cs typeface="Aptos"/>
              </a:defRPr>
            </a:pPr>
            <a:r>
              <a:rPr sz="1800" b="1">
                <a:solidFill>
                  <a:srgbClr val="157D80"/>
                </a:solidFill>
                <a:latin typeface="Aptos"/>
                <a:ea typeface="Aptos"/>
                <a:cs typeface="Aptos"/>
              </a:rPr>
              <a:t>06</a:t>
            </a:r>
          </a:p>
        </p:txBody>
      </p:sp>
      <p:sp>
        <p:nvSpPr>
          <p:cNvPr id="7" name="">
            <a:extLst xmlns:a="http://schemas.openxmlformats.org/drawingml/2006/main">
              <a:ext uri="{FF2B5EF4-FFF2-40B4-BE49-F238E27FC236}">
                <a16:creationId xmlns:a16="http://schemas.microsoft.com/office/drawing/2014/main" id="{311EBF08-ECE9-4C7C-BD9F-C680A5ED131A}"/>
              </a:ext>
            </a:extLst>
          </p:cNvPr>
          <p:cNvSpPr>
            <a:spLocks xmlns:a="http://schemas.openxmlformats.org/drawingml/2006/main" noGrp="1"/>
          </p:cNvSpPr>
          <p:nvPr/>
        </p:nvSpPr>
        <p:spPr>
          <a:xfrm xmlns:a="http://schemas.openxmlformats.org/drawingml/2006/main">
            <a:off x="571500" y="2305050"/>
            <a:ext cx="666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1">
                <a:solidFill>
                  <a:srgbClr val="157D80"/>
                </a:solidFill>
                <a:latin typeface="Aptos"/>
                <a:ea typeface="Aptos"/>
                <a:cs typeface="Aptos"/>
              </a:defRPr>
            </a:defPPr>
          </a:lstStyle>
          <a:p xmlns:a="http://schemas.openxmlformats.org/drawingml/2006/main">
            <a:pPr>
              <a:defRPr sz="2100" b="1">
                <a:solidFill>
                  <a:srgbClr val="157D80"/>
                </a:solidFill>
                <a:latin typeface="Aptos"/>
                <a:ea typeface="Aptos"/>
                <a:cs typeface="Aptos"/>
              </a:defRPr>
            </a:pPr>
            <a:r>
              <a:rPr sz="2100" b="1">
                <a:solidFill>
                  <a:srgbClr val="157D80"/>
                </a:solidFill>
                <a:latin typeface="Aptos"/>
                <a:ea typeface="Aptos"/>
                <a:cs typeface="Aptos"/>
              </a:rPr>
              <a:t>Meeting and grant acceptance</a:t>
            </a:r>
          </a:p>
        </p:txBody>
      </p:sp>
      <p:sp>
        <p:nvSpPr>
          <p:cNvPr id="8" name="">
            <a:extLst xmlns:a="http://schemas.openxmlformats.org/drawingml/2006/main">
              <a:ext uri="{FF2B5EF4-FFF2-40B4-BE49-F238E27FC236}">
                <a16:creationId xmlns:a16="http://schemas.microsoft.com/office/drawing/2014/main" id="{A731F9CC-9111-4C6F-BB51-545B01333CA0}"/>
              </a:ext>
            </a:extLst>
          </p:cNvPr>
          <p:cNvSpPr>
            <a:spLocks xmlns:a="http://schemas.openxmlformats.org/drawingml/2006/main" noGrp="1"/>
          </p:cNvSpPr>
          <p:nvPr/>
        </p:nvSpPr>
        <p:spPr>
          <a:xfrm xmlns:a="http://schemas.openxmlformats.org/drawingml/2006/main">
            <a:off x="571500" y="2762250"/>
            <a:ext cx="6667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132E38"/>
                </a:solidFill>
                <a:latin typeface="Aptos"/>
                <a:ea typeface="Aptos"/>
                <a:cs typeface="Aptos"/>
              </a:defRPr>
            </a:defPPr>
          </a:lstStyle>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T-M01–05: faithful outputs, duplicates, versions, readback and retries.</a:t>
            </a:r>
          </a:p>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T-G01–04: current evidence, review, packet hash, vote scope and submission boundary.</a:t>
            </a:r>
          </a:p>
        </p:txBody>
      </p:sp>
      <p:sp>
        <p:nvSpPr>
          <p:cNvPr id="9" name="">
            <a:extLst xmlns:a="http://schemas.openxmlformats.org/drawingml/2006/main">
              <a:ext uri="{FF2B5EF4-FFF2-40B4-BE49-F238E27FC236}">
                <a16:creationId xmlns:a16="http://schemas.microsoft.com/office/drawing/2014/main" id="{7C8A3051-8230-42B4-88A3-ECF6ECE6DC95}"/>
              </a:ext>
            </a:extLst>
          </p:cNvPr>
          <p:cNvSpPr>
            <a:spLocks xmlns:a="http://schemas.openxmlformats.org/drawingml/2006/main" noGrp="1"/>
          </p:cNvSpPr>
          <p:nvPr/>
        </p:nvSpPr>
        <p:spPr>
          <a:xfrm xmlns:a="http://schemas.openxmlformats.org/drawingml/2006/main">
            <a:off x="8096250" y="2305050"/>
            <a:ext cx="657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1">
                <a:solidFill>
                  <a:srgbClr val="157D80"/>
                </a:solidFill>
                <a:latin typeface="Aptos"/>
                <a:ea typeface="Aptos"/>
                <a:cs typeface="Aptos"/>
              </a:defRPr>
            </a:defPPr>
          </a:lstStyle>
          <a:p xmlns:a="http://schemas.openxmlformats.org/drawingml/2006/main">
            <a:pPr>
              <a:defRPr sz="2100" b="1">
                <a:solidFill>
                  <a:srgbClr val="157D80"/>
                </a:solidFill>
                <a:latin typeface="Aptos"/>
                <a:ea typeface="Aptos"/>
                <a:cs typeface="Aptos"/>
              </a:defRPr>
            </a:pPr>
            <a:r>
              <a:rPr sz="2100" b="1">
                <a:solidFill>
                  <a:srgbClr val="157D80"/>
                </a:solidFill>
                <a:latin typeface="Aptos"/>
                <a:ea typeface="Aptos"/>
                <a:cs typeface="Aptos"/>
              </a:rPr>
              <a:t>Member and concurrency acceptance</a:t>
            </a:r>
          </a:p>
        </p:txBody>
      </p:sp>
      <p:sp>
        <p:nvSpPr>
          <p:cNvPr id="10" name="">
            <a:extLst xmlns:a="http://schemas.openxmlformats.org/drawingml/2006/main">
              <a:ext uri="{FF2B5EF4-FFF2-40B4-BE49-F238E27FC236}">
                <a16:creationId xmlns:a16="http://schemas.microsoft.com/office/drawing/2014/main" id="{EEA3C83D-2F01-4A9D-9415-72AE414D31FF}"/>
              </a:ext>
            </a:extLst>
          </p:cNvPr>
          <p:cNvSpPr>
            <a:spLocks xmlns:a="http://schemas.openxmlformats.org/drawingml/2006/main" noGrp="1"/>
          </p:cNvSpPr>
          <p:nvPr/>
        </p:nvSpPr>
        <p:spPr>
          <a:xfrm xmlns:a="http://schemas.openxmlformats.org/drawingml/2006/main">
            <a:off x="8096250" y="2762250"/>
            <a:ext cx="6572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132E38"/>
                </a:solidFill>
                <a:latin typeface="Aptos"/>
                <a:ea typeface="Aptos"/>
                <a:cs typeface="Aptos"/>
              </a:defRPr>
            </a:defPPr>
          </a:lstStyle>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T-C01–04: two real clients, scoped work, concurrent claims, expired leases, reassignment and idempotent receipts.</a:t>
            </a:r>
          </a:p>
        </p:txBody>
      </p:sp>
      <p:sp>
        <p:nvSpPr>
          <p:cNvPr id="11" name="">
            <a:extLst xmlns:a="http://schemas.openxmlformats.org/drawingml/2006/main">
              <a:ext uri="{FF2B5EF4-FFF2-40B4-BE49-F238E27FC236}">
                <a16:creationId xmlns:a16="http://schemas.microsoft.com/office/drawing/2014/main" id="{9B82B2AE-9870-44BD-B4CE-5C4A3B6B99C3}"/>
              </a:ext>
            </a:extLst>
          </p:cNvPr>
          <p:cNvSpPr>
            <a:spLocks xmlns:a="http://schemas.openxmlformats.org/drawingml/2006/main" noGrp="1"/>
          </p:cNvSpPr>
          <p:nvPr/>
        </p:nvSpPr>
        <p:spPr>
          <a:xfrm xmlns:a="http://schemas.openxmlformats.org/drawingml/2006/main">
            <a:off x="571500" y="4410075"/>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9E613D3-96D0-458C-AEAD-7CD5C02D252C}"/>
              </a:ext>
            </a:extLst>
          </p:cNvPr>
          <p:cNvSpPr>
            <a:spLocks xmlns:a="http://schemas.openxmlformats.org/drawingml/2006/main" noGrp="1"/>
          </p:cNvSpPr>
          <p:nvPr/>
        </p:nvSpPr>
        <p:spPr>
          <a:xfrm xmlns:a="http://schemas.openxmlformats.org/drawingml/2006/main">
            <a:off x="571500" y="4743450"/>
            <a:ext cx="666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1">
                <a:solidFill>
                  <a:srgbClr val="157D80"/>
                </a:solidFill>
                <a:latin typeface="Aptos"/>
                <a:ea typeface="Aptos"/>
                <a:cs typeface="Aptos"/>
              </a:defRPr>
            </a:defPPr>
          </a:lstStyle>
          <a:p xmlns:a="http://schemas.openxmlformats.org/drawingml/2006/main">
            <a:pPr>
              <a:defRPr sz="2100" b="1">
                <a:solidFill>
                  <a:srgbClr val="157D80"/>
                </a:solidFill>
                <a:latin typeface="Aptos"/>
                <a:ea typeface="Aptos"/>
                <a:cs typeface="Aptos"/>
              </a:defRPr>
            </a:pPr>
            <a:r>
              <a:rPr sz="2100" b="1">
                <a:solidFill>
                  <a:srgbClr val="157D80"/>
                </a:solidFill>
                <a:latin typeface="Aptos"/>
                <a:ea typeface="Aptos"/>
                <a:cs typeface="Aptos"/>
              </a:rPr>
              <a:t>Security negative cases</a:t>
            </a:r>
          </a:p>
        </p:txBody>
      </p:sp>
      <p:sp>
        <p:nvSpPr>
          <p:cNvPr id="13" name="">
            <a:extLst xmlns:a="http://schemas.openxmlformats.org/drawingml/2006/main">
              <a:ext uri="{FF2B5EF4-FFF2-40B4-BE49-F238E27FC236}">
                <a16:creationId xmlns:a16="http://schemas.microsoft.com/office/drawing/2014/main" id="{2AAE19F5-B9AF-4FFB-878F-765506B86A26}"/>
              </a:ext>
            </a:extLst>
          </p:cNvPr>
          <p:cNvSpPr>
            <a:spLocks xmlns:a="http://schemas.openxmlformats.org/drawingml/2006/main" noGrp="1"/>
          </p:cNvSpPr>
          <p:nvPr/>
        </p:nvSpPr>
        <p:spPr>
          <a:xfrm xmlns:a="http://schemas.openxmlformats.org/drawingml/2006/main">
            <a:off x="571500" y="5200650"/>
            <a:ext cx="6667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132E38"/>
                </a:solidFill>
                <a:latin typeface="Aptos"/>
                <a:ea typeface="Aptos"/>
                <a:cs typeface="Aptos"/>
              </a:defRPr>
            </a:defPPr>
          </a:lstStyle>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T-S01–06 + T-I01: unauthorized cross-member access, revoked credentials, secret canaries, sandbox escape, egress, malicious artifacts and prompt injection.</a:t>
            </a:r>
          </a:p>
        </p:txBody>
      </p:sp>
      <p:sp>
        <p:nvSpPr>
          <p:cNvPr id="14" name="">
            <a:extLst xmlns:a="http://schemas.openxmlformats.org/drawingml/2006/main">
              <a:ext uri="{FF2B5EF4-FFF2-40B4-BE49-F238E27FC236}">
                <a16:creationId xmlns:a16="http://schemas.microsoft.com/office/drawing/2014/main" id="{16E2A8EF-1A01-43B9-9B80-CC93B32834B5}"/>
              </a:ext>
            </a:extLst>
          </p:cNvPr>
          <p:cNvSpPr>
            <a:spLocks xmlns:a="http://schemas.openxmlformats.org/drawingml/2006/main" noGrp="1"/>
          </p:cNvSpPr>
          <p:nvPr/>
        </p:nvSpPr>
        <p:spPr>
          <a:xfrm xmlns:a="http://schemas.openxmlformats.org/drawingml/2006/main">
            <a:off x="8096250" y="4743450"/>
            <a:ext cx="657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1">
                <a:solidFill>
                  <a:srgbClr val="157D80"/>
                </a:solidFill>
                <a:latin typeface="Aptos"/>
                <a:ea typeface="Aptos"/>
                <a:cs typeface="Aptos"/>
              </a:defRPr>
            </a:defPPr>
          </a:lstStyle>
          <a:p xmlns:a="http://schemas.openxmlformats.org/drawingml/2006/main">
            <a:pPr>
              <a:defRPr sz="2100" b="1">
                <a:solidFill>
                  <a:srgbClr val="157D80"/>
                </a:solidFill>
                <a:latin typeface="Aptos"/>
                <a:ea typeface="Aptos"/>
                <a:cs typeface="Aptos"/>
              </a:defRPr>
            </a:pPr>
            <a:r>
              <a:rPr sz="2100" b="1">
                <a:solidFill>
                  <a:srgbClr val="157D80"/>
                </a:solidFill>
                <a:latin typeface="Aptos"/>
                <a:ea typeface="Aptos"/>
                <a:cs typeface="Aptos"/>
              </a:rPr>
              <a:t>Operational acceptance</a:t>
            </a:r>
          </a:p>
        </p:txBody>
      </p:sp>
      <p:sp>
        <p:nvSpPr>
          <p:cNvPr id="15" name="">
            <a:extLst xmlns:a="http://schemas.openxmlformats.org/drawingml/2006/main">
              <a:ext uri="{FF2B5EF4-FFF2-40B4-BE49-F238E27FC236}">
                <a16:creationId xmlns:a16="http://schemas.microsoft.com/office/drawing/2014/main" id="{88696ADC-2C16-4408-8779-0FBD9580C790}"/>
              </a:ext>
            </a:extLst>
          </p:cNvPr>
          <p:cNvSpPr>
            <a:spLocks xmlns:a="http://schemas.openxmlformats.org/drawingml/2006/main" noGrp="1"/>
          </p:cNvSpPr>
          <p:nvPr/>
        </p:nvSpPr>
        <p:spPr>
          <a:xfrm xmlns:a="http://schemas.openxmlformats.org/drawingml/2006/main">
            <a:off x="8096250" y="5200650"/>
            <a:ext cx="6572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132E38"/>
                </a:solidFill>
                <a:latin typeface="Aptos"/>
                <a:ea typeface="Aptos"/>
                <a:cs typeface="Aptos"/>
              </a:defRPr>
            </a:defPPr>
          </a:lstStyle>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T-O01–02: durable recovery, audit and storage boundaries.</a:t>
            </a:r>
          </a:p>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T-Y01: evidence update and watch retirement.</a:t>
            </a:r>
          </a:p>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T-A01: five-artifact synchronization.</a:t>
            </a:r>
          </a:p>
        </p:txBody>
      </p:sp>
      <p:sp>
        <p:nvSpPr>
          <p:cNvPr id="16" name="">
            <a:extLst xmlns:a="http://schemas.openxmlformats.org/drawingml/2006/main">
              <a:ext uri="{FF2B5EF4-FFF2-40B4-BE49-F238E27FC236}">
                <a16:creationId xmlns:a16="http://schemas.microsoft.com/office/drawing/2014/main" id="{2E6F252E-DAA0-42FC-88C9-E82631F706D2}"/>
              </a:ext>
            </a:extLst>
          </p:cNvPr>
          <p:cNvSpPr>
            <a:spLocks xmlns:a="http://schemas.openxmlformats.org/drawingml/2006/main" noGrp="1"/>
          </p:cNvSpPr>
          <p:nvPr/>
        </p:nvSpPr>
        <p:spPr>
          <a:xfrm xmlns:a="http://schemas.openxmlformats.org/drawingml/2006/main">
            <a:off x="571500" y="6848475"/>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83C5781-3266-4459-AE72-B7A92D559957}"/>
              </a:ext>
            </a:extLst>
          </p:cNvPr>
          <p:cNvSpPr>
            <a:spLocks xmlns:a="http://schemas.openxmlformats.org/drawingml/2006/main" noGrp="1"/>
          </p:cNvSpPr>
          <p:nvPr/>
        </p:nvSpPr>
        <p:spPr>
          <a:xfrm xmlns:a="http://schemas.openxmlformats.org/drawingml/2006/main">
            <a:off x="571500" y="7096125"/>
            <a:ext cx="266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1">
                <a:solidFill>
                  <a:srgbClr val="157D80"/>
                </a:solidFill>
                <a:latin typeface="Aptos"/>
                <a:ea typeface="Aptos"/>
                <a:cs typeface="Aptos"/>
              </a:defRPr>
            </a:defPPr>
          </a:lstStyle>
          <a:p xmlns:a="http://schemas.openxmlformats.org/drawingml/2006/main">
            <a:pPr>
              <a:defRPr sz="2100" b="1">
                <a:solidFill>
                  <a:srgbClr val="157D80"/>
                </a:solidFill>
                <a:latin typeface="Aptos"/>
                <a:ea typeface="Aptos"/>
                <a:cs typeface="Aptos"/>
              </a:defRPr>
            </a:pPr>
            <a:r>
              <a:rPr sz="2100" b="1">
                <a:solidFill>
                  <a:srgbClr val="157D80"/>
                </a:solidFill>
                <a:latin typeface="Aptos"/>
                <a:ea typeface="Aptos"/>
                <a:cs typeface="Aptos"/>
              </a:rPr>
              <a:t>Release gates</a:t>
            </a:r>
          </a:p>
        </p:txBody>
      </p:sp>
      <p:sp>
        <p:nvSpPr>
          <p:cNvPr id="18" name="">
            <a:extLst xmlns:a="http://schemas.openxmlformats.org/drawingml/2006/main">
              <a:ext uri="{FF2B5EF4-FFF2-40B4-BE49-F238E27FC236}">
                <a16:creationId xmlns:a16="http://schemas.microsoft.com/office/drawing/2014/main" id="{7C1BEDCA-321F-4824-A800-64E103BFF36D}"/>
              </a:ext>
            </a:extLst>
          </p:cNvPr>
          <p:cNvSpPr>
            <a:spLocks xmlns:a="http://schemas.openxmlformats.org/drawingml/2006/main" noGrp="1"/>
          </p:cNvSpPr>
          <p:nvPr/>
        </p:nvSpPr>
        <p:spPr>
          <a:xfrm xmlns:a="http://schemas.openxmlformats.org/drawingml/2006/main">
            <a:off x="3524250" y="7038975"/>
            <a:ext cx="11144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132E38"/>
                </a:solidFill>
                <a:latin typeface="Aptos"/>
                <a:ea typeface="Aptos"/>
                <a:cs typeface="Aptos"/>
              </a:defRPr>
            </a:defPPr>
          </a:lstStyle>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No secure-isolation claim with failed security tests. No simulated integration labeled live. No fabricated transcript, opportunity freshness or submission status.</a:t>
            </a:r>
          </a:p>
        </p:txBody>
      </p:sp>
    </p:spTree>
    <p:extLst>
      <p:ext uri="{BB962C8B-B14F-4D97-AF65-F5344CB8AC3E}">
        <p14:creationId xmlns:p14="http://schemas.microsoft.com/office/powerpoint/2010/main" val="335290676"/>
      </p:ext>
    </p:extLst>
  </p:cSld>
</p:sld>
</file>

<file path=ppt/slides/slide7.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23788C43-8EA0-43AC-98CE-11760A0B70AC}"/>
              </a:ext>
            </a:extLst>
          </p:cNvPr>
          <p:cNvSpPr>
            <a:spLocks xmlns:a="http://schemas.openxmlformats.org/drawingml/2006/main" noGrp="1"/>
          </p:cNvSpPr>
          <p:nvPr/>
        </p:nvSpPr>
        <p:spPr>
          <a:xfrm xmlns:a="http://schemas.openxmlformats.org/drawingml/2006/main">
            <a:off x="571500" y="295275"/>
            <a:ext cx="952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1">
                <a:solidFill>
                  <a:srgbClr val="157D80"/>
                </a:solidFill>
                <a:latin typeface="Aptos"/>
                <a:ea typeface="Aptos"/>
                <a:cs typeface="Aptos"/>
              </a:defRPr>
            </a:defPPr>
          </a:lstStyle>
          <a:p xmlns:a="http://schemas.openxmlformats.org/drawingml/2006/main">
            <a:pPr>
              <a:defRPr sz="1350" b="1">
                <a:solidFill>
                  <a:srgbClr val="157D80"/>
                </a:solidFill>
                <a:latin typeface="Aptos"/>
                <a:ea typeface="Aptos"/>
                <a:cs typeface="Aptos"/>
              </a:defRPr>
            </a:pPr>
            <a:r>
              <a:rPr sz="1350" b="1">
                <a:solidFill>
                  <a:srgbClr val="157D80"/>
                </a:solidFill>
                <a:latin typeface="Aptos"/>
                <a:ea typeface="Aptos"/>
                <a:cs typeface="Aptos"/>
              </a:rPr>
              <a:t>INERTIA / FORT WORTH DAO</a:t>
            </a:r>
          </a:p>
        </p:txBody>
      </p:sp>
      <p:sp>
        <p:nvSpPr>
          <p:cNvPr id="2" name="">
            <a:extLst xmlns:a="http://schemas.openxmlformats.org/drawingml/2006/main">
              <a:ext uri="{FF2B5EF4-FFF2-40B4-BE49-F238E27FC236}">
                <a16:creationId xmlns:a16="http://schemas.microsoft.com/office/drawing/2014/main" id="{2B7E4C85-51B0-48B5-8F35-DC845E5EBFDC}"/>
              </a:ext>
            </a:extLst>
          </p:cNvPr>
          <p:cNvSpPr>
            <a:spLocks xmlns:a="http://schemas.openxmlformats.org/drawingml/2006/main" noGrp="1"/>
          </p:cNvSpPr>
          <p:nvPr/>
        </p:nvSpPr>
        <p:spPr>
          <a:xfrm xmlns:a="http://schemas.openxmlformats.org/drawingml/2006/main">
            <a:off x="571500" y="723900"/>
            <a:ext cx="1409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450" b="1">
                <a:solidFill>
                  <a:srgbClr val="132E38"/>
                </a:solidFill>
                <a:latin typeface="Aptos"/>
                <a:ea typeface="Aptos"/>
                <a:cs typeface="Aptos"/>
              </a:defRPr>
            </a:defPPr>
          </a:lstStyle>
          <a:p xmlns:a="http://schemas.openxmlformats.org/drawingml/2006/main">
            <a:pPr>
              <a:defRPr sz="3450" b="1">
                <a:solidFill>
                  <a:srgbClr val="132E38"/>
                </a:solidFill>
                <a:latin typeface="Aptos"/>
                <a:ea typeface="Aptos"/>
                <a:cs typeface="Aptos"/>
              </a:defRPr>
            </a:pPr>
            <a:r>
              <a:rPr sz="3450" b="1">
                <a:solidFill>
                  <a:srgbClr val="132E38"/>
                </a:solidFill>
                <a:latin typeface="Aptos"/>
                <a:ea typeface="Aptos"/>
                <a:cs typeface="Aptos"/>
              </a:rPr>
              <a:t>One-week delivery and unresolved choices</a:t>
            </a:r>
          </a:p>
        </p:txBody>
      </p:sp>
      <p:sp>
        <p:nvSpPr>
          <p:cNvPr id="3" name="">
            <a:extLst xmlns:a="http://schemas.openxmlformats.org/drawingml/2006/main">
              <a:ext uri="{FF2B5EF4-FFF2-40B4-BE49-F238E27FC236}">
                <a16:creationId xmlns:a16="http://schemas.microsoft.com/office/drawing/2014/main" id="{C276F048-1E77-4D7B-B571-0F8C49E9E521}"/>
              </a:ext>
            </a:extLst>
          </p:cNvPr>
          <p:cNvSpPr>
            <a:spLocks xmlns:a="http://schemas.openxmlformats.org/drawingml/2006/main" noGrp="1"/>
          </p:cNvSpPr>
          <p:nvPr/>
        </p:nvSpPr>
        <p:spPr>
          <a:xfrm xmlns:a="http://schemas.openxmlformats.org/drawingml/2006/main">
            <a:off x="571500" y="1362075"/>
            <a:ext cx="1409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49616A"/>
                </a:solidFill>
                <a:latin typeface="Aptos"/>
                <a:ea typeface="Aptos"/>
                <a:cs typeface="Aptos"/>
              </a:defRPr>
            </a:defPPr>
          </a:lstStyle>
          <a:p xmlns:a="http://schemas.openxmlformats.org/drawingml/2006/main">
            <a:pPr>
              <a:defRPr sz="1800" b="0">
                <a:solidFill>
                  <a:srgbClr val="49616A"/>
                </a:solidFill>
                <a:latin typeface="Aptos"/>
                <a:ea typeface="Aptos"/>
                <a:cs typeface="Aptos"/>
              </a:defRPr>
            </a:pPr>
            <a:r>
              <a:rPr sz="1800" b="0">
                <a:solidFill>
                  <a:srgbClr val="49616A"/>
                </a:solidFill>
                <a:latin typeface="Aptos"/>
                <a:ea typeface="Aptos"/>
                <a:cs typeface="Aptos"/>
              </a:rPr>
              <a:t>Proposed sequence for the October 29 demo, ahead of the October 30 deadline. Implementation owners remain unassigned.</a:t>
            </a:r>
          </a:p>
        </p:txBody>
      </p:sp>
      <p:sp>
        <p:nvSpPr>
          <p:cNvPr id="4" name="">
            <a:extLst xmlns:a="http://schemas.openxmlformats.org/drawingml/2006/main">
              <a:ext uri="{FF2B5EF4-FFF2-40B4-BE49-F238E27FC236}">
                <a16:creationId xmlns:a16="http://schemas.microsoft.com/office/drawing/2014/main" id="{48E442AB-ABB6-40E7-96B6-F76E61FA0CDF}"/>
              </a:ext>
            </a:extLst>
          </p:cNvPr>
          <p:cNvSpPr>
            <a:spLocks xmlns:a="http://schemas.openxmlformats.org/drawingml/2006/main" noGrp="1"/>
          </p:cNvSpPr>
          <p:nvPr/>
        </p:nvSpPr>
        <p:spPr>
          <a:xfrm xmlns:a="http://schemas.openxmlformats.org/drawingml/2006/main">
            <a:off x="571500" y="7962900"/>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CC1122D-7CB2-44A6-9279-B88346FD78CE}"/>
              </a:ext>
            </a:extLst>
          </p:cNvPr>
          <p:cNvSpPr>
            <a:spLocks xmlns:a="http://schemas.openxmlformats.org/drawingml/2006/main" noGrp="1"/>
          </p:cNvSpPr>
          <p:nvPr/>
        </p:nvSpPr>
        <p:spPr>
          <a:xfrm xmlns:a="http://schemas.openxmlformats.org/drawingml/2006/main">
            <a:off x="571500" y="8105775"/>
            <a:ext cx="13144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75" b="0">
                <a:solidFill>
                  <a:srgbClr val="49616A"/>
                </a:solidFill>
                <a:latin typeface="Aptos"/>
                <a:ea typeface="Aptos"/>
                <a:cs typeface="Aptos"/>
              </a:defRPr>
            </a:defPPr>
          </a:lstStyle>
          <a:p xmlns:a="http://schemas.openxmlformats.org/drawingml/2006/main">
            <a:pPr>
              <a:defRPr sz="1275" b="0">
                <a:solidFill>
                  <a:srgbClr val="49616A"/>
                </a:solidFill>
                <a:latin typeface="Aptos"/>
                <a:ea typeface="Aptos"/>
                <a:cs typeface="Aptos"/>
              </a:defRPr>
            </a:pPr>
            <a:r>
              <a:rPr sz="1275" b="0">
                <a:solidFill>
                  <a:srgbClr val="49616A"/>
                </a:solidFill>
                <a:latin typeface="Aptos"/>
                <a:ea typeface="Aptos"/>
                <a:cs typeface="Aptos"/>
              </a:rPr>
              <a:t>INERTIA-2026-10-22-r4 · 22 October 2026 · Planning, not implemented</a:t>
            </a:r>
          </a:p>
        </p:txBody>
      </p:sp>
      <p:sp>
        <p:nvSpPr>
          <p:cNvPr id="6" name="">
            <a:extLst xmlns:a="http://schemas.openxmlformats.org/drawingml/2006/main">
              <a:ext uri="{FF2B5EF4-FFF2-40B4-BE49-F238E27FC236}">
                <a16:creationId xmlns:a16="http://schemas.microsoft.com/office/drawing/2014/main" id="{E4A5A7D2-8462-430A-9B84-4957B4FF83E9}"/>
              </a:ext>
            </a:extLst>
          </p:cNvPr>
          <p:cNvSpPr>
            <a:spLocks xmlns:a="http://schemas.openxmlformats.org/drawingml/2006/main" noGrp="1"/>
          </p:cNvSpPr>
          <p:nvPr/>
        </p:nvSpPr>
        <p:spPr>
          <a:xfrm xmlns:a="http://schemas.openxmlformats.org/drawingml/2006/main">
            <a:off x="14001750" y="8067675"/>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1">
                <a:solidFill>
                  <a:srgbClr val="157D80"/>
                </a:solidFill>
                <a:latin typeface="Aptos"/>
                <a:ea typeface="Aptos"/>
                <a:cs typeface="Aptos"/>
              </a:defRPr>
            </a:defPPr>
          </a:lstStyle>
          <a:p xmlns:a="http://schemas.openxmlformats.org/drawingml/2006/main">
            <a:pPr>
              <a:defRPr sz="1800" b="1">
                <a:solidFill>
                  <a:srgbClr val="157D80"/>
                </a:solidFill>
                <a:latin typeface="Aptos"/>
                <a:ea typeface="Aptos"/>
                <a:cs typeface="Aptos"/>
              </a:defRPr>
            </a:pPr>
            <a:r>
              <a:rPr sz="1800" b="1">
                <a:solidFill>
                  <a:srgbClr val="157D80"/>
                </a:solidFill>
                <a:latin typeface="Aptos"/>
                <a:ea typeface="Aptos"/>
                <a:cs typeface="Aptos"/>
              </a:rPr>
              <a:t>07</a:t>
            </a:r>
          </a:p>
        </p:txBody>
      </p:sp>
      <p:sp>
        <p:nvSpPr>
          <p:cNvPr id="7" name="">
            <a:extLst xmlns:a="http://schemas.openxmlformats.org/drawingml/2006/main">
              <a:ext uri="{FF2B5EF4-FFF2-40B4-BE49-F238E27FC236}">
                <a16:creationId xmlns:a16="http://schemas.microsoft.com/office/drawing/2014/main" id="{8C706321-7E73-49AB-94A9-EF507CB73FD9}"/>
              </a:ext>
            </a:extLst>
          </p:cNvPr>
          <p:cNvSpPr>
            <a:spLocks xmlns:a="http://schemas.openxmlformats.org/drawingml/2006/main" noGrp="1"/>
          </p:cNvSpPr>
          <p:nvPr/>
        </p:nvSpPr>
        <p:spPr>
          <a:xfrm xmlns:a="http://schemas.openxmlformats.org/drawingml/2006/main">
            <a:off x="571500" y="2257425"/>
            <a:ext cx="3333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1">
                <a:solidFill>
                  <a:srgbClr val="157D80"/>
                </a:solidFill>
                <a:latin typeface="Aptos"/>
                <a:ea typeface="Aptos"/>
                <a:cs typeface="Aptos"/>
              </a:defRPr>
            </a:defPPr>
          </a:lstStyle>
          <a:p xmlns:a="http://schemas.openxmlformats.org/drawingml/2006/main">
            <a:pPr>
              <a:defRPr sz="1575" b="1">
                <a:solidFill>
                  <a:srgbClr val="157D80"/>
                </a:solidFill>
                <a:latin typeface="Aptos"/>
                <a:ea typeface="Aptos"/>
                <a:cs typeface="Aptos"/>
              </a:defRPr>
            </a:pPr>
            <a:r>
              <a:rPr sz="1575" b="1">
                <a:solidFill>
                  <a:srgbClr val="157D80"/>
                </a:solidFill>
                <a:latin typeface="Aptos"/>
                <a:ea typeface="Aptos"/>
                <a:cs typeface="Aptos"/>
              </a:rPr>
              <a:t>22–23 OCT</a:t>
            </a:r>
          </a:p>
        </p:txBody>
      </p:sp>
      <p:sp>
        <p:nvSpPr>
          <p:cNvPr id="8" name="">
            <a:extLst xmlns:a="http://schemas.openxmlformats.org/drawingml/2006/main">
              <a:ext uri="{FF2B5EF4-FFF2-40B4-BE49-F238E27FC236}">
                <a16:creationId xmlns:a16="http://schemas.microsoft.com/office/drawing/2014/main" id="{6DD6B624-2E3C-4379-A721-D17E5AE91775}"/>
              </a:ext>
            </a:extLst>
          </p:cNvPr>
          <p:cNvSpPr>
            <a:spLocks xmlns:a="http://schemas.openxmlformats.org/drawingml/2006/main" noGrp="1"/>
          </p:cNvSpPr>
          <p:nvPr/>
        </p:nvSpPr>
        <p:spPr>
          <a:xfrm xmlns:a="http://schemas.openxmlformats.org/drawingml/2006/main">
            <a:off x="571500" y="27146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75" b="1">
                <a:solidFill>
                  <a:srgbClr val="132E38"/>
                </a:solidFill>
                <a:latin typeface="Aptos"/>
                <a:ea typeface="Aptos"/>
                <a:cs typeface="Aptos"/>
              </a:defRPr>
            </a:defPPr>
          </a:lstStyle>
          <a:p xmlns:a="http://schemas.openxmlformats.org/drawingml/2006/main">
            <a:pPr>
              <a:defRPr sz="2175" b="1">
                <a:solidFill>
                  <a:srgbClr val="132E38"/>
                </a:solidFill>
                <a:latin typeface="Aptos"/>
                <a:ea typeface="Aptos"/>
                <a:cs typeface="Aptos"/>
              </a:defRPr>
            </a:pPr>
            <a:r>
              <a:rPr sz="2175" b="1">
                <a:solidFill>
                  <a:srgbClr val="132E38"/>
                </a:solidFill>
                <a:latin typeface="Aptos"/>
                <a:ea typeface="Aptos"/>
                <a:cs typeface="Aptos"/>
              </a:rPr>
              <a:t>Contracts + fixtures</a:t>
            </a:r>
          </a:p>
        </p:txBody>
      </p:sp>
      <p:sp>
        <p:nvSpPr>
          <p:cNvPr id="9" name="">
            <a:extLst xmlns:a="http://schemas.openxmlformats.org/drawingml/2006/main">
              <a:ext uri="{FF2B5EF4-FFF2-40B4-BE49-F238E27FC236}">
                <a16:creationId xmlns:a16="http://schemas.microsoft.com/office/drawing/2014/main" id="{7C1D056C-85A9-4074-AF01-DBF57A29B7DD}"/>
              </a:ext>
            </a:extLst>
          </p:cNvPr>
          <p:cNvSpPr>
            <a:spLocks xmlns:a="http://schemas.openxmlformats.org/drawingml/2006/main" noGrp="1"/>
          </p:cNvSpPr>
          <p:nvPr/>
        </p:nvSpPr>
        <p:spPr>
          <a:xfrm xmlns:a="http://schemas.openxmlformats.org/drawingml/2006/main">
            <a:off x="571500" y="3476625"/>
            <a:ext cx="32385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132E38"/>
                </a:solidFill>
                <a:latin typeface="Aptos"/>
                <a:ea typeface="Aptos"/>
                <a:cs typeface="Aptos"/>
              </a:defRPr>
            </a:defPPr>
          </a:lstStyle>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P1: Drive outputs and scope, runtime, member policy, current grant and vote adapter.</a:t>
            </a:r>
          </a:p>
        </p:txBody>
      </p:sp>
      <p:sp>
        <p:nvSpPr>
          <p:cNvPr id="10" name="">
            <a:extLst xmlns:a="http://schemas.openxmlformats.org/drawingml/2006/main">
              <a:ext uri="{FF2B5EF4-FFF2-40B4-BE49-F238E27FC236}">
                <a16:creationId xmlns:a16="http://schemas.microsoft.com/office/drawing/2014/main" id="{876EC6D8-7580-43E7-BD87-BD21494CCC9D}"/>
              </a:ext>
            </a:extLst>
          </p:cNvPr>
          <p:cNvSpPr>
            <a:spLocks xmlns:a="http://schemas.openxmlformats.org/drawingml/2006/main" noGrp="1"/>
          </p:cNvSpPr>
          <p:nvPr/>
        </p:nvSpPr>
        <p:spPr>
          <a:xfrm xmlns:a="http://schemas.openxmlformats.org/drawingml/2006/main">
            <a:off x="4191000" y="2257425"/>
            <a:ext cx="3333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1">
                <a:solidFill>
                  <a:srgbClr val="157D80"/>
                </a:solidFill>
                <a:latin typeface="Aptos"/>
                <a:ea typeface="Aptos"/>
                <a:cs typeface="Aptos"/>
              </a:defRPr>
            </a:defPPr>
          </a:lstStyle>
          <a:p xmlns:a="http://schemas.openxmlformats.org/drawingml/2006/main">
            <a:pPr>
              <a:defRPr sz="1575" b="1">
                <a:solidFill>
                  <a:srgbClr val="157D80"/>
                </a:solidFill>
                <a:latin typeface="Aptos"/>
                <a:ea typeface="Aptos"/>
                <a:cs typeface="Aptos"/>
              </a:defRPr>
            </a:pPr>
            <a:r>
              <a:rPr sz="1575" b="1">
                <a:solidFill>
                  <a:srgbClr val="157D80"/>
                </a:solidFill>
                <a:latin typeface="Aptos"/>
                <a:ea typeface="Aptos"/>
                <a:cs typeface="Aptos"/>
              </a:rPr>
              <a:t>23–25 OCT</a:t>
            </a:r>
          </a:p>
        </p:txBody>
      </p:sp>
      <p:sp>
        <p:nvSpPr>
          <p:cNvPr id="11" name="">
            <a:extLst xmlns:a="http://schemas.openxmlformats.org/drawingml/2006/main">
              <a:ext uri="{FF2B5EF4-FFF2-40B4-BE49-F238E27FC236}">
                <a16:creationId xmlns:a16="http://schemas.microsoft.com/office/drawing/2014/main" id="{C3435AE0-3D7B-4ED8-ADB6-7A88F94A951B}"/>
              </a:ext>
            </a:extLst>
          </p:cNvPr>
          <p:cNvSpPr>
            <a:spLocks xmlns:a="http://schemas.openxmlformats.org/drawingml/2006/main" noGrp="1"/>
          </p:cNvSpPr>
          <p:nvPr/>
        </p:nvSpPr>
        <p:spPr>
          <a:xfrm xmlns:a="http://schemas.openxmlformats.org/drawingml/2006/main">
            <a:off x="4191000" y="27146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75" b="1">
                <a:solidFill>
                  <a:srgbClr val="132E38"/>
                </a:solidFill>
                <a:latin typeface="Aptos"/>
                <a:ea typeface="Aptos"/>
                <a:cs typeface="Aptos"/>
              </a:defRPr>
            </a:defPPr>
          </a:lstStyle>
          <a:p xmlns:a="http://schemas.openxmlformats.org/drawingml/2006/main">
            <a:pPr>
              <a:defRPr sz="2175" b="1">
                <a:solidFill>
                  <a:srgbClr val="132E38"/>
                </a:solidFill>
                <a:latin typeface="Aptos"/>
                <a:ea typeface="Aptos"/>
                <a:cs typeface="Aptos"/>
              </a:defRPr>
            </a:pPr>
            <a:r>
              <a:rPr sz="2175" b="1">
                <a:solidFill>
                  <a:srgbClr val="132E38"/>
                </a:solidFill>
                <a:latin typeface="Aptos"/>
                <a:ea typeface="Aptos"/>
                <a:cs typeface="Aptos"/>
              </a:rPr>
              <a:t>Ledger + meetings</a:t>
            </a:r>
          </a:p>
        </p:txBody>
      </p:sp>
      <p:sp>
        <p:nvSpPr>
          <p:cNvPr id="12" name="">
            <a:extLst xmlns:a="http://schemas.openxmlformats.org/drawingml/2006/main">
              <a:ext uri="{FF2B5EF4-FFF2-40B4-BE49-F238E27FC236}">
                <a16:creationId xmlns:a16="http://schemas.microsoft.com/office/drawing/2014/main" id="{8C85BB32-F321-47E4-BF77-50B7F8ECE682}"/>
              </a:ext>
            </a:extLst>
          </p:cNvPr>
          <p:cNvSpPr>
            <a:spLocks xmlns:a="http://schemas.openxmlformats.org/drawingml/2006/main" noGrp="1"/>
          </p:cNvSpPr>
          <p:nvPr/>
        </p:nvSpPr>
        <p:spPr>
          <a:xfrm xmlns:a="http://schemas.openxmlformats.org/drawingml/2006/main">
            <a:off x="4191000" y="3476625"/>
            <a:ext cx="32385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132E38"/>
                </a:solidFill>
                <a:latin typeface="Aptos"/>
                <a:ea typeface="Aptos"/>
                <a:cs typeface="Aptos"/>
              </a:defRPr>
            </a:defPPr>
          </a:lstStyle>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P2–P3: claims and fencing, automatic publication, faithful outputs and recovery.</a:t>
            </a:r>
          </a:p>
        </p:txBody>
      </p:sp>
      <p:sp>
        <p:nvSpPr>
          <p:cNvPr id="13" name="">
            <a:extLst xmlns:a="http://schemas.openxmlformats.org/drawingml/2006/main">
              <a:ext uri="{FF2B5EF4-FFF2-40B4-BE49-F238E27FC236}">
                <a16:creationId xmlns:a16="http://schemas.microsoft.com/office/drawing/2014/main" id="{E6B88C45-5EA8-49A5-A422-143D7E439358}"/>
              </a:ext>
            </a:extLst>
          </p:cNvPr>
          <p:cNvSpPr>
            <a:spLocks xmlns:a="http://schemas.openxmlformats.org/drawingml/2006/main" noGrp="1"/>
          </p:cNvSpPr>
          <p:nvPr/>
        </p:nvSpPr>
        <p:spPr>
          <a:xfrm xmlns:a="http://schemas.openxmlformats.org/drawingml/2006/main">
            <a:off x="7810500" y="2257425"/>
            <a:ext cx="3333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1">
                <a:solidFill>
                  <a:srgbClr val="157D80"/>
                </a:solidFill>
                <a:latin typeface="Aptos"/>
                <a:ea typeface="Aptos"/>
                <a:cs typeface="Aptos"/>
              </a:defRPr>
            </a:defPPr>
          </a:lstStyle>
          <a:p xmlns:a="http://schemas.openxmlformats.org/drawingml/2006/main">
            <a:pPr>
              <a:defRPr sz="1575" b="1">
                <a:solidFill>
                  <a:srgbClr val="157D80"/>
                </a:solidFill>
                <a:latin typeface="Aptos"/>
                <a:ea typeface="Aptos"/>
                <a:cs typeface="Aptos"/>
              </a:defRPr>
            </a:pPr>
            <a:r>
              <a:rPr sz="1575" b="1">
                <a:solidFill>
                  <a:srgbClr val="157D80"/>
                </a:solidFill>
                <a:latin typeface="Aptos"/>
                <a:ea typeface="Aptos"/>
                <a:cs typeface="Aptos"/>
              </a:rPr>
              <a:t>25–27 OCT</a:t>
            </a:r>
          </a:p>
        </p:txBody>
      </p:sp>
      <p:sp>
        <p:nvSpPr>
          <p:cNvPr id="14" name="">
            <a:extLst xmlns:a="http://schemas.openxmlformats.org/drawingml/2006/main">
              <a:ext uri="{FF2B5EF4-FFF2-40B4-BE49-F238E27FC236}">
                <a16:creationId xmlns:a16="http://schemas.microsoft.com/office/drawing/2014/main" id="{6F60198F-8A7D-4C0E-873B-C266A1400213}"/>
              </a:ext>
            </a:extLst>
          </p:cNvPr>
          <p:cNvSpPr>
            <a:spLocks xmlns:a="http://schemas.openxmlformats.org/drawingml/2006/main" noGrp="1"/>
          </p:cNvSpPr>
          <p:nvPr/>
        </p:nvSpPr>
        <p:spPr>
          <a:xfrm xmlns:a="http://schemas.openxmlformats.org/drawingml/2006/main">
            <a:off x="7810500" y="27146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75" b="1">
                <a:solidFill>
                  <a:srgbClr val="132E38"/>
                </a:solidFill>
                <a:latin typeface="Aptos"/>
                <a:ea typeface="Aptos"/>
                <a:cs typeface="Aptos"/>
              </a:defRPr>
            </a:defPPr>
          </a:lstStyle>
          <a:p xmlns:a="http://schemas.openxmlformats.org/drawingml/2006/main">
            <a:pPr>
              <a:defRPr sz="2175" b="1">
                <a:solidFill>
                  <a:srgbClr val="132E38"/>
                </a:solidFill>
                <a:latin typeface="Aptos"/>
                <a:ea typeface="Aptos"/>
                <a:cs typeface="Aptos"/>
              </a:defRPr>
            </a:pPr>
            <a:r>
              <a:rPr sz="2175" b="1">
                <a:solidFill>
                  <a:srgbClr val="132E38"/>
                </a:solidFill>
                <a:latin typeface="Aptos"/>
                <a:ea typeface="Aptos"/>
                <a:cs typeface="Aptos"/>
              </a:rPr>
              <a:t>Grants + clients</a:t>
            </a:r>
          </a:p>
        </p:txBody>
      </p:sp>
      <p:sp>
        <p:nvSpPr>
          <p:cNvPr id="15" name="">
            <a:extLst xmlns:a="http://schemas.openxmlformats.org/drawingml/2006/main">
              <a:ext uri="{FF2B5EF4-FFF2-40B4-BE49-F238E27FC236}">
                <a16:creationId xmlns:a16="http://schemas.microsoft.com/office/drawing/2014/main" id="{AE1ADFB2-9247-4FA6-AA2F-DBDEA3684FD4}"/>
              </a:ext>
            </a:extLst>
          </p:cNvPr>
          <p:cNvSpPr>
            <a:spLocks xmlns:a="http://schemas.openxmlformats.org/drawingml/2006/main" noGrp="1"/>
          </p:cNvSpPr>
          <p:nvPr/>
        </p:nvSpPr>
        <p:spPr>
          <a:xfrm xmlns:a="http://schemas.openxmlformats.org/drawingml/2006/main">
            <a:off x="7810500" y="3476625"/>
            <a:ext cx="32385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132E38"/>
                </a:solidFill>
                <a:latin typeface="Aptos"/>
                <a:ea typeface="Aptos"/>
                <a:cs typeface="Aptos"/>
              </a:defRPr>
            </a:defPPr>
          </a:lstStyle>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P4–P5: reviewed packet and vote, Y2 loop, two client agents and independent validation.</a:t>
            </a:r>
          </a:p>
        </p:txBody>
      </p:sp>
      <p:sp>
        <p:nvSpPr>
          <p:cNvPr id="16" name="">
            <a:extLst xmlns:a="http://schemas.openxmlformats.org/drawingml/2006/main">
              <a:ext uri="{FF2B5EF4-FFF2-40B4-BE49-F238E27FC236}">
                <a16:creationId xmlns:a16="http://schemas.microsoft.com/office/drawing/2014/main" id="{AEA4BB09-9DA9-420F-9B03-CF9A68CE8868}"/>
              </a:ext>
            </a:extLst>
          </p:cNvPr>
          <p:cNvSpPr>
            <a:spLocks xmlns:a="http://schemas.openxmlformats.org/drawingml/2006/main" noGrp="1"/>
          </p:cNvSpPr>
          <p:nvPr/>
        </p:nvSpPr>
        <p:spPr>
          <a:xfrm xmlns:a="http://schemas.openxmlformats.org/drawingml/2006/main">
            <a:off x="11430000" y="2257425"/>
            <a:ext cx="3333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1">
                <a:solidFill>
                  <a:srgbClr val="157D80"/>
                </a:solidFill>
                <a:latin typeface="Aptos"/>
                <a:ea typeface="Aptos"/>
                <a:cs typeface="Aptos"/>
              </a:defRPr>
            </a:defPPr>
          </a:lstStyle>
          <a:p xmlns:a="http://schemas.openxmlformats.org/drawingml/2006/main">
            <a:pPr>
              <a:defRPr sz="1575" b="1">
                <a:solidFill>
                  <a:srgbClr val="157D80"/>
                </a:solidFill>
                <a:latin typeface="Aptos"/>
                <a:ea typeface="Aptos"/>
                <a:cs typeface="Aptos"/>
              </a:defRPr>
            </a:pPr>
            <a:r>
              <a:rPr sz="1575" b="1">
                <a:solidFill>
                  <a:srgbClr val="157D80"/>
                </a:solidFill>
                <a:latin typeface="Aptos"/>
                <a:ea typeface="Aptos"/>
                <a:cs typeface="Aptos"/>
              </a:rPr>
              <a:t>28–29 OCT</a:t>
            </a:r>
          </a:p>
        </p:txBody>
      </p:sp>
      <p:sp>
        <p:nvSpPr>
          <p:cNvPr id="17" name="">
            <a:extLst xmlns:a="http://schemas.openxmlformats.org/drawingml/2006/main">
              <a:ext uri="{FF2B5EF4-FFF2-40B4-BE49-F238E27FC236}">
                <a16:creationId xmlns:a16="http://schemas.microsoft.com/office/drawing/2014/main" id="{5902107D-EA35-4B20-9796-2D029E7DDABB}"/>
              </a:ext>
            </a:extLst>
          </p:cNvPr>
          <p:cNvSpPr>
            <a:spLocks xmlns:a="http://schemas.openxmlformats.org/drawingml/2006/main" noGrp="1"/>
          </p:cNvSpPr>
          <p:nvPr/>
        </p:nvSpPr>
        <p:spPr>
          <a:xfrm xmlns:a="http://schemas.openxmlformats.org/drawingml/2006/main">
            <a:off x="11430000" y="27146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75" b="1">
                <a:solidFill>
                  <a:srgbClr val="132E38"/>
                </a:solidFill>
                <a:latin typeface="Aptos"/>
                <a:ea typeface="Aptos"/>
                <a:cs typeface="Aptos"/>
              </a:defRPr>
            </a:defPPr>
          </a:lstStyle>
          <a:p xmlns:a="http://schemas.openxmlformats.org/drawingml/2006/main">
            <a:pPr>
              <a:defRPr sz="2175" b="1">
                <a:solidFill>
                  <a:srgbClr val="132E38"/>
                </a:solidFill>
                <a:latin typeface="Aptos"/>
                <a:ea typeface="Aptos"/>
                <a:cs typeface="Aptos"/>
              </a:defRPr>
            </a:pPr>
            <a:r>
              <a:rPr sz="2175" b="1">
                <a:solidFill>
                  <a:srgbClr val="132E38"/>
                </a:solidFill>
                <a:latin typeface="Aptos"/>
                <a:ea typeface="Aptos"/>
                <a:cs typeface="Aptos"/>
              </a:rPr>
              <a:t>Tests + rehearsal</a:t>
            </a:r>
          </a:p>
        </p:txBody>
      </p:sp>
      <p:sp>
        <p:nvSpPr>
          <p:cNvPr id="18" name="">
            <a:extLst xmlns:a="http://schemas.openxmlformats.org/drawingml/2006/main">
              <a:ext uri="{FF2B5EF4-FFF2-40B4-BE49-F238E27FC236}">
                <a16:creationId xmlns:a16="http://schemas.microsoft.com/office/drawing/2014/main" id="{D24FC5F6-B510-4BA9-90AC-A4E5259E0202}"/>
              </a:ext>
            </a:extLst>
          </p:cNvPr>
          <p:cNvSpPr>
            <a:spLocks xmlns:a="http://schemas.openxmlformats.org/drawingml/2006/main" noGrp="1"/>
          </p:cNvSpPr>
          <p:nvPr/>
        </p:nvSpPr>
        <p:spPr>
          <a:xfrm xmlns:a="http://schemas.openxmlformats.org/drawingml/2006/main">
            <a:off x="11430000" y="3476625"/>
            <a:ext cx="32385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0">
                <a:solidFill>
                  <a:srgbClr val="132E38"/>
                </a:solidFill>
                <a:latin typeface="Aptos"/>
                <a:ea typeface="Aptos"/>
                <a:cs typeface="Aptos"/>
              </a:defRPr>
            </a:defPPr>
          </a:lstStyle>
          <a:p xmlns:a="http://schemas.openxmlformats.org/drawingml/2006/main">
            <a:pPr>
              <a:defRPr sz="1800" b="0">
                <a:solidFill>
                  <a:srgbClr val="132E38"/>
                </a:solidFill>
                <a:latin typeface="Aptos"/>
                <a:ea typeface="Aptos"/>
                <a:cs typeface="Aptos"/>
              </a:defRPr>
            </a:pPr>
            <a:r>
              <a:rPr sz="1800" b="0">
                <a:solidFill>
                  <a:srgbClr val="132E38"/>
                </a:solidFill>
                <a:latin typeface="Aptos"/>
                <a:ea typeface="Aptos"/>
                <a:cs typeface="Aptos"/>
              </a:rPr>
              <a:t>P6: adversarial tests, three-flow evidence, honest blockers and synchronized artifacts.</a:t>
            </a:r>
          </a:p>
        </p:txBody>
      </p:sp>
      <p:sp>
        <p:nvSpPr>
          <p:cNvPr id="19" name="">
            <a:extLst xmlns:a="http://schemas.openxmlformats.org/drawingml/2006/main">
              <a:ext uri="{FF2B5EF4-FFF2-40B4-BE49-F238E27FC236}">
                <a16:creationId xmlns:a16="http://schemas.microsoft.com/office/drawing/2014/main" id="{61B09BC3-FA2B-4A89-8C06-75C3B1EF8B58}"/>
              </a:ext>
            </a:extLst>
          </p:cNvPr>
          <p:cNvSpPr>
            <a:spLocks xmlns:a="http://schemas.openxmlformats.org/drawingml/2006/main" noGrp="1"/>
          </p:cNvSpPr>
          <p:nvPr/>
        </p:nvSpPr>
        <p:spPr>
          <a:xfrm xmlns:a="http://schemas.openxmlformats.org/drawingml/2006/main">
            <a:off x="571500" y="5210175"/>
            <a:ext cx="14097000" cy="9525"/>
          </a:xfrm>
          <a:prstGeom xmlns:a="http://schemas.openxmlformats.org/drawingml/2006/main" prst="rect">
            <a:avLst/>
          </a:prstGeom>
          <a:solidFill xmlns:a="http://schemas.openxmlformats.org/drawingml/2006/main">
            <a:srgbClr val="B9C9C7"/>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952ACFE-8276-4D31-9041-F30EE6AACF51}"/>
              </a:ext>
            </a:extLst>
          </p:cNvPr>
          <p:cNvSpPr>
            <a:spLocks xmlns:a="http://schemas.openxmlformats.org/drawingml/2006/main" noGrp="1"/>
          </p:cNvSpPr>
          <p:nvPr/>
        </p:nvSpPr>
        <p:spPr>
          <a:xfrm xmlns:a="http://schemas.openxmlformats.org/drawingml/2006/main">
            <a:off x="571500" y="5514975"/>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1">
                <a:solidFill>
                  <a:srgbClr val="157D80"/>
                </a:solidFill>
                <a:latin typeface="Aptos"/>
                <a:ea typeface="Aptos"/>
                <a:cs typeface="Aptos"/>
              </a:defRPr>
            </a:defPPr>
          </a:lstStyle>
          <a:p xmlns:a="http://schemas.openxmlformats.org/drawingml/2006/main">
            <a:pPr>
              <a:defRPr sz="2100" b="1">
                <a:solidFill>
                  <a:srgbClr val="157D80"/>
                </a:solidFill>
                <a:latin typeface="Aptos"/>
                <a:ea typeface="Aptos"/>
                <a:cs typeface="Aptos"/>
              </a:defRPr>
            </a:pPr>
            <a:r>
              <a:rPr sz="2100" b="1">
                <a:solidFill>
                  <a:srgbClr val="157D80"/>
                </a:solidFill>
                <a:latin typeface="Aptos"/>
                <a:ea typeface="Aptos"/>
                <a:cs typeface="Aptos"/>
              </a:rPr>
              <a:t>TBD before implementation</a:t>
            </a:r>
          </a:p>
        </p:txBody>
      </p:sp>
      <p:sp>
        <p:nvSpPr>
          <p:cNvPr id="21" name="">
            <a:extLst xmlns:a="http://schemas.openxmlformats.org/drawingml/2006/main">
              <a:ext uri="{FF2B5EF4-FFF2-40B4-BE49-F238E27FC236}">
                <a16:creationId xmlns:a16="http://schemas.microsoft.com/office/drawing/2014/main" id="{20708E35-BC4C-4076-9330-D5F3B98D9348}"/>
              </a:ext>
            </a:extLst>
          </p:cNvPr>
          <p:cNvSpPr>
            <a:spLocks xmlns:a="http://schemas.openxmlformats.org/drawingml/2006/main" noGrp="1"/>
          </p:cNvSpPr>
          <p:nvPr/>
        </p:nvSpPr>
        <p:spPr>
          <a:xfrm xmlns:a="http://schemas.openxmlformats.org/drawingml/2006/main">
            <a:off x="571500" y="5972175"/>
            <a:ext cx="6858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132E38"/>
                </a:solidFill>
                <a:latin typeface="Aptos"/>
                <a:ea typeface="Aptos"/>
                <a:cs typeface="Aptos"/>
              </a:defRPr>
            </a:defPPr>
          </a:lstStyle>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Drive folder/output/readiness and fixed audience.</a:t>
            </a:r>
          </a:p>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Ledger owner, pairing, sandbox and bundle policy.</a:t>
            </a:r>
          </a:p>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Vote adapter/finality, Y2 access, inference route.</a:t>
            </a:r>
          </a:p>
        </p:txBody>
      </p:sp>
      <p:sp>
        <p:nvSpPr>
          <p:cNvPr id="22" name="">
            <a:extLst xmlns:a="http://schemas.openxmlformats.org/drawingml/2006/main">
              <a:ext uri="{FF2B5EF4-FFF2-40B4-BE49-F238E27FC236}">
                <a16:creationId xmlns:a16="http://schemas.microsoft.com/office/drawing/2014/main" id="{ABBF29D8-BCEB-4E9B-94FD-994C3BF684A2}"/>
              </a:ext>
            </a:extLst>
          </p:cNvPr>
          <p:cNvSpPr>
            <a:spLocks xmlns:a="http://schemas.openxmlformats.org/drawingml/2006/main" noGrp="1"/>
          </p:cNvSpPr>
          <p:nvPr/>
        </p:nvSpPr>
        <p:spPr>
          <a:xfrm xmlns:a="http://schemas.openxmlformats.org/drawingml/2006/main">
            <a:off x="8096250" y="5514975"/>
            <a:ext cx="657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1">
                <a:solidFill>
                  <a:srgbClr val="157D80"/>
                </a:solidFill>
                <a:latin typeface="Aptos"/>
                <a:ea typeface="Aptos"/>
                <a:cs typeface="Aptos"/>
              </a:defRPr>
            </a:defPPr>
          </a:lstStyle>
          <a:p xmlns:a="http://schemas.openxmlformats.org/drawingml/2006/main">
            <a:pPr>
              <a:defRPr sz="2100" b="1">
                <a:solidFill>
                  <a:srgbClr val="157D80"/>
                </a:solidFill>
                <a:latin typeface="Aptos"/>
                <a:ea typeface="Aptos"/>
                <a:cs typeface="Aptos"/>
              </a:defRPr>
            </a:pPr>
            <a:r>
              <a:rPr sz="2100" b="1">
                <a:solidFill>
                  <a:srgbClr val="157D80"/>
                </a:solidFill>
                <a:latin typeface="Aptos"/>
                <a:ea typeface="Aptos"/>
                <a:cs typeface="Aptos"/>
              </a:rPr>
              <a:t>Baseline and stretch</a:t>
            </a:r>
          </a:p>
        </p:txBody>
      </p:sp>
      <p:sp>
        <p:nvSpPr>
          <p:cNvPr id="23" name="">
            <a:extLst xmlns:a="http://schemas.openxmlformats.org/drawingml/2006/main">
              <a:ext uri="{FF2B5EF4-FFF2-40B4-BE49-F238E27FC236}">
                <a16:creationId xmlns:a16="http://schemas.microsoft.com/office/drawing/2014/main" id="{D37DEAF0-4FB3-47E2-ACE8-C6387E35CF5F}"/>
              </a:ext>
            </a:extLst>
          </p:cNvPr>
          <p:cNvSpPr>
            <a:spLocks xmlns:a="http://schemas.openxmlformats.org/drawingml/2006/main" noGrp="1"/>
          </p:cNvSpPr>
          <p:nvPr/>
        </p:nvSpPr>
        <p:spPr>
          <a:xfrm xmlns:a="http://schemas.openxmlformats.org/drawingml/2006/main">
            <a:off x="8096250" y="5972175"/>
            <a:ext cx="6572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132E38"/>
                </a:solidFill>
                <a:latin typeface="Aptos"/>
                <a:ea typeface="Aptos"/>
                <a:cs typeface="Aptos"/>
              </a:defRPr>
            </a:defPPr>
          </a:lstStyle>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Preserve PlanetScale and existing grant storage.</a:t>
            </a:r>
          </a:p>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De-prioritize Helix; 990 workbench integration is stretch.</a:t>
            </a:r>
          </a:p>
          <a:p xmlns:a="http://schemas.openxmlformats.org/drawingml/2006/main">
            <a:pPr>
              <a:defRPr sz="1875" b="0">
                <a:solidFill>
                  <a:srgbClr val="132E38"/>
                </a:solidFill>
                <a:latin typeface="Aptos"/>
                <a:ea typeface="Aptos"/>
                <a:cs typeface="Aptos"/>
              </a:defRPr>
            </a:pPr>
            <a:r>
              <a:rPr sz="1875" b="0">
                <a:solidFill>
                  <a:srgbClr val="132E38"/>
                </a:solidFill>
                <a:latin typeface="Aptos"/>
                <a:ea typeface="Aptos"/>
                <a:cs typeface="Aptos"/>
              </a:rPr>
              <a:t>No funder submission or new services authorized.</a:t>
            </a:r>
          </a:p>
        </p:txBody>
      </p:sp>
      <p:sp>
        <p:nvSpPr>
          <p:cNvPr id="24" name="">
            <a:extLst xmlns:a="http://schemas.openxmlformats.org/drawingml/2006/main">
              <a:ext uri="{FF2B5EF4-FFF2-40B4-BE49-F238E27FC236}">
                <a16:creationId xmlns:a16="http://schemas.microsoft.com/office/drawing/2014/main" id="{4633217A-4079-4943-8EC1-A0590C291D84}"/>
              </a:ext>
            </a:extLst>
          </p:cNvPr>
          <p:cNvSpPr>
            <a:spLocks xmlns:a="http://schemas.openxmlformats.org/drawingml/2006/main" noGrp="1"/>
          </p:cNvSpPr>
          <p:nvPr/>
        </p:nvSpPr>
        <p:spPr>
          <a:xfrm xmlns:a="http://schemas.openxmlformats.org/drawingml/2006/main">
            <a:off x="571500" y="7543800"/>
            <a:ext cx="1409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425" b="0">
                <a:solidFill>
                  <a:srgbClr val="49616A"/>
                </a:solidFill>
                <a:latin typeface="Aptos"/>
                <a:ea typeface="Aptos"/>
                <a:cs typeface="Aptos"/>
              </a:defRPr>
            </a:defPPr>
          </a:lstStyle>
          <a:p xmlns:a="http://schemas.openxmlformats.org/drawingml/2006/main">
            <a:pPr>
              <a:defRPr sz="1425" b="0">
                <a:solidFill>
                  <a:srgbClr val="49616A"/>
                </a:solidFill>
                <a:latin typeface="Aptos"/>
                <a:ea typeface="Aptos"/>
                <a:cs typeface="Aptos"/>
              </a:defRPr>
            </a:pPr>
            <a:r>
              <a:rPr sz="1425" b="0">
                <a:solidFill>
                  <a:srgbClr val="49616A"/>
                </a:solidFill>
                <a:latin typeface="Aptos"/>
                <a:ea typeface="Aptos"/>
                <a:cs typeface="Aptos"/>
              </a:rPr>
              <a:t>Project home: github.com/NetRxn/Inertia · Four Markdown artifacts + editable deck, synchronized. Original overview retained as history.</a:t>
            </a:r>
          </a:p>
        </p:txBody>
      </p:sp>
    </p:spTree>
    <p:extLst>
      <p:ext uri="{BB962C8B-B14F-4D97-AF65-F5344CB8AC3E}">
        <p14:creationId xmlns:p14="http://schemas.microsoft.com/office/powerpoint/2010/main" val="10424502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2026-10-22T21:46:17.4050000Z</dcterms:created>
  <dcterms:modified xsi:type="dcterms:W3CDTF">2026-10-22T21:46:17.4050000Z</dcterms:modified>
</coreProperties>
</file>