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c60872aae97b40da" /><Relationship Type="http://schemas.openxmlformats.org/officeDocument/2006/relationships/extended-properties" Target="/docProps/app.xml" Id="R2d1300a5fa8f4265" /><Relationship Type="http://schemas.openxmlformats.org/officeDocument/2006/relationships/officeDocument" Target="/ppt/presentation.xml" Id="R0910c1cb11604bd7" /></Relationships>
</file>

<file path=ppt/presentation.xml><?xml version="1.0" encoding="utf-8"?>
<p:presentation xmlns:p="http://schemas.openxmlformats.org/presentationml/2006/main">
  <p:sldMasterIdLst>
    <p:sldMasterId xmlns:r="http://schemas.openxmlformats.org/officeDocument/2006/relationships" id="2147483648" r:id="R0dd9cb7e71e0443a"/>
  </p:sldMasterIdLst>
  <p:notesMasterIdLst>
    <p:notesMasterId xmlns:r="http://schemas.openxmlformats.org/officeDocument/2006/relationships" r:id="R30529ac607664801"/>
  </p:notesMasterIdLst>
  <p:sldIdLst>
    <p:sldId xmlns:r="http://schemas.openxmlformats.org/officeDocument/2006/relationships" id="256" r:id="R07a014b80ee4408a"/>
    <p:sldId xmlns:r="http://schemas.openxmlformats.org/officeDocument/2006/relationships" id="257" r:id="Rf7b5ddd0aa9b4179"/>
    <p:sldId xmlns:r="http://schemas.openxmlformats.org/officeDocument/2006/relationships" id="258" r:id="Rae6958e684c04eb4"/>
    <p:sldId xmlns:r="http://schemas.openxmlformats.org/officeDocument/2006/relationships" id="259" r:id="R7d00e6ce59aa47a4"/>
    <p:sldId xmlns:r="http://schemas.openxmlformats.org/officeDocument/2006/relationships" id="260" r:id="Rb61e31e4dc4c417d"/>
    <p:sldId xmlns:r="http://schemas.openxmlformats.org/officeDocument/2006/relationships" id="261" r:id="R65564fd8bbce4a04"/>
    <p:sldId xmlns:r="http://schemas.openxmlformats.org/officeDocument/2006/relationships" id="262" r:id="R6cb958f3a90e4e84"/>
    <p:sldId xmlns:r="http://schemas.openxmlformats.org/officeDocument/2006/relationships" id="263" r:id="R1939777d3fd44cc9"/>
  </p:sldIdLst>
  <p:sldSz cx="15240000" cy="85725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a1aa3491442a4c9b" /><Relationship Type="http://schemas.openxmlformats.org/officeDocument/2006/relationships/slideMaster" Target="/ppt/slideMasters/slideMaster1.xml" Id="R0dd9cb7e71e0443a" /><Relationship Type="http://schemas.openxmlformats.org/officeDocument/2006/relationships/notesMaster" Target="/ppt/notesMasters/notesMaster1.xml" Id="R30529ac607664801" /><Relationship Type="http://schemas.openxmlformats.org/officeDocument/2006/relationships/presProps" Target="/ppt/presProps.xml" Id="R8f9f1d5e219844f5" /><Relationship Type="http://schemas.openxmlformats.org/officeDocument/2006/relationships/tableStyles" Target="/ppt/tableStyles.xml" Id="R96a52c08f1164782" /><Relationship Type="http://schemas.openxmlformats.org/officeDocument/2006/relationships/slide" Target="/ppt/slides/slide1.xml" Id="R07a014b80ee4408a" /><Relationship Type="http://schemas.openxmlformats.org/officeDocument/2006/relationships/slide" Target="/ppt/slides/slide2.xml" Id="Rf7b5ddd0aa9b4179" /><Relationship Type="http://schemas.openxmlformats.org/officeDocument/2006/relationships/slide" Target="/ppt/slides/slide3.xml" Id="Rae6958e684c04eb4" /><Relationship Type="http://schemas.openxmlformats.org/officeDocument/2006/relationships/slide" Target="/ppt/slides/slide4.xml" Id="R7d00e6ce59aa47a4" /><Relationship Type="http://schemas.openxmlformats.org/officeDocument/2006/relationships/slide" Target="/ppt/slides/slide5.xml" Id="Rb61e31e4dc4c417d" /><Relationship Type="http://schemas.openxmlformats.org/officeDocument/2006/relationships/slide" Target="/ppt/slides/slide6.xml" Id="R65564fd8bbce4a04" /><Relationship Type="http://schemas.openxmlformats.org/officeDocument/2006/relationships/slide" Target="/ppt/slides/slide7.xml" Id="R6cb958f3a90e4e84" /><Relationship Type="http://schemas.openxmlformats.org/officeDocument/2006/relationships/slide" Target="/ppt/slides/slide8.xml" Id="R1939777d3fd44cc9"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4a9ddb315bd459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5bbda860001456c" /><Relationship Type="http://schemas.openxmlformats.org/officeDocument/2006/relationships/notesMaster" Target="/ppt/notesMasters/notesMaster1.xml" Id="R558fd8109386455f" /></Relationships>
</file>

<file path=ppt/notesSlides/_rels/notesSlide2.xml.rels>&#65279;<?xml version="1.0" encoding="utf-8"?><Relationships xmlns="http://schemas.openxmlformats.org/package/2006/relationships"><Relationship Type="http://schemas.openxmlformats.org/officeDocument/2006/relationships/slide" Target="/ppt/slides/slide2.xml" Id="Rdc600b2e55a844f5" /><Relationship Type="http://schemas.openxmlformats.org/officeDocument/2006/relationships/notesMaster" Target="/ppt/notesMasters/notesMaster1.xml" Id="R23044854390f4371" /></Relationships>
</file>

<file path=ppt/notesSlides/_rels/notesSlide3.xml.rels>&#65279;<?xml version="1.0" encoding="utf-8"?><Relationships xmlns="http://schemas.openxmlformats.org/package/2006/relationships"><Relationship Type="http://schemas.openxmlformats.org/officeDocument/2006/relationships/slide" Target="/ppt/slides/slide3.xml" Id="R8c252b77877f40cd" /><Relationship Type="http://schemas.openxmlformats.org/officeDocument/2006/relationships/notesMaster" Target="/ppt/notesMasters/notesMaster1.xml" Id="R2d2c232256ea4d1a" /></Relationships>
</file>

<file path=ppt/notesSlides/_rels/notesSlide4.xml.rels>&#65279;<?xml version="1.0" encoding="utf-8"?><Relationships xmlns="http://schemas.openxmlformats.org/package/2006/relationships"><Relationship Type="http://schemas.openxmlformats.org/officeDocument/2006/relationships/slide" Target="/ppt/slides/slide4.xml" Id="R9b53d2c29b184421" /><Relationship Type="http://schemas.openxmlformats.org/officeDocument/2006/relationships/notesMaster" Target="/ppt/notesMasters/notesMaster1.xml" Id="R253faa88581b447d" /></Relationships>
</file>

<file path=ppt/notesSlides/_rels/notesSlide5.xml.rels>&#65279;<?xml version="1.0" encoding="utf-8"?><Relationships xmlns="http://schemas.openxmlformats.org/package/2006/relationships"><Relationship Type="http://schemas.openxmlformats.org/officeDocument/2006/relationships/slide" Target="/ppt/slides/slide5.xml" Id="R845cee2c5eb946f0" /><Relationship Type="http://schemas.openxmlformats.org/officeDocument/2006/relationships/notesMaster" Target="/ppt/notesMasters/notesMaster1.xml" Id="Rc6b3be595e0a471a" /></Relationships>
</file>

<file path=ppt/notesSlides/_rels/notesSlide6.xml.rels>&#65279;<?xml version="1.0" encoding="utf-8"?><Relationships xmlns="http://schemas.openxmlformats.org/package/2006/relationships"><Relationship Type="http://schemas.openxmlformats.org/officeDocument/2006/relationships/slide" Target="/ppt/slides/slide6.xml" Id="R7eca70b572954ada" /><Relationship Type="http://schemas.openxmlformats.org/officeDocument/2006/relationships/notesMaster" Target="/ppt/notesMasters/notesMaster1.xml" Id="R4500b3e7edae43d0" /></Relationships>
</file>

<file path=ppt/notesSlides/_rels/notesSlide7.xml.rels>&#65279;<?xml version="1.0" encoding="utf-8"?><Relationships xmlns="http://schemas.openxmlformats.org/package/2006/relationships"><Relationship Type="http://schemas.openxmlformats.org/officeDocument/2006/relationships/slide" Target="/ppt/slides/slide7.xml" Id="R661ada5ccbe34a90" /><Relationship Type="http://schemas.openxmlformats.org/officeDocument/2006/relationships/notesMaster" Target="/ppt/notesMasters/notesMaster1.xml" Id="R2fa0c6e86dc74577" /></Relationships>
</file>

<file path=ppt/notesSlides/_rels/notesSlide8.xml.rels>&#65279;<?xml version="1.0" encoding="utf-8"?><Relationships xmlns="http://schemas.openxmlformats.org/package/2006/relationships"><Relationship Type="http://schemas.openxmlformats.org/officeDocument/2006/relationships/slide" Target="/ppt/slides/slide8.xml" Id="R88e33092498b428b" /><Relationship Type="http://schemas.openxmlformats.org/officeDocument/2006/relationships/notesMaster" Target="/ppt/notesMasters/notesMaster1.xml" Id="R023c96a1cae147b8"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INERTIA-2026-10-23-r9. Source baseline: https://github.com/NetRxn/Inertia/commit/4841f7ade1510acf93e43ce1dbd16b91ae7bcd88. Architecture target and implementation status are distinct. PR13 authenticated private cloud handoff: https://github.com/NetRxn/Inertia/pull/13. PR14 caller-side website adapter and proposed v1.1 clarification: https://github.com/NetRxn/Inertia/pull/14, final reviewed 216 tests including four concurrency regressions added after initial 212. Wire roundtable-publication-v1 and extractive-v1 unchanged. Metadata-only correction unsupported. Website server rollout, authorized Drive source and single-owner native job wiring remain pending; demos still use pendingDaoPublisher. PR15 public DAO grounding: https://github.com/NetRxn/Inertia/pull/15; public legal/tax claims remain provisional and conflicting governance needs canonical ratification evidence. PR17 https://github.com/NetRxn/Inertia/pull/17 head 2a90ce24e16a72f446a7402560bd53d22f00ca38 was independently reviewed/tested and merged at 2026-10-23T11:12:50Z as 4841f7ade1510acf93e43ce1dbd16b91ae7bcd88. The merged source bytes equal the reviewed head. This documentation tree is distinct from the exact runtime qualification hashes below. 248 combined tests in 16 files, typecheck/build and package verification: 54 files, 6 migrations. First-publication native comment mirroring only, default-off, explicit per-binding audience acknowledgment and history cutoff, existing outbox/reconciler. No edit/delete propagation or retraction. Non-expiring publication claims expose inFlightPublications; token-matched administrative recovery requires all prior workers proved stopped, never timeout/automatic expiry. Exact candidate archive SHA256 19e67c88a8de52404412e49312cebfd6db42c462de3378cf3397966250add76c, source tree 8039b3e5f54e49c302b4751445f382403381ab91, passed actual unmodified native services with PostgreSQL18.1: six migrations, eight tables, three disabled job RPCs, expected health, SQL binding/company isolation, clean lifecycle. A real host array-binding regression was fixed before this pass. No new full-HTTP qualification. See docs/qualification/combined-native-services/. PR16 native CEO operator checklist merged: https://github.com/NetRxn/Inertia/pull/16. Preparation only, no live setup or custom bootstrap engine. No automatic scan of unassigned work by default; configure an assigned intake mandate and heartbeat. General status mirroring remains future. Existing native/HTTP and package receipts qualify historical recorded baselines, not every new runtime artifact. No live deployment, credentials or member publication performed. See synchronized spec.md, testing.md, decisions.md, plan.md and public integration references.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INERTIA-2026-10-23-r9. Source baseline: https://github.com/NetRxn/Inertia/commit/4841f7ade1510acf93e43ce1dbd16b91ae7bcd88. Architecture target and implementation status are distinct. PR13 authenticated private cloud handoff: https://github.com/NetRxn/Inertia/pull/13. PR14 caller-side website adapter and proposed v1.1 clarification: https://github.com/NetRxn/Inertia/pull/14, final reviewed 216 tests including four concurrency regressions added after initial 212. Wire roundtable-publication-v1 and extractive-v1 unchanged. Metadata-only correction unsupported. Website server rollout, authorized Drive source and single-owner native job wiring remain pending; demos still use pendingDaoPublisher. PR15 public DAO grounding: https://github.com/NetRxn/Inertia/pull/15; public legal/tax claims remain provisional and conflicting governance needs canonical ratification evidence. PR17 https://github.com/NetRxn/Inertia/pull/17 head 2a90ce24e16a72f446a7402560bd53d22f00ca38 was independently reviewed/tested and merged at 2026-10-23T11:12:50Z as 4841f7ade1510acf93e43ce1dbd16b91ae7bcd88. The merged source bytes equal the reviewed head. This documentation tree is distinct from the exact runtime qualification hashes below. 248 combined tests in 16 files, typecheck/build and package verification: 54 files, 6 migrations. First-publication native comment mirroring only, default-off, explicit per-binding audience acknowledgment and history cutoff, existing outbox/reconciler. No edit/delete propagation or retraction. Non-expiring publication claims expose inFlightPublications; token-matched administrative recovery requires all prior workers proved stopped, never timeout/automatic expiry. Exact candidate archive SHA256 19e67c88a8de52404412e49312cebfd6db42c462de3378cf3397966250add76c, source tree 8039b3e5f54e49c302b4751445f382403381ab91, passed actual unmodified native services with PostgreSQL18.1: six migrations, eight tables, three disabled job RPCs, expected health, SQL binding/company isolation, clean lifecycle. A real host array-binding regression was fixed before this pass. No new full-HTTP qualification. See docs/qualification/combined-native-services/. PR16 native CEO operator checklist merged: https://github.com/NetRxn/Inertia/pull/16. Preparation only, no live setup or custom bootstrap engine. No automatic scan of unassigned work by default; configure an assigned intake mandate and heartbeat. General status mirroring remains future. Existing native/HTTP and package receipts qualify historical recorded baselines, not every new runtime artifact. No live deployment, credentials or member publication performed. See synchronized spec.md, testing.md, decisions.md, plan.md and public integration references.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INERTIA-2026-10-23-r9. Source baseline: https://github.com/NetRxn/Inertia/commit/4841f7ade1510acf93e43ce1dbd16b91ae7bcd88. Architecture target and implementation status are distinct. PR13 authenticated private cloud handoff: https://github.com/NetRxn/Inertia/pull/13. PR14 caller-side website adapter and proposed v1.1 clarification: https://github.com/NetRxn/Inertia/pull/14, final reviewed 216 tests including four concurrency regressions added after initial 212. Wire roundtable-publication-v1 and extractive-v1 unchanged. Metadata-only correction unsupported. Website server rollout, authorized Drive source and single-owner native job wiring remain pending; demos still use pendingDaoPublisher. PR15 public DAO grounding: https://github.com/NetRxn/Inertia/pull/15; public legal/tax claims remain provisional and conflicting governance needs canonical ratification evidence. PR17 https://github.com/NetRxn/Inertia/pull/17 head 2a90ce24e16a72f446a7402560bd53d22f00ca38 was independently reviewed/tested and merged at 2026-10-23T11:12:50Z as 4841f7ade1510acf93e43ce1dbd16b91ae7bcd88. The merged source bytes equal the reviewed head. This documentation tree is distinct from the exact runtime qualification hashes below. 248 combined tests in 16 files, typecheck/build and package verification: 54 files, 6 migrations. First-publication native comment mirroring only, default-off, explicit per-binding audience acknowledgment and history cutoff, existing outbox/reconciler. No edit/delete propagation or retraction. Non-expiring publication claims expose inFlightPublications; token-matched administrative recovery requires all prior workers proved stopped, never timeout/automatic expiry. Exact candidate archive SHA256 19e67c88a8de52404412e49312cebfd6db42c462de3378cf3397966250add76c, source tree 8039b3e5f54e49c302b4751445f382403381ab91, passed actual unmodified native services with PostgreSQL18.1: six migrations, eight tables, three disabled job RPCs, expected health, SQL binding/company isolation, clean lifecycle. A real host array-binding regression was fixed before this pass. No new full-HTTP qualification. See docs/qualification/combined-native-services/. PR16 native CEO operator checklist merged: https://github.com/NetRxn/Inertia/pull/16. Preparation only, no live setup or custom bootstrap engine. No automatic scan of unassigned work by default; configure an assigned intake mandate and heartbeat. General status mirroring remains future. Existing native/HTTP and package receipts qualify historical recorded baselines, not every new runtime artifact. No live deployment, credentials or member publication performed. See synchronized spec.md, testing.md, decisions.md, plan.md and public integration references.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INERTIA-2026-10-23-r9. Source baseline: https://github.com/NetRxn/Inertia/commit/4841f7ade1510acf93e43ce1dbd16b91ae7bcd88. Architecture target and implementation status are distinct. PR13 authenticated private cloud handoff: https://github.com/NetRxn/Inertia/pull/13. PR14 caller-side website adapter and proposed v1.1 clarification: https://github.com/NetRxn/Inertia/pull/14, final reviewed 216 tests including four concurrency regressions added after initial 212. Wire roundtable-publication-v1 and extractive-v1 unchanged. Metadata-only correction unsupported. Website server rollout, authorized Drive source and single-owner native job wiring remain pending; demos still use pendingDaoPublisher. PR15 public DAO grounding: https://github.com/NetRxn/Inertia/pull/15; public legal/tax claims remain provisional and conflicting governance needs canonical ratification evidence. PR17 https://github.com/NetRxn/Inertia/pull/17 head 2a90ce24e16a72f446a7402560bd53d22f00ca38 was independently reviewed/tested and merged at 2026-10-23T11:12:50Z as 4841f7ade1510acf93e43ce1dbd16b91ae7bcd88. The merged source bytes equal the reviewed head. This documentation tree is distinct from the exact runtime qualification hashes below. 248 combined tests in 16 files, typecheck/build and package verification: 54 files, 6 migrations. First-publication native comment mirroring only, default-off, explicit per-binding audience acknowledgment and history cutoff, existing outbox/reconciler. No edit/delete propagation or retraction. Non-expiring publication claims expose inFlightPublications; token-matched administrative recovery requires all prior workers proved stopped, never timeout/automatic expiry. Exact candidate archive SHA256 19e67c88a8de52404412e49312cebfd6db42c462de3378cf3397966250add76c, source tree 8039b3e5f54e49c302b4751445f382403381ab91, passed actual unmodified native services with PostgreSQL18.1: six migrations, eight tables, three disabled job RPCs, expected health, SQL binding/company isolation, clean lifecycle. A real host array-binding regression was fixed before this pass. No new full-HTTP qualification. See docs/qualification/combined-native-services/. PR16 native CEO operator checklist merged: https://github.com/NetRxn/Inertia/pull/16. Preparation only, no live setup or custom bootstrap engine. No automatic scan of unassigned work by default; configure an assigned intake mandate and heartbeat. General status mirroring remains future. Existing native/HTTP and package receipts qualify historical recorded baselines, not every new runtime artifact. No live deployment, credentials or member publication performed. See synchronized spec.md, testing.md, decisions.md, plan.md and public integration references.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INERTIA-2026-10-23-r9. Source baseline: https://github.com/NetRxn/Inertia/commit/4841f7ade1510acf93e43ce1dbd16b91ae7bcd88. Architecture target and implementation status are distinct. PR13 authenticated private cloud handoff: https://github.com/NetRxn/Inertia/pull/13. PR14 caller-side website adapter and proposed v1.1 clarification: https://github.com/NetRxn/Inertia/pull/14, final reviewed 216 tests including four concurrency regressions added after initial 212. Wire roundtable-publication-v1 and extractive-v1 unchanged. Metadata-only correction unsupported. Website server rollout, authorized Drive source and single-owner native job wiring remain pending; demos still use pendingDaoPublisher. PR15 public DAO grounding: https://github.com/NetRxn/Inertia/pull/15; public legal/tax claims remain provisional and conflicting governance needs canonical ratification evidence. PR17 https://github.com/NetRxn/Inertia/pull/17 head 2a90ce24e16a72f446a7402560bd53d22f00ca38 was independently reviewed/tested and merged at 2026-10-23T11:12:50Z as 4841f7ade1510acf93e43ce1dbd16b91ae7bcd88. The merged source bytes equal the reviewed head. This documentation tree is distinct from the exact runtime qualification hashes below. 248 combined tests in 16 files, typecheck/build and package verification: 54 files, 6 migrations. First-publication native comment mirroring only, default-off, explicit per-binding audience acknowledgment and history cutoff, existing outbox/reconciler. No edit/delete propagation or retraction. Non-expiring publication claims expose inFlightPublications; token-matched administrative recovery requires all prior workers proved stopped, never timeout/automatic expiry. Exact candidate archive SHA256 19e67c88a8de52404412e49312cebfd6db42c462de3378cf3397966250add76c, source tree 8039b3e5f54e49c302b4751445f382403381ab91, passed actual unmodified native services with PostgreSQL18.1: six migrations, eight tables, three disabled job RPCs, expected health, SQL binding/company isolation, clean lifecycle. A real host array-binding regression was fixed before this pass. No new full-HTTP qualification. See docs/qualification/combined-native-services/. PR16 native CEO operator checklist merged: https://github.com/NetRxn/Inertia/pull/16. Preparation only, no live setup or custom bootstrap engine. No automatic scan of unassigned work by default; configure an assigned intake mandate and heartbeat. General status mirroring remains future. Existing native/HTTP and package receipts qualify historical recorded baselines, not every new runtime artifact. No live deployment, credentials or member publication performed. See synchronized spec.md, testing.md, decisions.md, plan.md and public integration references.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INERTIA-2026-10-23-r9. Source baseline: https://github.com/NetRxn/Inertia/commit/4841f7ade1510acf93e43ce1dbd16b91ae7bcd88. Architecture target and implementation status are distinct. PR13 authenticated private cloud handoff: https://github.com/NetRxn/Inertia/pull/13. PR14 caller-side website adapter and proposed v1.1 clarification: https://github.com/NetRxn/Inertia/pull/14, final reviewed 216 tests including four concurrency regressions added after initial 212. Wire roundtable-publication-v1 and extractive-v1 unchanged. Metadata-only correction unsupported. Website server rollout, authorized Drive source and single-owner native job wiring remain pending; demos still use pendingDaoPublisher. PR15 public DAO grounding: https://github.com/NetRxn/Inertia/pull/15; public legal/tax claims remain provisional and conflicting governance needs canonical ratification evidence. PR17 https://github.com/NetRxn/Inertia/pull/17 head 2a90ce24e16a72f446a7402560bd53d22f00ca38 was independently reviewed/tested and merged at 2026-10-23T11:12:50Z as 4841f7ade1510acf93e43ce1dbd16b91ae7bcd88. The merged source bytes equal the reviewed head. This documentation tree is distinct from the exact runtime qualification hashes below. 248 combined tests in 16 files, typecheck/build and package verification: 54 files, 6 migrations. First-publication native comment mirroring only, default-off, explicit per-binding audience acknowledgment and history cutoff, existing outbox/reconciler. No edit/delete propagation or retraction. Non-expiring publication claims expose inFlightPublications; token-matched administrative recovery requires all prior workers proved stopped, never timeout/automatic expiry. Exact candidate archive SHA256 19e67c88a8de52404412e49312cebfd6db42c462de3378cf3397966250add76c, source tree 8039b3e5f54e49c302b4751445f382403381ab91, passed actual unmodified native services with PostgreSQL18.1: six migrations, eight tables, three disabled job RPCs, expected health, SQL binding/company isolation, clean lifecycle. A real host array-binding regression was fixed before this pass. No new full-HTTP qualification. See docs/qualification/combined-native-services/. PR16 native CEO operator checklist merged: https://github.com/NetRxn/Inertia/pull/16. Preparation only, no live setup or custom bootstrap engine. No automatic scan of unassigned work by default; configure an assigned intake mandate and heartbeat. General status mirroring remains future. Existing native/HTTP and package receipts qualify historical recorded baselines, not every new runtime artifact. No live deployment, credentials or member publication performed. See synchronized spec.md, testing.md, decisions.md, plan.md and public integration references.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INERTIA-2026-10-23-r9. Source baseline: https://github.com/NetRxn/Inertia/commit/4841f7ade1510acf93e43ce1dbd16b91ae7bcd88. Architecture target and implementation status are distinct. PR13 authenticated private cloud handoff: https://github.com/NetRxn/Inertia/pull/13. PR14 caller-side website adapter and proposed v1.1 clarification: https://github.com/NetRxn/Inertia/pull/14, final reviewed 216 tests including four concurrency regressions added after initial 212. Wire roundtable-publication-v1 and extractive-v1 unchanged. Metadata-only correction unsupported. Website server rollout, authorized Drive source and single-owner native job wiring remain pending; demos still use pendingDaoPublisher. PR15 public DAO grounding: https://github.com/NetRxn/Inertia/pull/15; public legal/tax claims remain provisional and conflicting governance needs canonical ratification evidence. PR17 https://github.com/NetRxn/Inertia/pull/17 head 2a90ce24e16a72f446a7402560bd53d22f00ca38 was independently reviewed/tested and merged at 2026-10-23T11:12:50Z as 4841f7ade1510acf93e43ce1dbd16b91ae7bcd88. The merged source bytes equal the reviewed head. This documentation tree is distinct from the exact runtime qualification hashes below. 248 combined tests in 16 files, typecheck/build and package verification: 54 files, 6 migrations. First-publication native comment mirroring only, default-off, explicit per-binding audience acknowledgment and history cutoff, existing outbox/reconciler. No edit/delete propagation or retraction. Non-expiring publication claims expose inFlightPublications; token-matched administrative recovery requires all prior workers proved stopped, never timeout/automatic expiry. Exact candidate archive SHA256 19e67c88a8de52404412e49312cebfd6db42c462de3378cf3397966250add76c, source tree 8039b3e5f54e49c302b4751445f382403381ab91, passed actual unmodified native services with PostgreSQL18.1: six migrations, eight tables, three disabled job RPCs, expected health, SQL binding/company isolation, clean lifecycle. A real host array-binding regression was fixed before this pass. No new full-HTTP qualification. See docs/qualification/combined-native-services/. PR16 native CEO operator checklist merged: https://github.com/NetRxn/Inertia/pull/16. Preparation only, no live setup or custom bootstrap engine. No automatic scan of unassigned work by default; configure an assigned intake mandate and heartbeat. General status mirroring remains future. Existing native/HTTP and package receipts qualify historical recorded baselines, not every new runtime artifact. No live deployment, credentials or member publication performed. See synchronized spec.md, testing.md, decisions.md, plan.md and public integration references.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INERTIA-2026-10-23-r9. Source baseline: https://github.com/NetRxn/Inertia/commit/4841f7ade1510acf93e43ce1dbd16b91ae7bcd88. Architecture target and implementation status are distinct. PR13 authenticated private cloud handoff: https://github.com/NetRxn/Inertia/pull/13. PR14 caller-side website adapter and proposed v1.1 clarification: https://github.com/NetRxn/Inertia/pull/14, final reviewed 216 tests including four concurrency regressions added after initial 212. Wire roundtable-publication-v1 and extractive-v1 unchanged. Metadata-only correction unsupported. Website server rollout, authorized Drive source and single-owner native job wiring remain pending; demos still use pendingDaoPublisher. PR15 public DAO grounding: https://github.com/NetRxn/Inertia/pull/15; public legal/tax claims remain provisional and conflicting governance needs canonical ratification evidence. PR17 https://github.com/NetRxn/Inertia/pull/17 head 2a90ce24e16a72f446a7402560bd53d22f00ca38 was independently reviewed/tested and merged at 2026-10-23T11:12:50Z as 4841f7ade1510acf93e43ce1dbd16b91ae7bcd88. The merged source bytes equal the reviewed head. This documentation tree is distinct from the exact runtime qualification hashes below. 248 combined tests in 16 files, typecheck/build and package verification: 54 files, 6 migrations. First-publication native comment mirroring only, default-off, explicit per-binding audience acknowledgment and history cutoff, existing outbox/reconciler. No edit/delete propagation or retraction. Non-expiring publication claims expose inFlightPublications; token-matched administrative recovery requires all prior workers proved stopped, never timeout/automatic expiry. Exact candidate archive SHA256 19e67c88a8de52404412e49312cebfd6db42c462de3378cf3397966250add76c, source tree 8039b3e5f54e49c302b4751445f382403381ab91, passed actual unmodified native services with PostgreSQL18.1: six migrations, eight tables, three disabled job RPCs, expected health, SQL binding/company isolation, clean lifecycle. A real host array-binding regression was fixed before this pass. No new full-HTTP qualification. See docs/qualification/combined-native-services/. PR16 native CEO operator checklist merged: https://github.com/NetRxn/Inertia/pull/16. Preparation only, no live setup or custom bootstrap engine. No automatic scan of unassigned work by default; configure an assigned intake mandate and heartbeat. General status mirroring remains future. Existing native/HTTP and package receipts qualify historical recorded baselines, not every new runtime artifact. No live deployment, credentials or member publication performed. See synchronized spec.md, testing.md, decisions.md, plan.md and public integration references.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29193ac16f647c4"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750e04d906b44e84"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5a6aae6b7bf943d5"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4cdac45cbe1a436b"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dab4e998d70a4752"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a50a443af5354d8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2BB04BB-C642-4AFE-B2AF-EA71054E0DF8}"/>
              </a:ext>
            </a:extLst>
          </p:cNvPr>
          <p:cNvSpPr>
            <a:spLocks xmlns:a="http://schemas.openxmlformats.org/drawingml/2006/main" noGrp="1"/>
          </p:cNvSpPr>
          <p:nvPr>
            <p:ph type="title" idx="0"/>
          </p:nvPr>
        </p:nvSpPr>
        <p:spPr>
          <a:xfrm xmlns:a="http://schemas.openxmlformats.org/drawingml/2006/main">
            <a:off x="1524000" y="3238500"/>
            <a:ext cx="12192000" cy="12382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60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60BB485D-8C21-443F-9EA8-4CFA63D31D26}"/>
              </a:ext>
            </a:extLst>
          </p:cNvPr>
          <p:cNvSpPr>
            <a:spLocks xmlns:a="http://schemas.openxmlformats.org/drawingml/2006/main" noGrp="1"/>
          </p:cNvSpPr>
          <p:nvPr>
            <p:ph type="subTitle" idx="1"/>
          </p:nvPr>
        </p:nvSpPr>
        <p:spPr>
          <a:xfrm xmlns:a="http://schemas.openxmlformats.org/drawingml/2006/main">
            <a:off x="2286000" y="4714875"/>
            <a:ext cx="10668000" cy="9525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625" b="0">
                <a:solidFill>
                  <a:schemeClr val="tx1"/>
                </a:solidFill>
                <a:latin typeface="+mn-lt"/>
                <a:ea typeface="+mn-lt"/>
                <a:cs typeface="+mn-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0BED8EB3-3C72-4747-B8AF-6AA0FB6B83AA}"/>
              </a:ext>
            </a:extLst>
          </p:cNvPr>
          <p:cNvSpPr>
            <a:spLocks xmlns:a="http://schemas.openxmlformats.org/drawingml/2006/main" noGrp="1"/>
          </p:cNvSpPr>
          <p:nvPr>
            <p:ph type="title" idx="0"/>
          </p:nvPr>
        </p:nvSpPr>
        <p:spPr>
          <a:xfrm xmlns:a="http://schemas.openxmlformats.org/drawingml/2006/main">
            <a:off x="1524000" y="3571875"/>
            <a:ext cx="12192000" cy="1428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525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860B105-9D39-465C-9FDA-541C01197993}"/>
              </a:ext>
            </a:extLst>
          </p:cNvPr>
          <p:cNvSpPr>
            <a:spLocks xmlns:a="http://schemas.openxmlformats.org/drawingml/2006/main" noGrp="1"/>
          </p:cNvSpPr>
          <p:nvPr>
            <p:ph type="title" idx="0"/>
          </p:nvPr>
        </p:nvSpPr>
        <p:spPr>
          <a:xfrm xmlns:a="http://schemas.openxmlformats.org/drawingml/2006/main">
            <a:off x="857250" y="666750"/>
            <a:ext cx="13525500" cy="1047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125"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4612016C-7988-4E4B-AF1B-845FB0D2C4EB}"/>
              </a:ext>
            </a:extLst>
          </p:cNvPr>
          <p:cNvSpPr>
            <a:spLocks xmlns:a="http://schemas.openxmlformats.org/drawingml/2006/main" noGrp="1"/>
          </p:cNvSpPr>
          <p:nvPr>
            <p:ph type="body" idx="1"/>
          </p:nvPr>
        </p:nvSpPr>
        <p:spPr>
          <a:xfrm xmlns:a="http://schemas.openxmlformats.org/drawingml/2006/main">
            <a:off x="857250" y="2381250"/>
            <a:ext cx="13525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813" b="0">
                <a:solidFill>
                  <a:schemeClr val="tx1"/>
                </a:solidFill>
                <a:latin typeface="+mn-lt"/>
                <a:ea typeface="+mn-lt"/>
                <a:cs typeface="+mn-lt"/>
              </a:defRPr>
            </a:defPPr>
            <a:lvl1pPr marL="285750" indent="-285750">
              <a:lnSpc>
                <a:spcPct val="110000"/>
              </a:lnSpc>
              <a:spcBef>
                <a:spcPts val="0"/>
              </a:spcBef>
              <a:spcAft>
                <a:spcPts val="1500"/>
              </a:spcAft>
              <a:buChar char="•"/>
              <a:defRPr/>
            </a:lvl1pPr>
            <a:lvl2pPr marL="666750" indent="-285750">
              <a:lnSpc>
                <a:spcPct val="110000"/>
              </a:lnSpc>
              <a:spcBef>
                <a:spcPts val="0"/>
              </a:spcBef>
              <a:spcAft>
                <a:spcPts val="1500"/>
              </a:spcAft>
              <a:buChar char="•"/>
              <a:defRPr/>
            </a:lvl2pPr>
            <a:lvl3pPr marL="1047750" indent="-285750">
              <a:lnSpc>
                <a:spcPct val="110000"/>
              </a:lnSpc>
              <a:spcBef>
                <a:spcPts val="0"/>
              </a:spcBef>
              <a:spcAft>
                <a:spcPts val="1500"/>
              </a:spcAft>
              <a:buChar char="•"/>
              <a:defRPr/>
            </a:lvl3pPr>
            <a:lvl4pPr marL="1428750" indent="-285750">
              <a:lnSpc>
                <a:spcPct val="110000"/>
              </a:lnSpc>
              <a:spcBef>
                <a:spcPts val="0"/>
              </a:spcBef>
              <a:spcAft>
                <a:spcPts val="1500"/>
              </a:spcAft>
              <a:buChar char="•"/>
              <a:defRPr/>
            </a:lvl4pPr>
            <a:lvl5pPr marL="1809750" indent="-285750">
              <a:lnSpc>
                <a:spcPct val="110000"/>
              </a:lnSpc>
              <a:spcBef>
                <a:spcPts val="0"/>
              </a:spcBef>
              <a:spcAft>
                <a:spcPts val="1500"/>
              </a:spcAft>
              <a:buChar char="•"/>
              <a:defRPr/>
            </a:lvl5pPr>
            <a:lvl6pPr marL="2190750" indent="-285750">
              <a:lnSpc>
                <a:spcPct val="110000"/>
              </a:lnSpc>
              <a:spcBef>
                <a:spcPts val="0"/>
              </a:spcBef>
              <a:spcAft>
                <a:spcPts val="1500"/>
              </a:spcAft>
              <a:buChar char="•"/>
              <a:defRPr/>
            </a:lvl6pPr>
            <a:lvl7pPr marL="2571750" indent="-285750">
              <a:lnSpc>
                <a:spcPct val="110000"/>
              </a:lnSpc>
              <a:spcBef>
                <a:spcPts val="0"/>
              </a:spcBef>
              <a:spcAft>
                <a:spcPts val="1500"/>
              </a:spcAft>
              <a:buChar char="•"/>
              <a:defRPr/>
            </a:lvl7pPr>
            <a:lvl8pPr marL="2952750" indent="-285750">
              <a:lnSpc>
                <a:spcPct val="110000"/>
              </a:lnSpc>
              <a:spcBef>
                <a:spcPts val="0"/>
              </a:spcBef>
              <a:spcAft>
                <a:spcPts val="1500"/>
              </a:spcAft>
              <a:buChar char="•"/>
              <a:defRPr/>
            </a:lvl8pPr>
            <a:lvl9pPr marL="3333750" indent="-285750">
              <a:lnSpc>
                <a:spcPct val="110000"/>
              </a:lnSpc>
              <a:spcBef>
                <a:spcPts val="0"/>
              </a:spcBef>
              <a:spcAft>
                <a:spcPts val="1500"/>
              </a:spcAft>
              <a:buChar char="•"/>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6C75AC54-C9AA-4B23-9A08-5EB093C9736F}"/>
              </a:ext>
            </a:extLst>
          </p:cNvPr>
          <p:cNvSpPr>
            <a:spLocks xmlns:a="http://schemas.openxmlformats.org/drawingml/2006/main" noGrp="1"/>
          </p:cNvSpPr>
          <p:nvPr>
            <p:ph type="title" idx="0"/>
          </p:nvPr>
        </p:nvSpPr>
        <p:spPr>
          <a:xfrm xmlns:a="http://schemas.openxmlformats.org/drawingml/2006/main">
            <a:off x="857250" y="666750"/>
            <a:ext cx="13525500" cy="1047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125"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E2F28D63-9C78-4795-BC3A-CC73D8833DF6}"/>
              </a:ext>
            </a:extLst>
          </p:cNvPr>
          <p:cNvSpPr>
            <a:spLocks xmlns:a="http://schemas.openxmlformats.org/drawingml/2006/main" noGrp="1"/>
          </p:cNvSpPr>
          <p:nvPr>
            <p:ph type="body" idx="1"/>
          </p:nvPr>
        </p:nvSpPr>
        <p:spPr>
          <a:xfrm xmlns:a="http://schemas.openxmlformats.org/drawingml/2006/main">
            <a:off x="857250" y="2381250"/>
            <a:ext cx="6286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625" b="0">
                <a:solidFill>
                  <a:schemeClr val="tx1"/>
                </a:solidFill>
                <a:latin typeface="+mn-lt"/>
                <a:ea typeface="+mn-lt"/>
                <a:cs typeface="+mn-lt"/>
              </a:defRPr>
            </a:defPPr>
            <a:lvl1pPr marL="285750" indent="-285750">
              <a:lnSpc>
                <a:spcPct val="110000"/>
              </a:lnSpc>
              <a:spcBef>
                <a:spcPts val="0"/>
              </a:spcBef>
              <a:spcAft>
                <a:spcPts val="1500"/>
              </a:spcAft>
              <a:buChar char="•"/>
              <a:defRPr/>
            </a:lvl1pPr>
            <a:lvl2pPr marL="666750" indent="-285750">
              <a:lnSpc>
                <a:spcPct val="110000"/>
              </a:lnSpc>
              <a:spcBef>
                <a:spcPts val="0"/>
              </a:spcBef>
              <a:spcAft>
                <a:spcPts val="1500"/>
              </a:spcAft>
              <a:buChar char="•"/>
              <a:defRPr/>
            </a:lvl2pPr>
            <a:lvl3pPr marL="1047750" indent="-285750">
              <a:lnSpc>
                <a:spcPct val="110000"/>
              </a:lnSpc>
              <a:spcBef>
                <a:spcPts val="0"/>
              </a:spcBef>
              <a:spcAft>
                <a:spcPts val="1500"/>
              </a:spcAft>
              <a:buChar char="•"/>
              <a:defRPr/>
            </a:lvl3pPr>
            <a:lvl4pPr marL="1428750" indent="-285750">
              <a:lnSpc>
                <a:spcPct val="110000"/>
              </a:lnSpc>
              <a:spcBef>
                <a:spcPts val="0"/>
              </a:spcBef>
              <a:spcAft>
                <a:spcPts val="1500"/>
              </a:spcAft>
              <a:buChar char="•"/>
              <a:defRPr/>
            </a:lvl4pPr>
            <a:lvl5pPr marL="1809750" indent="-285750">
              <a:lnSpc>
                <a:spcPct val="110000"/>
              </a:lnSpc>
              <a:spcBef>
                <a:spcPts val="0"/>
              </a:spcBef>
              <a:spcAft>
                <a:spcPts val="1500"/>
              </a:spcAft>
              <a:buChar char="•"/>
              <a:defRPr/>
            </a:lvl5pPr>
            <a:lvl6pPr marL="2190750" indent="-285750">
              <a:lnSpc>
                <a:spcPct val="110000"/>
              </a:lnSpc>
              <a:spcBef>
                <a:spcPts val="0"/>
              </a:spcBef>
              <a:spcAft>
                <a:spcPts val="1500"/>
              </a:spcAft>
              <a:buChar char="•"/>
              <a:defRPr/>
            </a:lvl6pPr>
            <a:lvl7pPr marL="2571750" indent="-285750">
              <a:lnSpc>
                <a:spcPct val="110000"/>
              </a:lnSpc>
              <a:spcBef>
                <a:spcPts val="0"/>
              </a:spcBef>
              <a:spcAft>
                <a:spcPts val="1500"/>
              </a:spcAft>
              <a:buChar char="•"/>
              <a:defRPr/>
            </a:lvl7pPr>
            <a:lvl8pPr marL="2952750" indent="-285750">
              <a:lnSpc>
                <a:spcPct val="110000"/>
              </a:lnSpc>
              <a:spcBef>
                <a:spcPts val="0"/>
              </a:spcBef>
              <a:spcAft>
                <a:spcPts val="1500"/>
              </a:spcAft>
              <a:buChar char="•"/>
              <a:defRPr/>
            </a:lvl8pPr>
            <a:lvl9pPr marL="3333750" indent="-285750">
              <a:lnSpc>
                <a:spcPct val="110000"/>
              </a:lnSpc>
              <a:spcBef>
                <a:spcPts val="0"/>
              </a:spcBef>
              <a:spcAft>
                <a:spcPts val="1500"/>
              </a:spcAft>
              <a:buChar char="•"/>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AF25E1A6-5B62-4DE3-BC6F-DAECC9F8F2B3}"/>
              </a:ext>
            </a:extLst>
          </p:cNvPr>
          <p:cNvSpPr>
            <a:spLocks xmlns:a="http://schemas.openxmlformats.org/drawingml/2006/main" noGrp="1"/>
          </p:cNvSpPr>
          <p:nvPr>
            <p:ph type="body" idx="2"/>
          </p:nvPr>
        </p:nvSpPr>
        <p:spPr>
          <a:xfrm xmlns:a="http://schemas.openxmlformats.org/drawingml/2006/main">
            <a:off x="8096250" y="2381250"/>
            <a:ext cx="6286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625" b="0">
                <a:solidFill>
                  <a:schemeClr val="tx1"/>
                </a:solidFill>
                <a:latin typeface="+mn-lt"/>
                <a:ea typeface="+mn-lt"/>
                <a:cs typeface="+mn-lt"/>
              </a:defRPr>
            </a:defPPr>
            <a:lvl1pPr marL="285750" indent="-285750">
              <a:lnSpc>
                <a:spcPct val="110000"/>
              </a:lnSpc>
              <a:spcBef>
                <a:spcPts val="0"/>
              </a:spcBef>
              <a:spcAft>
                <a:spcPts val="1500"/>
              </a:spcAft>
              <a:buChar char="•"/>
              <a:defRPr/>
            </a:lvl1pPr>
            <a:lvl2pPr marL="666750" indent="-285750">
              <a:lnSpc>
                <a:spcPct val="110000"/>
              </a:lnSpc>
              <a:spcBef>
                <a:spcPts val="0"/>
              </a:spcBef>
              <a:spcAft>
                <a:spcPts val="1500"/>
              </a:spcAft>
              <a:buChar char="•"/>
              <a:defRPr/>
            </a:lvl2pPr>
            <a:lvl3pPr marL="1047750" indent="-285750">
              <a:lnSpc>
                <a:spcPct val="110000"/>
              </a:lnSpc>
              <a:spcBef>
                <a:spcPts val="0"/>
              </a:spcBef>
              <a:spcAft>
                <a:spcPts val="1500"/>
              </a:spcAft>
              <a:buChar char="•"/>
              <a:defRPr/>
            </a:lvl3pPr>
            <a:lvl4pPr marL="1428750" indent="-285750">
              <a:lnSpc>
                <a:spcPct val="110000"/>
              </a:lnSpc>
              <a:spcBef>
                <a:spcPts val="0"/>
              </a:spcBef>
              <a:spcAft>
                <a:spcPts val="1500"/>
              </a:spcAft>
              <a:buChar char="•"/>
              <a:defRPr/>
            </a:lvl4pPr>
            <a:lvl5pPr marL="1809750" indent="-285750">
              <a:lnSpc>
                <a:spcPct val="110000"/>
              </a:lnSpc>
              <a:spcBef>
                <a:spcPts val="0"/>
              </a:spcBef>
              <a:spcAft>
                <a:spcPts val="1500"/>
              </a:spcAft>
              <a:buChar char="•"/>
              <a:defRPr/>
            </a:lvl5pPr>
            <a:lvl6pPr marL="2190750" indent="-285750">
              <a:lnSpc>
                <a:spcPct val="110000"/>
              </a:lnSpc>
              <a:spcBef>
                <a:spcPts val="0"/>
              </a:spcBef>
              <a:spcAft>
                <a:spcPts val="1500"/>
              </a:spcAft>
              <a:buChar char="•"/>
              <a:defRPr/>
            </a:lvl6pPr>
            <a:lvl7pPr marL="2571750" indent="-285750">
              <a:lnSpc>
                <a:spcPct val="110000"/>
              </a:lnSpc>
              <a:spcBef>
                <a:spcPts val="0"/>
              </a:spcBef>
              <a:spcAft>
                <a:spcPts val="1500"/>
              </a:spcAft>
              <a:buChar char="•"/>
              <a:defRPr/>
            </a:lvl7pPr>
            <a:lvl8pPr marL="2952750" indent="-285750">
              <a:lnSpc>
                <a:spcPct val="110000"/>
              </a:lnSpc>
              <a:spcBef>
                <a:spcPts val="0"/>
              </a:spcBef>
              <a:spcAft>
                <a:spcPts val="1500"/>
              </a:spcAft>
              <a:buChar char="•"/>
              <a:defRPr/>
            </a:lvl8pPr>
            <a:lvl9pPr marL="3333750" indent="-285750">
              <a:lnSpc>
                <a:spcPct val="110000"/>
              </a:lnSpc>
              <a:spcBef>
                <a:spcPts val="0"/>
              </a:spcBef>
              <a:spcAft>
                <a:spcPts val="1500"/>
              </a:spcAft>
              <a:buChar char="•"/>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7FC270D-D82C-4B56-A521-5FCB06B0E788}"/>
              </a:ext>
            </a:extLst>
          </p:cNvPr>
          <p:cNvSpPr>
            <a:spLocks xmlns:a="http://schemas.openxmlformats.org/drawingml/2006/main" noGrp="1"/>
          </p:cNvSpPr>
          <p:nvPr>
            <p:ph type="title" idx="0"/>
          </p:nvPr>
        </p:nvSpPr>
        <p:spPr>
          <a:xfrm xmlns:a="http://schemas.openxmlformats.org/drawingml/2006/main">
            <a:off x="857250" y="666750"/>
            <a:ext cx="13525500" cy="1047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125"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9669944E-66CE-4C43-8BF8-3D6C205627F1}"/>
              </a:ext>
            </a:extLst>
          </p:cNvPr>
          <p:cNvSpPr>
            <a:spLocks xmlns:a="http://schemas.openxmlformats.org/drawingml/2006/main" noGrp="1"/>
          </p:cNvSpPr>
          <p:nvPr>
            <p:ph type="body" idx="1"/>
          </p:nvPr>
        </p:nvSpPr>
        <p:spPr>
          <a:xfrm xmlns:a="http://schemas.openxmlformats.org/drawingml/2006/main">
            <a:off x="857250" y="2381250"/>
            <a:ext cx="6286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813" b="0">
                <a:solidFill>
                  <a:schemeClr val="tx1"/>
                </a:solidFill>
                <a:latin typeface="+mn-lt"/>
                <a:ea typeface="+mn-lt"/>
                <a:cs typeface="+mn-lt"/>
              </a:defRPr>
            </a:defPPr>
            <a:lvl1pPr marL="285750" indent="-285750">
              <a:lnSpc>
                <a:spcPct val="110000"/>
              </a:lnSpc>
              <a:spcBef>
                <a:spcPts val="0"/>
              </a:spcBef>
              <a:spcAft>
                <a:spcPts val="1500"/>
              </a:spcAft>
              <a:buChar char="•"/>
              <a:defRPr/>
            </a:lvl1pPr>
            <a:lvl2pPr marL="666750" indent="-285750">
              <a:lnSpc>
                <a:spcPct val="110000"/>
              </a:lnSpc>
              <a:spcBef>
                <a:spcPts val="0"/>
              </a:spcBef>
              <a:spcAft>
                <a:spcPts val="1500"/>
              </a:spcAft>
              <a:buChar char="•"/>
              <a:defRPr/>
            </a:lvl2pPr>
            <a:lvl3pPr marL="1047750" indent="-285750">
              <a:lnSpc>
                <a:spcPct val="110000"/>
              </a:lnSpc>
              <a:spcBef>
                <a:spcPts val="0"/>
              </a:spcBef>
              <a:spcAft>
                <a:spcPts val="1500"/>
              </a:spcAft>
              <a:buChar char="•"/>
              <a:defRPr/>
            </a:lvl3pPr>
            <a:lvl4pPr marL="1428750" indent="-285750">
              <a:lnSpc>
                <a:spcPct val="110000"/>
              </a:lnSpc>
              <a:spcBef>
                <a:spcPts val="0"/>
              </a:spcBef>
              <a:spcAft>
                <a:spcPts val="1500"/>
              </a:spcAft>
              <a:buChar char="•"/>
              <a:defRPr/>
            </a:lvl4pPr>
            <a:lvl5pPr marL="1809750" indent="-285750">
              <a:lnSpc>
                <a:spcPct val="110000"/>
              </a:lnSpc>
              <a:spcBef>
                <a:spcPts val="0"/>
              </a:spcBef>
              <a:spcAft>
                <a:spcPts val="1500"/>
              </a:spcAft>
              <a:buChar char="•"/>
              <a:defRPr/>
            </a:lvl5pPr>
            <a:lvl6pPr marL="2190750" indent="-285750">
              <a:lnSpc>
                <a:spcPct val="110000"/>
              </a:lnSpc>
              <a:spcBef>
                <a:spcPts val="0"/>
              </a:spcBef>
              <a:spcAft>
                <a:spcPts val="1500"/>
              </a:spcAft>
              <a:buChar char="•"/>
              <a:defRPr/>
            </a:lvl6pPr>
            <a:lvl7pPr marL="2571750" indent="-285750">
              <a:lnSpc>
                <a:spcPct val="110000"/>
              </a:lnSpc>
              <a:spcBef>
                <a:spcPts val="0"/>
              </a:spcBef>
              <a:spcAft>
                <a:spcPts val="1500"/>
              </a:spcAft>
              <a:buChar char="•"/>
              <a:defRPr/>
            </a:lvl7pPr>
            <a:lvl8pPr marL="2952750" indent="-285750">
              <a:lnSpc>
                <a:spcPct val="110000"/>
              </a:lnSpc>
              <a:spcBef>
                <a:spcPts val="0"/>
              </a:spcBef>
              <a:spcAft>
                <a:spcPts val="1500"/>
              </a:spcAft>
              <a:buChar char="•"/>
              <a:defRPr/>
            </a:lvl8pPr>
            <a:lvl9pPr marL="3333750" indent="-285750">
              <a:lnSpc>
                <a:spcPct val="110000"/>
              </a:lnSpc>
              <a:spcBef>
                <a:spcPts val="0"/>
              </a:spcBef>
              <a:spcAft>
                <a:spcPts val="1500"/>
              </a:spcAft>
              <a:buChar char="•"/>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3141a6c5bcc4ded" /><Relationship Type="http://schemas.openxmlformats.org/officeDocument/2006/relationships/slideLayout" Target="/ppt/slideLayouts/slideLayout1.xml" Id="R0d3f59da63fc4a30" /><Relationship Type="http://schemas.openxmlformats.org/officeDocument/2006/relationships/slideLayout" Target="/ppt/slideLayouts/slideLayout2.xml" Id="Rbdb54d6e67da4e5e" /><Relationship Type="http://schemas.openxmlformats.org/officeDocument/2006/relationships/slideLayout" Target="/ppt/slideLayouts/slideLayout3.xml" Id="Rcf6337a96f0643ae" /><Relationship Type="http://schemas.openxmlformats.org/officeDocument/2006/relationships/slideLayout" Target="/ppt/slideLayouts/slideLayout4.xml" Id="R8f6e8b350d544ab5" /><Relationship Type="http://schemas.openxmlformats.org/officeDocument/2006/relationships/slideLayout" Target="/ppt/slideLayouts/slideLayout5.xml" Id="Rcd953509fd854bab" /><Relationship Type="http://schemas.openxmlformats.org/officeDocument/2006/relationships/slideLayout" Target="/ppt/slideLayouts/slideLayout6.xml" Id="R81ca42f7981f4aad"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d3f59da63fc4a30"/>
    <p:sldLayoutId xmlns:r="http://schemas.openxmlformats.org/officeDocument/2006/relationships" id="2147483650" r:id="Rbdb54d6e67da4e5e"/>
    <p:sldLayoutId xmlns:r="http://schemas.openxmlformats.org/officeDocument/2006/relationships" id="2147483651" r:id="Rcf6337a96f0643ae"/>
    <p:sldLayoutId xmlns:r="http://schemas.openxmlformats.org/officeDocument/2006/relationships" id="2147483652" r:id="R8f6e8b350d544ab5"/>
    <p:sldLayoutId xmlns:r="http://schemas.openxmlformats.org/officeDocument/2006/relationships" id="2147483653" r:id="Rcd953509fd854bab"/>
    <p:sldLayoutId xmlns:r="http://schemas.openxmlformats.org/officeDocument/2006/relationships" id="2147483654" r:id="R81ca42f7981f4aad"/>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375de52fae234d23" /><Relationship Type="http://schemas.openxmlformats.org/officeDocument/2006/relationships/notesSlide" Target="/ppt/notesSlides/notesSlide1.xml" Id="R5f9b6a65014f404c"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fec4d1c589f14dac" /><Relationship Type="http://schemas.openxmlformats.org/officeDocument/2006/relationships/notesSlide" Target="/ppt/notesSlides/notesSlide2.xml" Id="Ra98617b25aee4b53"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17059ccd145341e0" /><Relationship Type="http://schemas.openxmlformats.org/officeDocument/2006/relationships/notesSlide" Target="/ppt/notesSlides/notesSlide3.xml" Id="R2f810c6f780c4a87"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df36f4e7e1dc4df7" /><Relationship Type="http://schemas.openxmlformats.org/officeDocument/2006/relationships/notesSlide" Target="/ppt/notesSlides/notesSlide4.xml" Id="R56e17a0aa4554570"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e9ef41dcf5364638" /><Relationship Type="http://schemas.openxmlformats.org/officeDocument/2006/relationships/notesSlide" Target="/ppt/notesSlides/notesSlide5.xml" Id="R103bf7da147e49a1"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0072f7f8b5a240d2" /><Relationship Type="http://schemas.openxmlformats.org/officeDocument/2006/relationships/notesSlide" Target="/ppt/notesSlides/notesSlide6.xml" Id="R4a694360420f4b97"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4d26dc3ff294421b" /><Relationship Type="http://schemas.openxmlformats.org/officeDocument/2006/relationships/notesSlide" Target="/ppt/notesSlides/notesSlide7.xml" Id="Rdafe20872950467a"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bb2e3d232071458e" /><Relationship Type="http://schemas.openxmlformats.org/officeDocument/2006/relationships/notesSlide" Target="/ppt/notesSlides/notesSlide8.xml" Id="R706014cedd3541c9" /></Relationships>
</file>

<file path=ppt/slides/slide1.xml><?xml version="1.0" encoding="utf-8"?>
<p:sld xmlns:p="http://schemas.openxmlformats.org/presentationml/2006/main">
  <p:cSld>
    <p:bg>
      <p:bgPr>
        <a:solidFill xmlns:a="http://schemas.openxmlformats.org/drawingml/2006/main">
          <a:srgbClr val="F6F5F0"/>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BC239CF3-AEEB-4C70-9638-598037246DD0}"/>
              </a:ext>
            </a:extLst>
          </p:cNvPr>
          <p:cNvSpPr>
            <a:spLocks xmlns:a="http://schemas.openxmlformats.org/drawingml/2006/main" noGrp="1"/>
          </p:cNvSpPr>
          <p:nvPr/>
        </p:nvSpPr>
        <p:spPr>
          <a:xfrm xmlns:a="http://schemas.openxmlformats.org/drawingml/2006/main">
            <a:off x="571500" y="295275"/>
            <a:ext cx="9525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350" b="1">
                <a:solidFill>
                  <a:srgbClr val="157D80"/>
                </a:solidFill>
                <a:latin typeface="Aptos"/>
                <a:ea typeface="Aptos"/>
                <a:cs typeface="Aptos"/>
              </a:defRPr>
            </a:defPPr>
          </a:lstStyle>
          <a:p xmlns:a="http://schemas.openxmlformats.org/drawingml/2006/main">
            <a:pPr>
              <a:buNone/>
              <a:defRPr sz="1350" b="1">
                <a:solidFill>
                  <a:srgbClr val="157D80"/>
                </a:solidFill>
                <a:latin typeface="Aptos"/>
                <a:ea typeface="Aptos"/>
                <a:cs typeface="Aptos"/>
              </a:defRPr>
            </a:pPr>
            <a:r>
              <a:rPr sz="1350" b="1">
                <a:solidFill>
                  <a:srgbClr val="157D80"/>
                </a:solidFill>
                <a:latin typeface="Aptos"/>
                <a:ea typeface="Aptos"/>
                <a:cs typeface="Aptos"/>
              </a:rPr>
              <a:t>INERTIA / FORT WORTH DAO</a:t>
            </a:r>
          </a:p>
        </p:txBody>
      </p:sp>
      <p:sp>
        <p:nvSpPr>
          <p:cNvPr id="2" name="">
            <a:extLst xmlns:a="http://schemas.openxmlformats.org/drawingml/2006/main">
              <a:ext uri="{FF2B5EF4-FFF2-40B4-BE49-F238E27FC236}">
                <a16:creationId xmlns:a16="http://schemas.microsoft.com/office/drawing/2014/main" id="{775A061A-BB9A-46D9-9689-1E888F612136}"/>
              </a:ext>
            </a:extLst>
          </p:cNvPr>
          <p:cNvSpPr>
            <a:spLocks xmlns:a="http://schemas.openxmlformats.org/drawingml/2006/main" noGrp="1"/>
          </p:cNvSpPr>
          <p:nvPr/>
        </p:nvSpPr>
        <p:spPr>
          <a:xfrm xmlns:a="http://schemas.openxmlformats.org/drawingml/2006/main">
            <a:off x="571500" y="723900"/>
            <a:ext cx="140970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3450" b="1">
                <a:solidFill>
                  <a:srgbClr val="132E38"/>
                </a:solidFill>
                <a:latin typeface="Aptos"/>
                <a:ea typeface="Aptos"/>
                <a:cs typeface="Aptos"/>
              </a:defRPr>
            </a:defPPr>
          </a:lstStyle>
          <a:p xmlns:a="http://schemas.openxmlformats.org/drawingml/2006/main">
            <a:pPr>
              <a:buNone/>
              <a:defRPr sz="3450" b="1">
                <a:solidFill>
                  <a:srgbClr val="132E38"/>
                </a:solidFill>
                <a:latin typeface="Aptos"/>
                <a:ea typeface="Aptos"/>
                <a:cs typeface="Aptos"/>
              </a:defRPr>
            </a:pPr>
            <a:r>
              <a:rPr sz="3450" b="1">
                <a:solidFill>
                  <a:srgbClr val="132E38"/>
                </a:solidFill>
                <a:latin typeface="Aptos"/>
                <a:ea typeface="Aptos"/>
                <a:cs typeface="Aptos"/>
              </a:rPr>
              <a:t>Inertia makes DAO work easier</a:t>
            </a:r>
          </a:p>
        </p:txBody>
      </p:sp>
      <p:sp>
        <p:nvSpPr>
          <p:cNvPr id="3" name="">
            <a:extLst xmlns:a="http://schemas.openxmlformats.org/drawingml/2006/main">
              <a:ext uri="{FF2B5EF4-FFF2-40B4-BE49-F238E27FC236}">
                <a16:creationId xmlns:a16="http://schemas.microsoft.com/office/drawing/2014/main" id="{5D164164-343D-4C7C-B71D-8030C1CF6682}"/>
              </a:ext>
            </a:extLst>
          </p:cNvPr>
          <p:cNvSpPr>
            <a:spLocks xmlns:a="http://schemas.openxmlformats.org/drawingml/2006/main" noGrp="1"/>
          </p:cNvSpPr>
          <p:nvPr/>
        </p:nvSpPr>
        <p:spPr>
          <a:xfrm xmlns:a="http://schemas.openxmlformats.org/drawingml/2006/main">
            <a:off x="571500" y="1362075"/>
            <a:ext cx="140970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00" b="0">
                <a:solidFill>
                  <a:srgbClr val="49616A"/>
                </a:solidFill>
                <a:latin typeface="Aptos"/>
                <a:ea typeface="Aptos"/>
                <a:cs typeface="Aptos"/>
              </a:defRPr>
            </a:defPPr>
          </a:lstStyle>
          <a:p xmlns:a="http://schemas.openxmlformats.org/drawingml/2006/main">
            <a:pPr>
              <a:buNone/>
              <a:defRPr sz="1800" b="0">
                <a:solidFill>
                  <a:srgbClr val="49616A"/>
                </a:solidFill>
                <a:latin typeface="Aptos"/>
                <a:ea typeface="Aptos"/>
                <a:cs typeface="Aptos"/>
              </a:defRPr>
            </a:pPr>
            <a:r>
              <a:rPr sz="1800" b="0">
                <a:solidFill>
                  <a:srgbClr val="49616A"/>
                </a:solidFill>
                <a:latin typeface="Aptos"/>
                <a:ea typeface="Aptos"/>
                <a:cs typeface="Aptos"/>
              </a:rPr>
              <a:t>Target experience: one work system, with Buzz and the Paperclip dashboard as entry points.</a:t>
            </a:r>
          </a:p>
        </p:txBody>
      </p:sp>
      <p:sp>
        <p:nvSpPr>
          <p:cNvPr id="4" name="">
            <a:extLst xmlns:a="http://schemas.openxmlformats.org/drawingml/2006/main">
              <a:ext uri="{FF2B5EF4-FFF2-40B4-BE49-F238E27FC236}">
                <a16:creationId xmlns:a16="http://schemas.microsoft.com/office/drawing/2014/main" id="{6423E234-E4AB-4F82-B0DF-2D097B8BABD2}"/>
              </a:ext>
            </a:extLst>
          </p:cNvPr>
          <p:cNvSpPr>
            <a:spLocks xmlns:a="http://schemas.openxmlformats.org/drawingml/2006/main" noGrp="1"/>
          </p:cNvSpPr>
          <p:nvPr/>
        </p:nvSpPr>
        <p:spPr>
          <a:xfrm xmlns:a="http://schemas.openxmlformats.org/drawingml/2006/main">
            <a:off x="571500" y="7962900"/>
            <a:ext cx="14097000" cy="9525"/>
          </a:xfrm>
          <a:prstGeom xmlns:a="http://schemas.openxmlformats.org/drawingml/2006/main" prst="rect">
            <a:avLst/>
          </a:prstGeom>
          <a:solidFill xmlns:a="http://schemas.openxmlformats.org/drawingml/2006/main">
            <a:srgbClr val="B9C9C7"/>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080D05CB-D177-43A8-87B2-A8D4D710DBF6}"/>
              </a:ext>
            </a:extLst>
          </p:cNvPr>
          <p:cNvSpPr>
            <a:spLocks xmlns:a="http://schemas.openxmlformats.org/drawingml/2006/main" noGrp="1"/>
          </p:cNvSpPr>
          <p:nvPr/>
        </p:nvSpPr>
        <p:spPr>
          <a:xfrm xmlns:a="http://schemas.openxmlformats.org/drawingml/2006/main">
            <a:off x="571500" y="8105775"/>
            <a:ext cx="13144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275" b="0">
                <a:solidFill>
                  <a:srgbClr val="49616A"/>
                </a:solidFill>
                <a:latin typeface="Aptos"/>
                <a:ea typeface="Aptos"/>
                <a:cs typeface="Aptos"/>
              </a:defRPr>
            </a:defPPr>
          </a:lstStyle>
          <a:p xmlns:a="http://schemas.openxmlformats.org/drawingml/2006/main">
            <a:pPr>
              <a:buNone/>
              <a:defRPr sz="1275" b="0">
                <a:solidFill>
                  <a:srgbClr val="49616A"/>
                </a:solidFill>
                <a:latin typeface="Aptos"/>
                <a:ea typeface="Aptos"/>
                <a:cs typeface="Aptos"/>
              </a:defRPr>
            </a:pPr>
            <a:r>
              <a:rPr sz="1275" b="0">
                <a:solidFill>
                  <a:srgbClr val="49616A"/>
                </a:solidFill>
                <a:latin typeface="Aptos"/>
                <a:ea typeface="Aptos"/>
                <a:cs typeface="Aptos"/>
              </a:rPr>
              <a:t>INERTIA-2026-10-23-r9 · 23 October 2026 · Autonomous build</a:t>
            </a:r>
          </a:p>
        </p:txBody>
      </p:sp>
      <p:sp>
        <p:nvSpPr>
          <p:cNvPr id="6" name="">
            <a:extLst xmlns:a="http://schemas.openxmlformats.org/drawingml/2006/main">
              <a:ext uri="{FF2B5EF4-FFF2-40B4-BE49-F238E27FC236}">
                <a16:creationId xmlns:a16="http://schemas.microsoft.com/office/drawing/2014/main" id="{5DF04493-7DE5-4D72-9C1E-49BFA41D2CA5}"/>
              </a:ext>
            </a:extLst>
          </p:cNvPr>
          <p:cNvSpPr>
            <a:spLocks xmlns:a="http://schemas.openxmlformats.org/drawingml/2006/main" noGrp="1"/>
          </p:cNvSpPr>
          <p:nvPr/>
        </p:nvSpPr>
        <p:spPr>
          <a:xfrm xmlns:a="http://schemas.openxmlformats.org/drawingml/2006/main">
            <a:off x="14001750" y="8067675"/>
            <a:ext cx="666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00" b="1">
                <a:solidFill>
                  <a:srgbClr val="157D80"/>
                </a:solidFill>
                <a:latin typeface="Aptos"/>
                <a:ea typeface="Aptos"/>
                <a:cs typeface="Aptos"/>
              </a:defRPr>
            </a:defPPr>
          </a:lstStyle>
          <a:p xmlns:a="http://schemas.openxmlformats.org/drawingml/2006/main">
            <a:pPr>
              <a:buNone/>
              <a:defRPr sz="1800" b="1">
                <a:solidFill>
                  <a:srgbClr val="157D80"/>
                </a:solidFill>
                <a:latin typeface="Aptos"/>
                <a:ea typeface="Aptos"/>
                <a:cs typeface="Aptos"/>
              </a:defRPr>
            </a:pPr>
            <a:r>
              <a:rPr sz="1800" b="1">
                <a:solidFill>
                  <a:srgbClr val="157D80"/>
                </a:solidFill>
                <a:latin typeface="Aptos"/>
                <a:ea typeface="Aptos"/>
                <a:cs typeface="Aptos"/>
              </a:rPr>
              <a:t>01</a:t>
            </a:r>
          </a:p>
        </p:txBody>
      </p:sp>
      <p:sp>
        <p:nvSpPr>
          <p:cNvPr id="7" name="">
            <a:extLst xmlns:a="http://schemas.openxmlformats.org/drawingml/2006/main">
              <a:ext uri="{FF2B5EF4-FFF2-40B4-BE49-F238E27FC236}">
                <a16:creationId xmlns:a16="http://schemas.microsoft.com/office/drawing/2014/main" id="{D2153C1E-A0B4-45F5-A34D-24706DB52EFC}"/>
              </a:ext>
            </a:extLst>
          </p:cNvPr>
          <p:cNvSpPr>
            <a:spLocks xmlns:a="http://schemas.openxmlformats.org/drawingml/2006/main" noGrp="1"/>
          </p:cNvSpPr>
          <p:nvPr/>
        </p:nvSpPr>
        <p:spPr>
          <a:xfrm xmlns:a="http://schemas.openxmlformats.org/drawingml/2006/main">
            <a:off x="571500" y="2381250"/>
            <a:ext cx="4476750" cy="3619500"/>
          </a:xfrm>
          <a:prstGeom xmlns:a="http://schemas.openxmlformats.org/drawingml/2006/main" prst="rect">
            <a:avLst/>
          </a:prstGeom>
          <a:solidFill xmlns:a="http://schemas.openxmlformats.org/drawingml/2006/main">
            <a:srgbClr val="FFFFFF"/>
          </a:solidFill>
          <a:ln xmlns:a="http://schemas.openxmlformats.org/drawingml/2006/main" w="19050">
            <a:solidFill>
              <a:srgbClr val="157D80"/>
            </a:solidFill>
            <a:prstDash val="dash"/>
          </a:ln>
        </p:spPr>
      </p:sp>
      <p:sp>
        <p:nvSpPr>
          <p:cNvPr id="8" name="">
            <a:extLst xmlns:a="http://schemas.openxmlformats.org/drawingml/2006/main">
              <a:ext uri="{FF2B5EF4-FFF2-40B4-BE49-F238E27FC236}">
                <a16:creationId xmlns:a16="http://schemas.microsoft.com/office/drawing/2014/main" id="{AA48ECDB-2288-4E14-8C18-9F8332DA82D6}"/>
              </a:ext>
            </a:extLst>
          </p:cNvPr>
          <p:cNvSpPr>
            <a:spLocks xmlns:a="http://schemas.openxmlformats.org/drawingml/2006/main" noGrp="1"/>
          </p:cNvSpPr>
          <p:nvPr/>
        </p:nvSpPr>
        <p:spPr>
          <a:xfrm xmlns:a="http://schemas.openxmlformats.org/drawingml/2006/main">
            <a:off x="742950" y="2514600"/>
            <a:ext cx="41338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1">
                <a:solidFill>
                  <a:srgbClr val="157D80"/>
                </a:solidFill>
                <a:latin typeface="Aptos"/>
                <a:ea typeface="Aptos"/>
                <a:cs typeface="Aptos"/>
              </a:defRPr>
            </a:defPPr>
          </a:lstStyle>
          <a:p xmlns:a="http://schemas.openxmlformats.org/drawingml/2006/main">
            <a:pPr>
              <a:buNone/>
              <a:defRPr sz="1875" b="1">
                <a:solidFill>
                  <a:srgbClr val="157D80"/>
                </a:solidFill>
                <a:latin typeface="Aptos"/>
                <a:ea typeface="Aptos"/>
                <a:cs typeface="Aptos"/>
              </a:defRPr>
            </a:pPr>
            <a:r>
              <a:rPr sz="1875" b="1">
                <a:solidFill>
                  <a:srgbClr val="157D80"/>
                </a:solidFill>
                <a:latin typeface="Aptos"/>
                <a:ea typeface="Aptos"/>
                <a:cs typeface="Aptos"/>
              </a:rPr>
              <a:t>Automatic meetings</a:t>
            </a:r>
          </a:p>
        </p:txBody>
      </p:sp>
      <p:sp>
        <p:nvSpPr>
          <p:cNvPr id="9" name="">
            <a:extLst xmlns:a="http://schemas.openxmlformats.org/drawingml/2006/main">
              <a:ext uri="{FF2B5EF4-FFF2-40B4-BE49-F238E27FC236}">
                <a16:creationId xmlns:a16="http://schemas.microsoft.com/office/drawing/2014/main" id="{35B68F73-56D2-467A-95DE-6505A99DE0CD}"/>
              </a:ext>
            </a:extLst>
          </p:cNvPr>
          <p:cNvSpPr>
            <a:spLocks xmlns:a="http://schemas.openxmlformats.org/drawingml/2006/main" noGrp="1"/>
          </p:cNvSpPr>
          <p:nvPr/>
        </p:nvSpPr>
        <p:spPr>
          <a:xfrm xmlns:a="http://schemas.openxmlformats.org/drawingml/2006/main">
            <a:off x="742950" y="3048000"/>
            <a:ext cx="4133850" cy="2876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0">
                <a:solidFill>
                  <a:srgbClr val="49616A"/>
                </a:solidFill>
                <a:latin typeface="Aptos"/>
                <a:ea typeface="Aptos"/>
                <a:cs typeface="Aptos"/>
              </a:defRPr>
            </a:defPPr>
          </a:lstStyle>
          <a:p xmlns:a="http://schemas.openxmlformats.org/drawingml/2006/main">
            <a:pPr>
              <a:buNone/>
              <a:defRPr sz="2250" b="0">
                <a:solidFill>
                  <a:srgbClr val="49616A"/>
                </a:solidFill>
                <a:latin typeface="Aptos"/>
                <a:ea typeface="Aptos"/>
                <a:cs typeface="Aptos"/>
              </a:defRPr>
            </a:pPr>
            <a:r>
              <a:rPr sz="2250" b="0">
                <a:solidFill>
                  <a:srgbClr val="49616A"/>
                </a:solidFill>
                <a:latin typeface="Aptos"/>
                <a:ea typeface="Aptos"/>
                <a:cs typeface="Aptos"/>
              </a:rPr>
              <a:t>Gemini output in Drive</a:t>
            </a:r>
          </a:p>
          <a:p xmlns:a="http://schemas.openxmlformats.org/drawingml/2006/main">
            <a:pPr>
              <a:buNone/>
              <a:defRPr sz="2250" b="0">
                <a:solidFill>
                  <a:srgbClr val="49616A"/>
                </a:solidFill>
                <a:latin typeface="Aptos"/>
                <a:ea typeface="Aptos"/>
                <a:cs typeface="Aptos"/>
              </a:defRPr>
            </a:pPr>
            <a:r>
              <a:rPr sz="2250" b="0">
                <a:solidFill>
                  <a:srgbClr val="49616A"/>
                </a:solidFill>
                <a:latin typeface="Aptos"/>
                <a:ea typeface="Aptos"/>
                <a:cs typeface="Aptos"/>
              </a:rPr>
              <a:t>Clean transcript and notes</a:t>
            </a:r>
          </a:p>
          <a:p xmlns:a="http://schemas.openxmlformats.org/drawingml/2006/main">
            <a:pPr>
              <a:buNone/>
              <a:defRPr sz="2250" b="0">
                <a:solidFill>
                  <a:srgbClr val="49616A"/>
                </a:solidFill>
                <a:latin typeface="Aptos"/>
                <a:ea typeface="Aptos"/>
                <a:cs typeface="Aptos"/>
              </a:defRPr>
            </a:pPr>
            <a:r>
              <a:rPr sz="2250" b="0">
                <a:solidFill>
                  <a:srgbClr val="49616A"/>
                </a:solidFill>
                <a:latin typeface="Aptos"/>
                <a:ea typeface="Aptos"/>
                <a:cs typeface="Aptos"/>
              </a:rPr>
              <a:t>Verified website publication</a:t>
            </a:r>
          </a:p>
          <a:p xmlns:a="http://schemas.openxmlformats.org/drawingml/2006/main">
            <a:pPr>
              <a:buNone/>
              <a:defRPr sz="2250" b="0">
                <a:solidFill>
                  <a:srgbClr val="49616A"/>
                </a:solidFill>
                <a:latin typeface="Aptos"/>
                <a:ea typeface="Aptos"/>
                <a:cs typeface="Aptos"/>
              </a:defRPr>
            </a:pPr>
            <a:r>
              <a:rPr sz="2250" b="0">
                <a:solidFill>
                  <a:srgbClr val="49616A"/>
                </a:solidFill>
                <a:latin typeface="Aptos"/>
                <a:ea typeface="Aptos"/>
                <a:cs typeface="Aptos"/>
              </a:rPr>
              <a:t>Links back to the conversation</a:t>
            </a:r>
          </a:p>
        </p:txBody>
      </p:sp>
      <p:sp>
        <p:nvSpPr>
          <p:cNvPr id="10" name="">
            <a:extLst xmlns:a="http://schemas.openxmlformats.org/drawingml/2006/main">
              <a:ext uri="{FF2B5EF4-FFF2-40B4-BE49-F238E27FC236}">
                <a16:creationId xmlns:a16="http://schemas.microsoft.com/office/drawing/2014/main" id="{2E07301F-CADC-43B8-9DEC-48FBD257046F}"/>
              </a:ext>
            </a:extLst>
          </p:cNvPr>
          <p:cNvSpPr>
            <a:spLocks xmlns:a="http://schemas.openxmlformats.org/drawingml/2006/main" noGrp="1"/>
          </p:cNvSpPr>
          <p:nvPr/>
        </p:nvSpPr>
        <p:spPr>
          <a:xfrm xmlns:a="http://schemas.openxmlformats.org/drawingml/2006/main">
            <a:off x="5381625" y="2381250"/>
            <a:ext cx="4476750" cy="3619500"/>
          </a:xfrm>
          <a:prstGeom xmlns:a="http://schemas.openxmlformats.org/drawingml/2006/main" prst="rect">
            <a:avLst/>
          </a:prstGeom>
          <a:solidFill xmlns:a="http://schemas.openxmlformats.org/drawingml/2006/main">
            <a:srgbClr val="FFFFFF"/>
          </a:solidFill>
          <a:ln xmlns:a="http://schemas.openxmlformats.org/drawingml/2006/main" w="19050">
            <a:solidFill>
              <a:srgbClr val="157D80"/>
            </a:solidFill>
            <a:prstDash val="dash"/>
          </a:ln>
        </p:spPr>
      </p:sp>
      <p:sp>
        <p:nvSpPr>
          <p:cNvPr id="11" name="">
            <a:extLst xmlns:a="http://schemas.openxmlformats.org/drawingml/2006/main">
              <a:ext uri="{FF2B5EF4-FFF2-40B4-BE49-F238E27FC236}">
                <a16:creationId xmlns:a16="http://schemas.microsoft.com/office/drawing/2014/main" id="{3D16CEED-7B01-44E3-8A26-D63202FFE02D}"/>
              </a:ext>
            </a:extLst>
          </p:cNvPr>
          <p:cNvSpPr>
            <a:spLocks xmlns:a="http://schemas.openxmlformats.org/drawingml/2006/main" noGrp="1"/>
          </p:cNvSpPr>
          <p:nvPr/>
        </p:nvSpPr>
        <p:spPr>
          <a:xfrm xmlns:a="http://schemas.openxmlformats.org/drawingml/2006/main">
            <a:off x="5553075" y="2514600"/>
            <a:ext cx="41338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1">
                <a:solidFill>
                  <a:srgbClr val="157D80"/>
                </a:solidFill>
                <a:latin typeface="Aptos"/>
                <a:ea typeface="Aptos"/>
                <a:cs typeface="Aptos"/>
              </a:defRPr>
            </a:defPPr>
          </a:lstStyle>
          <a:p xmlns:a="http://schemas.openxmlformats.org/drawingml/2006/main">
            <a:pPr>
              <a:buNone/>
              <a:defRPr sz="1875" b="1">
                <a:solidFill>
                  <a:srgbClr val="157D80"/>
                </a:solidFill>
                <a:latin typeface="Aptos"/>
                <a:ea typeface="Aptos"/>
                <a:cs typeface="Aptos"/>
              </a:defRPr>
            </a:pPr>
            <a:r>
              <a:rPr sz="1875" b="1">
                <a:solidFill>
                  <a:srgbClr val="157D80"/>
                </a:solidFill>
                <a:latin typeface="Aptos"/>
                <a:ea typeface="Aptos"/>
                <a:cs typeface="Aptos"/>
              </a:rPr>
              <a:t>Current grant packet</a:t>
            </a:r>
          </a:p>
        </p:txBody>
      </p:sp>
      <p:sp>
        <p:nvSpPr>
          <p:cNvPr id="12" name="">
            <a:extLst xmlns:a="http://schemas.openxmlformats.org/drawingml/2006/main">
              <a:ext uri="{FF2B5EF4-FFF2-40B4-BE49-F238E27FC236}">
                <a16:creationId xmlns:a16="http://schemas.microsoft.com/office/drawing/2014/main" id="{69FAD8CC-CABF-460A-8D10-37945D426688}"/>
              </a:ext>
            </a:extLst>
          </p:cNvPr>
          <p:cNvSpPr>
            <a:spLocks xmlns:a="http://schemas.openxmlformats.org/drawingml/2006/main" noGrp="1"/>
          </p:cNvSpPr>
          <p:nvPr/>
        </p:nvSpPr>
        <p:spPr>
          <a:xfrm xmlns:a="http://schemas.openxmlformats.org/drawingml/2006/main">
            <a:off x="5553075" y="3048000"/>
            <a:ext cx="4133850" cy="2876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0">
                <a:solidFill>
                  <a:srgbClr val="49616A"/>
                </a:solidFill>
                <a:latin typeface="Aptos"/>
                <a:ea typeface="Aptos"/>
                <a:cs typeface="Aptos"/>
              </a:defRPr>
            </a:defPPr>
          </a:lstStyle>
          <a:p xmlns:a="http://schemas.openxmlformats.org/drawingml/2006/main">
            <a:pPr>
              <a:buNone/>
              <a:defRPr sz="2250" b="0">
                <a:solidFill>
                  <a:srgbClr val="49616A"/>
                </a:solidFill>
                <a:latin typeface="Aptos"/>
                <a:ea typeface="Aptos"/>
                <a:cs typeface="Aptos"/>
              </a:defRPr>
            </a:pPr>
            <a:r>
              <a:rPr sz="2250" b="0">
                <a:solidFill>
                  <a:srgbClr val="49616A"/>
                </a:solidFill>
                <a:latin typeface="Aptos"/>
                <a:ea typeface="Aptos"/>
                <a:cs typeface="Aptos"/>
              </a:rPr>
              <a:t>Existing scanner discovers</a:t>
            </a:r>
          </a:p>
          <a:p xmlns:a="http://schemas.openxmlformats.org/drawingml/2006/main">
            <a:pPr>
              <a:buNone/>
              <a:defRPr sz="2250" b="0">
                <a:solidFill>
                  <a:srgbClr val="49616A"/>
                </a:solidFill>
                <a:latin typeface="Aptos"/>
                <a:ea typeface="Aptos"/>
                <a:cs typeface="Aptos"/>
              </a:defRPr>
            </a:pPr>
            <a:r>
              <a:rPr sz="2250" b="0">
                <a:solidFill>
                  <a:srgbClr val="49616A"/>
                </a:solidFill>
                <a:latin typeface="Aptos"/>
                <a:ea typeface="Aptos"/>
                <a:cs typeface="Aptos"/>
              </a:rPr>
              <a:t>Team reviews the application</a:t>
            </a:r>
          </a:p>
          <a:p xmlns:a="http://schemas.openxmlformats.org/drawingml/2006/main">
            <a:pPr>
              <a:buNone/>
              <a:defRPr sz="2250" b="0">
                <a:solidFill>
                  <a:srgbClr val="49616A"/>
                </a:solidFill>
                <a:latin typeface="Aptos"/>
                <a:ea typeface="Aptos"/>
                <a:cs typeface="Aptos"/>
              </a:defRPr>
            </a:pPr>
            <a:r>
              <a:rPr sz="2250" b="0">
                <a:solidFill>
                  <a:srgbClr val="49616A"/>
                </a:solidFill>
                <a:latin typeface="Aptos"/>
                <a:ea typeface="Aptos"/>
                <a:cs typeface="Aptos"/>
              </a:rPr>
              <a:t>Blockchain vote binds the packet</a:t>
            </a:r>
          </a:p>
          <a:p xmlns:a="http://schemas.openxmlformats.org/drawingml/2006/main">
            <a:pPr>
              <a:buNone/>
              <a:defRPr sz="2250" b="0">
                <a:solidFill>
                  <a:srgbClr val="49616A"/>
                </a:solidFill>
                <a:latin typeface="Aptos"/>
                <a:ea typeface="Aptos"/>
                <a:cs typeface="Aptos"/>
              </a:defRPr>
            </a:pPr>
            <a:r>
              <a:rPr sz="2250" b="0">
                <a:solidFill>
                  <a:srgbClr val="49616A"/>
                </a:solidFill>
                <a:latin typeface="Aptos"/>
                <a:ea typeface="Aptos"/>
                <a:cs typeface="Aptos"/>
              </a:rPr>
              <a:t>Y2 keeps interests current</a:t>
            </a:r>
          </a:p>
        </p:txBody>
      </p:sp>
      <p:sp>
        <p:nvSpPr>
          <p:cNvPr id="13" name="">
            <a:extLst xmlns:a="http://schemas.openxmlformats.org/drawingml/2006/main">
              <a:ext uri="{FF2B5EF4-FFF2-40B4-BE49-F238E27FC236}">
                <a16:creationId xmlns:a16="http://schemas.microsoft.com/office/drawing/2014/main" id="{CEF943F2-0F20-41AD-9B1C-CE20548E73C5}"/>
              </a:ext>
            </a:extLst>
          </p:cNvPr>
          <p:cNvSpPr>
            <a:spLocks xmlns:a="http://schemas.openxmlformats.org/drawingml/2006/main" noGrp="1"/>
          </p:cNvSpPr>
          <p:nvPr/>
        </p:nvSpPr>
        <p:spPr>
          <a:xfrm xmlns:a="http://schemas.openxmlformats.org/drawingml/2006/main">
            <a:off x="10191750" y="2381250"/>
            <a:ext cx="4476750" cy="3619500"/>
          </a:xfrm>
          <a:prstGeom xmlns:a="http://schemas.openxmlformats.org/drawingml/2006/main" prst="rect">
            <a:avLst/>
          </a:prstGeom>
          <a:solidFill xmlns:a="http://schemas.openxmlformats.org/drawingml/2006/main">
            <a:srgbClr val="FFFFFF"/>
          </a:solidFill>
          <a:ln xmlns:a="http://schemas.openxmlformats.org/drawingml/2006/main" w="19050">
            <a:solidFill>
              <a:srgbClr val="157D80"/>
            </a:solidFill>
            <a:prstDash val="dash"/>
          </a:ln>
        </p:spPr>
      </p:sp>
      <p:sp>
        <p:nvSpPr>
          <p:cNvPr id="14" name="">
            <a:extLst xmlns:a="http://schemas.openxmlformats.org/drawingml/2006/main">
              <a:ext uri="{FF2B5EF4-FFF2-40B4-BE49-F238E27FC236}">
                <a16:creationId xmlns:a16="http://schemas.microsoft.com/office/drawing/2014/main" id="{B17ADE35-A4FA-44FC-89E1-5984054AE389}"/>
              </a:ext>
            </a:extLst>
          </p:cNvPr>
          <p:cNvSpPr>
            <a:spLocks xmlns:a="http://schemas.openxmlformats.org/drawingml/2006/main" noGrp="1"/>
          </p:cNvSpPr>
          <p:nvPr/>
        </p:nvSpPr>
        <p:spPr>
          <a:xfrm xmlns:a="http://schemas.openxmlformats.org/drawingml/2006/main">
            <a:off x="10363200" y="2514600"/>
            <a:ext cx="41338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1">
                <a:solidFill>
                  <a:srgbClr val="157D80"/>
                </a:solidFill>
                <a:latin typeface="Aptos"/>
                <a:ea typeface="Aptos"/>
                <a:cs typeface="Aptos"/>
              </a:defRPr>
            </a:defPPr>
          </a:lstStyle>
          <a:p xmlns:a="http://schemas.openxmlformats.org/drawingml/2006/main">
            <a:pPr>
              <a:buNone/>
              <a:defRPr sz="1875" b="1">
                <a:solidFill>
                  <a:srgbClr val="157D80"/>
                </a:solidFill>
                <a:latin typeface="Aptos"/>
                <a:ea typeface="Aptos"/>
                <a:cs typeface="Aptos"/>
              </a:defRPr>
            </a:pPr>
            <a:r>
              <a:rPr sz="1875" b="1">
                <a:solidFill>
                  <a:srgbClr val="157D80"/>
                </a:solidFill>
                <a:latin typeface="Aptos"/>
                <a:ea typeface="Aptos"/>
                <a:cs typeface="Aptos"/>
              </a:rPr>
              <a:t>Member spare capacity</a:t>
            </a:r>
          </a:p>
        </p:txBody>
      </p:sp>
      <p:sp>
        <p:nvSpPr>
          <p:cNvPr id="15" name="">
            <a:extLst xmlns:a="http://schemas.openxmlformats.org/drawingml/2006/main">
              <a:ext uri="{FF2B5EF4-FFF2-40B4-BE49-F238E27FC236}">
                <a16:creationId xmlns:a16="http://schemas.microsoft.com/office/drawing/2014/main" id="{D0B9CA06-3D16-4139-B9AD-07875AA91F38}"/>
              </a:ext>
            </a:extLst>
          </p:cNvPr>
          <p:cNvSpPr>
            <a:spLocks xmlns:a="http://schemas.openxmlformats.org/drawingml/2006/main" noGrp="1"/>
          </p:cNvSpPr>
          <p:nvPr/>
        </p:nvSpPr>
        <p:spPr>
          <a:xfrm xmlns:a="http://schemas.openxmlformats.org/drawingml/2006/main">
            <a:off x="10363200" y="3048000"/>
            <a:ext cx="4133850" cy="2876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0">
                <a:solidFill>
                  <a:srgbClr val="49616A"/>
                </a:solidFill>
                <a:latin typeface="Aptos"/>
                <a:ea typeface="Aptos"/>
                <a:cs typeface="Aptos"/>
              </a:defRPr>
            </a:defPPr>
          </a:lstStyle>
          <a:p xmlns:a="http://schemas.openxmlformats.org/drawingml/2006/main">
            <a:pPr>
              <a:buNone/>
              <a:defRPr sz="2250" b="0">
                <a:solidFill>
                  <a:srgbClr val="49616A"/>
                </a:solidFill>
                <a:latin typeface="Aptos"/>
                <a:ea typeface="Aptos"/>
                <a:cs typeface="Aptos"/>
              </a:defRPr>
            </a:pPr>
            <a:r>
              <a:rPr sz="2250" b="0">
                <a:solidFill>
                  <a:srgbClr val="49616A"/>
                </a:solidFill>
                <a:latin typeface="Aptos"/>
                <a:ea typeface="Aptos"/>
                <a:cs typeface="Aptos"/>
              </a:rPr>
              <a:t>Connect an authorized agent</a:t>
            </a:r>
          </a:p>
          <a:p xmlns:a="http://schemas.openxmlformats.org/drawingml/2006/main">
            <a:pPr>
              <a:buNone/>
              <a:defRPr sz="2250" b="0">
                <a:solidFill>
                  <a:srgbClr val="49616A"/>
                </a:solidFill>
                <a:latin typeface="Aptos"/>
                <a:ea typeface="Aptos"/>
                <a:cs typeface="Aptos"/>
              </a:defRPr>
            </a:pPr>
            <a:r>
              <a:rPr sz="2250" b="0">
                <a:solidFill>
                  <a:srgbClr val="49616A"/>
                </a:solidFill>
                <a:latin typeface="Aptos"/>
                <a:ea typeface="Aptos"/>
                <a:cs typeface="Aptos"/>
              </a:rPr>
              <a:t>Acquire eligible work eagerly</a:t>
            </a:r>
          </a:p>
          <a:p xmlns:a="http://schemas.openxmlformats.org/drawingml/2006/main">
            <a:pPr>
              <a:buNone/>
              <a:defRPr sz="2250" b="0">
                <a:solidFill>
                  <a:srgbClr val="49616A"/>
                </a:solidFill>
                <a:latin typeface="Aptos"/>
                <a:ea typeface="Aptos"/>
                <a:cs typeface="Aptos"/>
              </a:defRPr>
            </a:pPr>
            <a:r>
              <a:rPr sz="2250" b="0">
                <a:solidFill>
                  <a:srgbClr val="49616A"/>
                </a:solidFill>
                <a:latin typeface="Aptos"/>
                <a:ea typeface="Aptos"/>
                <a:cs typeface="Aptos"/>
              </a:rPr>
              <a:t>Return a validated contribution</a:t>
            </a:r>
          </a:p>
          <a:p xmlns:a="http://schemas.openxmlformats.org/drawingml/2006/main">
            <a:pPr>
              <a:buNone/>
              <a:defRPr sz="2250" b="0">
                <a:solidFill>
                  <a:srgbClr val="49616A"/>
                </a:solidFill>
                <a:latin typeface="Aptos"/>
                <a:ea typeface="Aptos"/>
                <a:cs typeface="Aptos"/>
              </a:defRPr>
            </a:pPr>
            <a:r>
              <a:rPr sz="2250" b="0">
                <a:solidFill>
                  <a:srgbClr val="49616A"/>
                </a:solidFill>
                <a:latin typeface="Aptos"/>
                <a:ea typeface="Aptos"/>
                <a:cs typeface="Aptos"/>
              </a:rPr>
              <a:t>Continue useful follow-ups</a:t>
            </a:r>
          </a:p>
        </p:txBody>
      </p:sp>
      <p:sp>
        <p:nvSpPr>
          <p:cNvPr id="16" name="">
            <a:extLst xmlns:a="http://schemas.openxmlformats.org/drawingml/2006/main">
              <a:ext uri="{FF2B5EF4-FFF2-40B4-BE49-F238E27FC236}">
                <a16:creationId xmlns:a16="http://schemas.microsoft.com/office/drawing/2014/main" id="{2E448B18-4CE1-4E33-87D1-75CE8159A33E}"/>
              </a:ext>
            </a:extLst>
          </p:cNvPr>
          <p:cNvSpPr>
            <a:spLocks xmlns:a="http://schemas.openxmlformats.org/drawingml/2006/main" noGrp="1"/>
          </p:cNvSpPr>
          <p:nvPr/>
        </p:nvSpPr>
        <p:spPr>
          <a:xfrm xmlns:a="http://schemas.openxmlformats.org/drawingml/2006/main">
            <a:off x="571500" y="6572250"/>
            <a:ext cx="140970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100" b="0">
                <a:solidFill>
                  <a:srgbClr val="132E38"/>
                </a:solidFill>
                <a:latin typeface="Aptos"/>
                <a:ea typeface="Aptos"/>
                <a:cs typeface="Aptos"/>
              </a:defRPr>
            </a:defPPr>
          </a:lstStyle>
          <a:p xmlns:a="http://schemas.openxmlformats.org/drawingml/2006/main">
            <a:pPr>
              <a:buNone/>
              <a:defRPr sz="2100" b="0">
                <a:solidFill>
                  <a:srgbClr val="132E38"/>
                </a:solidFill>
                <a:latin typeface="Aptos"/>
                <a:ea typeface="Aptos"/>
                <a:cs typeface="Aptos"/>
              </a:defRPr>
            </a:pPr>
            <a:r>
              <a:rPr sz="2100" b="0">
                <a:solidFill>
                  <a:srgbClr val="132E38"/>
                </a:solidFill>
                <a:latin typeface="Aptos"/>
                <a:ea typeface="Aptos"/>
                <a:cs typeface="Aptos"/>
              </a:rPr>
              <a:t>One-command synthetic walkthrough: npm run demo:workflow. Deterministic receipt links the journey and pending live handoffs.</a:t>
            </a:r>
          </a:p>
        </p:txBody>
      </p:sp>
    </p:spTree>
    <p:extLst>
      <p:ext uri="{BB962C8B-B14F-4D97-AF65-F5344CB8AC3E}">
        <p14:creationId xmlns:p14="http://schemas.microsoft.com/office/powerpoint/2010/main" val="1649333656"/>
      </p:ext>
    </p:extLst>
  </p:cSld>
</p:sld>
</file>

<file path=ppt/slides/slide2.xml><?xml version="1.0" encoding="utf-8"?>
<p:sld xmlns:p="http://schemas.openxmlformats.org/presentationml/2006/main">
  <p:cSld>
    <p:bg>
      <p:bgPr>
        <a:solidFill xmlns:a="http://schemas.openxmlformats.org/drawingml/2006/main">
          <a:srgbClr val="F6F5F0"/>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AA7E402A-3371-447D-BE62-7E56C20F8C59}"/>
              </a:ext>
            </a:extLst>
          </p:cNvPr>
          <p:cNvSpPr>
            <a:spLocks xmlns:a="http://schemas.openxmlformats.org/drawingml/2006/main" noGrp="1"/>
          </p:cNvSpPr>
          <p:nvPr/>
        </p:nvSpPr>
        <p:spPr>
          <a:xfrm xmlns:a="http://schemas.openxmlformats.org/drawingml/2006/main">
            <a:off x="571500" y="295275"/>
            <a:ext cx="9525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350" b="1">
                <a:solidFill>
                  <a:srgbClr val="157D80"/>
                </a:solidFill>
                <a:latin typeface="Aptos"/>
                <a:ea typeface="Aptos"/>
                <a:cs typeface="Aptos"/>
              </a:defRPr>
            </a:defPPr>
          </a:lstStyle>
          <a:p xmlns:a="http://schemas.openxmlformats.org/drawingml/2006/main">
            <a:pPr>
              <a:buNone/>
              <a:defRPr sz="1350" b="1">
                <a:solidFill>
                  <a:srgbClr val="157D80"/>
                </a:solidFill>
                <a:latin typeface="Aptos"/>
                <a:ea typeface="Aptos"/>
                <a:cs typeface="Aptos"/>
              </a:defRPr>
            </a:pPr>
            <a:r>
              <a:rPr sz="1350" b="1">
                <a:solidFill>
                  <a:srgbClr val="157D80"/>
                </a:solidFill>
                <a:latin typeface="Aptos"/>
                <a:ea typeface="Aptos"/>
                <a:cs typeface="Aptos"/>
              </a:rPr>
              <a:t>INERTIA / FORT WORTH DAO</a:t>
            </a:r>
          </a:p>
        </p:txBody>
      </p:sp>
      <p:sp>
        <p:nvSpPr>
          <p:cNvPr id="2" name="">
            <a:extLst xmlns:a="http://schemas.openxmlformats.org/drawingml/2006/main">
              <a:ext uri="{FF2B5EF4-FFF2-40B4-BE49-F238E27FC236}">
                <a16:creationId xmlns:a16="http://schemas.microsoft.com/office/drawing/2014/main" id="{7856E497-2025-4C11-98AE-354E6125C898}"/>
              </a:ext>
            </a:extLst>
          </p:cNvPr>
          <p:cNvSpPr>
            <a:spLocks xmlns:a="http://schemas.openxmlformats.org/drawingml/2006/main" noGrp="1"/>
          </p:cNvSpPr>
          <p:nvPr/>
        </p:nvSpPr>
        <p:spPr>
          <a:xfrm xmlns:a="http://schemas.openxmlformats.org/drawingml/2006/main">
            <a:off x="571500" y="723900"/>
            <a:ext cx="140970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3450" b="1">
                <a:solidFill>
                  <a:srgbClr val="132E38"/>
                </a:solidFill>
                <a:latin typeface="Aptos"/>
                <a:ea typeface="Aptos"/>
                <a:cs typeface="Aptos"/>
              </a:defRPr>
            </a:defPPr>
          </a:lstStyle>
          <a:p xmlns:a="http://schemas.openxmlformats.org/drawingml/2006/main">
            <a:pPr>
              <a:buNone/>
              <a:defRPr sz="3450" b="1">
                <a:solidFill>
                  <a:srgbClr val="132E38"/>
                </a:solidFill>
                <a:latin typeface="Aptos"/>
                <a:ea typeface="Aptos"/>
                <a:cs typeface="Aptos"/>
              </a:defRPr>
            </a:pPr>
            <a:r>
              <a:rPr sz="3450" b="1">
                <a:solidFill>
                  <a:srgbClr val="132E38"/>
                </a:solidFill>
                <a:latin typeface="Aptos"/>
                <a:ea typeface="Aptos"/>
                <a:cs typeface="Aptos"/>
              </a:rPr>
              <a:t>Paperclip owns the operating model</a:t>
            </a:r>
          </a:p>
        </p:txBody>
      </p:sp>
      <p:sp>
        <p:nvSpPr>
          <p:cNvPr id="3" name="">
            <a:extLst xmlns:a="http://schemas.openxmlformats.org/drawingml/2006/main">
              <a:ext uri="{FF2B5EF4-FFF2-40B4-BE49-F238E27FC236}">
                <a16:creationId xmlns:a16="http://schemas.microsoft.com/office/drawing/2014/main" id="{C9BBB0FF-4EB5-4568-B42F-9D7CDC0A2C56}"/>
              </a:ext>
            </a:extLst>
          </p:cNvPr>
          <p:cNvSpPr>
            <a:spLocks xmlns:a="http://schemas.openxmlformats.org/drawingml/2006/main" noGrp="1"/>
          </p:cNvSpPr>
          <p:nvPr/>
        </p:nvSpPr>
        <p:spPr>
          <a:xfrm xmlns:a="http://schemas.openxmlformats.org/drawingml/2006/main">
            <a:off x="571500" y="1362075"/>
            <a:ext cx="140970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00" b="0">
                <a:solidFill>
                  <a:srgbClr val="49616A"/>
                </a:solidFill>
                <a:latin typeface="Aptos"/>
                <a:ea typeface="Aptos"/>
                <a:cs typeface="Aptos"/>
              </a:defRPr>
            </a:defPPr>
          </a:lstStyle>
          <a:p xmlns:a="http://schemas.openxmlformats.org/drawingml/2006/main">
            <a:pPr>
              <a:buNone/>
              <a:defRPr sz="1800" b="0">
                <a:solidFill>
                  <a:srgbClr val="49616A"/>
                </a:solidFill>
                <a:latin typeface="Aptos"/>
                <a:ea typeface="Aptos"/>
                <a:cs typeface="Aptos"/>
              </a:defRPr>
            </a:pPr>
            <a:r>
              <a:rPr sz="1800" b="0">
                <a:solidFill>
                  <a:srgbClr val="49616A"/>
                </a:solidFill>
                <a:latin typeface="Aptos"/>
                <a:ea typeface="Aptos"/>
                <a:cs typeface="Aptos"/>
              </a:rPr>
              <a:t>Reuse the platform’s CEO, hiring, hierarchy and execution primitives.</a:t>
            </a:r>
          </a:p>
        </p:txBody>
      </p:sp>
      <p:sp>
        <p:nvSpPr>
          <p:cNvPr id="4" name="">
            <a:extLst xmlns:a="http://schemas.openxmlformats.org/drawingml/2006/main">
              <a:ext uri="{FF2B5EF4-FFF2-40B4-BE49-F238E27FC236}">
                <a16:creationId xmlns:a16="http://schemas.microsoft.com/office/drawing/2014/main" id="{F310BFE3-49C7-402D-BB80-E5A14561142F}"/>
              </a:ext>
            </a:extLst>
          </p:cNvPr>
          <p:cNvSpPr>
            <a:spLocks xmlns:a="http://schemas.openxmlformats.org/drawingml/2006/main" noGrp="1"/>
          </p:cNvSpPr>
          <p:nvPr/>
        </p:nvSpPr>
        <p:spPr>
          <a:xfrm xmlns:a="http://schemas.openxmlformats.org/drawingml/2006/main">
            <a:off x="571500" y="7962900"/>
            <a:ext cx="14097000" cy="9525"/>
          </a:xfrm>
          <a:prstGeom xmlns:a="http://schemas.openxmlformats.org/drawingml/2006/main" prst="rect">
            <a:avLst/>
          </a:prstGeom>
          <a:solidFill xmlns:a="http://schemas.openxmlformats.org/drawingml/2006/main">
            <a:srgbClr val="B9C9C7"/>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6D63C75B-38AD-44DE-B2C8-8E88B008BDB1}"/>
              </a:ext>
            </a:extLst>
          </p:cNvPr>
          <p:cNvSpPr>
            <a:spLocks xmlns:a="http://schemas.openxmlformats.org/drawingml/2006/main" noGrp="1"/>
          </p:cNvSpPr>
          <p:nvPr/>
        </p:nvSpPr>
        <p:spPr>
          <a:xfrm xmlns:a="http://schemas.openxmlformats.org/drawingml/2006/main">
            <a:off x="571500" y="8105775"/>
            <a:ext cx="13144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275" b="0">
                <a:solidFill>
                  <a:srgbClr val="49616A"/>
                </a:solidFill>
                <a:latin typeface="Aptos"/>
                <a:ea typeface="Aptos"/>
                <a:cs typeface="Aptos"/>
              </a:defRPr>
            </a:defPPr>
          </a:lstStyle>
          <a:p xmlns:a="http://schemas.openxmlformats.org/drawingml/2006/main">
            <a:pPr>
              <a:buNone/>
              <a:defRPr sz="1275" b="0">
                <a:solidFill>
                  <a:srgbClr val="49616A"/>
                </a:solidFill>
                <a:latin typeface="Aptos"/>
                <a:ea typeface="Aptos"/>
                <a:cs typeface="Aptos"/>
              </a:defRPr>
            </a:pPr>
            <a:r>
              <a:rPr sz="1275" b="0">
                <a:solidFill>
                  <a:srgbClr val="49616A"/>
                </a:solidFill>
                <a:latin typeface="Aptos"/>
                <a:ea typeface="Aptos"/>
                <a:cs typeface="Aptos"/>
              </a:rPr>
              <a:t>INERTIA-2026-10-23-r9 · 23 October 2026 · Autonomous build</a:t>
            </a:r>
          </a:p>
        </p:txBody>
      </p:sp>
      <p:sp>
        <p:nvSpPr>
          <p:cNvPr id="6" name="">
            <a:extLst xmlns:a="http://schemas.openxmlformats.org/drawingml/2006/main">
              <a:ext uri="{FF2B5EF4-FFF2-40B4-BE49-F238E27FC236}">
                <a16:creationId xmlns:a16="http://schemas.microsoft.com/office/drawing/2014/main" id="{AF2CB773-7879-4FB3-8C25-21C9E9DF2C6D}"/>
              </a:ext>
            </a:extLst>
          </p:cNvPr>
          <p:cNvSpPr>
            <a:spLocks xmlns:a="http://schemas.openxmlformats.org/drawingml/2006/main" noGrp="1"/>
          </p:cNvSpPr>
          <p:nvPr/>
        </p:nvSpPr>
        <p:spPr>
          <a:xfrm xmlns:a="http://schemas.openxmlformats.org/drawingml/2006/main">
            <a:off x="14001750" y="8067675"/>
            <a:ext cx="666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00" b="1">
                <a:solidFill>
                  <a:srgbClr val="157D80"/>
                </a:solidFill>
                <a:latin typeface="Aptos"/>
                <a:ea typeface="Aptos"/>
                <a:cs typeface="Aptos"/>
              </a:defRPr>
            </a:defPPr>
          </a:lstStyle>
          <a:p xmlns:a="http://schemas.openxmlformats.org/drawingml/2006/main">
            <a:pPr>
              <a:buNone/>
              <a:defRPr sz="1800" b="1">
                <a:solidFill>
                  <a:srgbClr val="157D80"/>
                </a:solidFill>
                <a:latin typeface="Aptos"/>
                <a:ea typeface="Aptos"/>
                <a:cs typeface="Aptos"/>
              </a:defRPr>
            </a:pPr>
            <a:r>
              <a:rPr sz="1800" b="1">
                <a:solidFill>
                  <a:srgbClr val="157D80"/>
                </a:solidFill>
                <a:latin typeface="Aptos"/>
                <a:ea typeface="Aptos"/>
                <a:cs typeface="Aptos"/>
              </a:rPr>
              <a:t>02</a:t>
            </a:r>
          </a:p>
        </p:txBody>
      </p:sp>
      <p:sp>
        <p:nvSpPr>
          <p:cNvPr id="7" name="">
            <a:extLst xmlns:a="http://schemas.openxmlformats.org/drawingml/2006/main">
              <a:ext uri="{FF2B5EF4-FFF2-40B4-BE49-F238E27FC236}">
                <a16:creationId xmlns:a16="http://schemas.microsoft.com/office/drawing/2014/main" id="{A0500152-E36A-431D-9503-A0CB8F413815}"/>
              </a:ext>
            </a:extLst>
          </p:cNvPr>
          <p:cNvSpPr>
            <a:spLocks xmlns:a="http://schemas.openxmlformats.org/drawingml/2006/main" noGrp="1"/>
          </p:cNvSpPr>
          <p:nvPr/>
        </p:nvSpPr>
        <p:spPr>
          <a:xfrm xmlns:a="http://schemas.openxmlformats.org/drawingml/2006/main">
            <a:off x="571500" y="2381250"/>
            <a:ext cx="4476750" cy="3619500"/>
          </a:xfrm>
          <a:prstGeom xmlns:a="http://schemas.openxmlformats.org/drawingml/2006/main" prst="rect">
            <a:avLst/>
          </a:prstGeom>
          <a:solidFill xmlns:a="http://schemas.openxmlformats.org/drawingml/2006/main">
            <a:srgbClr val="FFFFFF"/>
          </a:solidFill>
          <a:ln xmlns:a="http://schemas.openxmlformats.org/drawingml/2006/main" w="19050">
            <a:solidFill>
              <a:srgbClr val="157D80"/>
            </a:solidFill>
            <a:prstDash val="dash"/>
          </a:ln>
        </p:spPr>
      </p:sp>
      <p:sp>
        <p:nvSpPr>
          <p:cNvPr id="8" name="">
            <a:extLst xmlns:a="http://schemas.openxmlformats.org/drawingml/2006/main">
              <a:ext uri="{FF2B5EF4-FFF2-40B4-BE49-F238E27FC236}">
                <a16:creationId xmlns:a16="http://schemas.microsoft.com/office/drawing/2014/main" id="{66709222-0339-43C4-BD8B-9C62A1D0E1E1}"/>
              </a:ext>
            </a:extLst>
          </p:cNvPr>
          <p:cNvSpPr>
            <a:spLocks xmlns:a="http://schemas.openxmlformats.org/drawingml/2006/main" noGrp="1"/>
          </p:cNvSpPr>
          <p:nvPr/>
        </p:nvSpPr>
        <p:spPr>
          <a:xfrm xmlns:a="http://schemas.openxmlformats.org/drawingml/2006/main">
            <a:off x="742950" y="2514600"/>
            <a:ext cx="41338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1">
                <a:solidFill>
                  <a:srgbClr val="157D80"/>
                </a:solidFill>
                <a:latin typeface="Aptos"/>
                <a:ea typeface="Aptos"/>
                <a:cs typeface="Aptos"/>
              </a:defRPr>
            </a:defPPr>
          </a:lstStyle>
          <a:p xmlns:a="http://schemas.openxmlformats.org/drawingml/2006/main">
            <a:pPr>
              <a:buNone/>
              <a:defRPr sz="1875" b="1">
                <a:solidFill>
                  <a:srgbClr val="157D80"/>
                </a:solidFill>
                <a:latin typeface="Aptos"/>
                <a:ea typeface="Aptos"/>
                <a:cs typeface="Aptos"/>
              </a:defRPr>
            </a:pPr>
            <a:r>
              <a:rPr sz="1875" b="1">
                <a:solidFill>
                  <a:srgbClr val="157D80"/>
                </a:solidFill>
                <a:latin typeface="Aptos"/>
                <a:ea typeface="Aptos"/>
                <a:cs typeface="Aptos"/>
              </a:rPr>
              <a:t>Native platform</a:t>
            </a:r>
          </a:p>
        </p:txBody>
      </p:sp>
      <p:sp>
        <p:nvSpPr>
          <p:cNvPr id="9" name="">
            <a:extLst xmlns:a="http://schemas.openxmlformats.org/drawingml/2006/main">
              <a:ext uri="{FF2B5EF4-FFF2-40B4-BE49-F238E27FC236}">
                <a16:creationId xmlns:a16="http://schemas.microsoft.com/office/drawing/2014/main" id="{EB7DF129-E2D4-42BF-AF3A-0A51F797F241}"/>
              </a:ext>
            </a:extLst>
          </p:cNvPr>
          <p:cNvSpPr>
            <a:spLocks xmlns:a="http://schemas.openxmlformats.org/drawingml/2006/main" noGrp="1"/>
          </p:cNvSpPr>
          <p:nvPr/>
        </p:nvSpPr>
        <p:spPr>
          <a:xfrm xmlns:a="http://schemas.openxmlformats.org/drawingml/2006/main">
            <a:off x="742950" y="3048000"/>
            <a:ext cx="4133850" cy="2876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0">
                <a:solidFill>
                  <a:srgbClr val="49616A"/>
                </a:solidFill>
                <a:latin typeface="Aptos"/>
                <a:ea typeface="Aptos"/>
                <a:cs typeface="Aptos"/>
              </a:defRPr>
            </a:defPPr>
          </a:lstStyle>
          <a:p xmlns:a="http://schemas.openxmlformats.org/drawingml/2006/main">
            <a:pPr>
              <a:buNone/>
              <a:defRPr sz="2250" b="0">
                <a:solidFill>
                  <a:srgbClr val="49616A"/>
                </a:solidFill>
                <a:latin typeface="Aptos"/>
                <a:ea typeface="Aptos"/>
                <a:cs typeface="Aptos"/>
              </a:defRPr>
            </a:pPr>
            <a:r>
              <a:rPr sz="2250" b="0">
                <a:solidFill>
                  <a:srgbClr val="49616A"/>
                </a:solidFill>
                <a:latin typeface="Aptos"/>
                <a:ea typeface="Aptos"/>
                <a:cs typeface="Aptos"/>
              </a:rPr>
              <a:t>Goals, issues and dependencies</a:t>
            </a:r>
          </a:p>
          <a:p xmlns:a="http://schemas.openxmlformats.org/drawingml/2006/main">
            <a:pPr>
              <a:buNone/>
              <a:defRPr sz="2250" b="0">
                <a:solidFill>
                  <a:srgbClr val="49616A"/>
                </a:solidFill>
                <a:latin typeface="Aptos"/>
                <a:ea typeface="Aptos"/>
                <a:cs typeface="Aptos"/>
              </a:defRPr>
            </a:pPr>
            <a:r>
              <a:rPr sz="2250" b="0">
                <a:solidFill>
                  <a:srgbClr val="49616A"/>
                </a:solidFill>
                <a:latin typeface="Aptos"/>
                <a:ea typeface="Aptos"/>
                <a:cs typeface="Aptos"/>
              </a:rPr>
              <a:t>Hiring and policy permissions</a:t>
            </a:r>
          </a:p>
          <a:p xmlns:a="http://schemas.openxmlformats.org/drawingml/2006/main">
            <a:pPr>
              <a:buNone/>
              <a:defRPr sz="2250" b="0">
                <a:solidFill>
                  <a:srgbClr val="49616A"/>
                </a:solidFill>
                <a:latin typeface="Aptos"/>
                <a:ea typeface="Aptos"/>
                <a:cs typeface="Aptos"/>
              </a:defRPr>
            </a:pPr>
            <a:r>
              <a:rPr sz="2250" b="0">
                <a:solidFill>
                  <a:srgbClr val="49616A"/>
                </a:solidFill>
                <a:latin typeface="Aptos"/>
                <a:ea typeface="Aptos"/>
                <a:cs typeface="Aptos"/>
              </a:rPr>
              <a:t>Checkout, runs and budgets</a:t>
            </a:r>
          </a:p>
          <a:p xmlns:a="http://schemas.openxmlformats.org/drawingml/2006/main">
            <a:pPr>
              <a:buNone/>
              <a:defRPr sz="2250" b="0">
                <a:solidFill>
                  <a:srgbClr val="49616A"/>
                </a:solidFill>
                <a:latin typeface="Aptos"/>
                <a:ea typeface="Aptos"/>
                <a:cs typeface="Aptos"/>
              </a:defRPr>
            </a:pPr>
            <a:r>
              <a:rPr sz="2250" b="0">
                <a:solidFill>
                  <a:srgbClr val="49616A"/>
                </a:solidFill>
                <a:latin typeface="Aptos"/>
                <a:ea typeface="Aptos"/>
                <a:cs typeface="Aptos"/>
              </a:rPr>
              <a:t>Documents and human decisions</a:t>
            </a:r>
          </a:p>
        </p:txBody>
      </p:sp>
      <p:sp>
        <p:nvSpPr>
          <p:cNvPr id="10" name="">
            <a:extLst xmlns:a="http://schemas.openxmlformats.org/drawingml/2006/main">
              <a:ext uri="{FF2B5EF4-FFF2-40B4-BE49-F238E27FC236}">
                <a16:creationId xmlns:a16="http://schemas.microsoft.com/office/drawing/2014/main" id="{C7F4D5F2-930E-4AEA-BCAD-C642871E43BD}"/>
              </a:ext>
            </a:extLst>
          </p:cNvPr>
          <p:cNvSpPr>
            <a:spLocks xmlns:a="http://schemas.openxmlformats.org/drawingml/2006/main" noGrp="1"/>
          </p:cNvSpPr>
          <p:nvPr/>
        </p:nvSpPr>
        <p:spPr>
          <a:xfrm xmlns:a="http://schemas.openxmlformats.org/drawingml/2006/main">
            <a:off x="5381625" y="2381250"/>
            <a:ext cx="4476750" cy="3619500"/>
          </a:xfrm>
          <a:prstGeom xmlns:a="http://schemas.openxmlformats.org/drawingml/2006/main" prst="rect">
            <a:avLst/>
          </a:prstGeom>
          <a:solidFill xmlns:a="http://schemas.openxmlformats.org/drawingml/2006/main">
            <a:srgbClr val="FFFFFF"/>
          </a:solidFill>
          <a:ln xmlns:a="http://schemas.openxmlformats.org/drawingml/2006/main" w="19050">
            <a:solidFill>
              <a:srgbClr val="157D80"/>
            </a:solidFill>
            <a:prstDash val="dash"/>
          </a:ln>
        </p:spPr>
      </p:sp>
      <p:sp>
        <p:nvSpPr>
          <p:cNvPr id="11" name="">
            <a:extLst xmlns:a="http://schemas.openxmlformats.org/drawingml/2006/main">
              <a:ext uri="{FF2B5EF4-FFF2-40B4-BE49-F238E27FC236}">
                <a16:creationId xmlns:a16="http://schemas.microsoft.com/office/drawing/2014/main" id="{9750ECB7-DB45-4D6F-904A-A3001E33B2D4}"/>
              </a:ext>
            </a:extLst>
          </p:cNvPr>
          <p:cNvSpPr>
            <a:spLocks xmlns:a="http://schemas.openxmlformats.org/drawingml/2006/main" noGrp="1"/>
          </p:cNvSpPr>
          <p:nvPr/>
        </p:nvSpPr>
        <p:spPr>
          <a:xfrm xmlns:a="http://schemas.openxmlformats.org/drawingml/2006/main">
            <a:off x="5553075" y="2514600"/>
            <a:ext cx="41338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1">
                <a:solidFill>
                  <a:srgbClr val="157D80"/>
                </a:solidFill>
                <a:latin typeface="Aptos"/>
                <a:ea typeface="Aptos"/>
                <a:cs typeface="Aptos"/>
              </a:defRPr>
            </a:defPPr>
          </a:lstStyle>
          <a:p xmlns:a="http://schemas.openxmlformats.org/drawingml/2006/main">
            <a:pPr>
              <a:buNone/>
              <a:defRPr sz="1875" b="1">
                <a:solidFill>
                  <a:srgbClr val="157D80"/>
                </a:solidFill>
                <a:latin typeface="Aptos"/>
                <a:ea typeface="Aptos"/>
                <a:cs typeface="Aptos"/>
              </a:defRPr>
            </a:pPr>
            <a:r>
              <a:rPr sz="1875" b="1">
                <a:solidFill>
                  <a:srgbClr val="157D80"/>
                </a:solidFill>
                <a:latin typeface="Aptos"/>
                <a:ea typeface="Aptos"/>
                <a:cs typeface="Aptos"/>
              </a:rPr>
              <a:t>Thin Buzz bridge</a:t>
            </a:r>
          </a:p>
        </p:txBody>
      </p:sp>
      <p:sp>
        <p:nvSpPr>
          <p:cNvPr id="12" name="">
            <a:extLst xmlns:a="http://schemas.openxmlformats.org/drawingml/2006/main">
              <a:ext uri="{FF2B5EF4-FFF2-40B4-BE49-F238E27FC236}">
                <a16:creationId xmlns:a16="http://schemas.microsoft.com/office/drawing/2014/main" id="{612C9D55-35D0-4BAB-8E3D-57AB6674D958}"/>
              </a:ext>
            </a:extLst>
          </p:cNvPr>
          <p:cNvSpPr>
            <a:spLocks xmlns:a="http://schemas.openxmlformats.org/drawingml/2006/main" noGrp="1"/>
          </p:cNvSpPr>
          <p:nvPr/>
        </p:nvSpPr>
        <p:spPr>
          <a:xfrm xmlns:a="http://schemas.openxmlformats.org/drawingml/2006/main">
            <a:off x="5553075" y="3048000"/>
            <a:ext cx="4133850" cy="2876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0">
                <a:solidFill>
                  <a:srgbClr val="49616A"/>
                </a:solidFill>
                <a:latin typeface="Aptos"/>
                <a:ea typeface="Aptos"/>
                <a:cs typeface="Aptos"/>
              </a:defRPr>
            </a:defPPr>
          </a:lstStyle>
          <a:p xmlns:a="http://schemas.openxmlformats.org/drawingml/2006/main">
            <a:pPr>
              <a:buNone/>
              <a:defRPr sz="2250" b="0">
                <a:solidFill>
                  <a:srgbClr val="49616A"/>
                </a:solidFill>
                <a:latin typeface="Aptos"/>
                <a:ea typeface="Aptos"/>
                <a:cs typeface="Aptos"/>
              </a:defRPr>
            </a:pPr>
            <a:r>
              <a:rPr sz="2250" b="0">
                <a:solidFill>
                  <a:srgbClr val="49616A"/>
                </a:solidFill>
                <a:latin typeface="Aptos"/>
                <a:ea typeface="Aptos"/>
                <a:cs typeface="Aptos"/>
              </a:rPr>
              <a:t>Signed requests</a:t>
            </a:r>
          </a:p>
          <a:p xmlns:a="http://schemas.openxmlformats.org/drawingml/2006/main">
            <a:pPr>
              <a:buNone/>
              <a:defRPr sz="2250" b="0">
                <a:solidFill>
                  <a:srgbClr val="49616A"/>
                </a:solidFill>
                <a:latin typeface="Aptos"/>
                <a:ea typeface="Aptos"/>
                <a:cs typeface="Aptos"/>
              </a:defRPr>
            </a:pPr>
            <a:r>
              <a:rPr sz="2250" b="0">
                <a:solidFill>
                  <a:srgbClr val="49616A"/>
                </a:solidFill>
                <a:latin typeface="Aptos"/>
                <a:ea typeface="Aptos"/>
                <a:cs typeface="Aptos"/>
              </a:rPr>
              <a:t>Identity and native task IDs</a:t>
            </a:r>
          </a:p>
          <a:p xmlns:a="http://schemas.openxmlformats.org/drawingml/2006/main">
            <a:pPr>
              <a:buNone/>
              <a:defRPr sz="2250" b="0">
                <a:solidFill>
                  <a:srgbClr val="49616A"/>
                </a:solidFill>
                <a:latin typeface="Aptos"/>
                <a:ea typeface="Aptos"/>
                <a:cs typeface="Aptos"/>
              </a:defRPr>
            </a:pPr>
            <a:r>
              <a:rPr sz="2250" b="0">
                <a:solidFill>
                  <a:srgbClr val="49616A"/>
                </a:solidFill>
                <a:latin typeface="Aptos"/>
                <a:ea typeface="Aptos"/>
                <a:cs typeface="Aptos"/>
              </a:rPr>
              <a:t>Native decisions</a:t>
            </a:r>
          </a:p>
          <a:p xmlns:a="http://schemas.openxmlformats.org/drawingml/2006/main">
            <a:pPr>
              <a:buNone/>
              <a:defRPr sz="2250" b="0">
                <a:solidFill>
                  <a:srgbClr val="49616A"/>
                </a:solidFill>
                <a:latin typeface="Aptos"/>
                <a:ea typeface="Aptos"/>
                <a:cs typeface="Aptos"/>
              </a:defRPr>
            </a:pPr>
            <a:r>
              <a:rPr sz="2250" b="0">
                <a:solidFill>
                  <a:srgbClr val="49616A"/>
                </a:solidFill>
                <a:latin typeface="Aptos"/>
                <a:ea typeface="Aptos"/>
                <a:cs typeface="Aptos"/>
              </a:rPr>
              <a:t>Durable delivery recovery</a:t>
            </a:r>
          </a:p>
        </p:txBody>
      </p:sp>
      <p:sp>
        <p:nvSpPr>
          <p:cNvPr id="13" name="">
            <a:extLst xmlns:a="http://schemas.openxmlformats.org/drawingml/2006/main">
              <a:ext uri="{FF2B5EF4-FFF2-40B4-BE49-F238E27FC236}">
                <a16:creationId xmlns:a16="http://schemas.microsoft.com/office/drawing/2014/main" id="{7D6978CF-E9C4-4AFB-9744-B48389DEB42F}"/>
              </a:ext>
            </a:extLst>
          </p:cNvPr>
          <p:cNvSpPr>
            <a:spLocks xmlns:a="http://schemas.openxmlformats.org/drawingml/2006/main" noGrp="1"/>
          </p:cNvSpPr>
          <p:nvPr/>
        </p:nvSpPr>
        <p:spPr>
          <a:xfrm xmlns:a="http://schemas.openxmlformats.org/drawingml/2006/main">
            <a:off x="10191750" y="2381250"/>
            <a:ext cx="4476750" cy="3619500"/>
          </a:xfrm>
          <a:prstGeom xmlns:a="http://schemas.openxmlformats.org/drawingml/2006/main" prst="rect">
            <a:avLst/>
          </a:prstGeom>
          <a:solidFill xmlns:a="http://schemas.openxmlformats.org/drawingml/2006/main">
            <a:srgbClr val="FFFFFF"/>
          </a:solidFill>
          <a:ln xmlns:a="http://schemas.openxmlformats.org/drawingml/2006/main" w="19050">
            <a:solidFill>
              <a:srgbClr val="157D80"/>
            </a:solidFill>
            <a:prstDash val="dash"/>
          </a:ln>
        </p:spPr>
      </p:sp>
      <p:sp>
        <p:nvSpPr>
          <p:cNvPr id="14" name="">
            <a:extLst xmlns:a="http://schemas.openxmlformats.org/drawingml/2006/main">
              <a:ext uri="{FF2B5EF4-FFF2-40B4-BE49-F238E27FC236}">
                <a16:creationId xmlns:a16="http://schemas.microsoft.com/office/drawing/2014/main" id="{3B0E4C0F-84D5-46C1-8AB7-B563943D2932}"/>
              </a:ext>
            </a:extLst>
          </p:cNvPr>
          <p:cNvSpPr>
            <a:spLocks xmlns:a="http://schemas.openxmlformats.org/drawingml/2006/main" noGrp="1"/>
          </p:cNvSpPr>
          <p:nvPr/>
        </p:nvSpPr>
        <p:spPr>
          <a:xfrm xmlns:a="http://schemas.openxmlformats.org/drawingml/2006/main">
            <a:off x="10363200" y="2514600"/>
            <a:ext cx="41338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1">
                <a:solidFill>
                  <a:srgbClr val="157D80"/>
                </a:solidFill>
                <a:latin typeface="Aptos"/>
                <a:ea typeface="Aptos"/>
                <a:cs typeface="Aptos"/>
              </a:defRPr>
            </a:defPPr>
          </a:lstStyle>
          <a:p xmlns:a="http://schemas.openxmlformats.org/drawingml/2006/main">
            <a:pPr>
              <a:buNone/>
              <a:defRPr sz="1875" b="1">
                <a:solidFill>
                  <a:srgbClr val="157D80"/>
                </a:solidFill>
                <a:latin typeface="Aptos"/>
                <a:ea typeface="Aptos"/>
                <a:cs typeface="Aptos"/>
              </a:defRPr>
            </a:pPr>
            <a:r>
              <a:rPr sz="1875" b="1">
                <a:solidFill>
                  <a:srgbClr val="157D80"/>
                </a:solidFill>
                <a:latin typeface="Aptos"/>
                <a:ea typeface="Aptos"/>
                <a:cs typeface="Aptos"/>
              </a:rPr>
              <a:t>Existing infrastructure</a:t>
            </a:r>
          </a:p>
        </p:txBody>
      </p:sp>
      <p:sp>
        <p:nvSpPr>
          <p:cNvPr id="15" name="">
            <a:extLst xmlns:a="http://schemas.openxmlformats.org/drawingml/2006/main">
              <a:ext uri="{FF2B5EF4-FFF2-40B4-BE49-F238E27FC236}">
                <a16:creationId xmlns:a16="http://schemas.microsoft.com/office/drawing/2014/main" id="{B2EFF710-9337-4710-A8E0-C04D4711369E}"/>
              </a:ext>
            </a:extLst>
          </p:cNvPr>
          <p:cNvSpPr>
            <a:spLocks xmlns:a="http://schemas.openxmlformats.org/drawingml/2006/main" noGrp="1"/>
          </p:cNvSpPr>
          <p:nvPr/>
        </p:nvSpPr>
        <p:spPr>
          <a:xfrm xmlns:a="http://schemas.openxmlformats.org/drawingml/2006/main">
            <a:off x="10363200" y="3048000"/>
            <a:ext cx="4133850" cy="2876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0">
                <a:solidFill>
                  <a:srgbClr val="49616A"/>
                </a:solidFill>
                <a:latin typeface="Aptos"/>
                <a:ea typeface="Aptos"/>
                <a:cs typeface="Aptos"/>
              </a:defRPr>
            </a:defPPr>
          </a:lstStyle>
          <a:p xmlns:a="http://schemas.openxmlformats.org/drawingml/2006/main">
            <a:pPr>
              <a:buNone/>
              <a:defRPr sz="2250" b="0">
                <a:solidFill>
                  <a:srgbClr val="49616A"/>
                </a:solidFill>
                <a:latin typeface="Aptos"/>
                <a:ea typeface="Aptos"/>
                <a:cs typeface="Aptos"/>
              </a:defRPr>
            </a:pPr>
            <a:r>
              <a:rPr sz="2250" b="0">
                <a:solidFill>
                  <a:srgbClr val="49616A"/>
                </a:solidFill>
                <a:latin typeface="Aptos"/>
                <a:ea typeface="Aptos"/>
                <a:cs typeface="Aptos"/>
              </a:rPr>
              <a:t>Existing hardened provider</a:t>
            </a:r>
          </a:p>
          <a:p xmlns:a="http://schemas.openxmlformats.org/drawingml/2006/main">
            <a:pPr>
              <a:buNone/>
              <a:defRPr sz="2250" b="0">
                <a:solidFill>
                  <a:srgbClr val="49616A"/>
                </a:solidFill>
                <a:latin typeface="Aptos"/>
                <a:ea typeface="Aptos"/>
                <a:cs typeface="Aptos"/>
              </a:defRPr>
            </a:pPr>
            <a:r>
              <a:rPr sz="2250" b="0">
                <a:solidFill>
                  <a:srgbClr val="49616A"/>
                </a:solidFill>
                <a:latin typeface="Aptos"/>
                <a:ea typeface="Aptos"/>
                <a:cs typeface="Aptos"/>
              </a:rPr>
              <a:t>Isolation qualification pending</a:t>
            </a:r>
          </a:p>
          <a:p xmlns:a="http://schemas.openxmlformats.org/drawingml/2006/main">
            <a:pPr>
              <a:buNone/>
              <a:defRPr sz="2250" b="0">
                <a:solidFill>
                  <a:srgbClr val="49616A"/>
                </a:solidFill>
                <a:latin typeface="Aptos"/>
                <a:ea typeface="Aptos"/>
                <a:cs typeface="Aptos"/>
              </a:defRPr>
            </a:pPr>
            <a:r>
              <a:rPr sz="2250" b="0">
                <a:solidFill>
                  <a:srgbClr val="49616A"/>
                </a:solidFill>
                <a:latin typeface="Aptos"/>
                <a:ea typeface="Aptos"/>
                <a:cs typeface="Aptos"/>
              </a:rPr>
              <a:t>PlanetScale DAO database</a:t>
            </a:r>
          </a:p>
          <a:p xmlns:a="http://schemas.openxmlformats.org/drawingml/2006/main">
            <a:pPr>
              <a:buNone/>
              <a:defRPr sz="2250" b="0">
                <a:solidFill>
                  <a:srgbClr val="49616A"/>
                </a:solidFill>
                <a:latin typeface="Aptos"/>
                <a:ea typeface="Aptos"/>
                <a:cs typeface="Aptos"/>
              </a:defRPr>
            </a:pPr>
            <a:r>
              <a:rPr sz="2250" b="0">
                <a:solidFill>
                  <a:srgbClr val="49616A"/>
                </a:solidFill>
                <a:latin typeface="Aptos"/>
                <a:ea typeface="Aptos"/>
                <a:cs typeface="Aptos"/>
              </a:rPr>
              <a:t>Cloudflare available as needed</a:t>
            </a:r>
          </a:p>
        </p:txBody>
      </p:sp>
      <p:sp>
        <p:nvSpPr>
          <p:cNvPr id="16" name="">
            <a:extLst xmlns:a="http://schemas.openxmlformats.org/drawingml/2006/main">
              <a:ext uri="{FF2B5EF4-FFF2-40B4-BE49-F238E27FC236}">
                <a16:creationId xmlns:a16="http://schemas.microsoft.com/office/drawing/2014/main" id="{BBA93648-BF1B-4CB2-9628-711602AA722A}"/>
              </a:ext>
            </a:extLst>
          </p:cNvPr>
          <p:cNvSpPr>
            <a:spLocks xmlns:a="http://schemas.openxmlformats.org/drawingml/2006/main" noGrp="1"/>
          </p:cNvSpPr>
          <p:nvPr/>
        </p:nvSpPr>
        <p:spPr>
          <a:xfrm xmlns:a="http://schemas.openxmlformats.org/drawingml/2006/main">
            <a:off x="571500" y="6572250"/>
            <a:ext cx="140970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100" b="0">
                <a:solidFill>
                  <a:srgbClr val="132E38"/>
                </a:solidFill>
                <a:latin typeface="Aptos"/>
                <a:ea typeface="Aptos"/>
                <a:cs typeface="Aptos"/>
              </a:defRPr>
            </a:defPPr>
          </a:lstStyle>
          <a:p xmlns:a="http://schemas.openxmlformats.org/drawingml/2006/main">
            <a:pPr>
              <a:buNone/>
              <a:defRPr sz="2100" b="0">
                <a:solidFill>
                  <a:srgbClr val="132E38"/>
                </a:solidFill>
                <a:latin typeface="Aptos"/>
                <a:ea typeface="Aptos"/>
                <a:cs typeface="Aptos"/>
              </a:defRPr>
            </a:pPr>
            <a:r>
              <a:rPr sz="2100" b="0">
                <a:solidFill>
                  <a:srgbClr val="132E38"/>
                </a:solidFill>
                <a:latin typeface="Aptos"/>
                <a:ea typeface="Aptos"/>
                <a:cs typeface="Aptos"/>
              </a:rPr>
              <a:t>Latest Paperclip releases are the target. Reproducible builds qualify compatibility and migrations before promotion.</a:t>
            </a:r>
          </a:p>
        </p:txBody>
      </p:sp>
    </p:spTree>
    <p:extLst>
      <p:ext uri="{BB962C8B-B14F-4D97-AF65-F5344CB8AC3E}">
        <p14:creationId xmlns:p14="http://schemas.microsoft.com/office/powerpoint/2010/main" val="170816485"/>
      </p:ext>
    </p:extLst>
  </p:cSld>
</p:sld>
</file>

<file path=ppt/slides/slide3.xml><?xml version="1.0" encoding="utf-8"?>
<p:sld xmlns:p="http://schemas.openxmlformats.org/presentationml/2006/main">
  <p:cSld>
    <p:bg>
      <p:bgPr>
        <a:solidFill xmlns:a="http://schemas.openxmlformats.org/drawingml/2006/main">
          <a:srgbClr val="F6F5F0"/>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182BD0C8-8380-48F4-B41A-229845094366}"/>
              </a:ext>
            </a:extLst>
          </p:cNvPr>
          <p:cNvSpPr>
            <a:spLocks xmlns:a="http://schemas.openxmlformats.org/drawingml/2006/main" noGrp="1"/>
          </p:cNvSpPr>
          <p:nvPr/>
        </p:nvSpPr>
        <p:spPr>
          <a:xfrm xmlns:a="http://schemas.openxmlformats.org/drawingml/2006/main">
            <a:off x="571500" y="295275"/>
            <a:ext cx="9525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350" b="1">
                <a:solidFill>
                  <a:srgbClr val="157D80"/>
                </a:solidFill>
                <a:latin typeface="Aptos"/>
                <a:ea typeface="Aptos"/>
                <a:cs typeface="Aptos"/>
              </a:defRPr>
            </a:defPPr>
          </a:lstStyle>
          <a:p xmlns:a="http://schemas.openxmlformats.org/drawingml/2006/main">
            <a:pPr>
              <a:buNone/>
              <a:defRPr sz="1350" b="1">
                <a:solidFill>
                  <a:srgbClr val="157D80"/>
                </a:solidFill>
                <a:latin typeface="Aptos"/>
                <a:ea typeface="Aptos"/>
                <a:cs typeface="Aptos"/>
              </a:defRPr>
            </a:pPr>
            <a:r>
              <a:rPr sz="1350" b="1">
                <a:solidFill>
                  <a:srgbClr val="157D80"/>
                </a:solidFill>
                <a:latin typeface="Aptos"/>
                <a:ea typeface="Aptos"/>
                <a:cs typeface="Aptos"/>
              </a:rPr>
              <a:t>INERTIA / FORT WORTH DAO</a:t>
            </a:r>
          </a:p>
        </p:txBody>
      </p:sp>
      <p:sp>
        <p:nvSpPr>
          <p:cNvPr id="2" name="">
            <a:extLst xmlns:a="http://schemas.openxmlformats.org/drawingml/2006/main">
              <a:ext uri="{FF2B5EF4-FFF2-40B4-BE49-F238E27FC236}">
                <a16:creationId xmlns:a16="http://schemas.microsoft.com/office/drawing/2014/main" id="{0CCB7C36-E25D-4D85-888E-F11279DD2CE0}"/>
              </a:ext>
            </a:extLst>
          </p:cNvPr>
          <p:cNvSpPr>
            <a:spLocks xmlns:a="http://schemas.openxmlformats.org/drawingml/2006/main" noGrp="1"/>
          </p:cNvSpPr>
          <p:nvPr/>
        </p:nvSpPr>
        <p:spPr>
          <a:xfrm xmlns:a="http://schemas.openxmlformats.org/drawingml/2006/main">
            <a:off x="571500" y="723900"/>
            <a:ext cx="140970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3450" b="1">
                <a:solidFill>
                  <a:srgbClr val="132E38"/>
                </a:solidFill>
                <a:latin typeface="Aptos"/>
                <a:ea typeface="Aptos"/>
                <a:cs typeface="Aptos"/>
              </a:defRPr>
            </a:defPPr>
          </a:lstStyle>
          <a:p xmlns:a="http://schemas.openxmlformats.org/drawingml/2006/main">
            <a:pPr>
              <a:buNone/>
              <a:defRPr sz="3450" b="1">
                <a:solidFill>
                  <a:srgbClr val="132E38"/>
                </a:solidFill>
                <a:latin typeface="Aptos"/>
                <a:ea typeface="Aptos"/>
                <a:cs typeface="Aptos"/>
              </a:defRPr>
            </a:pPr>
            <a:r>
              <a:rPr sz="3450" b="1">
                <a:solidFill>
                  <a:srgbClr val="132E38"/>
                </a:solidFill>
                <a:latin typeface="Aptos"/>
                <a:ea typeface="Aptos"/>
                <a:cs typeface="Aptos"/>
              </a:rPr>
              <a:t>Automatic Roundtable publication</a:t>
            </a:r>
          </a:p>
        </p:txBody>
      </p:sp>
      <p:sp>
        <p:nvSpPr>
          <p:cNvPr id="3" name="">
            <a:extLst xmlns:a="http://schemas.openxmlformats.org/drawingml/2006/main">
              <a:ext uri="{FF2B5EF4-FFF2-40B4-BE49-F238E27FC236}">
                <a16:creationId xmlns:a16="http://schemas.microsoft.com/office/drawing/2014/main" id="{3098477F-614C-4C0E-BDF2-15D0E0A17517}"/>
              </a:ext>
            </a:extLst>
          </p:cNvPr>
          <p:cNvSpPr>
            <a:spLocks xmlns:a="http://schemas.openxmlformats.org/drawingml/2006/main" noGrp="1"/>
          </p:cNvSpPr>
          <p:nvPr/>
        </p:nvSpPr>
        <p:spPr>
          <a:xfrm xmlns:a="http://schemas.openxmlformats.org/drawingml/2006/main">
            <a:off x="571500" y="1362075"/>
            <a:ext cx="140970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00" b="0">
                <a:solidFill>
                  <a:srgbClr val="49616A"/>
                </a:solidFill>
                <a:latin typeface="Aptos"/>
                <a:ea typeface="Aptos"/>
                <a:cs typeface="Aptos"/>
              </a:defRPr>
            </a:defPPr>
          </a:lstStyle>
          <a:p xmlns:a="http://schemas.openxmlformats.org/drawingml/2006/main">
            <a:pPr>
              <a:buNone/>
              <a:defRPr sz="1800" b="0">
                <a:solidFill>
                  <a:srgbClr val="49616A"/>
                </a:solidFill>
                <a:latin typeface="Aptos"/>
                <a:ea typeface="Aptos"/>
                <a:cs typeface="Aptos"/>
              </a:defRPr>
            </a:pPr>
            <a:r>
              <a:rPr sz="1800" b="0">
                <a:solidFill>
                  <a:srgbClr val="49616A"/>
                </a:solidFill>
                <a:latin typeface="Aptos"/>
                <a:ea typeface="Aptos"/>
                <a:cs typeface="Aptos"/>
              </a:rPr>
              <a:t>Target: authorized Meet/Gemini output in Drive, then members-only portal publication.</a:t>
            </a:r>
          </a:p>
        </p:txBody>
      </p:sp>
      <p:sp>
        <p:nvSpPr>
          <p:cNvPr id="4" name="">
            <a:extLst xmlns:a="http://schemas.openxmlformats.org/drawingml/2006/main">
              <a:ext uri="{FF2B5EF4-FFF2-40B4-BE49-F238E27FC236}">
                <a16:creationId xmlns:a16="http://schemas.microsoft.com/office/drawing/2014/main" id="{78E15CD5-619F-447C-A583-3971869491F4}"/>
              </a:ext>
            </a:extLst>
          </p:cNvPr>
          <p:cNvSpPr>
            <a:spLocks xmlns:a="http://schemas.openxmlformats.org/drawingml/2006/main" noGrp="1"/>
          </p:cNvSpPr>
          <p:nvPr/>
        </p:nvSpPr>
        <p:spPr>
          <a:xfrm xmlns:a="http://schemas.openxmlformats.org/drawingml/2006/main">
            <a:off x="571500" y="7962900"/>
            <a:ext cx="14097000" cy="9525"/>
          </a:xfrm>
          <a:prstGeom xmlns:a="http://schemas.openxmlformats.org/drawingml/2006/main" prst="rect">
            <a:avLst/>
          </a:prstGeom>
          <a:solidFill xmlns:a="http://schemas.openxmlformats.org/drawingml/2006/main">
            <a:srgbClr val="B9C9C7"/>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9F31E50D-4E53-43DB-B757-9A76A371E417}"/>
              </a:ext>
            </a:extLst>
          </p:cNvPr>
          <p:cNvSpPr>
            <a:spLocks xmlns:a="http://schemas.openxmlformats.org/drawingml/2006/main" noGrp="1"/>
          </p:cNvSpPr>
          <p:nvPr/>
        </p:nvSpPr>
        <p:spPr>
          <a:xfrm xmlns:a="http://schemas.openxmlformats.org/drawingml/2006/main">
            <a:off x="571500" y="8105775"/>
            <a:ext cx="13144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275" b="0">
                <a:solidFill>
                  <a:srgbClr val="49616A"/>
                </a:solidFill>
                <a:latin typeface="Aptos"/>
                <a:ea typeface="Aptos"/>
                <a:cs typeface="Aptos"/>
              </a:defRPr>
            </a:defPPr>
          </a:lstStyle>
          <a:p xmlns:a="http://schemas.openxmlformats.org/drawingml/2006/main">
            <a:pPr>
              <a:buNone/>
              <a:defRPr sz="1275" b="0">
                <a:solidFill>
                  <a:srgbClr val="49616A"/>
                </a:solidFill>
                <a:latin typeface="Aptos"/>
                <a:ea typeface="Aptos"/>
                <a:cs typeface="Aptos"/>
              </a:defRPr>
            </a:pPr>
            <a:r>
              <a:rPr sz="1275" b="0">
                <a:solidFill>
                  <a:srgbClr val="49616A"/>
                </a:solidFill>
                <a:latin typeface="Aptos"/>
                <a:ea typeface="Aptos"/>
                <a:cs typeface="Aptos"/>
              </a:rPr>
              <a:t>INERTIA-2026-10-23-r9 · 23 October 2026 · Autonomous build</a:t>
            </a:r>
          </a:p>
        </p:txBody>
      </p:sp>
      <p:sp>
        <p:nvSpPr>
          <p:cNvPr id="6" name="">
            <a:extLst xmlns:a="http://schemas.openxmlformats.org/drawingml/2006/main">
              <a:ext uri="{FF2B5EF4-FFF2-40B4-BE49-F238E27FC236}">
                <a16:creationId xmlns:a16="http://schemas.microsoft.com/office/drawing/2014/main" id="{50252E89-1542-40E1-AA32-AC5E1A860D55}"/>
              </a:ext>
            </a:extLst>
          </p:cNvPr>
          <p:cNvSpPr>
            <a:spLocks xmlns:a="http://schemas.openxmlformats.org/drawingml/2006/main" noGrp="1"/>
          </p:cNvSpPr>
          <p:nvPr/>
        </p:nvSpPr>
        <p:spPr>
          <a:xfrm xmlns:a="http://schemas.openxmlformats.org/drawingml/2006/main">
            <a:off x="14001750" y="8067675"/>
            <a:ext cx="666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00" b="1">
                <a:solidFill>
                  <a:srgbClr val="157D80"/>
                </a:solidFill>
                <a:latin typeface="Aptos"/>
                <a:ea typeface="Aptos"/>
                <a:cs typeface="Aptos"/>
              </a:defRPr>
            </a:defPPr>
          </a:lstStyle>
          <a:p xmlns:a="http://schemas.openxmlformats.org/drawingml/2006/main">
            <a:pPr>
              <a:buNone/>
              <a:defRPr sz="1800" b="1">
                <a:solidFill>
                  <a:srgbClr val="157D80"/>
                </a:solidFill>
                <a:latin typeface="Aptos"/>
                <a:ea typeface="Aptos"/>
                <a:cs typeface="Aptos"/>
              </a:defRPr>
            </a:pPr>
            <a:r>
              <a:rPr sz="1800" b="1">
                <a:solidFill>
                  <a:srgbClr val="157D80"/>
                </a:solidFill>
                <a:latin typeface="Aptos"/>
                <a:ea typeface="Aptos"/>
                <a:cs typeface="Aptos"/>
              </a:rPr>
              <a:t>03</a:t>
            </a:r>
          </a:p>
        </p:txBody>
      </p:sp>
      <p:sp>
        <p:nvSpPr>
          <p:cNvPr id="7" name="">
            <a:extLst xmlns:a="http://schemas.openxmlformats.org/drawingml/2006/main">
              <a:ext uri="{FF2B5EF4-FFF2-40B4-BE49-F238E27FC236}">
                <a16:creationId xmlns:a16="http://schemas.microsoft.com/office/drawing/2014/main" id="{E8E56381-D20D-49D9-9458-FD13F1C803C6}"/>
              </a:ext>
            </a:extLst>
          </p:cNvPr>
          <p:cNvSpPr>
            <a:spLocks xmlns:a="http://schemas.openxmlformats.org/drawingml/2006/main" noGrp="1"/>
          </p:cNvSpPr>
          <p:nvPr/>
        </p:nvSpPr>
        <p:spPr>
          <a:xfrm xmlns:a="http://schemas.openxmlformats.org/drawingml/2006/main">
            <a:off x="571500" y="2381250"/>
            <a:ext cx="4476750" cy="3619500"/>
          </a:xfrm>
          <a:prstGeom xmlns:a="http://schemas.openxmlformats.org/drawingml/2006/main" prst="rect">
            <a:avLst/>
          </a:prstGeom>
          <a:solidFill xmlns:a="http://schemas.openxmlformats.org/drawingml/2006/main">
            <a:srgbClr val="FFFFFF"/>
          </a:solidFill>
          <a:ln xmlns:a="http://schemas.openxmlformats.org/drawingml/2006/main" w="19050">
            <a:solidFill>
              <a:srgbClr val="157D80"/>
            </a:solidFill>
            <a:prstDash val="dash"/>
          </a:ln>
        </p:spPr>
      </p:sp>
      <p:sp>
        <p:nvSpPr>
          <p:cNvPr id="8" name="">
            <a:extLst xmlns:a="http://schemas.openxmlformats.org/drawingml/2006/main">
              <a:ext uri="{FF2B5EF4-FFF2-40B4-BE49-F238E27FC236}">
                <a16:creationId xmlns:a16="http://schemas.microsoft.com/office/drawing/2014/main" id="{E5E9AA49-6774-4A29-BD91-8DE661F42AB5}"/>
              </a:ext>
            </a:extLst>
          </p:cNvPr>
          <p:cNvSpPr>
            <a:spLocks xmlns:a="http://schemas.openxmlformats.org/drawingml/2006/main" noGrp="1"/>
          </p:cNvSpPr>
          <p:nvPr/>
        </p:nvSpPr>
        <p:spPr>
          <a:xfrm xmlns:a="http://schemas.openxmlformats.org/drawingml/2006/main">
            <a:off x="742950" y="2514600"/>
            <a:ext cx="41338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1">
                <a:solidFill>
                  <a:srgbClr val="157D80"/>
                </a:solidFill>
                <a:latin typeface="Aptos"/>
                <a:ea typeface="Aptos"/>
                <a:cs typeface="Aptos"/>
              </a:defRPr>
            </a:defPPr>
          </a:lstStyle>
          <a:p xmlns:a="http://schemas.openxmlformats.org/drawingml/2006/main">
            <a:pPr>
              <a:buNone/>
              <a:defRPr sz="1875" b="1">
                <a:solidFill>
                  <a:srgbClr val="157D80"/>
                </a:solidFill>
                <a:latin typeface="Aptos"/>
                <a:ea typeface="Aptos"/>
                <a:cs typeface="Aptos"/>
              </a:defRPr>
            </a:pPr>
            <a:r>
              <a:rPr sz="1875" b="1">
                <a:solidFill>
                  <a:srgbClr val="157D80"/>
                </a:solidFill>
                <a:latin typeface="Aptos"/>
                <a:ea typeface="Aptos"/>
                <a:cs typeface="Aptos"/>
              </a:rPr>
              <a:t>Ready source</a:t>
            </a:r>
          </a:p>
        </p:txBody>
      </p:sp>
      <p:sp>
        <p:nvSpPr>
          <p:cNvPr id="9" name="">
            <a:extLst xmlns:a="http://schemas.openxmlformats.org/drawingml/2006/main">
              <a:ext uri="{FF2B5EF4-FFF2-40B4-BE49-F238E27FC236}">
                <a16:creationId xmlns:a16="http://schemas.microsoft.com/office/drawing/2014/main" id="{CE60655F-0101-403F-A8D6-EF15C102A39B}"/>
              </a:ext>
            </a:extLst>
          </p:cNvPr>
          <p:cNvSpPr>
            <a:spLocks xmlns:a="http://schemas.openxmlformats.org/drawingml/2006/main" noGrp="1"/>
          </p:cNvSpPr>
          <p:nvPr/>
        </p:nvSpPr>
        <p:spPr>
          <a:xfrm xmlns:a="http://schemas.openxmlformats.org/drawingml/2006/main">
            <a:off x="742950" y="3048000"/>
            <a:ext cx="4133850" cy="2876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0">
                <a:solidFill>
                  <a:srgbClr val="49616A"/>
                </a:solidFill>
                <a:latin typeface="Aptos"/>
                <a:ea typeface="Aptos"/>
                <a:cs typeface="Aptos"/>
              </a:defRPr>
            </a:defPPr>
          </a:lstStyle>
          <a:p xmlns:a="http://schemas.openxmlformats.org/drawingml/2006/main">
            <a:pPr>
              <a:buNone/>
              <a:defRPr sz="2250" b="0">
                <a:solidFill>
                  <a:srgbClr val="49616A"/>
                </a:solidFill>
                <a:latin typeface="Aptos"/>
                <a:ea typeface="Aptos"/>
                <a:cs typeface="Aptos"/>
              </a:defRPr>
            </a:pPr>
            <a:r>
              <a:rPr sz="2250" b="0">
                <a:solidFill>
                  <a:srgbClr val="49616A"/>
                </a:solidFill>
                <a:latin typeface="Aptos"/>
                <a:ea typeface="Aptos"/>
                <a:cs typeface="Aptos"/>
              </a:rPr>
              <a:t>Identify meeting and revision</a:t>
            </a:r>
          </a:p>
          <a:p xmlns:a="http://schemas.openxmlformats.org/drawingml/2006/main">
            <a:pPr>
              <a:buNone/>
              <a:defRPr sz="2250" b="0">
                <a:solidFill>
                  <a:srgbClr val="49616A"/>
                </a:solidFill>
                <a:latin typeface="Aptos"/>
                <a:ea typeface="Aptos"/>
                <a:cs typeface="Aptos"/>
              </a:defRPr>
            </a:pPr>
            <a:r>
              <a:rPr sz="2250" b="0">
                <a:solidFill>
                  <a:srgbClr val="49616A"/>
                </a:solidFill>
                <a:latin typeface="Aptos"/>
                <a:ea typeface="Aptos"/>
                <a:cs typeface="Aptos"/>
              </a:rPr>
              <a:t>Retain original source</a:t>
            </a:r>
          </a:p>
          <a:p xmlns:a="http://schemas.openxmlformats.org/drawingml/2006/main">
            <a:pPr>
              <a:buNone/>
              <a:defRPr sz="2250" b="0">
                <a:solidFill>
                  <a:srgbClr val="49616A"/>
                </a:solidFill>
                <a:latin typeface="Aptos"/>
                <a:ea typeface="Aptos"/>
                <a:cs typeface="Aptos"/>
              </a:defRPr>
            </a:pPr>
            <a:r>
              <a:rPr sz="2250" b="0">
                <a:solidFill>
                  <a:srgbClr val="49616A"/>
                </a:solidFill>
                <a:latin typeface="Aptos"/>
                <a:ea typeface="Aptos"/>
                <a:cs typeface="Aptos"/>
              </a:rPr>
              <a:t>Preserve uncertain wording</a:t>
            </a:r>
          </a:p>
          <a:p xmlns:a="http://schemas.openxmlformats.org/drawingml/2006/main">
            <a:pPr>
              <a:buNone/>
              <a:defRPr sz="2250" b="0">
                <a:solidFill>
                  <a:srgbClr val="49616A"/>
                </a:solidFill>
                <a:latin typeface="Aptos"/>
                <a:ea typeface="Aptos"/>
                <a:cs typeface="Aptos"/>
              </a:defRPr>
            </a:pPr>
            <a:r>
              <a:rPr sz="2250" b="0">
                <a:solidFill>
                  <a:srgbClr val="49616A"/>
                </a:solidFill>
                <a:latin typeface="Aptos"/>
                <a:ea typeface="Aptos"/>
                <a:cs typeface="Aptos"/>
              </a:rPr>
              <a:t>Handle notes-only input honestly</a:t>
            </a:r>
          </a:p>
        </p:txBody>
      </p:sp>
      <p:sp>
        <p:nvSpPr>
          <p:cNvPr id="10" name="">
            <a:extLst xmlns:a="http://schemas.openxmlformats.org/drawingml/2006/main">
              <a:ext uri="{FF2B5EF4-FFF2-40B4-BE49-F238E27FC236}">
                <a16:creationId xmlns:a16="http://schemas.microsoft.com/office/drawing/2014/main" id="{B15903F5-2A8A-4308-970B-47D068AE0062}"/>
              </a:ext>
            </a:extLst>
          </p:cNvPr>
          <p:cNvSpPr>
            <a:spLocks xmlns:a="http://schemas.openxmlformats.org/drawingml/2006/main" noGrp="1"/>
          </p:cNvSpPr>
          <p:nvPr/>
        </p:nvSpPr>
        <p:spPr>
          <a:xfrm xmlns:a="http://schemas.openxmlformats.org/drawingml/2006/main">
            <a:off x="5381625" y="2381250"/>
            <a:ext cx="4476750" cy="3619500"/>
          </a:xfrm>
          <a:prstGeom xmlns:a="http://schemas.openxmlformats.org/drawingml/2006/main" prst="rect">
            <a:avLst/>
          </a:prstGeom>
          <a:solidFill xmlns:a="http://schemas.openxmlformats.org/drawingml/2006/main">
            <a:srgbClr val="FFFFFF"/>
          </a:solidFill>
          <a:ln xmlns:a="http://schemas.openxmlformats.org/drawingml/2006/main" w="19050">
            <a:solidFill>
              <a:srgbClr val="157D80"/>
            </a:solidFill>
            <a:prstDash val="dash"/>
          </a:ln>
        </p:spPr>
      </p:sp>
      <p:sp>
        <p:nvSpPr>
          <p:cNvPr id="11" name="">
            <a:extLst xmlns:a="http://schemas.openxmlformats.org/drawingml/2006/main">
              <a:ext uri="{FF2B5EF4-FFF2-40B4-BE49-F238E27FC236}">
                <a16:creationId xmlns:a16="http://schemas.microsoft.com/office/drawing/2014/main" id="{F350C39F-073E-4E2F-A346-00DABCFD49E3}"/>
              </a:ext>
            </a:extLst>
          </p:cNvPr>
          <p:cNvSpPr>
            <a:spLocks xmlns:a="http://schemas.openxmlformats.org/drawingml/2006/main" noGrp="1"/>
          </p:cNvSpPr>
          <p:nvPr/>
        </p:nvSpPr>
        <p:spPr>
          <a:xfrm xmlns:a="http://schemas.openxmlformats.org/drawingml/2006/main">
            <a:off x="5553075" y="2514600"/>
            <a:ext cx="41338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1">
                <a:solidFill>
                  <a:srgbClr val="157D80"/>
                </a:solidFill>
                <a:latin typeface="Aptos"/>
                <a:ea typeface="Aptos"/>
                <a:cs typeface="Aptos"/>
              </a:defRPr>
            </a:defPPr>
          </a:lstStyle>
          <a:p xmlns:a="http://schemas.openxmlformats.org/drawingml/2006/main">
            <a:pPr>
              <a:buNone/>
              <a:defRPr sz="1875" b="1">
                <a:solidFill>
                  <a:srgbClr val="157D80"/>
                </a:solidFill>
                <a:latin typeface="Aptos"/>
                <a:ea typeface="Aptos"/>
                <a:cs typeface="Aptos"/>
              </a:defRPr>
            </a:pPr>
            <a:r>
              <a:rPr sz="1875" b="1">
                <a:solidFill>
                  <a:srgbClr val="157D80"/>
                </a:solidFill>
                <a:latin typeface="Aptos"/>
                <a:ea typeface="Aptos"/>
                <a:cs typeface="Aptos"/>
              </a:rPr>
              <a:t>Faithful transformation</a:t>
            </a:r>
          </a:p>
        </p:txBody>
      </p:sp>
      <p:sp>
        <p:nvSpPr>
          <p:cNvPr id="12" name="">
            <a:extLst xmlns:a="http://schemas.openxmlformats.org/drawingml/2006/main">
              <a:ext uri="{FF2B5EF4-FFF2-40B4-BE49-F238E27FC236}">
                <a16:creationId xmlns:a16="http://schemas.microsoft.com/office/drawing/2014/main" id="{6D3FCBDD-6038-45D5-B44F-57237FA3A733}"/>
              </a:ext>
            </a:extLst>
          </p:cNvPr>
          <p:cNvSpPr>
            <a:spLocks xmlns:a="http://schemas.openxmlformats.org/drawingml/2006/main" noGrp="1"/>
          </p:cNvSpPr>
          <p:nvPr/>
        </p:nvSpPr>
        <p:spPr>
          <a:xfrm xmlns:a="http://schemas.openxmlformats.org/drawingml/2006/main">
            <a:off x="5553075" y="3048000"/>
            <a:ext cx="4133850" cy="2876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0">
                <a:solidFill>
                  <a:srgbClr val="49616A"/>
                </a:solidFill>
                <a:latin typeface="Aptos"/>
                <a:ea typeface="Aptos"/>
                <a:cs typeface="Aptos"/>
              </a:defRPr>
            </a:defPPr>
          </a:lstStyle>
          <a:p xmlns:a="http://schemas.openxmlformats.org/drawingml/2006/main">
            <a:pPr>
              <a:buNone/>
              <a:defRPr sz="2250" b="0">
                <a:solidFill>
                  <a:srgbClr val="49616A"/>
                </a:solidFill>
                <a:latin typeface="Aptos"/>
                <a:ea typeface="Aptos"/>
                <a:cs typeface="Aptos"/>
              </a:defRPr>
            </a:pPr>
            <a:r>
              <a:rPr sz="2250" b="0">
                <a:solidFill>
                  <a:srgbClr val="49616A"/>
                </a:solidFill>
                <a:latin typeface="Aptos"/>
                <a:ea typeface="Aptos"/>
                <a:cs typeface="Aptos"/>
              </a:rPr>
              <a:t>Transcript plus notes</a:t>
            </a:r>
          </a:p>
          <a:p xmlns:a="http://schemas.openxmlformats.org/drawingml/2006/main">
            <a:pPr>
              <a:buNone/>
              <a:defRPr sz="2250" b="0">
                <a:solidFill>
                  <a:srgbClr val="49616A"/>
                </a:solidFill>
                <a:latin typeface="Aptos"/>
                <a:ea typeface="Aptos"/>
                <a:cs typeface="Aptos"/>
              </a:defRPr>
            </a:pPr>
            <a:r>
              <a:rPr sz="2250" b="0">
                <a:solidFill>
                  <a:srgbClr val="49616A"/>
                </a:solidFill>
                <a:latin typeface="Aptos"/>
                <a:ea typeface="Aptos"/>
                <a:cs typeface="Aptos"/>
              </a:rPr>
              <a:t>Cite each action item</a:t>
            </a:r>
          </a:p>
          <a:p xmlns:a="http://schemas.openxmlformats.org/drawingml/2006/main">
            <a:pPr>
              <a:buNone/>
              <a:defRPr sz="2250" b="0">
                <a:solidFill>
                  <a:srgbClr val="49616A"/>
                </a:solidFill>
                <a:latin typeface="Aptos"/>
                <a:ea typeface="Aptos"/>
                <a:cs typeface="Aptos"/>
              </a:defRPr>
            </a:pPr>
            <a:r>
              <a:rPr sz="2250" b="0">
                <a:solidFill>
                  <a:srgbClr val="49616A"/>
                </a:solidFill>
                <a:latin typeface="Aptos"/>
                <a:ea typeface="Aptos"/>
                <a:cs typeface="Aptos"/>
              </a:rPr>
              <a:t>Keep names and claims grounded</a:t>
            </a:r>
          </a:p>
          <a:p xmlns:a="http://schemas.openxmlformats.org/drawingml/2006/main">
            <a:pPr>
              <a:buNone/>
              <a:defRPr sz="2250" b="0">
                <a:solidFill>
                  <a:srgbClr val="49616A"/>
                </a:solidFill>
                <a:latin typeface="Aptos"/>
                <a:ea typeface="Aptos"/>
                <a:cs typeface="Aptos"/>
              </a:defRPr>
            </a:pPr>
            <a:r>
              <a:rPr sz="2250" b="0">
                <a:solidFill>
                  <a:srgbClr val="49616A"/>
                </a:solidFill>
                <a:latin typeface="Aptos"/>
                <a:ea typeface="Aptos"/>
                <a:cs typeface="Aptos"/>
              </a:rPr>
              <a:t>Members-only portal audience</a:t>
            </a:r>
          </a:p>
        </p:txBody>
      </p:sp>
      <p:sp>
        <p:nvSpPr>
          <p:cNvPr id="13" name="">
            <a:extLst xmlns:a="http://schemas.openxmlformats.org/drawingml/2006/main">
              <a:ext uri="{FF2B5EF4-FFF2-40B4-BE49-F238E27FC236}">
                <a16:creationId xmlns:a16="http://schemas.microsoft.com/office/drawing/2014/main" id="{8282538B-46DC-42D3-B244-7DA2210A5DD9}"/>
              </a:ext>
            </a:extLst>
          </p:cNvPr>
          <p:cNvSpPr>
            <a:spLocks xmlns:a="http://schemas.openxmlformats.org/drawingml/2006/main" noGrp="1"/>
          </p:cNvSpPr>
          <p:nvPr/>
        </p:nvSpPr>
        <p:spPr>
          <a:xfrm xmlns:a="http://schemas.openxmlformats.org/drawingml/2006/main">
            <a:off x="10191750" y="2381250"/>
            <a:ext cx="4476750" cy="3619500"/>
          </a:xfrm>
          <a:prstGeom xmlns:a="http://schemas.openxmlformats.org/drawingml/2006/main" prst="rect">
            <a:avLst/>
          </a:prstGeom>
          <a:solidFill xmlns:a="http://schemas.openxmlformats.org/drawingml/2006/main">
            <a:srgbClr val="FFFFFF"/>
          </a:solidFill>
          <a:ln xmlns:a="http://schemas.openxmlformats.org/drawingml/2006/main" w="19050">
            <a:solidFill>
              <a:srgbClr val="157D80"/>
            </a:solidFill>
            <a:prstDash val="dash"/>
          </a:ln>
        </p:spPr>
      </p:sp>
      <p:sp>
        <p:nvSpPr>
          <p:cNvPr id="14" name="">
            <a:extLst xmlns:a="http://schemas.openxmlformats.org/drawingml/2006/main">
              <a:ext uri="{FF2B5EF4-FFF2-40B4-BE49-F238E27FC236}">
                <a16:creationId xmlns:a16="http://schemas.microsoft.com/office/drawing/2014/main" id="{58F4BB8A-2ED4-478B-9549-54A23EF0C3DB}"/>
              </a:ext>
            </a:extLst>
          </p:cNvPr>
          <p:cNvSpPr>
            <a:spLocks xmlns:a="http://schemas.openxmlformats.org/drawingml/2006/main" noGrp="1"/>
          </p:cNvSpPr>
          <p:nvPr/>
        </p:nvSpPr>
        <p:spPr>
          <a:xfrm xmlns:a="http://schemas.openxmlformats.org/drawingml/2006/main">
            <a:off x="10363200" y="2514600"/>
            <a:ext cx="41338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1">
                <a:solidFill>
                  <a:srgbClr val="157D80"/>
                </a:solidFill>
                <a:latin typeface="Aptos"/>
                <a:ea typeface="Aptos"/>
                <a:cs typeface="Aptos"/>
              </a:defRPr>
            </a:defPPr>
          </a:lstStyle>
          <a:p xmlns:a="http://schemas.openxmlformats.org/drawingml/2006/main">
            <a:pPr>
              <a:buNone/>
              <a:defRPr sz="1875" b="1">
                <a:solidFill>
                  <a:srgbClr val="157D80"/>
                </a:solidFill>
                <a:latin typeface="Aptos"/>
                <a:ea typeface="Aptos"/>
                <a:cs typeface="Aptos"/>
              </a:defRPr>
            </a:pPr>
            <a:r>
              <a:rPr sz="1875" b="1">
                <a:solidFill>
                  <a:srgbClr val="157D80"/>
                </a:solidFill>
                <a:latin typeface="Aptos"/>
                <a:ea typeface="Aptos"/>
                <a:cs typeface="Aptos"/>
              </a:rPr>
              <a:t>Trusted publication</a:t>
            </a:r>
          </a:p>
        </p:txBody>
      </p:sp>
      <p:sp>
        <p:nvSpPr>
          <p:cNvPr id="15" name="">
            <a:extLst xmlns:a="http://schemas.openxmlformats.org/drawingml/2006/main">
              <a:ext uri="{FF2B5EF4-FFF2-40B4-BE49-F238E27FC236}">
                <a16:creationId xmlns:a16="http://schemas.microsoft.com/office/drawing/2014/main" id="{BB583532-EE44-401B-8727-3EF4856F4BC7}"/>
              </a:ext>
            </a:extLst>
          </p:cNvPr>
          <p:cNvSpPr>
            <a:spLocks xmlns:a="http://schemas.openxmlformats.org/drawingml/2006/main" noGrp="1"/>
          </p:cNvSpPr>
          <p:nvPr/>
        </p:nvSpPr>
        <p:spPr>
          <a:xfrm xmlns:a="http://schemas.openxmlformats.org/drawingml/2006/main">
            <a:off x="10363200" y="3048000"/>
            <a:ext cx="4133850" cy="2876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0">
                <a:solidFill>
                  <a:srgbClr val="49616A"/>
                </a:solidFill>
                <a:latin typeface="Aptos"/>
                <a:ea typeface="Aptos"/>
                <a:cs typeface="Aptos"/>
              </a:defRPr>
            </a:defPPr>
          </a:lstStyle>
          <a:p xmlns:a="http://schemas.openxmlformats.org/drawingml/2006/main">
            <a:pPr>
              <a:buNone/>
              <a:defRPr sz="2250" b="0">
                <a:solidFill>
                  <a:srgbClr val="49616A"/>
                </a:solidFill>
                <a:latin typeface="Aptos"/>
                <a:ea typeface="Aptos"/>
                <a:cs typeface="Aptos"/>
              </a:defRPr>
            </a:pPr>
            <a:r>
              <a:rPr sz="2250" b="0">
                <a:solidFill>
                  <a:srgbClr val="49616A"/>
                </a:solidFill>
                <a:latin typeface="Aptos"/>
                <a:ea typeface="Aptos"/>
                <a:cs typeface="Aptos"/>
              </a:rPr>
              <a:t>Caller contract-tested</a:t>
            </a:r>
          </a:p>
          <a:p xmlns:a="http://schemas.openxmlformats.org/drawingml/2006/main">
            <a:pPr>
              <a:buNone/>
              <a:defRPr sz="2250" b="0">
                <a:solidFill>
                  <a:srgbClr val="49616A"/>
                </a:solidFill>
                <a:latin typeface="Aptos"/>
                <a:ea typeface="Aptos"/>
                <a:cs typeface="Aptos"/>
              </a:defRPr>
            </a:pPr>
            <a:r>
              <a:rPr sz="2250" b="0">
                <a:solidFill>
                  <a:srgbClr val="49616A"/>
                </a:solidFill>
                <a:latin typeface="Aptos"/>
                <a:ea typeface="Aptos"/>
                <a:cs typeface="Aptos"/>
              </a:rPr>
              <a:t>Exact persisted request bytes</a:t>
            </a:r>
          </a:p>
          <a:p xmlns:a="http://schemas.openxmlformats.org/drawingml/2006/main">
            <a:pPr>
              <a:buNone/>
              <a:defRPr sz="2250" b="0">
                <a:solidFill>
                  <a:srgbClr val="49616A"/>
                </a:solidFill>
                <a:latin typeface="Aptos"/>
                <a:ea typeface="Aptos"/>
                <a:cs typeface="Aptos"/>
              </a:defRPr>
            </a:pPr>
            <a:r>
              <a:rPr sz="2250" b="0">
                <a:solidFill>
                  <a:srgbClr val="49616A"/>
                </a:solidFill>
                <a:latin typeface="Aptos"/>
                <a:ea typeface="Aptos"/>
                <a:cs typeface="Aptos"/>
              </a:rPr>
              <a:t>Verify content and audience</a:t>
            </a:r>
          </a:p>
          <a:p xmlns:a="http://schemas.openxmlformats.org/drawingml/2006/main">
            <a:pPr>
              <a:buNone/>
              <a:defRPr sz="2250" b="0">
                <a:solidFill>
                  <a:srgbClr val="49616A"/>
                </a:solidFill>
                <a:latin typeface="Aptos"/>
                <a:ea typeface="Aptos"/>
                <a:cs typeface="Aptos"/>
              </a:defRPr>
            </a:pPr>
            <a:r>
              <a:rPr sz="2250" b="0">
                <a:solidFill>
                  <a:srgbClr val="49616A"/>
                </a:solidFill>
                <a:latin typeface="Aptos"/>
                <a:ea typeface="Aptos"/>
                <a:cs typeface="Aptos"/>
              </a:rPr>
              <a:t>Server rollout still pending</a:t>
            </a:r>
          </a:p>
        </p:txBody>
      </p:sp>
      <p:sp>
        <p:nvSpPr>
          <p:cNvPr id="16" name="">
            <a:extLst xmlns:a="http://schemas.openxmlformats.org/drawingml/2006/main">
              <a:ext uri="{FF2B5EF4-FFF2-40B4-BE49-F238E27FC236}">
                <a16:creationId xmlns:a16="http://schemas.microsoft.com/office/drawing/2014/main" id="{E2CADAA6-478D-4D2E-8BAF-DD6A233295B7}"/>
              </a:ext>
            </a:extLst>
          </p:cNvPr>
          <p:cNvSpPr>
            <a:spLocks xmlns:a="http://schemas.openxmlformats.org/drawingml/2006/main" noGrp="1"/>
          </p:cNvSpPr>
          <p:nvPr/>
        </p:nvSpPr>
        <p:spPr>
          <a:xfrm xmlns:a="http://schemas.openxmlformats.org/drawingml/2006/main">
            <a:off x="571500" y="6572250"/>
            <a:ext cx="140970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100" b="0">
                <a:solidFill>
                  <a:srgbClr val="132E38"/>
                </a:solidFill>
                <a:latin typeface="Aptos"/>
                <a:ea typeface="Aptos"/>
                <a:cs typeface="Aptos"/>
              </a:defRPr>
            </a:defPPr>
          </a:lstStyle>
          <a:p xmlns:a="http://schemas.openxmlformats.org/drawingml/2006/main">
            <a:pPr>
              <a:buNone/>
              <a:defRPr sz="2100" b="0">
                <a:solidFill>
                  <a:srgbClr val="132E38"/>
                </a:solidFill>
                <a:latin typeface="Aptos"/>
                <a:ea typeface="Aptos"/>
                <a:cs typeface="Aptos"/>
              </a:defRPr>
            </a:pPr>
            <a:r>
              <a:rPr sz="2100" b="0">
                <a:solidFill>
                  <a:srgbClr val="132E38"/>
                </a:solidFill>
                <a:latin typeface="Aptos"/>
                <a:ea typeface="Aptos"/>
                <a:cs typeface="Aptos"/>
              </a:rPr>
              <a:t>Proposed v1.1 contract keeps v1 hashing. Metadata-only correction needs a new codec. Source and job wiring remain pending.</a:t>
            </a:r>
          </a:p>
        </p:txBody>
      </p:sp>
    </p:spTree>
    <p:extLst>
      <p:ext uri="{BB962C8B-B14F-4D97-AF65-F5344CB8AC3E}">
        <p14:creationId xmlns:p14="http://schemas.microsoft.com/office/powerpoint/2010/main" val="1158979162"/>
      </p:ext>
    </p:extLst>
  </p:cSld>
</p:sld>
</file>

<file path=ppt/slides/slide4.xml><?xml version="1.0" encoding="utf-8"?>
<p:sld xmlns:p="http://schemas.openxmlformats.org/presentationml/2006/main">
  <p:cSld>
    <p:bg>
      <p:bgPr>
        <a:solidFill xmlns:a="http://schemas.openxmlformats.org/drawingml/2006/main">
          <a:srgbClr val="F6F5F0"/>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D2FC2F97-06D6-487E-9E98-F0CF5DE466C2}"/>
              </a:ext>
            </a:extLst>
          </p:cNvPr>
          <p:cNvSpPr>
            <a:spLocks xmlns:a="http://schemas.openxmlformats.org/drawingml/2006/main" noGrp="1"/>
          </p:cNvSpPr>
          <p:nvPr/>
        </p:nvSpPr>
        <p:spPr>
          <a:xfrm xmlns:a="http://schemas.openxmlformats.org/drawingml/2006/main">
            <a:off x="571500" y="295275"/>
            <a:ext cx="9525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350" b="1">
                <a:solidFill>
                  <a:srgbClr val="157D80"/>
                </a:solidFill>
                <a:latin typeface="Aptos"/>
                <a:ea typeface="Aptos"/>
                <a:cs typeface="Aptos"/>
              </a:defRPr>
            </a:defPPr>
          </a:lstStyle>
          <a:p xmlns:a="http://schemas.openxmlformats.org/drawingml/2006/main">
            <a:pPr>
              <a:buNone/>
              <a:defRPr sz="1350" b="1">
                <a:solidFill>
                  <a:srgbClr val="157D80"/>
                </a:solidFill>
                <a:latin typeface="Aptos"/>
                <a:ea typeface="Aptos"/>
                <a:cs typeface="Aptos"/>
              </a:defRPr>
            </a:pPr>
            <a:r>
              <a:rPr sz="1350" b="1">
                <a:solidFill>
                  <a:srgbClr val="157D80"/>
                </a:solidFill>
                <a:latin typeface="Aptos"/>
                <a:ea typeface="Aptos"/>
                <a:cs typeface="Aptos"/>
              </a:rPr>
              <a:t>INERTIA / FORT WORTH DAO</a:t>
            </a:r>
          </a:p>
        </p:txBody>
      </p:sp>
      <p:sp>
        <p:nvSpPr>
          <p:cNvPr id="2" name="">
            <a:extLst xmlns:a="http://schemas.openxmlformats.org/drawingml/2006/main">
              <a:ext uri="{FF2B5EF4-FFF2-40B4-BE49-F238E27FC236}">
                <a16:creationId xmlns:a16="http://schemas.microsoft.com/office/drawing/2014/main" id="{83419D17-B4D7-4165-9735-337C01851BCC}"/>
              </a:ext>
            </a:extLst>
          </p:cNvPr>
          <p:cNvSpPr>
            <a:spLocks xmlns:a="http://schemas.openxmlformats.org/drawingml/2006/main" noGrp="1"/>
          </p:cNvSpPr>
          <p:nvPr/>
        </p:nvSpPr>
        <p:spPr>
          <a:xfrm xmlns:a="http://schemas.openxmlformats.org/drawingml/2006/main">
            <a:off x="571500" y="723900"/>
            <a:ext cx="140970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3450" b="1">
                <a:solidFill>
                  <a:srgbClr val="132E38"/>
                </a:solidFill>
                <a:latin typeface="Aptos"/>
                <a:ea typeface="Aptos"/>
                <a:cs typeface="Aptos"/>
              </a:defRPr>
            </a:defPPr>
          </a:lstStyle>
          <a:p xmlns:a="http://schemas.openxmlformats.org/drawingml/2006/main">
            <a:pPr>
              <a:buNone/>
              <a:defRPr sz="3450" b="1">
                <a:solidFill>
                  <a:srgbClr val="132E38"/>
                </a:solidFill>
                <a:latin typeface="Aptos"/>
                <a:ea typeface="Aptos"/>
                <a:cs typeface="Aptos"/>
              </a:defRPr>
            </a:pPr>
            <a:r>
              <a:rPr sz="3450" b="1">
                <a:solidFill>
                  <a:srgbClr val="132E38"/>
                </a:solidFill>
                <a:latin typeface="Aptos"/>
                <a:ea typeface="Aptos"/>
                <a:cs typeface="Aptos"/>
              </a:rPr>
              <a:t>Grant decisions and Y2 updates</a:t>
            </a:r>
          </a:p>
        </p:txBody>
      </p:sp>
      <p:sp>
        <p:nvSpPr>
          <p:cNvPr id="3" name="">
            <a:extLst xmlns:a="http://schemas.openxmlformats.org/drawingml/2006/main">
              <a:ext uri="{FF2B5EF4-FFF2-40B4-BE49-F238E27FC236}">
                <a16:creationId xmlns:a16="http://schemas.microsoft.com/office/drawing/2014/main" id="{72A1FB3E-EF37-4DB3-804E-05DC48017ACD}"/>
              </a:ext>
            </a:extLst>
          </p:cNvPr>
          <p:cNvSpPr>
            <a:spLocks xmlns:a="http://schemas.openxmlformats.org/drawingml/2006/main" noGrp="1"/>
          </p:cNvSpPr>
          <p:nvPr/>
        </p:nvSpPr>
        <p:spPr>
          <a:xfrm xmlns:a="http://schemas.openxmlformats.org/drawingml/2006/main">
            <a:off x="571500" y="1362075"/>
            <a:ext cx="140970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00" b="0">
                <a:solidFill>
                  <a:srgbClr val="49616A"/>
                </a:solidFill>
                <a:latin typeface="Aptos"/>
                <a:ea typeface="Aptos"/>
                <a:cs typeface="Aptos"/>
              </a:defRPr>
            </a:defPPr>
          </a:lstStyle>
          <a:p xmlns:a="http://schemas.openxmlformats.org/drawingml/2006/main">
            <a:pPr>
              <a:buNone/>
              <a:defRPr sz="1800" b="0">
                <a:solidFill>
                  <a:srgbClr val="49616A"/>
                </a:solidFill>
                <a:latin typeface="Aptos"/>
                <a:ea typeface="Aptos"/>
                <a:cs typeface="Aptos"/>
              </a:defRPr>
            </a:pPr>
            <a:r>
              <a:rPr sz="1800" b="0">
                <a:solidFill>
                  <a:srgbClr val="49616A"/>
                </a:solidFill>
                <a:latin typeface="Aptos"/>
                <a:ea typeface="Aptos"/>
                <a:cs typeface="Aptos"/>
              </a:rPr>
              <a:t>Reuse the grant scanner and preserve review before freezing the application.</a:t>
            </a:r>
          </a:p>
        </p:txBody>
      </p:sp>
      <p:sp>
        <p:nvSpPr>
          <p:cNvPr id="4" name="">
            <a:extLst xmlns:a="http://schemas.openxmlformats.org/drawingml/2006/main">
              <a:ext uri="{FF2B5EF4-FFF2-40B4-BE49-F238E27FC236}">
                <a16:creationId xmlns:a16="http://schemas.microsoft.com/office/drawing/2014/main" id="{95640057-32A9-4CDE-8CAF-9C8508E5D491}"/>
              </a:ext>
            </a:extLst>
          </p:cNvPr>
          <p:cNvSpPr>
            <a:spLocks xmlns:a="http://schemas.openxmlformats.org/drawingml/2006/main" noGrp="1"/>
          </p:cNvSpPr>
          <p:nvPr/>
        </p:nvSpPr>
        <p:spPr>
          <a:xfrm xmlns:a="http://schemas.openxmlformats.org/drawingml/2006/main">
            <a:off x="571500" y="7962900"/>
            <a:ext cx="14097000" cy="9525"/>
          </a:xfrm>
          <a:prstGeom xmlns:a="http://schemas.openxmlformats.org/drawingml/2006/main" prst="rect">
            <a:avLst/>
          </a:prstGeom>
          <a:solidFill xmlns:a="http://schemas.openxmlformats.org/drawingml/2006/main">
            <a:srgbClr val="B9C9C7"/>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79569B78-35F0-466D-8891-22D1A755C95F}"/>
              </a:ext>
            </a:extLst>
          </p:cNvPr>
          <p:cNvSpPr>
            <a:spLocks xmlns:a="http://schemas.openxmlformats.org/drawingml/2006/main" noGrp="1"/>
          </p:cNvSpPr>
          <p:nvPr/>
        </p:nvSpPr>
        <p:spPr>
          <a:xfrm xmlns:a="http://schemas.openxmlformats.org/drawingml/2006/main">
            <a:off x="571500" y="8105775"/>
            <a:ext cx="13144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275" b="0">
                <a:solidFill>
                  <a:srgbClr val="49616A"/>
                </a:solidFill>
                <a:latin typeface="Aptos"/>
                <a:ea typeface="Aptos"/>
                <a:cs typeface="Aptos"/>
              </a:defRPr>
            </a:defPPr>
          </a:lstStyle>
          <a:p xmlns:a="http://schemas.openxmlformats.org/drawingml/2006/main">
            <a:pPr>
              <a:buNone/>
              <a:defRPr sz="1275" b="0">
                <a:solidFill>
                  <a:srgbClr val="49616A"/>
                </a:solidFill>
                <a:latin typeface="Aptos"/>
                <a:ea typeface="Aptos"/>
                <a:cs typeface="Aptos"/>
              </a:defRPr>
            </a:pPr>
            <a:r>
              <a:rPr sz="1275" b="0">
                <a:solidFill>
                  <a:srgbClr val="49616A"/>
                </a:solidFill>
                <a:latin typeface="Aptos"/>
                <a:ea typeface="Aptos"/>
                <a:cs typeface="Aptos"/>
              </a:rPr>
              <a:t>INERTIA-2026-10-23-r9 · 23 October 2026 · Autonomous build</a:t>
            </a:r>
          </a:p>
        </p:txBody>
      </p:sp>
      <p:sp>
        <p:nvSpPr>
          <p:cNvPr id="6" name="">
            <a:extLst xmlns:a="http://schemas.openxmlformats.org/drawingml/2006/main">
              <a:ext uri="{FF2B5EF4-FFF2-40B4-BE49-F238E27FC236}">
                <a16:creationId xmlns:a16="http://schemas.microsoft.com/office/drawing/2014/main" id="{7DED4A85-CE34-4979-B183-F73E644DBC85}"/>
              </a:ext>
            </a:extLst>
          </p:cNvPr>
          <p:cNvSpPr>
            <a:spLocks xmlns:a="http://schemas.openxmlformats.org/drawingml/2006/main" noGrp="1"/>
          </p:cNvSpPr>
          <p:nvPr/>
        </p:nvSpPr>
        <p:spPr>
          <a:xfrm xmlns:a="http://schemas.openxmlformats.org/drawingml/2006/main">
            <a:off x="14001750" y="8067675"/>
            <a:ext cx="666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00" b="1">
                <a:solidFill>
                  <a:srgbClr val="157D80"/>
                </a:solidFill>
                <a:latin typeface="Aptos"/>
                <a:ea typeface="Aptos"/>
                <a:cs typeface="Aptos"/>
              </a:defRPr>
            </a:defPPr>
          </a:lstStyle>
          <a:p xmlns:a="http://schemas.openxmlformats.org/drawingml/2006/main">
            <a:pPr>
              <a:buNone/>
              <a:defRPr sz="1800" b="1">
                <a:solidFill>
                  <a:srgbClr val="157D80"/>
                </a:solidFill>
                <a:latin typeface="Aptos"/>
                <a:ea typeface="Aptos"/>
                <a:cs typeface="Aptos"/>
              </a:defRPr>
            </a:pPr>
            <a:r>
              <a:rPr sz="1800" b="1">
                <a:solidFill>
                  <a:srgbClr val="157D80"/>
                </a:solidFill>
                <a:latin typeface="Aptos"/>
                <a:ea typeface="Aptos"/>
                <a:cs typeface="Aptos"/>
              </a:rPr>
              <a:t>04</a:t>
            </a:r>
          </a:p>
        </p:txBody>
      </p:sp>
      <p:sp>
        <p:nvSpPr>
          <p:cNvPr id="7" name="">
            <a:extLst xmlns:a="http://schemas.openxmlformats.org/drawingml/2006/main">
              <a:ext uri="{FF2B5EF4-FFF2-40B4-BE49-F238E27FC236}">
                <a16:creationId xmlns:a16="http://schemas.microsoft.com/office/drawing/2014/main" id="{5B640562-795E-408A-B585-4034E91F00FD}"/>
              </a:ext>
            </a:extLst>
          </p:cNvPr>
          <p:cNvSpPr>
            <a:spLocks xmlns:a="http://schemas.openxmlformats.org/drawingml/2006/main" noGrp="1"/>
          </p:cNvSpPr>
          <p:nvPr/>
        </p:nvSpPr>
        <p:spPr>
          <a:xfrm xmlns:a="http://schemas.openxmlformats.org/drawingml/2006/main">
            <a:off x="571500" y="2381250"/>
            <a:ext cx="4476750" cy="3619500"/>
          </a:xfrm>
          <a:prstGeom xmlns:a="http://schemas.openxmlformats.org/drawingml/2006/main" prst="rect">
            <a:avLst/>
          </a:prstGeom>
          <a:solidFill xmlns:a="http://schemas.openxmlformats.org/drawingml/2006/main">
            <a:srgbClr val="FFFFFF"/>
          </a:solidFill>
          <a:ln xmlns:a="http://schemas.openxmlformats.org/drawingml/2006/main" w="19050">
            <a:solidFill>
              <a:srgbClr val="157D80"/>
            </a:solidFill>
            <a:prstDash val="dash"/>
          </a:ln>
        </p:spPr>
      </p:sp>
      <p:sp>
        <p:nvSpPr>
          <p:cNvPr id="8" name="">
            <a:extLst xmlns:a="http://schemas.openxmlformats.org/drawingml/2006/main">
              <a:ext uri="{FF2B5EF4-FFF2-40B4-BE49-F238E27FC236}">
                <a16:creationId xmlns:a16="http://schemas.microsoft.com/office/drawing/2014/main" id="{156F1506-26F9-4B61-BAEC-7F29B4E414FF}"/>
              </a:ext>
            </a:extLst>
          </p:cNvPr>
          <p:cNvSpPr>
            <a:spLocks xmlns:a="http://schemas.openxmlformats.org/drawingml/2006/main" noGrp="1"/>
          </p:cNvSpPr>
          <p:nvPr/>
        </p:nvSpPr>
        <p:spPr>
          <a:xfrm xmlns:a="http://schemas.openxmlformats.org/drawingml/2006/main">
            <a:off x="742950" y="2514600"/>
            <a:ext cx="41338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1">
                <a:solidFill>
                  <a:srgbClr val="157D80"/>
                </a:solidFill>
                <a:latin typeface="Aptos"/>
                <a:ea typeface="Aptos"/>
                <a:cs typeface="Aptos"/>
              </a:defRPr>
            </a:defPPr>
          </a:lstStyle>
          <a:p xmlns:a="http://schemas.openxmlformats.org/drawingml/2006/main">
            <a:pPr>
              <a:buNone/>
              <a:defRPr sz="1875" b="1">
                <a:solidFill>
                  <a:srgbClr val="157D80"/>
                </a:solidFill>
                <a:latin typeface="Aptos"/>
                <a:ea typeface="Aptos"/>
                <a:cs typeface="Aptos"/>
              </a:defRPr>
            </a:pPr>
            <a:r>
              <a:rPr sz="1875" b="1">
                <a:solidFill>
                  <a:srgbClr val="157D80"/>
                </a:solidFill>
                <a:latin typeface="Aptos"/>
                <a:ea typeface="Aptos"/>
                <a:cs typeface="Aptos"/>
              </a:rPr>
              <a:t>Find and prepare</a:t>
            </a:r>
          </a:p>
        </p:txBody>
      </p:sp>
      <p:sp>
        <p:nvSpPr>
          <p:cNvPr id="9" name="">
            <a:extLst xmlns:a="http://schemas.openxmlformats.org/drawingml/2006/main">
              <a:ext uri="{FF2B5EF4-FFF2-40B4-BE49-F238E27FC236}">
                <a16:creationId xmlns:a16="http://schemas.microsoft.com/office/drawing/2014/main" id="{FACA406C-30FA-4F89-B70B-44F16C2ECC0D}"/>
              </a:ext>
            </a:extLst>
          </p:cNvPr>
          <p:cNvSpPr>
            <a:spLocks xmlns:a="http://schemas.openxmlformats.org/drawingml/2006/main" noGrp="1"/>
          </p:cNvSpPr>
          <p:nvPr/>
        </p:nvSpPr>
        <p:spPr>
          <a:xfrm xmlns:a="http://schemas.openxmlformats.org/drawingml/2006/main">
            <a:off x="742950" y="3048000"/>
            <a:ext cx="4133850" cy="2876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0">
                <a:solidFill>
                  <a:srgbClr val="49616A"/>
                </a:solidFill>
                <a:latin typeface="Aptos"/>
                <a:ea typeface="Aptos"/>
                <a:cs typeface="Aptos"/>
              </a:defRPr>
            </a:defPPr>
          </a:lstStyle>
          <a:p xmlns:a="http://schemas.openxmlformats.org/drawingml/2006/main">
            <a:pPr>
              <a:buNone/>
              <a:defRPr sz="2250" b="0">
                <a:solidFill>
                  <a:srgbClr val="49616A"/>
                </a:solidFill>
                <a:latin typeface="Aptos"/>
                <a:ea typeface="Aptos"/>
                <a:cs typeface="Aptos"/>
              </a:defRPr>
            </a:pPr>
            <a:r>
              <a:rPr sz="2250" b="0">
                <a:solidFill>
                  <a:srgbClr val="49616A"/>
                </a:solidFill>
                <a:latin typeface="Aptos"/>
                <a:ea typeface="Aptos"/>
                <a:cs typeface="Aptos"/>
              </a:rPr>
              <a:t>Refresh opportunities</a:t>
            </a:r>
          </a:p>
          <a:p xmlns:a="http://schemas.openxmlformats.org/drawingml/2006/main">
            <a:pPr>
              <a:buNone/>
              <a:defRPr sz="2250" b="0">
                <a:solidFill>
                  <a:srgbClr val="49616A"/>
                </a:solidFill>
                <a:latin typeface="Aptos"/>
                <a:ea typeface="Aptos"/>
                <a:cs typeface="Aptos"/>
              </a:defRPr>
            </a:pPr>
            <a:r>
              <a:rPr sz="2250" b="0">
                <a:solidFill>
                  <a:srgbClr val="49616A"/>
                </a:solidFill>
                <a:latin typeface="Aptos"/>
                <a:ea typeface="Aptos"/>
                <a:cs typeface="Aptos"/>
              </a:rPr>
              <a:t>Use cited DAO draft facts</a:t>
            </a:r>
          </a:p>
          <a:p xmlns:a="http://schemas.openxmlformats.org/drawingml/2006/main">
            <a:pPr>
              <a:buNone/>
              <a:defRPr sz="2250" b="0">
                <a:solidFill>
                  <a:srgbClr val="49616A"/>
                </a:solidFill>
                <a:latin typeface="Aptos"/>
                <a:ea typeface="Aptos"/>
                <a:cs typeface="Aptos"/>
              </a:defRPr>
            </a:pPr>
            <a:r>
              <a:rPr sz="2250" b="0">
                <a:solidFill>
                  <a:srgbClr val="49616A"/>
                </a:solidFill>
                <a:latin typeface="Aptos"/>
                <a:ea typeface="Aptos"/>
                <a:cs typeface="Aptos"/>
              </a:rPr>
              <a:t>Verify legal/tax eligibility</a:t>
            </a:r>
          </a:p>
          <a:p xmlns:a="http://schemas.openxmlformats.org/drawingml/2006/main">
            <a:pPr>
              <a:buNone/>
              <a:defRPr sz="2250" b="0">
                <a:solidFill>
                  <a:srgbClr val="49616A"/>
                </a:solidFill>
                <a:latin typeface="Aptos"/>
                <a:ea typeface="Aptos"/>
                <a:cs typeface="Aptos"/>
              </a:defRPr>
            </a:pPr>
            <a:r>
              <a:rPr sz="2250" b="0">
                <a:solidFill>
                  <a:srgbClr val="49616A"/>
                </a:solidFill>
                <a:latin typeface="Aptos"/>
                <a:ea typeface="Aptos"/>
                <a:cs typeface="Aptos"/>
              </a:rPr>
              <a:t>Preserve reviewer signoffs</a:t>
            </a:r>
          </a:p>
        </p:txBody>
      </p:sp>
      <p:sp>
        <p:nvSpPr>
          <p:cNvPr id="10" name="">
            <a:extLst xmlns:a="http://schemas.openxmlformats.org/drawingml/2006/main">
              <a:ext uri="{FF2B5EF4-FFF2-40B4-BE49-F238E27FC236}">
                <a16:creationId xmlns:a16="http://schemas.microsoft.com/office/drawing/2014/main" id="{7A0059C5-02AF-48DA-A26B-D94D0E9553F5}"/>
              </a:ext>
            </a:extLst>
          </p:cNvPr>
          <p:cNvSpPr>
            <a:spLocks xmlns:a="http://schemas.openxmlformats.org/drawingml/2006/main" noGrp="1"/>
          </p:cNvSpPr>
          <p:nvPr/>
        </p:nvSpPr>
        <p:spPr>
          <a:xfrm xmlns:a="http://schemas.openxmlformats.org/drawingml/2006/main">
            <a:off x="5381625" y="2381250"/>
            <a:ext cx="4476750" cy="3619500"/>
          </a:xfrm>
          <a:prstGeom xmlns:a="http://schemas.openxmlformats.org/drawingml/2006/main" prst="rect">
            <a:avLst/>
          </a:prstGeom>
          <a:solidFill xmlns:a="http://schemas.openxmlformats.org/drawingml/2006/main">
            <a:srgbClr val="FFFFFF"/>
          </a:solidFill>
          <a:ln xmlns:a="http://schemas.openxmlformats.org/drawingml/2006/main" w="19050">
            <a:solidFill>
              <a:srgbClr val="157D80"/>
            </a:solidFill>
            <a:prstDash val="dash"/>
          </a:ln>
        </p:spPr>
      </p:sp>
      <p:sp>
        <p:nvSpPr>
          <p:cNvPr id="11" name="">
            <a:extLst xmlns:a="http://schemas.openxmlformats.org/drawingml/2006/main">
              <a:ext uri="{FF2B5EF4-FFF2-40B4-BE49-F238E27FC236}">
                <a16:creationId xmlns:a16="http://schemas.microsoft.com/office/drawing/2014/main" id="{90A4E9AD-D135-4F46-9AF3-15DE6FE12506}"/>
              </a:ext>
            </a:extLst>
          </p:cNvPr>
          <p:cNvSpPr>
            <a:spLocks xmlns:a="http://schemas.openxmlformats.org/drawingml/2006/main" noGrp="1"/>
          </p:cNvSpPr>
          <p:nvPr/>
        </p:nvSpPr>
        <p:spPr>
          <a:xfrm xmlns:a="http://schemas.openxmlformats.org/drawingml/2006/main">
            <a:off x="5553075" y="2514600"/>
            <a:ext cx="41338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1">
                <a:solidFill>
                  <a:srgbClr val="157D80"/>
                </a:solidFill>
                <a:latin typeface="Aptos"/>
                <a:ea typeface="Aptos"/>
                <a:cs typeface="Aptos"/>
              </a:defRPr>
            </a:defPPr>
          </a:lstStyle>
          <a:p xmlns:a="http://schemas.openxmlformats.org/drawingml/2006/main">
            <a:pPr>
              <a:buNone/>
              <a:defRPr sz="1875" b="1">
                <a:solidFill>
                  <a:srgbClr val="157D80"/>
                </a:solidFill>
                <a:latin typeface="Aptos"/>
                <a:ea typeface="Aptos"/>
                <a:cs typeface="Aptos"/>
              </a:defRPr>
            </a:pPr>
            <a:r>
              <a:rPr sz="1875" b="1">
                <a:solidFill>
                  <a:srgbClr val="157D80"/>
                </a:solidFill>
                <a:latin typeface="Aptos"/>
                <a:ea typeface="Aptos"/>
                <a:cs typeface="Aptos"/>
              </a:rPr>
              <a:t>Bind the vote</a:t>
            </a:r>
          </a:p>
        </p:txBody>
      </p:sp>
      <p:sp>
        <p:nvSpPr>
          <p:cNvPr id="12" name="">
            <a:extLst xmlns:a="http://schemas.openxmlformats.org/drawingml/2006/main">
              <a:ext uri="{FF2B5EF4-FFF2-40B4-BE49-F238E27FC236}">
                <a16:creationId xmlns:a16="http://schemas.microsoft.com/office/drawing/2014/main" id="{1E8635C9-7055-41C5-BADD-A2E8D6EAB3F9}"/>
              </a:ext>
            </a:extLst>
          </p:cNvPr>
          <p:cNvSpPr>
            <a:spLocks xmlns:a="http://schemas.openxmlformats.org/drawingml/2006/main" noGrp="1"/>
          </p:cNvSpPr>
          <p:nvPr/>
        </p:nvSpPr>
        <p:spPr>
          <a:xfrm xmlns:a="http://schemas.openxmlformats.org/drawingml/2006/main">
            <a:off x="5553075" y="3048000"/>
            <a:ext cx="4133850" cy="2876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0">
                <a:solidFill>
                  <a:srgbClr val="49616A"/>
                </a:solidFill>
                <a:latin typeface="Aptos"/>
                <a:ea typeface="Aptos"/>
                <a:cs typeface="Aptos"/>
              </a:defRPr>
            </a:defPPr>
          </a:lstStyle>
          <a:p xmlns:a="http://schemas.openxmlformats.org/drawingml/2006/main">
            <a:pPr>
              <a:buNone/>
              <a:defRPr sz="2250" b="0">
                <a:solidFill>
                  <a:srgbClr val="49616A"/>
                </a:solidFill>
                <a:latin typeface="Aptos"/>
                <a:ea typeface="Aptos"/>
                <a:cs typeface="Aptos"/>
              </a:defRPr>
            </a:pPr>
            <a:r>
              <a:rPr sz="2250" b="0">
                <a:solidFill>
                  <a:srgbClr val="49616A"/>
                </a:solidFill>
                <a:latin typeface="Aptos"/>
                <a:ea typeface="Aptos"/>
                <a:cs typeface="Aptos"/>
              </a:rPr>
              <a:t>Freeze packet version and hash</a:t>
            </a:r>
          </a:p>
          <a:p xmlns:a="http://schemas.openxmlformats.org/drawingml/2006/main">
            <a:pPr>
              <a:buNone/>
              <a:defRPr sz="2250" b="0">
                <a:solidFill>
                  <a:srgbClr val="49616A"/>
                </a:solidFill>
                <a:latin typeface="Aptos"/>
                <a:ea typeface="Aptos"/>
                <a:cs typeface="Aptos"/>
              </a:defRPr>
            </a:pPr>
            <a:r>
              <a:rPr sz="2250" b="0">
                <a:solidFill>
                  <a:srgbClr val="49616A"/>
                </a:solidFill>
                <a:latin typeface="Aptos"/>
                <a:ea typeface="Aptos"/>
                <a:cs typeface="Aptos"/>
              </a:rPr>
              <a:t>Verify required voting stages</a:t>
            </a:r>
          </a:p>
          <a:p xmlns:a="http://schemas.openxmlformats.org/drawingml/2006/main">
            <a:pPr>
              <a:buNone/>
              <a:defRPr sz="2250" b="0">
                <a:solidFill>
                  <a:srgbClr val="49616A"/>
                </a:solidFill>
                <a:latin typeface="Aptos"/>
                <a:ea typeface="Aptos"/>
                <a:cs typeface="Aptos"/>
              </a:defRPr>
            </a:pPr>
            <a:r>
              <a:rPr sz="2250" b="0">
                <a:solidFill>
                  <a:srgbClr val="49616A"/>
                </a:solidFill>
                <a:latin typeface="Aptos"/>
                <a:ea typeface="Aptos"/>
                <a:cs typeface="Aptos"/>
              </a:rPr>
              <a:t>Match network and authorized action</a:t>
            </a:r>
          </a:p>
          <a:p xmlns:a="http://schemas.openxmlformats.org/drawingml/2006/main">
            <a:pPr>
              <a:buNone/>
              <a:defRPr sz="2250" b="0">
                <a:solidFill>
                  <a:srgbClr val="49616A"/>
                </a:solidFill>
                <a:latin typeface="Aptos"/>
                <a:ea typeface="Aptos"/>
                <a:cs typeface="Aptos"/>
              </a:defRPr>
            </a:pPr>
            <a:r>
              <a:rPr sz="2250" b="0">
                <a:solidFill>
                  <a:srgbClr val="49616A"/>
                </a:solidFill>
                <a:latin typeface="Aptos"/>
                <a:ea typeface="Aptos"/>
                <a:cs typeface="Aptos"/>
              </a:rPr>
              <a:t>Apply the result once</a:t>
            </a:r>
          </a:p>
        </p:txBody>
      </p:sp>
      <p:sp>
        <p:nvSpPr>
          <p:cNvPr id="13" name="">
            <a:extLst xmlns:a="http://schemas.openxmlformats.org/drawingml/2006/main">
              <a:ext uri="{FF2B5EF4-FFF2-40B4-BE49-F238E27FC236}">
                <a16:creationId xmlns:a16="http://schemas.microsoft.com/office/drawing/2014/main" id="{7AA7BC55-6800-4838-BD72-2B0EF7E19323}"/>
              </a:ext>
            </a:extLst>
          </p:cNvPr>
          <p:cNvSpPr>
            <a:spLocks xmlns:a="http://schemas.openxmlformats.org/drawingml/2006/main" noGrp="1"/>
          </p:cNvSpPr>
          <p:nvPr/>
        </p:nvSpPr>
        <p:spPr>
          <a:xfrm xmlns:a="http://schemas.openxmlformats.org/drawingml/2006/main">
            <a:off x="10191750" y="2381250"/>
            <a:ext cx="4476750" cy="3619500"/>
          </a:xfrm>
          <a:prstGeom xmlns:a="http://schemas.openxmlformats.org/drawingml/2006/main" prst="rect">
            <a:avLst/>
          </a:prstGeom>
          <a:solidFill xmlns:a="http://schemas.openxmlformats.org/drawingml/2006/main">
            <a:srgbClr val="FFFFFF"/>
          </a:solidFill>
          <a:ln xmlns:a="http://schemas.openxmlformats.org/drawingml/2006/main" w="19050">
            <a:solidFill>
              <a:srgbClr val="157D80"/>
            </a:solidFill>
            <a:prstDash val="dash"/>
          </a:ln>
        </p:spPr>
      </p:sp>
      <p:sp>
        <p:nvSpPr>
          <p:cNvPr id="14" name="">
            <a:extLst xmlns:a="http://schemas.openxmlformats.org/drawingml/2006/main">
              <a:ext uri="{FF2B5EF4-FFF2-40B4-BE49-F238E27FC236}">
                <a16:creationId xmlns:a16="http://schemas.microsoft.com/office/drawing/2014/main" id="{13749A35-8A2C-4117-BB77-20908F30A127}"/>
              </a:ext>
            </a:extLst>
          </p:cNvPr>
          <p:cNvSpPr>
            <a:spLocks xmlns:a="http://schemas.openxmlformats.org/drawingml/2006/main" noGrp="1"/>
          </p:cNvSpPr>
          <p:nvPr/>
        </p:nvSpPr>
        <p:spPr>
          <a:xfrm xmlns:a="http://schemas.openxmlformats.org/drawingml/2006/main">
            <a:off x="10363200" y="2514600"/>
            <a:ext cx="41338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1">
                <a:solidFill>
                  <a:srgbClr val="157D80"/>
                </a:solidFill>
                <a:latin typeface="Aptos"/>
                <a:ea typeface="Aptos"/>
                <a:cs typeface="Aptos"/>
              </a:defRPr>
            </a:defPPr>
          </a:lstStyle>
          <a:p xmlns:a="http://schemas.openxmlformats.org/drawingml/2006/main">
            <a:pPr>
              <a:buNone/>
              <a:defRPr sz="1875" b="1">
                <a:solidFill>
                  <a:srgbClr val="157D80"/>
                </a:solidFill>
                <a:latin typeface="Aptos"/>
                <a:ea typeface="Aptos"/>
                <a:cs typeface="Aptos"/>
              </a:defRPr>
            </a:pPr>
            <a:r>
              <a:rPr sz="1875" b="1">
                <a:solidFill>
                  <a:srgbClr val="157D80"/>
                </a:solidFill>
                <a:latin typeface="Aptos"/>
                <a:ea typeface="Aptos"/>
                <a:cs typeface="Aptos"/>
              </a:rPr>
              <a:t>Continue the work</a:t>
            </a:r>
          </a:p>
        </p:txBody>
      </p:sp>
      <p:sp>
        <p:nvSpPr>
          <p:cNvPr id="15" name="">
            <a:extLst xmlns:a="http://schemas.openxmlformats.org/drawingml/2006/main">
              <a:ext uri="{FF2B5EF4-FFF2-40B4-BE49-F238E27FC236}">
                <a16:creationId xmlns:a16="http://schemas.microsoft.com/office/drawing/2014/main" id="{0BC1D98C-E8B9-4AB4-9738-AB7F2445E98B}"/>
              </a:ext>
            </a:extLst>
          </p:cNvPr>
          <p:cNvSpPr>
            <a:spLocks xmlns:a="http://schemas.openxmlformats.org/drawingml/2006/main" noGrp="1"/>
          </p:cNvSpPr>
          <p:nvPr/>
        </p:nvSpPr>
        <p:spPr>
          <a:xfrm xmlns:a="http://schemas.openxmlformats.org/drawingml/2006/main">
            <a:off x="10363200" y="3048000"/>
            <a:ext cx="4133850" cy="2876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0">
                <a:solidFill>
                  <a:srgbClr val="49616A"/>
                </a:solidFill>
                <a:latin typeface="Aptos"/>
                <a:ea typeface="Aptos"/>
                <a:cs typeface="Aptos"/>
              </a:defRPr>
            </a:defPPr>
          </a:lstStyle>
          <a:p xmlns:a="http://schemas.openxmlformats.org/drawingml/2006/main">
            <a:pPr>
              <a:buNone/>
              <a:defRPr sz="2250" b="0">
                <a:solidFill>
                  <a:srgbClr val="49616A"/>
                </a:solidFill>
                <a:latin typeface="Aptos"/>
                <a:ea typeface="Aptos"/>
                <a:cs typeface="Aptos"/>
              </a:defRPr>
            </a:pPr>
            <a:r>
              <a:rPr sz="2250" b="0">
                <a:solidFill>
                  <a:srgbClr val="49616A"/>
                </a:solidFill>
                <a:latin typeface="Aptos"/>
                <a:ea typeface="Aptos"/>
                <a:cs typeface="Aptos"/>
              </a:rPr>
              <a:t>Y2 registered interests</a:t>
            </a:r>
          </a:p>
          <a:p xmlns:a="http://schemas.openxmlformats.org/drawingml/2006/main">
            <a:pPr>
              <a:buNone/>
              <a:defRPr sz="2250" b="0">
                <a:solidFill>
                  <a:srgbClr val="49616A"/>
                </a:solidFill>
                <a:latin typeface="Aptos"/>
                <a:ea typeface="Aptos"/>
                <a:cs typeface="Aptos"/>
              </a:defRPr>
            </a:pPr>
            <a:r>
              <a:rPr sz="2250" b="0">
                <a:solidFill>
                  <a:srgbClr val="49616A"/>
                </a:solidFill>
                <a:latin typeface="Aptos"/>
                <a:ea typeface="Aptos"/>
                <a:cs typeface="Aptos"/>
              </a:rPr>
              <a:t>Updates attach to existing work</a:t>
            </a:r>
          </a:p>
          <a:p xmlns:a="http://schemas.openxmlformats.org/drawingml/2006/main">
            <a:pPr>
              <a:buNone/>
              <a:defRPr sz="2250" b="0">
                <a:solidFill>
                  <a:srgbClr val="49616A"/>
                </a:solidFill>
                <a:latin typeface="Aptos"/>
                <a:ea typeface="Aptos"/>
                <a:cs typeface="Aptos"/>
              </a:defRPr>
            </a:pPr>
            <a:r>
              <a:rPr sz="2250" b="0">
                <a:solidFill>
                  <a:srgbClr val="49616A"/>
                </a:solidFill>
                <a:latin typeface="Aptos"/>
                <a:ea typeface="Aptos"/>
                <a:cs typeface="Aptos"/>
              </a:rPr>
              <a:t>Ordinary work proceeds normally</a:t>
            </a:r>
          </a:p>
          <a:p xmlns:a="http://schemas.openxmlformats.org/drawingml/2006/main">
            <a:pPr>
              <a:buNone/>
              <a:defRPr sz="2250" b="0">
                <a:solidFill>
                  <a:srgbClr val="49616A"/>
                </a:solidFill>
                <a:latin typeface="Aptos"/>
                <a:ea typeface="Aptos"/>
                <a:cs typeface="Aptos"/>
              </a:defRPr>
            </a:pPr>
            <a:r>
              <a:rPr sz="2250" b="0">
                <a:solidFill>
                  <a:srgbClr val="49616A"/>
                </a:solidFill>
                <a:latin typeface="Aptos"/>
                <a:ea typeface="Aptos"/>
                <a:cs typeface="Aptos"/>
              </a:rPr>
              <a:t>990 enrichment remains stretch</a:t>
            </a:r>
          </a:p>
        </p:txBody>
      </p:sp>
      <p:sp>
        <p:nvSpPr>
          <p:cNvPr id="16" name="">
            <a:extLst xmlns:a="http://schemas.openxmlformats.org/drawingml/2006/main">
              <a:ext uri="{FF2B5EF4-FFF2-40B4-BE49-F238E27FC236}">
                <a16:creationId xmlns:a16="http://schemas.microsoft.com/office/drawing/2014/main" id="{CD148134-573F-4265-A64F-F71B77D3F8E6}"/>
              </a:ext>
            </a:extLst>
          </p:cNvPr>
          <p:cNvSpPr>
            <a:spLocks xmlns:a="http://schemas.openxmlformats.org/drawingml/2006/main" noGrp="1"/>
          </p:cNvSpPr>
          <p:nvPr/>
        </p:nvSpPr>
        <p:spPr>
          <a:xfrm xmlns:a="http://schemas.openxmlformats.org/drawingml/2006/main">
            <a:off x="571500" y="6572250"/>
            <a:ext cx="140970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100" b="0">
                <a:solidFill>
                  <a:srgbClr val="132E38"/>
                </a:solidFill>
                <a:latin typeface="Aptos"/>
                <a:ea typeface="Aptos"/>
                <a:cs typeface="Aptos"/>
              </a:defRPr>
            </a:defPPr>
          </a:lstStyle>
          <a:p xmlns:a="http://schemas.openxmlformats.org/drawingml/2006/main">
            <a:pPr>
              <a:buNone/>
              <a:defRPr sz="2100" b="0">
                <a:solidFill>
                  <a:srgbClr val="132E38"/>
                </a:solidFill>
                <a:latin typeface="Aptos"/>
                <a:ea typeface="Aptos"/>
                <a:cs typeface="Aptos"/>
              </a:defRPr>
            </a:pPr>
            <a:r>
              <a:rPr sz="2100" b="0">
                <a:solidFill>
                  <a:srgbClr val="132E38"/>
                </a:solidFill>
                <a:latin typeface="Aptos"/>
                <a:ea typeface="Aptos"/>
                <a:cs typeface="Aptos"/>
              </a:rPr>
              <a:t>The synthetic demo binds a packet to fixture vote evidence. Operative governance and live verification remain pending.</a:t>
            </a:r>
          </a:p>
        </p:txBody>
      </p:sp>
    </p:spTree>
    <p:extLst>
      <p:ext uri="{BB962C8B-B14F-4D97-AF65-F5344CB8AC3E}">
        <p14:creationId xmlns:p14="http://schemas.microsoft.com/office/powerpoint/2010/main" val="1111305753"/>
      </p:ext>
    </p:extLst>
  </p:cSld>
</p:sld>
</file>

<file path=ppt/slides/slide5.xml><?xml version="1.0" encoding="utf-8"?>
<p:sld xmlns:p="http://schemas.openxmlformats.org/presentationml/2006/main">
  <p:cSld>
    <p:bg>
      <p:bgPr>
        <a:solidFill xmlns:a="http://schemas.openxmlformats.org/drawingml/2006/main">
          <a:srgbClr val="F6F5F0"/>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7C7ACC79-1CF0-4DC2-8EC7-411BBF6B5B22}"/>
              </a:ext>
            </a:extLst>
          </p:cNvPr>
          <p:cNvSpPr>
            <a:spLocks xmlns:a="http://schemas.openxmlformats.org/drawingml/2006/main" noGrp="1"/>
          </p:cNvSpPr>
          <p:nvPr/>
        </p:nvSpPr>
        <p:spPr>
          <a:xfrm xmlns:a="http://schemas.openxmlformats.org/drawingml/2006/main">
            <a:off x="571500" y="295275"/>
            <a:ext cx="9525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350" b="1">
                <a:solidFill>
                  <a:srgbClr val="157D80"/>
                </a:solidFill>
                <a:latin typeface="Aptos"/>
                <a:ea typeface="Aptos"/>
                <a:cs typeface="Aptos"/>
              </a:defRPr>
            </a:defPPr>
          </a:lstStyle>
          <a:p xmlns:a="http://schemas.openxmlformats.org/drawingml/2006/main">
            <a:pPr>
              <a:buNone/>
              <a:defRPr sz="1350" b="1">
                <a:solidFill>
                  <a:srgbClr val="157D80"/>
                </a:solidFill>
                <a:latin typeface="Aptos"/>
                <a:ea typeface="Aptos"/>
                <a:cs typeface="Aptos"/>
              </a:defRPr>
            </a:pPr>
            <a:r>
              <a:rPr sz="1350" b="1">
                <a:solidFill>
                  <a:srgbClr val="157D80"/>
                </a:solidFill>
                <a:latin typeface="Aptos"/>
                <a:ea typeface="Aptos"/>
                <a:cs typeface="Aptos"/>
              </a:rPr>
              <a:t>INERTIA / FORT WORTH DAO</a:t>
            </a:r>
          </a:p>
        </p:txBody>
      </p:sp>
      <p:sp>
        <p:nvSpPr>
          <p:cNvPr id="2" name="">
            <a:extLst xmlns:a="http://schemas.openxmlformats.org/drawingml/2006/main">
              <a:ext uri="{FF2B5EF4-FFF2-40B4-BE49-F238E27FC236}">
                <a16:creationId xmlns:a16="http://schemas.microsoft.com/office/drawing/2014/main" id="{C2E15DEA-F77A-4650-9924-2883B31F64E1}"/>
              </a:ext>
            </a:extLst>
          </p:cNvPr>
          <p:cNvSpPr>
            <a:spLocks xmlns:a="http://schemas.openxmlformats.org/drawingml/2006/main" noGrp="1"/>
          </p:cNvSpPr>
          <p:nvPr/>
        </p:nvSpPr>
        <p:spPr>
          <a:xfrm xmlns:a="http://schemas.openxmlformats.org/drawingml/2006/main">
            <a:off x="571500" y="723900"/>
            <a:ext cx="140970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3450" b="1">
                <a:solidFill>
                  <a:srgbClr val="132E38"/>
                </a:solidFill>
                <a:latin typeface="Aptos"/>
                <a:ea typeface="Aptos"/>
                <a:cs typeface="Aptos"/>
              </a:defRPr>
            </a:defPPr>
          </a:lstStyle>
          <a:p xmlns:a="http://schemas.openxmlformats.org/drawingml/2006/main">
            <a:pPr>
              <a:buNone/>
              <a:defRPr sz="3450" b="1">
                <a:solidFill>
                  <a:srgbClr val="132E38"/>
                </a:solidFill>
                <a:latin typeface="Aptos"/>
                <a:ea typeface="Aptos"/>
                <a:cs typeface="Aptos"/>
              </a:defRPr>
            </a:pPr>
            <a:r>
              <a:rPr sz="3450" b="1">
                <a:solidFill>
                  <a:srgbClr val="132E38"/>
                </a:solidFill>
                <a:latin typeface="Aptos"/>
                <a:ea typeface="Aptos"/>
                <a:cs typeface="Aptos"/>
              </a:rPr>
              <a:t>Secure member contribution</a:t>
            </a:r>
          </a:p>
        </p:txBody>
      </p:sp>
      <p:sp>
        <p:nvSpPr>
          <p:cNvPr id="3" name="">
            <a:extLst xmlns:a="http://schemas.openxmlformats.org/drawingml/2006/main">
              <a:ext uri="{FF2B5EF4-FFF2-40B4-BE49-F238E27FC236}">
                <a16:creationId xmlns:a16="http://schemas.microsoft.com/office/drawing/2014/main" id="{E3AD4525-7F46-4FAF-B3E9-449D65752DE1}"/>
              </a:ext>
            </a:extLst>
          </p:cNvPr>
          <p:cNvSpPr>
            <a:spLocks xmlns:a="http://schemas.openxmlformats.org/drawingml/2006/main" noGrp="1"/>
          </p:cNvSpPr>
          <p:nvPr/>
        </p:nvSpPr>
        <p:spPr>
          <a:xfrm xmlns:a="http://schemas.openxmlformats.org/drawingml/2006/main">
            <a:off x="571500" y="1362075"/>
            <a:ext cx="140970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00" b="0">
                <a:solidFill>
                  <a:srgbClr val="49616A"/>
                </a:solidFill>
                <a:latin typeface="Aptos"/>
                <a:ea typeface="Aptos"/>
                <a:cs typeface="Aptos"/>
              </a:defRPr>
            </a:defPPr>
          </a:lstStyle>
          <a:p xmlns:a="http://schemas.openxmlformats.org/drawingml/2006/main">
            <a:pPr>
              <a:buNone/>
              <a:defRPr sz="1800" b="0">
                <a:solidFill>
                  <a:srgbClr val="49616A"/>
                </a:solidFill>
                <a:latin typeface="Aptos"/>
                <a:ea typeface="Aptos"/>
                <a:cs typeface="Aptos"/>
              </a:defRPr>
            </a:pPr>
            <a:r>
              <a:rPr sz="1800" b="0">
                <a:solidFill>
                  <a:srgbClr val="49616A"/>
                </a:solidFill>
                <a:latin typeface="Aptos"/>
                <a:ea typeface="Aptos"/>
                <a:cs typeface="Aptos"/>
              </a:rPr>
              <a:t>Target: an enrolled member’s agent contributes from its own isolated execution environment.</a:t>
            </a:r>
          </a:p>
        </p:txBody>
      </p:sp>
      <p:sp>
        <p:nvSpPr>
          <p:cNvPr id="4" name="">
            <a:extLst xmlns:a="http://schemas.openxmlformats.org/drawingml/2006/main">
              <a:ext uri="{FF2B5EF4-FFF2-40B4-BE49-F238E27FC236}">
                <a16:creationId xmlns:a16="http://schemas.microsoft.com/office/drawing/2014/main" id="{961761AB-B452-4F84-99B9-FF1857A2655F}"/>
              </a:ext>
            </a:extLst>
          </p:cNvPr>
          <p:cNvSpPr>
            <a:spLocks xmlns:a="http://schemas.openxmlformats.org/drawingml/2006/main" noGrp="1"/>
          </p:cNvSpPr>
          <p:nvPr/>
        </p:nvSpPr>
        <p:spPr>
          <a:xfrm xmlns:a="http://schemas.openxmlformats.org/drawingml/2006/main">
            <a:off x="571500" y="7962900"/>
            <a:ext cx="14097000" cy="9525"/>
          </a:xfrm>
          <a:prstGeom xmlns:a="http://schemas.openxmlformats.org/drawingml/2006/main" prst="rect">
            <a:avLst/>
          </a:prstGeom>
          <a:solidFill xmlns:a="http://schemas.openxmlformats.org/drawingml/2006/main">
            <a:srgbClr val="B9C9C7"/>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9AD01EC8-DCAD-4BA4-9CBC-6E48A58F990D}"/>
              </a:ext>
            </a:extLst>
          </p:cNvPr>
          <p:cNvSpPr>
            <a:spLocks xmlns:a="http://schemas.openxmlformats.org/drawingml/2006/main" noGrp="1"/>
          </p:cNvSpPr>
          <p:nvPr/>
        </p:nvSpPr>
        <p:spPr>
          <a:xfrm xmlns:a="http://schemas.openxmlformats.org/drawingml/2006/main">
            <a:off x="571500" y="8105775"/>
            <a:ext cx="13144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275" b="0">
                <a:solidFill>
                  <a:srgbClr val="49616A"/>
                </a:solidFill>
                <a:latin typeface="Aptos"/>
                <a:ea typeface="Aptos"/>
                <a:cs typeface="Aptos"/>
              </a:defRPr>
            </a:defPPr>
          </a:lstStyle>
          <a:p xmlns:a="http://schemas.openxmlformats.org/drawingml/2006/main">
            <a:pPr>
              <a:buNone/>
              <a:defRPr sz="1275" b="0">
                <a:solidFill>
                  <a:srgbClr val="49616A"/>
                </a:solidFill>
                <a:latin typeface="Aptos"/>
                <a:ea typeface="Aptos"/>
                <a:cs typeface="Aptos"/>
              </a:defRPr>
            </a:pPr>
            <a:r>
              <a:rPr sz="1275" b="0">
                <a:solidFill>
                  <a:srgbClr val="49616A"/>
                </a:solidFill>
                <a:latin typeface="Aptos"/>
                <a:ea typeface="Aptos"/>
                <a:cs typeface="Aptos"/>
              </a:rPr>
              <a:t>INERTIA-2026-10-23-r9 · 23 October 2026 · Autonomous build</a:t>
            </a:r>
          </a:p>
        </p:txBody>
      </p:sp>
      <p:sp>
        <p:nvSpPr>
          <p:cNvPr id="6" name="">
            <a:extLst xmlns:a="http://schemas.openxmlformats.org/drawingml/2006/main">
              <a:ext uri="{FF2B5EF4-FFF2-40B4-BE49-F238E27FC236}">
                <a16:creationId xmlns:a16="http://schemas.microsoft.com/office/drawing/2014/main" id="{B13C95D2-C3B8-48D0-BE0C-145062C685E8}"/>
              </a:ext>
            </a:extLst>
          </p:cNvPr>
          <p:cNvSpPr>
            <a:spLocks xmlns:a="http://schemas.openxmlformats.org/drawingml/2006/main" noGrp="1"/>
          </p:cNvSpPr>
          <p:nvPr/>
        </p:nvSpPr>
        <p:spPr>
          <a:xfrm xmlns:a="http://schemas.openxmlformats.org/drawingml/2006/main">
            <a:off x="14001750" y="8067675"/>
            <a:ext cx="666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00" b="1">
                <a:solidFill>
                  <a:srgbClr val="157D80"/>
                </a:solidFill>
                <a:latin typeface="Aptos"/>
                <a:ea typeface="Aptos"/>
                <a:cs typeface="Aptos"/>
              </a:defRPr>
            </a:defPPr>
          </a:lstStyle>
          <a:p xmlns:a="http://schemas.openxmlformats.org/drawingml/2006/main">
            <a:pPr>
              <a:buNone/>
              <a:defRPr sz="1800" b="1">
                <a:solidFill>
                  <a:srgbClr val="157D80"/>
                </a:solidFill>
                <a:latin typeface="Aptos"/>
                <a:ea typeface="Aptos"/>
                <a:cs typeface="Aptos"/>
              </a:defRPr>
            </a:pPr>
            <a:r>
              <a:rPr sz="1800" b="1">
                <a:solidFill>
                  <a:srgbClr val="157D80"/>
                </a:solidFill>
                <a:latin typeface="Aptos"/>
                <a:ea typeface="Aptos"/>
                <a:cs typeface="Aptos"/>
              </a:rPr>
              <a:t>05</a:t>
            </a:r>
          </a:p>
        </p:txBody>
      </p:sp>
      <p:sp>
        <p:nvSpPr>
          <p:cNvPr id="7" name="">
            <a:extLst xmlns:a="http://schemas.openxmlformats.org/drawingml/2006/main">
              <a:ext uri="{FF2B5EF4-FFF2-40B4-BE49-F238E27FC236}">
                <a16:creationId xmlns:a16="http://schemas.microsoft.com/office/drawing/2014/main" id="{49CC084F-3B85-481C-B48F-47A4B8C7D756}"/>
              </a:ext>
            </a:extLst>
          </p:cNvPr>
          <p:cNvSpPr>
            <a:spLocks xmlns:a="http://schemas.openxmlformats.org/drawingml/2006/main" noGrp="1"/>
          </p:cNvSpPr>
          <p:nvPr/>
        </p:nvSpPr>
        <p:spPr>
          <a:xfrm xmlns:a="http://schemas.openxmlformats.org/drawingml/2006/main">
            <a:off x="571500" y="2381250"/>
            <a:ext cx="4476750" cy="3619500"/>
          </a:xfrm>
          <a:prstGeom xmlns:a="http://schemas.openxmlformats.org/drawingml/2006/main" prst="rect">
            <a:avLst/>
          </a:prstGeom>
          <a:solidFill xmlns:a="http://schemas.openxmlformats.org/drawingml/2006/main">
            <a:srgbClr val="FFFFFF"/>
          </a:solidFill>
          <a:ln xmlns:a="http://schemas.openxmlformats.org/drawingml/2006/main" w="19050">
            <a:solidFill>
              <a:srgbClr val="157D80"/>
            </a:solidFill>
            <a:prstDash val="dash"/>
          </a:ln>
        </p:spPr>
      </p:sp>
      <p:sp>
        <p:nvSpPr>
          <p:cNvPr id="8" name="">
            <a:extLst xmlns:a="http://schemas.openxmlformats.org/drawingml/2006/main">
              <a:ext uri="{FF2B5EF4-FFF2-40B4-BE49-F238E27FC236}">
                <a16:creationId xmlns:a16="http://schemas.microsoft.com/office/drawing/2014/main" id="{B12F790B-66E3-4E62-B9F3-06E9A3503C64}"/>
              </a:ext>
            </a:extLst>
          </p:cNvPr>
          <p:cNvSpPr>
            <a:spLocks xmlns:a="http://schemas.openxmlformats.org/drawingml/2006/main" noGrp="1"/>
          </p:cNvSpPr>
          <p:nvPr/>
        </p:nvSpPr>
        <p:spPr>
          <a:xfrm xmlns:a="http://schemas.openxmlformats.org/drawingml/2006/main">
            <a:off x="742950" y="2514600"/>
            <a:ext cx="41338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1">
                <a:solidFill>
                  <a:srgbClr val="157D80"/>
                </a:solidFill>
                <a:latin typeface="Aptos"/>
                <a:ea typeface="Aptos"/>
                <a:cs typeface="Aptos"/>
              </a:defRPr>
            </a:defPPr>
          </a:lstStyle>
          <a:p xmlns:a="http://schemas.openxmlformats.org/drawingml/2006/main">
            <a:pPr>
              <a:buNone/>
              <a:defRPr sz="1875" b="1">
                <a:solidFill>
                  <a:srgbClr val="157D80"/>
                </a:solidFill>
                <a:latin typeface="Aptos"/>
                <a:ea typeface="Aptos"/>
                <a:cs typeface="Aptos"/>
              </a:defRPr>
            </a:pPr>
            <a:r>
              <a:rPr sz="1875" b="1">
                <a:solidFill>
                  <a:srgbClr val="157D80"/>
                </a:solidFill>
                <a:latin typeface="Aptos"/>
                <a:ea typeface="Aptos"/>
                <a:cs typeface="Aptos"/>
              </a:rPr>
              <a:t>Eager acquisition</a:t>
            </a:r>
          </a:p>
        </p:txBody>
      </p:sp>
      <p:sp>
        <p:nvSpPr>
          <p:cNvPr id="9" name="">
            <a:extLst xmlns:a="http://schemas.openxmlformats.org/drawingml/2006/main">
              <a:ext uri="{FF2B5EF4-FFF2-40B4-BE49-F238E27FC236}">
                <a16:creationId xmlns:a16="http://schemas.microsoft.com/office/drawing/2014/main" id="{51A0B6D1-D035-46C2-A880-79420D738FB7}"/>
              </a:ext>
            </a:extLst>
          </p:cNvPr>
          <p:cNvSpPr>
            <a:spLocks xmlns:a="http://schemas.openxmlformats.org/drawingml/2006/main" noGrp="1"/>
          </p:cNvSpPr>
          <p:nvPr/>
        </p:nvSpPr>
        <p:spPr>
          <a:xfrm xmlns:a="http://schemas.openxmlformats.org/drawingml/2006/main">
            <a:off x="742950" y="3048000"/>
            <a:ext cx="4133850" cy="2876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0">
                <a:solidFill>
                  <a:srgbClr val="49616A"/>
                </a:solidFill>
                <a:latin typeface="Aptos"/>
                <a:ea typeface="Aptos"/>
                <a:cs typeface="Aptos"/>
              </a:defRPr>
            </a:defPPr>
          </a:lstStyle>
          <a:p xmlns:a="http://schemas.openxmlformats.org/drawingml/2006/main">
            <a:pPr>
              <a:buNone/>
              <a:defRPr sz="2250" b="0">
                <a:solidFill>
                  <a:srgbClr val="49616A"/>
                </a:solidFill>
                <a:latin typeface="Aptos"/>
                <a:ea typeface="Aptos"/>
                <a:cs typeface="Aptos"/>
              </a:defRPr>
            </a:pPr>
            <a:r>
              <a:rPr sz="2250" b="0">
                <a:solidFill>
                  <a:srgbClr val="49616A"/>
                </a:solidFill>
                <a:latin typeface="Aptos"/>
                <a:ea typeface="Aptos"/>
                <a:cs typeface="Aptos"/>
              </a:rPr>
              <a:t>Assigned CEO intake mandate</a:t>
            </a:r>
          </a:p>
          <a:p xmlns:a="http://schemas.openxmlformats.org/drawingml/2006/main">
            <a:pPr>
              <a:buNone/>
              <a:defRPr sz="2250" b="0">
                <a:solidFill>
                  <a:srgbClr val="49616A"/>
                </a:solidFill>
                <a:latin typeface="Aptos"/>
                <a:ea typeface="Aptos"/>
                <a:cs typeface="Aptos"/>
              </a:defRPr>
            </a:pPr>
            <a:r>
              <a:rPr sz="2250" b="0">
                <a:solidFill>
                  <a:srgbClr val="49616A"/>
                </a:solidFill>
                <a:latin typeface="Aptos"/>
                <a:ea typeface="Aptos"/>
                <a:cs typeface="Aptos"/>
              </a:rPr>
              <a:t>Scoped eligible work</a:t>
            </a:r>
          </a:p>
          <a:p xmlns:a="http://schemas.openxmlformats.org/drawingml/2006/main">
            <a:pPr>
              <a:buNone/>
              <a:defRPr sz="2250" b="0">
                <a:solidFill>
                  <a:srgbClr val="49616A"/>
                </a:solidFill>
                <a:latin typeface="Aptos"/>
                <a:ea typeface="Aptos"/>
                <a:cs typeface="Aptos"/>
              </a:defRPr>
            </a:pPr>
            <a:r>
              <a:rPr sz="2250" b="0">
                <a:solidFill>
                  <a:srgbClr val="49616A"/>
                </a:solidFill>
                <a:latin typeface="Aptos"/>
                <a:ea typeface="Aptos"/>
                <a:cs typeface="Aptos"/>
              </a:rPr>
              <a:t>Atomic checkout wins ownership</a:t>
            </a:r>
          </a:p>
          <a:p xmlns:a="http://schemas.openxmlformats.org/drawingml/2006/main">
            <a:pPr>
              <a:buNone/>
              <a:defRPr sz="2250" b="0">
                <a:solidFill>
                  <a:srgbClr val="49616A"/>
                </a:solidFill>
                <a:latin typeface="Aptos"/>
                <a:ea typeface="Aptos"/>
                <a:cs typeface="Aptos"/>
              </a:defRPr>
            </a:pPr>
            <a:r>
              <a:rPr sz="2250" b="0">
                <a:solidFill>
                  <a:srgbClr val="49616A"/>
                </a:solidFill>
                <a:latin typeface="Aptos"/>
                <a:ea typeface="Aptos"/>
                <a:cs typeface="Aptos"/>
              </a:rPr>
              <a:t>Budgets bound activity</a:t>
            </a:r>
          </a:p>
        </p:txBody>
      </p:sp>
      <p:sp>
        <p:nvSpPr>
          <p:cNvPr id="10" name="">
            <a:extLst xmlns:a="http://schemas.openxmlformats.org/drawingml/2006/main">
              <a:ext uri="{FF2B5EF4-FFF2-40B4-BE49-F238E27FC236}">
                <a16:creationId xmlns:a16="http://schemas.microsoft.com/office/drawing/2014/main" id="{D2DE4B1B-1FD3-4A84-B7EF-946213685FE6}"/>
              </a:ext>
            </a:extLst>
          </p:cNvPr>
          <p:cNvSpPr>
            <a:spLocks xmlns:a="http://schemas.openxmlformats.org/drawingml/2006/main" noGrp="1"/>
          </p:cNvSpPr>
          <p:nvPr/>
        </p:nvSpPr>
        <p:spPr>
          <a:xfrm xmlns:a="http://schemas.openxmlformats.org/drawingml/2006/main">
            <a:off x="5381625" y="2381250"/>
            <a:ext cx="4476750" cy="3619500"/>
          </a:xfrm>
          <a:prstGeom xmlns:a="http://schemas.openxmlformats.org/drawingml/2006/main" prst="rect">
            <a:avLst/>
          </a:prstGeom>
          <a:solidFill xmlns:a="http://schemas.openxmlformats.org/drawingml/2006/main">
            <a:srgbClr val="FFFFFF"/>
          </a:solidFill>
          <a:ln xmlns:a="http://schemas.openxmlformats.org/drawingml/2006/main" w="19050">
            <a:solidFill>
              <a:srgbClr val="157D80"/>
            </a:solidFill>
            <a:prstDash val="dash"/>
          </a:ln>
        </p:spPr>
      </p:sp>
      <p:sp>
        <p:nvSpPr>
          <p:cNvPr id="11" name="">
            <a:extLst xmlns:a="http://schemas.openxmlformats.org/drawingml/2006/main">
              <a:ext uri="{FF2B5EF4-FFF2-40B4-BE49-F238E27FC236}">
                <a16:creationId xmlns:a16="http://schemas.microsoft.com/office/drawing/2014/main" id="{C171444B-85E9-4BEC-847B-00DBA1A4B409}"/>
              </a:ext>
            </a:extLst>
          </p:cNvPr>
          <p:cNvSpPr>
            <a:spLocks xmlns:a="http://schemas.openxmlformats.org/drawingml/2006/main" noGrp="1"/>
          </p:cNvSpPr>
          <p:nvPr/>
        </p:nvSpPr>
        <p:spPr>
          <a:xfrm xmlns:a="http://schemas.openxmlformats.org/drawingml/2006/main">
            <a:off x="5553075" y="2514600"/>
            <a:ext cx="41338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1">
                <a:solidFill>
                  <a:srgbClr val="157D80"/>
                </a:solidFill>
                <a:latin typeface="Aptos"/>
                <a:ea typeface="Aptos"/>
                <a:cs typeface="Aptos"/>
              </a:defRPr>
            </a:defPPr>
          </a:lstStyle>
          <a:p xmlns:a="http://schemas.openxmlformats.org/drawingml/2006/main">
            <a:pPr>
              <a:buNone/>
              <a:defRPr sz="1875" b="1">
                <a:solidFill>
                  <a:srgbClr val="157D80"/>
                </a:solidFill>
                <a:latin typeface="Aptos"/>
                <a:ea typeface="Aptos"/>
                <a:cs typeface="Aptos"/>
              </a:defRPr>
            </a:pPr>
            <a:r>
              <a:rPr sz="1875" b="1">
                <a:solidFill>
                  <a:srgbClr val="157D80"/>
                </a:solidFill>
                <a:latin typeface="Aptos"/>
                <a:ea typeface="Aptos"/>
                <a:cs typeface="Aptos"/>
              </a:rPr>
              <a:t>Scoped execution</a:t>
            </a:r>
          </a:p>
        </p:txBody>
      </p:sp>
      <p:sp>
        <p:nvSpPr>
          <p:cNvPr id="12" name="">
            <a:extLst xmlns:a="http://schemas.openxmlformats.org/drawingml/2006/main">
              <a:ext uri="{FF2B5EF4-FFF2-40B4-BE49-F238E27FC236}">
                <a16:creationId xmlns:a16="http://schemas.microsoft.com/office/drawing/2014/main" id="{ED3381AD-2A38-4B60-A263-259FC78BE451}"/>
              </a:ext>
            </a:extLst>
          </p:cNvPr>
          <p:cNvSpPr>
            <a:spLocks xmlns:a="http://schemas.openxmlformats.org/drawingml/2006/main" noGrp="1"/>
          </p:cNvSpPr>
          <p:nvPr/>
        </p:nvSpPr>
        <p:spPr>
          <a:xfrm xmlns:a="http://schemas.openxmlformats.org/drawingml/2006/main">
            <a:off x="5553075" y="3048000"/>
            <a:ext cx="4133850" cy="2876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0">
                <a:solidFill>
                  <a:srgbClr val="49616A"/>
                </a:solidFill>
                <a:latin typeface="Aptos"/>
                <a:ea typeface="Aptos"/>
                <a:cs typeface="Aptos"/>
              </a:defRPr>
            </a:defPPr>
          </a:lstStyle>
          <a:p xmlns:a="http://schemas.openxmlformats.org/drawingml/2006/main">
            <a:pPr>
              <a:buNone/>
              <a:defRPr sz="2250" b="0">
                <a:solidFill>
                  <a:srgbClr val="49616A"/>
                </a:solidFill>
                <a:latin typeface="Aptos"/>
                <a:ea typeface="Aptos"/>
                <a:cs typeface="Aptos"/>
              </a:defRPr>
            </a:pPr>
            <a:r>
              <a:rPr sz="2250" b="0">
                <a:solidFill>
                  <a:srgbClr val="49616A"/>
                </a:solidFill>
                <a:latin typeface="Aptos"/>
                <a:ea typeface="Aptos"/>
                <a:cs typeface="Aptos"/>
              </a:rPr>
              <a:t>Task-specific inputs</a:t>
            </a:r>
          </a:p>
          <a:p xmlns:a="http://schemas.openxmlformats.org/drawingml/2006/main">
            <a:pPr>
              <a:buNone/>
              <a:defRPr sz="2250" b="0">
                <a:solidFill>
                  <a:srgbClr val="49616A"/>
                </a:solidFill>
                <a:latin typeface="Aptos"/>
                <a:ea typeface="Aptos"/>
                <a:cs typeface="Aptos"/>
              </a:defRPr>
            </a:pPr>
            <a:r>
              <a:rPr sz="2250" b="0">
                <a:solidFill>
                  <a:srgbClr val="49616A"/>
                </a:solidFill>
                <a:latin typeface="Aptos"/>
                <a:ea typeface="Aptos"/>
                <a:cs typeface="Aptos"/>
              </a:rPr>
              <a:t>Sandbox and isolated files</a:t>
            </a:r>
          </a:p>
          <a:p xmlns:a="http://schemas.openxmlformats.org/drawingml/2006/main">
            <a:pPr>
              <a:buNone/>
              <a:defRPr sz="2250" b="0">
                <a:solidFill>
                  <a:srgbClr val="49616A"/>
                </a:solidFill>
                <a:latin typeface="Aptos"/>
                <a:ea typeface="Aptos"/>
                <a:cs typeface="Aptos"/>
              </a:defRPr>
            </a:pPr>
            <a:r>
              <a:rPr sz="2250" b="0">
                <a:solidFill>
                  <a:srgbClr val="49616A"/>
                </a:solidFill>
                <a:latin typeface="Aptos"/>
                <a:ea typeface="Aptos"/>
                <a:cs typeface="Aptos"/>
              </a:rPr>
              <a:t>Existing provider lifecycle</a:t>
            </a:r>
          </a:p>
          <a:p xmlns:a="http://schemas.openxmlformats.org/drawingml/2006/main">
            <a:pPr>
              <a:buNone/>
              <a:defRPr sz="2250" b="0">
                <a:solidFill>
                  <a:srgbClr val="49616A"/>
                </a:solidFill>
                <a:latin typeface="Aptos"/>
                <a:ea typeface="Aptos"/>
                <a:cs typeface="Aptos"/>
              </a:defRPr>
            </a:pPr>
            <a:r>
              <a:rPr sz="2250" b="0">
                <a:solidFill>
                  <a:srgbClr val="49616A"/>
                </a:solidFill>
                <a:latin typeface="Aptos"/>
                <a:ea typeface="Aptos"/>
                <a:cs typeface="Aptos"/>
              </a:rPr>
              <a:t>No publisher credentials</a:t>
            </a:r>
          </a:p>
        </p:txBody>
      </p:sp>
      <p:sp>
        <p:nvSpPr>
          <p:cNvPr id="13" name="">
            <a:extLst xmlns:a="http://schemas.openxmlformats.org/drawingml/2006/main">
              <a:ext uri="{FF2B5EF4-FFF2-40B4-BE49-F238E27FC236}">
                <a16:creationId xmlns:a16="http://schemas.microsoft.com/office/drawing/2014/main" id="{2FE5E843-8E02-486A-B4AF-0BDD3BF57AFC}"/>
              </a:ext>
            </a:extLst>
          </p:cNvPr>
          <p:cNvSpPr>
            <a:spLocks xmlns:a="http://schemas.openxmlformats.org/drawingml/2006/main" noGrp="1"/>
          </p:cNvSpPr>
          <p:nvPr/>
        </p:nvSpPr>
        <p:spPr>
          <a:xfrm xmlns:a="http://schemas.openxmlformats.org/drawingml/2006/main">
            <a:off x="10191750" y="2381250"/>
            <a:ext cx="4476750" cy="3619500"/>
          </a:xfrm>
          <a:prstGeom xmlns:a="http://schemas.openxmlformats.org/drawingml/2006/main" prst="rect">
            <a:avLst/>
          </a:prstGeom>
          <a:solidFill xmlns:a="http://schemas.openxmlformats.org/drawingml/2006/main">
            <a:srgbClr val="FFFFFF"/>
          </a:solidFill>
          <a:ln xmlns:a="http://schemas.openxmlformats.org/drawingml/2006/main" w="19050">
            <a:solidFill>
              <a:srgbClr val="157D80"/>
            </a:solidFill>
            <a:prstDash val="dash"/>
          </a:ln>
        </p:spPr>
      </p:sp>
      <p:sp>
        <p:nvSpPr>
          <p:cNvPr id="14" name="">
            <a:extLst xmlns:a="http://schemas.openxmlformats.org/drawingml/2006/main">
              <a:ext uri="{FF2B5EF4-FFF2-40B4-BE49-F238E27FC236}">
                <a16:creationId xmlns:a16="http://schemas.microsoft.com/office/drawing/2014/main" id="{E6FBA71D-F0FD-4F35-9841-0EA6CD066D19}"/>
              </a:ext>
            </a:extLst>
          </p:cNvPr>
          <p:cNvSpPr>
            <a:spLocks xmlns:a="http://schemas.openxmlformats.org/drawingml/2006/main" noGrp="1"/>
          </p:cNvSpPr>
          <p:nvPr/>
        </p:nvSpPr>
        <p:spPr>
          <a:xfrm xmlns:a="http://schemas.openxmlformats.org/drawingml/2006/main">
            <a:off x="10363200" y="2514600"/>
            <a:ext cx="41338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1">
                <a:solidFill>
                  <a:srgbClr val="157D80"/>
                </a:solidFill>
                <a:latin typeface="Aptos"/>
                <a:ea typeface="Aptos"/>
                <a:cs typeface="Aptos"/>
              </a:defRPr>
            </a:defPPr>
          </a:lstStyle>
          <a:p xmlns:a="http://schemas.openxmlformats.org/drawingml/2006/main">
            <a:pPr>
              <a:buNone/>
              <a:defRPr sz="1875" b="1">
                <a:solidFill>
                  <a:srgbClr val="157D80"/>
                </a:solidFill>
                <a:latin typeface="Aptos"/>
                <a:ea typeface="Aptos"/>
                <a:cs typeface="Aptos"/>
              </a:defRPr>
            </a:pPr>
            <a:r>
              <a:rPr sz="1875" b="1">
                <a:solidFill>
                  <a:srgbClr val="157D80"/>
                </a:solidFill>
                <a:latin typeface="Aptos"/>
                <a:ea typeface="Aptos"/>
                <a:cs typeface="Aptos"/>
              </a:rPr>
              <a:t>Useful result</a:t>
            </a:r>
          </a:p>
        </p:txBody>
      </p:sp>
      <p:sp>
        <p:nvSpPr>
          <p:cNvPr id="15" name="">
            <a:extLst xmlns:a="http://schemas.openxmlformats.org/drawingml/2006/main">
              <a:ext uri="{FF2B5EF4-FFF2-40B4-BE49-F238E27FC236}">
                <a16:creationId xmlns:a16="http://schemas.microsoft.com/office/drawing/2014/main" id="{7253CC27-0E99-44C1-99B0-733914F5B148}"/>
              </a:ext>
            </a:extLst>
          </p:cNvPr>
          <p:cNvSpPr>
            <a:spLocks xmlns:a="http://schemas.openxmlformats.org/drawingml/2006/main" noGrp="1"/>
          </p:cNvSpPr>
          <p:nvPr/>
        </p:nvSpPr>
        <p:spPr>
          <a:xfrm xmlns:a="http://schemas.openxmlformats.org/drawingml/2006/main">
            <a:off x="10363200" y="3048000"/>
            <a:ext cx="4133850" cy="2876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0">
                <a:solidFill>
                  <a:srgbClr val="49616A"/>
                </a:solidFill>
                <a:latin typeface="Aptos"/>
                <a:ea typeface="Aptos"/>
                <a:cs typeface="Aptos"/>
              </a:defRPr>
            </a:defPPr>
          </a:lstStyle>
          <a:p xmlns:a="http://schemas.openxmlformats.org/drawingml/2006/main">
            <a:pPr>
              <a:buNone/>
              <a:defRPr sz="2250" b="0">
                <a:solidFill>
                  <a:srgbClr val="49616A"/>
                </a:solidFill>
                <a:latin typeface="Aptos"/>
                <a:ea typeface="Aptos"/>
                <a:cs typeface="Aptos"/>
              </a:defRPr>
            </a:pPr>
            <a:r>
              <a:rPr sz="2250" b="0">
                <a:solidFill>
                  <a:srgbClr val="49616A"/>
                </a:solidFill>
                <a:latin typeface="Aptos"/>
                <a:ea typeface="Aptos"/>
                <a:cs typeface="Aptos"/>
              </a:rPr>
              <a:t>Server validates the artifact</a:t>
            </a:r>
          </a:p>
          <a:p xmlns:a="http://schemas.openxmlformats.org/drawingml/2006/main">
            <a:pPr>
              <a:buNone/>
              <a:defRPr sz="2250" b="0">
                <a:solidFill>
                  <a:srgbClr val="49616A"/>
                </a:solidFill>
                <a:latin typeface="Aptos"/>
                <a:ea typeface="Aptos"/>
                <a:cs typeface="Aptos"/>
              </a:defRPr>
            </a:pPr>
            <a:r>
              <a:rPr sz="2250" b="0">
                <a:solidFill>
                  <a:srgbClr val="49616A"/>
                </a:solidFill>
                <a:latin typeface="Aptos"/>
                <a:ea typeface="Aptos"/>
                <a:cs typeface="Aptos"/>
              </a:rPr>
              <a:t>Native review accepts evidence</a:t>
            </a:r>
          </a:p>
          <a:p xmlns:a="http://schemas.openxmlformats.org/drawingml/2006/main">
            <a:pPr>
              <a:buNone/>
              <a:defRPr sz="2250" b="0">
                <a:solidFill>
                  <a:srgbClr val="49616A"/>
                </a:solidFill>
                <a:latin typeface="Aptos"/>
                <a:ea typeface="Aptos"/>
                <a:cs typeface="Aptos"/>
              </a:defRPr>
            </a:pPr>
            <a:r>
              <a:rPr sz="2250" b="0">
                <a:solidFill>
                  <a:srgbClr val="49616A"/>
                </a:solidFill>
                <a:latin typeface="Aptos"/>
                <a:ea typeface="Aptos"/>
                <a:cs typeface="Aptos"/>
              </a:rPr>
              <a:t>Trusted adapter publishes</a:t>
            </a:r>
          </a:p>
          <a:p xmlns:a="http://schemas.openxmlformats.org/drawingml/2006/main">
            <a:pPr>
              <a:buNone/>
              <a:defRPr sz="2250" b="0">
                <a:solidFill>
                  <a:srgbClr val="49616A"/>
                </a:solidFill>
                <a:latin typeface="Aptos"/>
                <a:ea typeface="Aptos"/>
                <a:cs typeface="Aptos"/>
              </a:defRPr>
            </a:pPr>
            <a:r>
              <a:rPr sz="2250" b="0">
                <a:solidFill>
                  <a:srgbClr val="49616A"/>
                </a:solidFill>
                <a:latin typeface="Aptos"/>
                <a:ea typeface="Aptos"/>
                <a:cs typeface="Aptos"/>
              </a:rPr>
              <a:t>Bounded follow-ups preserve context</a:t>
            </a:r>
          </a:p>
        </p:txBody>
      </p:sp>
      <p:sp>
        <p:nvSpPr>
          <p:cNvPr id="16" name="">
            <a:extLst xmlns:a="http://schemas.openxmlformats.org/drawingml/2006/main">
              <a:ext uri="{FF2B5EF4-FFF2-40B4-BE49-F238E27FC236}">
                <a16:creationId xmlns:a16="http://schemas.microsoft.com/office/drawing/2014/main" id="{A9ED2172-14D0-455D-A2D3-AF963514CDB2}"/>
              </a:ext>
            </a:extLst>
          </p:cNvPr>
          <p:cNvSpPr>
            <a:spLocks xmlns:a="http://schemas.openxmlformats.org/drawingml/2006/main" noGrp="1"/>
          </p:cNvSpPr>
          <p:nvPr/>
        </p:nvSpPr>
        <p:spPr>
          <a:xfrm xmlns:a="http://schemas.openxmlformats.org/drawingml/2006/main">
            <a:off x="571500" y="6572250"/>
            <a:ext cx="140970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100" b="0">
                <a:solidFill>
                  <a:srgbClr val="132E38"/>
                </a:solidFill>
                <a:latin typeface="Aptos"/>
                <a:ea typeface="Aptos"/>
                <a:cs typeface="Aptos"/>
              </a:defRPr>
            </a:defPPr>
          </a:lstStyle>
          <a:p xmlns:a="http://schemas.openxmlformats.org/drawingml/2006/main">
            <a:pPr>
              <a:buNone/>
              <a:defRPr sz="2100" b="0">
                <a:solidFill>
                  <a:srgbClr val="132E38"/>
                </a:solidFill>
                <a:latin typeface="Aptos"/>
                <a:ea typeface="Aptos"/>
                <a:cs typeface="Aptos"/>
              </a:defRPr>
            </a:pPr>
            <a:r>
              <a:rPr sz="2100" b="0">
                <a:solidFill>
                  <a:srgbClr val="132E38"/>
                </a:solidFill>
                <a:latin typeface="Aptos"/>
                <a:ea typeface="Aptos"/>
                <a:cs typeface="Aptos"/>
              </a:rPr>
              <a:t>Integrate through existing public execution contracts. Qualify runtime isolation and enrollment before live participation.</a:t>
            </a:r>
          </a:p>
        </p:txBody>
      </p:sp>
    </p:spTree>
    <p:extLst>
      <p:ext uri="{BB962C8B-B14F-4D97-AF65-F5344CB8AC3E}">
        <p14:creationId xmlns:p14="http://schemas.microsoft.com/office/powerpoint/2010/main" val="204132117"/>
      </p:ext>
    </p:extLst>
  </p:cSld>
</p:sld>
</file>

<file path=ppt/slides/slide6.xml><?xml version="1.0" encoding="utf-8"?>
<p:sld xmlns:p="http://schemas.openxmlformats.org/presentationml/2006/main">
  <p:cSld>
    <p:bg>
      <p:bgPr>
        <a:solidFill xmlns:a="http://schemas.openxmlformats.org/drawingml/2006/main">
          <a:srgbClr val="F6F5F0"/>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4ECA6908-0C5F-494D-8E37-4F50D6B7F590}"/>
              </a:ext>
            </a:extLst>
          </p:cNvPr>
          <p:cNvSpPr>
            <a:spLocks xmlns:a="http://schemas.openxmlformats.org/drawingml/2006/main" noGrp="1"/>
          </p:cNvSpPr>
          <p:nvPr/>
        </p:nvSpPr>
        <p:spPr>
          <a:xfrm xmlns:a="http://schemas.openxmlformats.org/drawingml/2006/main">
            <a:off x="571500" y="295275"/>
            <a:ext cx="9525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350" b="1">
                <a:solidFill>
                  <a:srgbClr val="157D80"/>
                </a:solidFill>
                <a:latin typeface="Aptos"/>
                <a:ea typeface="Aptos"/>
                <a:cs typeface="Aptos"/>
              </a:defRPr>
            </a:defPPr>
          </a:lstStyle>
          <a:p xmlns:a="http://schemas.openxmlformats.org/drawingml/2006/main">
            <a:pPr>
              <a:buNone/>
              <a:defRPr sz="1350" b="1">
                <a:solidFill>
                  <a:srgbClr val="157D80"/>
                </a:solidFill>
                <a:latin typeface="Aptos"/>
                <a:ea typeface="Aptos"/>
                <a:cs typeface="Aptos"/>
              </a:defRPr>
            </a:pPr>
            <a:r>
              <a:rPr sz="1350" b="1">
                <a:solidFill>
                  <a:srgbClr val="157D80"/>
                </a:solidFill>
                <a:latin typeface="Aptos"/>
                <a:ea typeface="Aptos"/>
                <a:cs typeface="Aptos"/>
              </a:rPr>
              <a:t>INERTIA / FORT WORTH DAO</a:t>
            </a:r>
          </a:p>
        </p:txBody>
      </p:sp>
      <p:sp>
        <p:nvSpPr>
          <p:cNvPr id="2" name="">
            <a:extLst xmlns:a="http://schemas.openxmlformats.org/drawingml/2006/main">
              <a:ext uri="{FF2B5EF4-FFF2-40B4-BE49-F238E27FC236}">
                <a16:creationId xmlns:a16="http://schemas.microsoft.com/office/drawing/2014/main" id="{DA08906D-7451-4BA2-8EE7-1AFFD273B74B}"/>
              </a:ext>
            </a:extLst>
          </p:cNvPr>
          <p:cNvSpPr>
            <a:spLocks xmlns:a="http://schemas.openxmlformats.org/drawingml/2006/main" noGrp="1"/>
          </p:cNvSpPr>
          <p:nvPr/>
        </p:nvSpPr>
        <p:spPr>
          <a:xfrm xmlns:a="http://schemas.openxmlformats.org/drawingml/2006/main">
            <a:off x="571500" y="723900"/>
            <a:ext cx="140970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3450" b="1">
                <a:solidFill>
                  <a:srgbClr val="132E38"/>
                </a:solidFill>
                <a:latin typeface="Aptos"/>
                <a:ea typeface="Aptos"/>
                <a:cs typeface="Aptos"/>
              </a:defRPr>
            </a:defPPr>
          </a:lstStyle>
          <a:p xmlns:a="http://schemas.openxmlformats.org/drawingml/2006/main">
            <a:pPr>
              <a:buNone/>
              <a:defRPr sz="3450" b="1">
                <a:solidFill>
                  <a:srgbClr val="132E38"/>
                </a:solidFill>
                <a:latin typeface="Aptos"/>
                <a:ea typeface="Aptos"/>
                <a:cs typeface="Aptos"/>
              </a:defRPr>
            </a:pPr>
            <a:r>
              <a:rPr sz="3450" b="1">
                <a:solidFill>
                  <a:srgbClr val="132E38"/>
                </a:solidFill>
                <a:latin typeface="Aptos"/>
                <a:ea typeface="Aptos"/>
                <a:cs typeface="Aptos"/>
              </a:rPr>
              <a:t>Reliable operation without babysitting</a:t>
            </a:r>
          </a:p>
        </p:txBody>
      </p:sp>
      <p:sp>
        <p:nvSpPr>
          <p:cNvPr id="3" name="">
            <a:extLst xmlns:a="http://schemas.openxmlformats.org/drawingml/2006/main">
              <a:ext uri="{FF2B5EF4-FFF2-40B4-BE49-F238E27FC236}">
                <a16:creationId xmlns:a16="http://schemas.microsoft.com/office/drawing/2014/main" id="{098446B2-A9A7-4DB0-BFFB-B219131CE2FC}"/>
              </a:ext>
            </a:extLst>
          </p:cNvPr>
          <p:cNvSpPr>
            <a:spLocks xmlns:a="http://schemas.openxmlformats.org/drawingml/2006/main" noGrp="1"/>
          </p:cNvSpPr>
          <p:nvPr/>
        </p:nvSpPr>
        <p:spPr>
          <a:xfrm xmlns:a="http://schemas.openxmlformats.org/drawingml/2006/main">
            <a:off x="571500" y="1362075"/>
            <a:ext cx="140970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00" b="0">
                <a:solidFill>
                  <a:srgbClr val="49616A"/>
                </a:solidFill>
                <a:latin typeface="Aptos"/>
                <a:ea typeface="Aptos"/>
                <a:cs typeface="Aptos"/>
              </a:defRPr>
            </a:defPPr>
          </a:lstStyle>
          <a:p xmlns:a="http://schemas.openxmlformats.org/drawingml/2006/main">
            <a:pPr>
              <a:buNone/>
              <a:defRPr sz="1800" b="0">
                <a:solidFill>
                  <a:srgbClr val="49616A"/>
                </a:solidFill>
                <a:latin typeface="Aptos"/>
                <a:ea typeface="Aptos"/>
                <a:cs typeface="Aptos"/>
              </a:defRPr>
            </a:pPr>
            <a:r>
              <a:rPr sz="1800" b="0">
                <a:solidFill>
                  <a:srgbClr val="49616A"/>
                </a:solidFill>
                <a:latin typeface="Aptos"/>
                <a:ea typeface="Aptos"/>
                <a:cs typeface="Aptos"/>
              </a:rPr>
              <a:t>One-time pairing and configuration support automatic normal work and recovery.</a:t>
            </a:r>
          </a:p>
        </p:txBody>
      </p:sp>
      <p:sp>
        <p:nvSpPr>
          <p:cNvPr id="4" name="">
            <a:extLst xmlns:a="http://schemas.openxmlformats.org/drawingml/2006/main">
              <a:ext uri="{FF2B5EF4-FFF2-40B4-BE49-F238E27FC236}">
                <a16:creationId xmlns:a16="http://schemas.microsoft.com/office/drawing/2014/main" id="{B28AA077-B11C-4848-A968-11FA6A0A46D4}"/>
              </a:ext>
            </a:extLst>
          </p:cNvPr>
          <p:cNvSpPr>
            <a:spLocks xmlns:a="http://schemas.openxmlformats.org/drawingml/2006/main" noGrp="1"/>
          </p:cNvSpPr>
          <p:nvPr/>
        </p:nvSpPr>
        <p:spPr>
          <a:xfrm xmlns:a="http://schemas.openxmlformats.org/drawingml/2006/main">
            <a:off x="571500" y="7962900"/>
            <a:ext cx="14097000" cy="9525"/>
          </a:xfrm>
          <a:prstGeom xmlns:a="http://schemas.openxmlformats.org/drawingml/2006/main" prst="rect">
            <a:avLst/>
          </a:prstGeom>
          <a:solidFill xmlns:a="http://schemas.openxmlformats.org/drawingml/2006/main">
            <a:srgbClr val="B9C9C7"/>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8B927C7B-43DD-406E-998A-30B6075D238A}"/>
              </a:ext>
            </a:extLst>
          </p:cNvPr>
          <p:cNvSpPr>
            <a:spLocks xmlns:a="http://schemas.openxmlformats.org/drawingml/2006/main" noGrp="1"/>
          </p:cNvSpPr>
          <p:nvPr/>
        </p:nvSpPr>
        <p:spPr>
          <a:xfrm xmlns:a="http://schemas.openxmlformats.org/drawingml/2006/main">
            <a:off x="571500" y="8105775"/>
            <a:ext cx="13144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275" b="0">
                <a:solidFill>
                  <a:srgbClr val="49616A"/>
                </a:solidFill>
                <a:latin typeface="Aptos"/>
                <a:ea typeface="Aptos"/>
                <a:cs typeface="Aptos"/>
              </a:defRPr>
            </a:defPPr>
          </a:lstStyle>
          <a:p xmlns:a="http://schemas.openxmlformats.org/drawingml/2006/main">
            <a:pPr>
              <a:buNone/>
              <a:defRPr sz="1275" b="0">
                <a:solidFill>
                  <a:srgbClr val="49616A"/>
                </a:solidFill>
                <a:latin typeface="Aptos"/>
                <a:ea typeface="Aptos"/>
                <a:cs typeface="Aptos"/>
              </a:defRPr>
            </a:pPr>
            <a:r>
              <a:rPr sz="1275" b="0">
                <a:solidFill>
                  <a:srgbClr val="49616A"/>
                </a:solidFill>
                <a:latin typeface="Aptos"/>
                <a:ea typeface="Aptos"/>
                <a:cs typeface="Aptos"/>
              </a:rPr>
              <a:t>INERTIA-2026-10-23-r9 · 23 October 2026 · Autonomous build</a:t>
            </a:r>
          </a:p>
        </p:txBody>
      </p:sp>
      <p:sp>
        <p:nvSpPr>
          <p:cNvPr id="6" name="">
            <a:extLst xmlns:a="http://schemas.openxmlformats.org/drawingml/2006/main">
              <a:ext uri="{FF2B5EF4-FFF2-40B4-BE49-F238E27FC236}">
                <a16:creationId xmlns:a16="http://schemas.microsoft.com/office/drawing/2014/main" id="{5BB58851-73DB-4E6F-B57A-89EA103CF554}"/>
              </a:ext>
            </a:extLst>
          </p:cNvPr>
          <p:cNvSpPr>
            <a:spLocks xmlns:a="http://schemas.openxmlformats.org/drawingml/2006/main" noGrp="1"/>
          </p:cNvSpPr>
          <p:nvPr/>
        </p:nvSpPr>
        <p:spPr>
          <a:xfrm xmlns:a="http://schemas.openxmlformats.org/drawingml/2006/main">
            <a:off x="14001750" y="8067675"/>
            <a:ext cx="666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00" b="1">
                <a:solidFill>
                  <a:srgbClr val="157D80"/>
                </a:solidFill>
                <a:latin typeface="Aptos"/>
                <a:ea typeface="Aptos"/>
                <a:cs typeface="Aptos"/>
              </a:defRPr>
            </a:defPPr>
          </a:lstStyle>
          <a:p xmlns:a="http://schemas.openxmlformats.org/drawingml/2006/main">
            <a:pPr>
              <a:buNone/>
              <a:defRPr sz="1800" b="1">
                <a:solidFill>
                  <a:srgbClr val="157D80"/>
                </a:solidFill>
                <a:latin typeface="Aptos"/>
                <a:ea typeface="Aptos"/>
                <a:cs typeface="Aptos"/>
              </a:defRPr>
            </a:pPr>
            <a:r>
              <a:rPr sz="1800" b="1">
                <a:solidFill>
                  <a:srgbClr val="157D80"/>
                </a:solidFill>
                <a:latin typeface="Aptos"/>
                <a:ea typeface="Aptos"/>
                <a:cs typeface="Aptos"/>
              </a:rPr>
              <a:t>06</a:t>
            </a:r>
          </a:p>
        </p:txBody>
      </p:sp>
      <p:sp>
        <p:nvSpPr>
          <p:cNvPr id="7" name="">
            <a:extLst xmlns:a="http://schemas.openxmlformats.org/drawingml/2006/main">
              <a:ext uri="{FF2B5EF4-FFF2-40B4-BE49-F238E27FC236}">
                <a16:creationId xmlns:a16="http://schemas.microsoft.com/office/drawing/2014/main" id="{55581CA9-0659-487C-A0A4-5EC597FA957D}"/>
              </a:ext>
            </a:extLst>
          </p:cNvPr>
          <p:cNvSpPr>
            <a:spLocks xmlns:a="http://schemas.openxmlformats.org/drawingml/2006/main" noGrp="1"/>
          </p:cNvSpPr>
          <p:nvPr/>
        </p:nvSpPr>
        <p:spPr>
          <a:xfrm xmlns:a="http://schemas.openxmlformats.org/drawingml/2006/main">
            <a:off x="571500" y="2381250"/>
            <a:ext cx="4476750" cy="3619500"/>
          </a:xfrm>
          <a:prstGeom xmlns:a="http://schemas.openxmlformats.org/drawingml/2006/main" prst="rect">
            <a:avLst/>
          </a:prstGeom>
          <a:solidFill xmlns:a="http://schemas.openxmlformats.org/drawingml/2006/main">
            <a:srgbClr val="FFFFFF"/>
          </a:solidFill>
          <a:ln xmlns:a="http://schemas.openxmlformats.org/drawingml/2006/main" w="19050">
            <a:solidFill>
              <a:srgbClr val="157D80"/>
            </a:solidFill>
            <a:prstDash val="dash"/>
          </a:ln>
        </p:spPr>
      </p:sp>
      <p:sp>
        <p:nvSpPr>
          <p:cNvPr id="8" name="">
            <a:extLst xmlns:a="http://schemas.openxmlformats.org/drawingml/2006/main">
              <a:ext uri="{FF2B5EF4-FFF2-40B4-BE49-F238E27FC236}">
                <a16:creationId xmlns:a16="http://schemas.microsoft.com/office/drawing/2014/main" id="{07AF1F00-7C90-4503-A9CE-9436544F8EE1}"/>
              </a:ext>
            </a:extLst>
          </p:cNvPr>
          <p:cNvSpPr>
            <a:spLocks xmlns:a="http://schemas.openxmlformats.org/drawingml/2006/main" noGrp="1"/>
          </p:cNvSpPr>
          <p:nvPr/>
        </p:nvSpPr>
        <p:spPr>
          <a:xfrm xmlns:a="http://schemas.openxmlformats.org/drawingml/2006/main">
            <a:off x="742950" y="2514600"/>
            <a:ext cx="41338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1">
                <a:solidFill>
                  <a:srgbClr val="157D80"/>
                </a:solidFill>
                <a:latin typeface="Aptos"/>
                <a:ea typeface="Aptos"/>
                <a:cs typeface="Aptos"/>
              </a:defRPr>
            </a:defPPr>
          </a:lstStyle>
          <a:p xmlns:a="http://schemas.openxmlformats.org/drawingml/2006/main">
            <a:pPr>
              <a:buNone/>
              <a:defRPr sz="1875" b="1">
                <a:solidFill>
                  <a:srgbClr val="157D80"/>
                </a:solidFill>
                <a:latin typeface="Aptos"/>
                <a:ea typeface="Aptos"/>
                <a:cs typeface="Aptos"/>
              </a:defRPr>
            </a:pPr>
            <a:r>
              <a:rPr sz="1875" b="1">
                <a:solidFill>
                  <a:srgbClr val="157D80"/>
                </a:solidFill>
                <a:latin typeface="Aptos"/>
                <a:ea typeface="Aptos"/>
                <a:cs typeface="Aptos"/>
              </a:rPr>
              <a:t>Configure once</a:t>
            </a:r>
          </a:p>
        </p:txBody>
      </p:sp>
      <p:sp>
        <p:nvSpPr>
          <p:cNvPr id="9" name="">
            <a:extLst xmlns:a="http://schemas.openxmlformats.org/drawingml/2006/main">
              <a:ext uri="{FF2B5EF4-FFF2-40B4-BE49-F238E27FC236}">
                <a16:creationId xmlns:a16="http://schemas.microsoft.com/office/drawing/2014/main" id="{D02F411D-1D3A-4868-8541-42DE864F4EB5}"/>
              </a:ext>
            </a:extLst>
          </p:cNvPr>
          <p:cNvSpPr>
            <a:spLocks xmlns:a="http://schemas.openxmlformats.org/drawingml/2006/main" noGrp="1"/>
          </p:cNvSpPr>
          <p:nvPr/>
        </p:nvSpPr>
        <p:spPr>
          <a:xfrm xmlns:a="http://schemas.openxmlformats.org/drawingml/2006/main">
            <a:off x="742950" y="3048000"/>
            <a:ext cx="4133850" cy="2876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0">
                <a:solidFill>
                  <a:srgbClr val="49616A"/>
                </a:solidFill>
                <a:latin typeface="Aptos"/>
                <a:ea typeface="Aptos"/>
                <a:cs typeface="Aptos"/>
              </a:defRPr>
            </a:defPPr>
          </a:lstStyle>
          <a:p xmlns:a="http://schemas.openxmlformats.org/drawingml/2006/main">
            <a:pPr>
              <a:buNone/>
              <a:defRPr sz="2250" b="0">
                <a:solidFill>
                  <a:srgbClr val="49616A"/>
                </a:solidFill>
                <a:latin typeface="Aptos"/>
                <a:ea typeface="Aptos"/>
                <a:cs typeface="Aptos"/>
              </a:defRPr>
            </a:pPr>
            <a:r>
              <a:rPr sz="2250" b="0">
                <a:solidFill>
                  <a:srgbClr val="49616A"/>
                </a:solidFill>
                <a:latin typeface="Aptos"/>
                <a:ea typeface="Aptos"/>
                <a:cs typeface="Aptos"/>
              </a:rPr>
              <a:t>Private authenticated host</a:t>
            </a:r>
          </a:p>
          <a:p xmlns:a="http://schemas.openxmlformats.org/drawingml/2006/main">
            <a:pPr>
              <a:buNone/>
              <a:defRPr sz="2250" b="0">
                <a:solidFill>
                  <a:srgbClr val="49616A"/>
                </a:solidFill>
                <a:latin typeface="Aptos"/>
                <a:ea typeface="Aptos"/>
                <a:cs typeface="Aptos"/>
              </a:defRPr>
            </a:pPr>
            <a:r>
              <a:rPr sz="2250" b="0">
                <a:solidFill>
                  <a:srgbClr val="49616A"/>
                </a:solidFill>
                <a:latin typeface="Aptos"/>
                <a:ea typeface="Aptos"/>
                <a:cs typeface="Aptos"/>
              </a:rPr>
              <a:t>Durable database and backups</a:t>
            </a:r>
          </a:p>
          <a:p xmlns:a="http://schemas.openxmlformats.org/drawingml/2006/main">
            <a:pPr>
              <a:buNone/>
              <a:defRPr sz="2250" b="0">
                <a:solidFill>
                  <a:srgbClr val="49616A"/>
                </a:solidFill>
                <a:latin typeface="Aptos"/>
                <a:ea typeface="Aptos"/>
                <a:cs typeface="Aptos"/>
              </a:defRPr>
            </a:pPr>
            <a:r>
              <a:rPr sz="2250" b="0">
                <a:solidFill>
                  <a:srgbClr val="49616A"/>
                </a:solidFill>
                <a:latin typeface="Aptos"/>
                <a:ea typeface="Aptos"/>
                <a:cs typeface="Aptos"/>
              </a:rPr>
              <a:t>Approved relay and pairing</a:t>
            </a:r>
          </a:p>
          <a:p xmlns:a="http://schemas.openxmlformats.org/drawingml/2006/main">
            <a:pPr>
              <a:buNone/>
              <a:defRPr sz="2250" b="0">
                <a:solidFill>
                  <a:srgbClr val="49616A"/>
                </a:solidFill>
                <a:latin typeface="Aptos"/>
                <a:ea typeface="Aptos"/>
                <a:cs typeface="Aptos"/>
              </a:defRPr>
            </a:pPr>
            <a:r>
              <a:rPr sz="2250" b="0">
                <a:solidFill>
                  <a:srgbClr val="49616A"/>
                </a:solidFill>
                <a:latin typeface="Aptos"/>
                <a:ea typeface="Aptos"/>
                <a:cs typeface="Aptos"/>
              </a:rPr>
              <a:t>Validate while disabled</a:t>
            </a:r>
          </a:p>
        </p:txBody>
      </p:sp>
      <p:sp>
        <p:nvSpPr>
          <p:cNvPr id="10" name="">
            <a:extLst xmlns:a="http://schemas.openxmlformats.org/drawingml/2006/main">
              <a:ext uri="{FF2B5EF4-FFF2-40B4-BE49-F238E27FC236}">
                <a16:creationId xmlns:a16="http://schemas.microsoft.com/office/drawing/2014/main" id="{1DB3F7D5-698C-41DB-88E9-9FFE9FC45EAB}"/>
              </a:ext>
            </a:extLst>
          </p:cNvPr>
          <p:cNvSpPr>
            <a:spLocks xmlns:a="http://schemas.openxmlformats.org/drawingml/2006/main" noGrp="1"/>
          </p:cNvSpPr>
          <p:nvPr/>
        </p:nvSpPr>
        <p:spPr>
          <a:xfrm xmlns:a="http://schemas.openxmlformats.org/drawingml/2006/main">
            <a:off x="5381625" y="2381250"/>
            <a:ext cx="4476750" cy="3619500"/>
          </a:xfrm>
          <a:prstGeom xmlns:a="http://schemas.openxmlformats.org/drawingml/2006/main" prst="rect">
            <a:avLst/>
          </a:prstGeom>
          <a:solidFill xmlns:a="http://schemas.openxmlformats.org/drawingml/2006/main">
            <a:srgbClr val="FFFFFF"/>
          </a:solidFill>
          <a:ln xmlns:a="http://schemas.openxmlformats.org/drawingml/2006/main" w="19050">
            <a:solidFill>
              <a:srgbClr val="157D80"/>
            </a:solidFill>
            <a:prstDash val="dash"/>
          </a:ln>
        </p:spPr>
      </p:sp>
      <p:sp>
        <p:nvSpPr>
          <p:cNvPr id="11" name="">
            <a:extLst xmlns:a="http://schemas.openxmlformats.org/drawingml/2006/main">
              <a:ext uri="{FF2B5EF4-FFF2-40B4-BE49-F238E27FC236}">
                <a16:creationId xmlns:a16="http://schemas.microsoft.com/office/drawing/2014/main" id="{052D0783-38CD-4CCA-8286-76246F4DFFD8}"/>
              </a:ext>
            </a:extLst>
          </p:cNvPr>
          <p:cNvSpPr>
            <a:spLocks xmlns:a="http://schemas.openxmlformats.org/drawingml/2006/main" noGrp="1"/>
          </p:cNvSpPr>
          <p:nvPr/>
        </p:nvSpPr>
        <p:spPr>
          <a:xfrm xmlns:a="http://schemas.openxmlformats.org/drawingml/2006/main">
            <a:off x="5553075" y="2514600"/>
            <a:ext cx="41338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1">
                <a:solidFill>
                  <a:srgbClr val="157D80"/>
                </a:solidFill>
                <a:latin typeface="Aptos"/>
                <a:ea typeface="Aptos"/>
                <a:cs typeface="Aptos"/>
              </a:defRPr>
            </a:defPPr>
          </a:lstStyle>
          <a:p xmlns:a="http://schemas.openxmlformats.org/drawingml/2006/main">
            <a:pPr>
              <a:buNone/>
              <a:defRPr sz="1875" b="1">
                <a:solidFill>
                  <a:srgbClr val="157D80"/>
                </a:solidFill>
                <a:latin typeface="Aptos"/>
                <a:ea typeface="Aptos"/>
                <a:cs typeface="Aptos"/>
              </a:defRPr>
            </a:pPr>
            <a:r>
              <a:rPr sz="1875" b="1">
                <a:solidFill>
                  <a:srgbClr val="157D80"/>
                </a:solidFill>
                <a:latin typeface="Aptos"/>
                <a:ea typeface="Aptos"/>
                <a:cs typeface="Aptos"/>
              </a:rPr>
              <a:t>Recover automatically</a:t>
            </a:r>
          </a:p>
        </p:txBody>
      </p:sp>
      <p:sp>
        <p:nvSpPr>
          <p:cNvPr id="12" name="">
            <a:extLst xmlns:a="http://schemas.openxmlformats.org/drawingml/2006/main">
              <a:ext uri="{FF2B5EF4-FFF2-40B4-BE49-F238E27FC236}">
                <a16:creationId xmlns:a16="http://schemas.microsoft.com/office/drawing/2014/main" id="{A271BE8C-5870-434A-8438-5F2B10EE9935}"/>
              </a:ext>
            </a:extLst>
          </p:cNvPr>
          <p:cNvSpPr>
            <a:spLocks xmlns:a="http://schemas.openxmlformats.org/drawingml/2006/main" noGrp="1"/>
          </p:cNvSpPr>
          <p:nvPr/>
        </p:nvSpPr>
        <p:spPr>
          <a:xfrm xmlns:a="http://schemas.openxmlformats.org/drawingml/2006/main">
            <a:off x="5553075" y="3048000"/>
            <a:ext cx="4133850" cy="2876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0">
                <a:solidFill>
                  <a:srgbClr val="49616A"/>
                </a:solidFill>
                <a:latin typeface="Aptos"/>
                <a:ea typeface="Aptos"/>
                <a:cs typeface="Aptos"/>
              </a:defRPr>
            </a:defPPr>
          </a:lstStyle>
          <a:p xmlns:a="http://schemas.openxmlformats.org/drawingml/2006/main">
            <a:pPr>
              <a:buNone/>
              <a:defRPr sz="2250" b="0">
                <a:solidFill>
                  <a:srgbClr val="49616A"/>
                </a:solidFill>
                <a:latin typeface="Aptos"/>
                <a:ea typeface="Aptos"/>
                <a:cs typeface="Aptos"/>
              </a:defRPr>
            </a:pPr>
            <a:r>
              <a:rPr sz="2250" b="0">
                <a:solidFill>
                  <a:srgbClr val="49616A"/>
                </a:solidFill>
                <a:latin typeface="Aptos"/>
                <a:ea typeface="Aptos"/>
                <a:cs typeface="Aptos"/>
              </a:rPr>
              <a:t>Persist receipts and checkpoints</a:t>
            </a:r>
          </a:p>
          <a:p xmlns:a="http://schemas.openxmlformats.org/drawingml/2006/main">
            <a:pPr>
              <a:buNone/>
              <a:defRPr sz="2250" b="0">
                <a:solidFill>
                  <a:srgbClr val="49616A"/>
                </a:solidFill>
                <a:latin typeface="Aptos"/>
                <a:ea typeface="Aptos"/>
                <a:cs typeface="Aptos"/>
              </a:defRPr>
            </a:pPr>
            <a:r>
              <a:rPr sz="2250" b="0">
                <a:solidFill>
                  <a:srgbClr val="49616A"/>
                </a:solidFill>
                <a:latin typeface="Aptos"/>
                <a:ea typeface="Aptos"/>
                <a:cs typeface="Aptos"/>
              </a:rPr>
              <a:t>Retry the same signed event</a:t>
            </a:r>
          </a:p>
          <a:p xmlns:a="http://schemas.openxmlformats.org/drawingml/2006/main">
            <a:pPr>
              <a:buNone/>
              <a:defRPr sz="2250" b="0">
                <a:solidFill>
                  <a:srgbClr val="49616A"/>
                </a:solidFill>
                <a:latin typeface="Aptos"/>
                <a:ea typeface="Aptos"/>
                <a:cs typeface="Aptos"/>
              </a:defRPr>
            </a:pPr>
            <a:r>
              <a:rPr sz="2250" b="0">
                <a:solidFill>
                  <a:srgbClr val="49616A"/>
                </a:solidFill>
                <a:latin typeface="Aptos"/>
                <a:ea typeface="Aptos"/>
                <a:cs typeface="Aptos"/>
              </a:rPr>
              <a:t>Respect server retry timing</a:t>
            </a:r>
          </a:p>
          <a:p xmlns:a="http://schemas.openxmlformats.org/drawingml/2006/main">
            <a:pPr>
              <a:buNone/>
              <a:defRPr sz="2250" b="0">
                <a:solidFill>
                  <a:srgbClr val="49616A"/>
                </a:solidFill>
                <a:latin typeface="Aptos"/>
                <a:ea typeface="Aptos"/>
                <a:cs typeface="Aptos"/>
              </a:defRPr>
            </a:pPr>
            <a:r>
              <a:rPr sz="2250" b="0">
                <a:solidFill>
                  <a:srgbClr val="49616A"/>
                </a:solidFill>
                <a:latin typeface="Aptos"/>
                <a:ea typeface="Aptos"/>
                <a:cs typeface="Aptos"/>
              </a:rPr>
              <a:t>Reconcile uncertain writes first</a:t>
            </a:r>
          </a:p>
        </p:txBody>
      </p:sp>
      <p:sp>
        <p:nvSpPr>
          <p:cNvPr id="13" name="">
            <a:extLst xmlns:a="http://schemas.openxmlformats.org/drawingml/2006/main">
              <a:ext uri="{FF2B5EF4-FFF2-40B4-BE49-F238E27FC236}">
                <a16:creationId xmlns:a16="http://schemas.microsoft.com/office/drawing/2014/main" id="{B698E0E1-3059-4971-9916-4D45215F8DE8}"/>
              </a:ext>
            </a:extLst>
          </p:cNvPr>
          <p:cNvSpPr>
            <a:spLocks xmlns:a="http://schemas.openxmlformats.org/drawingml/2006/main" noGrp="1"/>
          </p:cNvSpPr>
          <p:nvPr/>
        </p:nvSpPr>
        <p:spPr>
          <a:xfrm xmlns:a="http://schemas.openxmlformats.org/drawingml/2006/main">
            <a:off x="10191750" y="2381250"/>
            <a:ext cx="4476750" cy="3619500"/>
          </a:xfrm>
          <a:prstGeom xmlns:a="http://schemas.openxmlformats.org/drawingml/2006/main" prst="rect">
            <a:avLst/>
          </a:prstGeom>
          <a:solidFill xmlns:a="http://schemas.openxmlformats.org/drawingml/2006/main">
            <a:srgbClr val="FFFFFF"/>
          </a:solidFill>
          <a:ln xmlns:a="http://schemas.openxmlformats.org/drawingml/2006/main" w="19050">
            <a:solidFill>
              <a:srgbClr val="157D80"/>
            </a:solidFill>
            <a:prstDash val="dash"/>
          </a:ln>
        </p:spPr>
      </p:sp>
      <p:sp>
        <p:nvSpPr>
          <p:cNvPr id="14" name="">
            <a:extLst xmlns:a="http://schemas.openxmlformats.org/drawingml/2006/main">
              <a:ext uri="{FF2B5EF4-FFF2-40B4-BE49-F238E27FC236}">
                <a16:creationId xmlns:a16="http://schemas.microsoft.com/office/drawing/2014/main" id="{319ECE07-EEBC-4DFC-A69B-280E4BD51502}"/>
              </a:ext>
            </a:extLst>
          </p:cNvPr>
          <p:cNvSpPr>
            <a:spLocks xmlns:a="http://schemas.openxmlformats.org/drawingml/2006/main" noGrp="1"/>
          </p:cNvSpPr>
          <p:nvPr/>
        </p:nvSpPr>
        <p:spPr>
          <a:xfrm xmlns:a="http://schemas.openxmlformats.org/drawingml/2006/main">
            <a:off x="10363200" y="2514600"/>
            <a:ext cx="41338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1">
                <a:solidFill>
                  <a:srgbClr val="157D80"/>
                </a:solidFill>
                <a:latin typeface="Aptos"/>
                <a:ea typeface="Aptos"/>
                <a:cs typeface="Aptos"/>
              </a:defRPr>
            </a:defPPr>
          </a:lstStyle>
          <a:p xmlns:a="http://schemas.openxmlformats.org/drawingml/2006/main">
            <a:pPr>
              <a:buNone/>
              <a:defRPr sz="1875" b="1">
                <a:solidFill>
                  <a:srgbClr val="157D80"/>
                </a:solidFill>
                <a:latin typeface="Aptos"/>
                <a:ea typeface="Aptos"/>
                <a:cs typeface="Aptos"/>
              </a:defRPr>
            </a:pPr>
            <a:r>
              <a:rPr sz="1875" b="1">
                <a:solidFill>
                  <a:srgbClr val="157D80"/>
                </a:solidFill>
                <a:latin typeface="Aptos"/>
                <a:ea typeface="Aptos"/>
                <a:cs typeface="Aptos"/>
              </a:rPr>
              <a:t>Show what matters</a:t>
            </a:r>
          </a:p>
        </p:txBody>
      </p:sp>
      <p:sp>
        <p:nvSpPr>
          <p:cNvPr id="15" name="">
            <a:extLst xmlns:a="http://schemas.openxmlformats.org/drawingml/2006/main">
              <a:ext uri="{FF2B5EF4-FFF2-40B4-BE49-F238E27FC236}">
                <a16:creationId xmlns:a16="http://schemas.microsoft.com/office/drawing/2014/main" id="{1823D53F-79D7-4286-A48B-4D0F116BA8C8}"/>
              </a:ext>
            </a:extLst>
          </p:cNvPr>
          <p:cNvSpPr>
            <a:spLocks xmlns:a="http://schemas.openxmlformats.org/drawingml/2006/main" noGrp="1"/>
          </p:cNvSpPr>
          <p:nvPr/>
        </p:nvSpPr>
        <p:spPr>
          <a:xfrm xmlns:a="http://schemas.openxmlformats.org/drawingml/2006/main">
            <a:off x="10363200" y="3048000"/>
            <a:ext cx="4133850" cy="2876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0">
                <a:solidFill>
                  <a:srgbClr val="49616A"/>
                </a:solidFill>
                <a:latin typeface="Aptos"/>
                <a:ea typeface="Aptos"/>
                <a:cs typeface="Aptos"/>
              </a:defRPr>
            </a:defPPr>
          </a:lstStyle>
          <a:p xmlns:a="http://schemas.openxmlformats.org/drawingml/2006/main">
            <a:pPr>
              <a:buNone/>
              <a:defRPr sz="2250" b="0">
                <a:solidFill>
                  <a:srgbClr val="49616A"/>
                </a:solidFill>
                <a:latin typeface="Aptos"/>
                <a:ea typeface="Aptos"/>
                <a:cs typeface="Aptos"/>
              </a:defRPr>
            </a:pPr>
            <a:r>
              <a:rPr sz="2250" b="0">
                <a:solidFill>
                  <a:srgbClr val="49616A"/>
                </a:solidFill>
                <a:latin typeface="Aptos"/>
                <a:ea typeface="Aptos"/>
                <a:cs typeface="Aptos"/>
              </a:rPr>
              <a:t>Useful same-thread results</a:t>
            </a:r>
          </a:p>
          <a:p xmlns:a="http://schemas.openxmlformats.org/drawingml/2006/main">
            <a:pPr>
              <a:buNone/>
              <a:defRPr sz="2250" b="0">
                <a:solidFill>
                  <a:srgbClr val="49616A"/>
                </a:solidFill>
                <a:latin typeface="Aptos"/>
                <a:ea typeface="Aptos"/>
                <a:cs typeface="Aptos"/>
              </a:defRPr>
            </a:pPr>
            <a:r>
              <a:rPr sz="2250" b="0">
                <a:solidFill>
                  <a:srgbClr val="49616A"/>
                </a:solidFill>
                <a:latin typeface="Aptos"/>
                <a:ea typeface="Aptos"/>
                <a:cs typeface="Aptos"/>
              </a:rPr>
              <a:t>Backlog and last successful sync</a:t>
            </a:r>
          </a:p>
          <a:p xmlns:a="http://schemas.openxmlformats.org/drawingml/2006/main">
            <a:pPr>
              <a:buNone/>
              <a:defRPr sz="2250" b="0">
                <a:solidFill>
                  <a:srgbClr val="49616A"/>
                </a:solidFill>
                <a:latin typeface="Aptos"/>
                <a:ea typeface="Aptos"/>
                <a:cs typeface="Aptos"/>
              </a:defRPr>
            </a:pPr>
            <a:r>
              <a:rPr sz="2250" b="0">
                <a:solidFill>
                  <a:srgbClr val="49616A"/>
                </a:solidFill>
                <a:latin typeface="Aptos"/>
                <a:ea typeface="Aptos"/>
                <a:cs typeface="Aptos"/>
              </a:rPr>
              <a:t>Clear permanent setup errors</a:t>
            </a:r>
          </a:p>
          <a:p xmlns:a="http://schemas.openxmlformats.org/drawingml/2006/main">
            <a:pPr>
              <a:buNone/>
              <a:defRPr sz="2250" b="0">
                <a:solidFill>
                  <a:srgbClr val="49616A"/>
                </a:solidFill>
                <a:latin typeface="Aptos"/>
                <a:ea typeface="Aptos"/>
                <a:cs typeface="Aptos"/>
              </a:defRPr>
            </a:pPr>
            <a:r>
              <a:rPr sz="2250" b="0">
                <a:solidFill>
                  <a:srgbClr val="49616A"/>
                </a:solidFill>
                <a:latin typeface="Aptos"/>
                <a:ea typeface="Aptos"/>
                <a:cs typeface="Aptos"/>
              </a:rPr>
              <a:t>Native UI for complex decisions</a:t>
            </a:r>
          </a:p>
        </p:txBody>
      </p:sp>
      <p:sp>
        <p:nvSpPr>
          <p:cNvPr id="16" name="">
            <a:extLst xmlns:a="http://schemas.openxmlformats.org/drawingml/2006/main">
              <a:ext uri="{FF2B5EF4-FFF2-40B4-BE49-F238E27FC236}">
                <a16:creationId xmlns:a16="http://schemas.microsoft.com/office/drawing/2014/main" id="{AF4115EA-0035-4234-AB15-465CC631EDCE}"/>
              </a:ext>
            </a:extLst>
          </p:cNvPr>
          <p:cNvSpPr>
            <a:spLocks xmlns:a="http://schemas.openxmlformats.org/drawingml/2006/main" noGrp="1"/>
          </p:cNvSpPr>
          <p:nvPr/>
        </p:nvSpPr>
        <p:spPr>
          <a:xfrm xmlns:a="http://schemas.openxmlformats.org/drawingml/2006/main">
            <a:off x="571500" y="6572250"/>
            <a:ext cx="140970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100" b="0">
                <a:solidFill>
                  <a:srgbClr val="132E38"/>
                </a:solidFill>
                <a:latin typeface="Aptos"/>
                <a:ea typeface="Aptos"/>
                <a:cs typeface="Aptos"/>
              </a:defRPr>
            </a:defPPr>
          </a:lstStyle>
          <a:p xmlns:a="http://schemas.openxmlformats.org/drawingml/2006/main">
            <a:pPr>
              <a:buNone/>
              <a:defRPr sz="2100" b="0">
                <a:solidFill>
                  <a:srgbClr val="132E38"/>
                </a:solidFill>
                <a:latin typeface="Aptos"/>
                <a:ea typeface="Aptos"/>
                <a:cs typeface="Aptos"/>
              </a:defRPr>
            </a:pPr>
            <a:r>
              <a:rPr sz="2100" b="0">
                <a:solidFill>
                  <a:srgbClr val="132E38"/>
                </a:solidFill>
                <a:latin typeface="Aptos"/>
                <a:ea typeface="Aptos"/>
                <a:cs typeface="Aptos"/>
              </a:rPr>
              <a:t>Native comments stay default-off, audience-approved and history-bounded. Uncertain claims need stopped-worker recovery.</a:t>
            </a:r>
          </a:p>
        </p:txBody>
      </p:sp>
    </p:spTree>
    <p:extLst>
      <p:ext uri="{BB962C8B-B14F-4D97-AF65-F5344CB8AC3E}">
        <p14:creationId xmlns:p14="http://schemas.microsoft.com/office/powerpoint/2010/main" val="1558554149"/>
      </p:ext>
    </p:extLst>
  </p:cSld>
</p:sld>
</file>

<file path=ppt/slides/slide7.xml><?xml version="1.0" encoding="utf-8"?>
<p:sld xmlns:p="http://schemas.openxmlformats.org/presentationml/2006/main">
  <p:cSld>
    <p:bg>
      <p:bgPr>
        <a:solidFill xmlns:a="http://schemas.openxmlformats.org/drawingml/2006/main">
          <a:srgbClr val="F6F5F0"/>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6BDD18E3-0173-4FF7-BCD6-06267BFFE6C7}"/>
              </a:ext>
            </a:extLst>
          </p:cNvPr>
          <p:cNvSpPr>
            <a:spLocks xmlns:a="http://schemas.openxmlformats.org/drawingml/2006/main" noGrp="1"/>
          </p:cNvSpPr>
          <p:nvPr/>
        </p:nvSpPr>
        <p:spPr>
          <a:xfrm xmlns:a="http://schemas.openxmlformats.org/drawingml/2006/main">
            <a:off x="571500" y="295275"/>
            <a:ext cx="9525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350" b="1">
                <a:solidFill>
                  <a:srgbClr val="157D80"/>
                </a:solidFill>
                <a:latin typeface="Aptos"/>
                <a:ea typeface="Aptos"/>
                <a:cs typeface="Aptos"/>
              </a:defRPr>
            </a:defPPr>
          </a:lstStyle>
          <a:p xmlns:a="http://schemas.openxmlformats.org/drawingml/2006/main">
            <a:pPr>
              <a:buNone/>
              <a:defRPr sz="1350" b="1">
                <a:solidFill>
                  <a:srgbClr val="157D80"/>
                </a:solidFill>
                <a:latin typeface="Aptos"/>
                <a:ea typeface="Aptos"/>
                <a:cs typeface="Aptos"/>
              </a:defRPr>
            </a:pPr>
            <a:r>
              <a:rPr sz="1350" b="1">
                <a:solidFill>
                  <a:srgbClr val="157D80"/>
                </a:solidFill>
                <a:latin typeface="Aptos"/>
                <a:ea typeface="Aptos"/>
                <a:cs typeface="Aptos"/>
              </a:rPr>
              <a:t>INERTIA / FORT WORTH DAO</a:t>
            </a:r>
          </a:p>
        </p:txBody>
      </p:sp>
      <p:sp>
        <p:nvSpPr>
          <p:cNvPr id="2" name="">
            <a:extLst xmlns:a="http://schemas.openxmlformats.org/drawingml/2006/main">
              <a:ext uri="{FF2B5EF4-FFF2-40B4-BE49-F238E27FC236}">
                <a16:creationId xmlns:a16="http://schemas.microsoft.com/office/drawing/2014/main" id="{8D1A63DD-2F71-459B-992C-9E6690BF480F}"/>
              </a:ext>
            </a:extLst>
          </p:cNvPr>
          <p:cNvSpPr>
            <a:spLocks xmlns:a="http://schemas.openxmlformats.org/drawingml/2006/main" noGrp="1"/>
          </p:cNvSpPr>
          <p:nvPr/>
        </p:nvSpPr>
        <p:spPr>
          <a:xfrm xmlns:a="http://schemas.openxmlformats.org/drawingml/2006/main">
            <a:off x="571500" y="723900"/>
            <a:ext cx="140970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3450" b="1">
                <a:solidFill>
                  <a:srgbClr val="132E38"/>
                </a:solidFill>
                <a:latin typeface="Aptos"/>
                <a:ea typeface="Aptos"/>
                <a:cs typeface="Aptos"/>
              </a:defRPr>
            </a:defPPr>
          </a:lstStyle>
          <a:p xmlns:a="http://schemas.openxmlformats.org/drawingml/2006/main">
            <a:pPr>
              <a:buNone/>
              <a:defRPr sz="3450" b="1">
                <a:solidFill>
                  <a:srgbClr val="132E38"/>
                </a:solidFill>
                <a:latin typeface="Aptos"/>
                <a:ea typeface="Aptos"/>
                <a:cs typeface="Aptos"/>
              </a:defRPr>
            </a:pPr>
            <a:r>
              <a:rPr sz="3450" b="1">
                <a:solidFill>
                  <a:srgbClr val="132E38"/>
                </a:solidFill>
                <a:latin typeface="Aptos"/>
                <a:ea typeface="Aptos"/>
                <a:cs typeface="Aptos"/>
              </a:rPr>
              <a:t>Build evidence on 23 October</a:t>
            </a:r>
          </a:p>
        </p:txBody>
      </p:sp>
      <p:sp>
        <p:nvSpPr>
          <p:cNvPr id="3" name="">
            <a:extLst xmlns:a="http://schemas.openxmlformats.org/drawingml/2006/main">
              <a:ext uri="{FF2B5EF4-FFF2-40B4-BE49-F238E27FC236}">
                <a16:creationId xmlns:a16="http://schemas.microsoft.com/office/drawing/2014/main" id="{CD835C1E-DAA9-47C2-B935-F934F1DDBCE5}"/>
              </a:ext>
            </a:extLst>
          </p:cNvPr>
          <p:cNvSpPr>
            <a:spLocks xmlns:a="http://schemas.openxmlformats.org/drawingml/2006/main" noGrp="1"/>
          </p:cNvSpPr>
          <p:nvPr/>
        </p:nvSpPr>
        <p:spPr>
          <a:xfrm xmlns:a="http://schemas.openxmlformats.org/drawingml/2006/main">
            <a:off x="571500" y="1362075"/>
            <a:ext cx="140970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00" b="0">
                <a:solidFill>
                  <a:srgbClr val="49616A"/>
                </a:solidFill>
                <a:latin typeface="Aptos"/>
                <a:ea typeface="Aptos"/>
                <a:cs typeface="Aptos"/>
              </a:defRPr>
            </a:defPPr>
          </a:lstStyle>
          <a:p xmlns:a="http://schemas.openxmlformats.org/drawingml/2006/main">
            <a:pPr>
              <a:buNone/>
              <a:defRPr sz="1800" b="0">
                <a:solidFill>
                  <a:srgbClr val="49616A"/>
                </a:solidFill>
                <a:latin typeface="Aptos"/>
                <a:ea typeface="Aptos"/>
                <a:cs typeface="Aptos"/>
              </a:defRPr>
            </a:pPr>
            <a:r>
              <a:rPr sz="1800" b="0">
                <a:solidFill>
                  <a:srgbClr val="49616A"/>
                </a:solidFill>
                <a:latin typeface="Aptos"/>
                <a:ea typeface="Aptos"/>
                <a:cs typeface="Aptos"/>
              </a:rPr>
              <a:t>PR 17 is merged into develop. The exact runtime archive passed native-service qualification.</a:t>
            </a:r>
          </a:p>
        </p:txBody>
      </p:sp>
      <p:sp>
        <p:nvSpPr>
          <p:cNvPr id="4" name="">
            <a:extLst xmlns:a="http://schemas.openxmlformats.org/drawingml/2006/main">
              <a:ext uri="{FF2B5EF4-FFF2-40B4-BE49-F238E27FC236}">
                <a16:creationId xmlns:a16="http://schemas.microsoft.com/office/drawing/2014/main" id="{665F0A8B-8314-43E1-91FA-C50D2A9A8B03}"/>
              </a:ext>
            </a:extLst>
          </p:cNvPr>
          <p:cNvSpPr>
            <a:spLocks xmlns:a="http://schemas.openxmlformats.org/drawingml/2006/main" noGrp="1"/>
          </p:cNvSpPr>
          <p:nvPr/>
        </p:nvSpPr>
        <p:spPr>
          <a:xfrm xmlns:a="http://schemas.openxmlformats.org/drawingml/2006/main">
            <a:off x="571500" y="7962900"/>
            <a:ext cx="14097000" cy="9525"/>
          </a:xfrm>
          <a:prstGeom xmlns:a="http://schemas.openxmlformats.org/drawingml/2006/main" prst="rect">
            <a:avLst/>
          </a:prstGeom>
          <a:solidFill xmlns:a="http://schemas.openxmlformats.org/drawingml/2006/main">
            <a:srgbClr val="B9C9C7"/>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9A8A72B1-7E56-4D2D-9548-FAE08A6D5101}"/>
              </a:ext>
            </a:extLst>
          </p:cNvPr>
          <p:cNvSpPr>
            <a:spLocks xmlns:a="http://schemas.openxmlformats.org/drawingml/2006/main" noGrp="1"/>
          </p:cNvSpPr>
          <p:nvPr/>
        </p:nvSpPr>
        <p:spPr>
          <a:xfrm xmlns:a="http://schemas.openxmlformats.org/drawingml/2006/main">
            <a:off x="571500" y="8105775"/>
            <a:ext cx="13144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275" b="0">
                <a:solidFill>
                  <a:srgbClr val="49616A"/>
                </a:solidFill>
                <a:latin typeface="Aptos"/>
                <a:ea typeface="Aptos"/>
                <a:cs typeface="Aptos"/>
              </a:defRPr>
            </a:defPPr>
          </a:lstStyle>
          <a:p xmlns:a="http://schemas.openxmlformats.org/drawingml/2006/main">
            <a:pPr>
              <a:buNone/>
              <a:defRPr sz="1275" b="0">
                <a:solidFill>
                  <a:srgbClr val="49616A"/>
                </a:solidFill>
                <a:latin typeface="Aptos"/>
                <a:ea typeface="Aptos"/>
                <a:cs typeface="Aptos"/>
              </a:defRPr>
            </a:pPr>
            <a:r>
              <a:rPr sz="1275" b="0">
                <a:solidFill>
                  <a:srgbClr val="49616A"/>
                </a:solidFill>
                <a:latin typeface="Aptos"/>
                <a:ea typeface="Aptos"/>
                <a:cs typeface="Aptos"/>
              </a:rPr>
              <a:t>INERTIA-2026-10-23-r9 · 23 October 2026 · Autonomous build</a:t>
            </a:r>
          </a:p>
        </p:txBody>
      </p:sp>
      <p:sp>
        <p:nvSpPr>
          <p:cNvPr id="6" name="">
            <a:extLst xmlns:a="http://schemas.openxmlformats.org/drawingml/2006/main">
              <a:ext uri="{FF2B5EF4-FFF2-40B4-BE49-F238E27FC236}">
                <a16:creationId xmlns:a16="http://schemas.microsoft.com/office/drawing/2014/main" id="{4908A80E-6E1B-410B-9609-16EB5C76AB3E}"/>
              </a:ext>
            </a:extLst>
          </p:cNvPr>
          <p:cNvSpPr>
            <a:spLocks xmlns:a="http://schemas.openxmlformats.org/drawingml/2006/main" noGrp="1"/>
          </p:cNvSpPr>
          <p:nvPr/>
        </p:nvSpPr>
        <p:spPr>
          <a:xfrm xmlns:a="http://schemas.openxmlformats.org/drawingml/2006/main">
            <a:off x="14001750" y="8067675"/>
            <a:ext cx="666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00" b="1">
                <a:solidFill>
                  <a:srgbClr val="157D80"/>
                </a:solidFill>
                <a:latin typeface="Aptos"/>
                <a:ea typeface="Aptos"/>
                <a:cs typeface="Aptos"/>
              </a:defRPr>
            </a:defPPr>
          </a:lstStyle>
          <a:p xmlns:a="http://schemas.openxmlformats.org/drawingml/2006/main">
            <a:pPr>
              <a:buNone/>
              <a:defRPr sz="1800" b="1">
                <a:solidFill>
                  <a:srgbClr val="157D80"/>
                </a:solidFill>
                <a:latin typeface="Aptos"/>
                <a:ea typeface="Aptos"/>
                <a:cs typeface="Aptos"/>
              </a:defRPr>
            </a:pPr>
            <a:r>
              <a:rPr sz="1800" b="1">
                <a:solidFill>
                  <a:srgbClr val="157D80"/>
                </a:solidFill>
                <a:latin typeface="Aptos"/>
                <a:ea typeface="Aptos"/>
                <a:cs typeface="Aptos"/>
              </a:rPr>
              <a:t>07</a:t>
            </a:r>
          </a:p>
        </p:txBody>
      </p:sp>
      <p:sp>
        <p:nvSpPr>
          <p:cNvPr id="7" name="">
            <a:extLst xmlns:a="http://schemas.openxmlformats.org/drawingml/2006/main">
              <a:ext uri="{FF2B5EF4-FFF2-40B4-BE49-F238E27FC236}">
                <a16:creationId xmlns:a16="http://schemas.microsoft.com/office/drawing/2014/main" id="{8D6C7F50-FC46-42A5-BB38-3798375425FF}"/>
              </a:ext>
            </a:extLst>
          </p:cNvPr>
          <p:cNvSpPr>
            <a:spLocks xmlns:a="http://schemas.openxmlformats.org/drawingml/2006/main" noGrp="1"/>
          </p:cNvSpPr>
          <p:nvPr/>
        </p:nvSpPr>
        <p:spPr>
          <a:xfrm xmlns:a="http://schemas.openxmlformats.org/drawingml/2006/main">
            <a:off x="571500" y="2381250"/>
            <a:ext cx="4476750" cy="3619500"/>
          </a:xfrm>
          <a:prstGeom xmlns:a="http://schemas.openxmlformats.org/drawingml/2006/main" prst="rect">
            <a:avLst/>
          </a:prstGeom>
          <a:solidFill xmlns:a="http://schemas.openxmlformats.org/drawingml/2006/main">
            <a:srgbClr val="FFFFFF"/>
          </a:solidFill>
          <a:ln xmlns:a="http://schemas.openxmlformats.org/drawingml/2006/main" w="19050">
            <a:solidFill>
              <a:srgbClr val="157D80"/>
            </a:solidFill>
            <a:prstDash val="dash"/>
          </a:ln>
        </p:spPr>
      </p:sp>
      <p:sp>
        <p:nvSpPr>
          <p:cNvPr id="8" name="">
            <a:extLst xmlns:a="http://schemas.openxmlformats.org/drawingml/2006/main">
              <a:ext uri="{FF2B5EF4-FFF2-40B4-BE49-F238E27FC236}">
                <a16:creationId xmlns:a16="http://schemas.microsoft.com/office/drawing/2014/main" id="{71A41C82-6FA2-4F14-A831-52A6AA6D555E}"/>
              </a:ext>
            </a:extLst>
          </p:cNvPr>
          <p:cNvSpPr>
            <a:spLocks xmlns:a="http://schemas.openxmlformats.org/drawingml/2006/main" noGrp="1"/>
          </p:cNvSpPr>
          <p:nvPr/>
        </p:nvSpPr>
        <p:spPr>
          <a:xfrm xmlns:a="http://schemas.openxmlformats.org/drawingml/2006/main">
            <a:off x="742950" y="2514600"/>
            <a:ext cx="41338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1">
                <a:solidFill>
                  <a:srgbClr val="157D80"/>
                </a:solidFill>
                <a:latin typeface="Aptos"/>
                <a:ea typeface="Aptos"/>
                <a:cs typeface="Aptos"/>
              </a:defRPr>
            </a:defPPr>
          </a:lstStyle>
          <a:p xmlns:a="http://schemas.openxmlformats.org/drawingml/2006/main">
            <a:pPr>
              <a:buNone/>
              <a:defRPr sz="1875" b="1">
                <a:solidFill>
                  <a:srgbClr val="157D80"/>
                </a:solidFill>
                <a:latin typeface="Aptos"/>
                <a:ea typeface="Aptos"/>
                <a:cs typeface="Aptos"/>
              </a:defRPr>
            </a:pPr>
            <a:r>
              <a:rPr sz="1875" b="1">
                <a:solidFill>
                  <a:srgbClr val="157D80"/>
                </a:solidFill>
                <a:latin typeface="Aptos"/>
                <a:ea typeface="Aptos"/>
                <a:cs typeface="Aptos"/>
              </a:rPr>
              <a:t>Reviewed foundation</a:t>
            </a:r>
          </a:p>
        </p:txBody>
      </p:sp>
      <p:sp>
        <p:nvSpPr>
          <p:cNvPr id="9" name="">
            <a:extLst xmlns:a="http://schemas.openxmlformats.org/drawingml/2006/main">
              <a:ext uri="{FF2B5EF4-FFF2-40B4-BE49-F238E27FC236}">
                <a16:creationId xmlns:a16="http://schemas.microsoft.com/office/drawing/2014/main" id="{7BE1D75E-350D-4859-B2B0-AB40178F494A}"/>
              </a:ext>
            </a:extLst>
          </p:cNvPr>
          <p:cNvSpPr>
            <a:spLocks xmlns:a="http://schemas.openxmlformats.org/drawingml/2006/main" noGrp="1"/>
          </p:cNvSpPr>
          <p:nvPr/>
        </p:nvSpPr>
        <p:spPr>
          <a:xfrm xmlns:a="http://schemas.openxmlformats.org/drawingml/2006/main">
            <a:off x="742950" y="3048000"/>
            <a:ext cx="4133850" cy="2876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0">
                <a:solidFill>
                  <a:srgbClr val="49616A"/>
                </a:solidFill>
                <a:latin typeface="Aptos"/>
                <a:ea typeface="Aptos"/>
                <a:cs typeface="Aptos"/>
              </a:defRPr>
            </a:defPPr>
          </a:lstStyle>
          <a:p xmlns:a="http://schemas.openxmlformats.org/drawingml/2006/main">
            <a:pPr>
              <a:buNone/>
              <a:defRPr sz="2250" b="0">
                <a:solidFill>
                  <a:srgbClr val="49616A"/>
                </a:solidFill>
                <a:latin typeface="Aptos"/>
                <a:ea typeface="Aptos"/>
                <a:cs typeface="Aptos"/>
              </a:defRPr>
            </a:pPr>
            <a:r>
              <a:rPr sz="2250" b="0">
                <a:solidFill>
                  <a:srgbClr val="49616A"/>
                </a:solidFill>
                <a:latin typeface="Aptos"/>
                <a:ea typeface="Aptos"/>
                <a:cs typeface="Aptos"/>
              </a:rPr>
              <a:t>Signed transport and native core</a:t>
            </a:r>
          </a:p>
          <a:p xmlns:a="http://schemas.openxmlformats.org/drawingml/2006/main">
            <a:pPr>
              <a:buNone/>
              <a:defRPr sz="2250" b="0">
                <a:solidFill>
                  <a:srgbClr val="49616A"/>
                </a:solidFill>
                <a:latin typeface="Aptos"/>
                <a:ea typeface="Aptos"/>
                <a:cs typeface="Aptos"/>
              </a:defRPr>
            </a:pPr>
            <a:r>
              <a:rPr sz="2250" b="0">
                <a:solidFill>
                  <a:srgbClr val="49616A"/>
                </a:solidFill>
                <a:latin typeface="Aptos"/>
                <a:ea typeface="Aptos"/>
                <a:cs typeface="Aptos"/>
              </a:rPr>
              <a:t>Roundtable source/hash core</a:t>
            </a:r>
          </a:p>
          <a:p xmlns:a="http://schemas.openxmlformats.org/drawingml/2006/main">
            <a:pPr>
              <a:buNone/>
              <a:defRPr sz="2250" b="0">
                <a:solidFill>
                  <a:srgbClr val="49616A"/>
                </a:solidFill>
                <a:latin typeface="Aptos"/>
                <a:ea typeface="Aptos"/>
                <a:cs typeface="Aptos"/>
              </a:defRPr>
            </a:pPr>
            <a:r>
              <a:rPr sz="2250" b="0">
                <a:solidFill>
                  <a:srgbClr val="49616A"/>
                </a:solidFill>
                <a:latin typeface="Aptos"/>
                <a:ea typeface="Aptos"/>
                <a:cs typeface="Aptos"/>
              </a:rPr>
              <a:t>Website caller contract-tested</a:t>
            </a:r>
          </a:p>
          <a:p xmlns:a="http://schemas.openxmlformats.org/drawingml/2006/main">
            <a:pPr>
              <a:buNone/>
              <a:defRPr sz="2250" b="0">
                <a:solidFill>
                  <a:srgbClr val="49616A"/>
                </a:solidFill>
                <a:latin typeface="Aptos"/>
                <a:ea typeface="Aptos"/>
                <a:cs typeface="Aptos"/>
              </a:defRPr>
            </a:pPr>
            <a:r>
              <a:rPr sz="2250" b="0">
                <a:solidFill>
                  <a:srgbClr val="49616A"/>
                </a:solidFill>
                <a:latin typeface="Aptos"/>
                <a:ea typeface="Aptos"/>
                <a:cs typeface="Aptos"/>
              </a:rPr>
              <a:t>Server and live wiring pending</a:t>
            </a:r>
          </a:p>
        </p:txBody>
      </p:sp>
      <p:sp>
        <p:nvSpPr>
          <p:cNvPr id="10" name="">
            <a:extLst xmlns:a="http://schemas.openxmlformats.org/drawingml/2006/main">
              <a:ext uri="{FF2B5EF4-FFF2-40B4-BE49-F238E27FC236}">
                <a16:creationId xmlns:a16="http://schemas.microsoft.com/office/drawing/2014/main" id="{123E77D0-1FD4-42F2-853C-75563BB8B74E}"/>
              </a:ext>
            </a:extLst>
          </p:cNvPr>
          <p:cNvSpPr>
            <a:spLocks xmlns:a="http://schemas.openxmlformats.org/drawingml/2006/main" noGrp="1"/>
          </p:cNvSpPr>
          <p:nvPr/>
        </p:nvSpPr>
        <p:spPr>
          <a:xfrm xmlns:a="http://schemas.openxmlformats.org/drawingml/2006/main">
            <a:off x="5381625" y="2381250"/>
            <a:ext cx="4476750" cy="3619500"/>
          </a:xfrm>
          <a:prstGeom xmlns:a="http://schemas.openxmlformats.org/drawingml/2006/main" prst="rect">
            <a:avLst/>
          </a:prstGeom>
          <a:solidFill xmlns:a="http://schemas.openxmlformats.org/drawingml/2006/main">
            <a:srgbClr val="FFFFFF"/>
          </a:solidFill>
          <a:ln xmlns:a="http://schemas.openxmlformats.org/drawingml/2006/main" w="19050">
            <a:solidFill>
              <a:srgbClr val="157D80"/>
            </a:solidFill>
            <a:prstDash val="dash"/>
          </a:ln>
        </p:spPr>
      </p:sp>
      <p:sp>
        <p:nvSpPr>
          <p:cNvPr id="11" name="">
            <a:extLst xmlns:a="http://schemas.openxmlformats.org/drawingml/2006/main">
              <a:ext uri="{FF2B5EF4-FFF2-40B4-BE49-F238E27FC236}">
                <a16:creationId xmlns:a16="http://schemas.microsoft.com/office/drawing/2014/main" id="{FE843C58-41F6-40C4-8E5A-B03AAB2A1463}"/>
              </a:ext>
            </a:extLst>
          </p:cNvPr>
          <p:cNvSpPr>
            <a:spLocks xmlns:a="http://schemas.openxmlformats.org/drawingml/2006/main" noGrp="1"/>
          </p:cNvSpPr>
          <p:nvPr/>
        </p:nvSpPr>
        <p:spPr>
          <a:xfrm xmlns:a="http://schemas.openxmlformats.org/drawingml/2006/main">
            <a:off x="5553075" y="2514600"/>
            <a:ext cx="41338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1">
                <a:solidFill>
                  <a:srgbClr val="157D80"/>
                </a:solidFill>
                <a:latin typeface="Aptos"/>
                <a:ea typeface="Aptos"/>
                <a:cs typeface="Aptos"/>
              </a:defRPr>
            </a:defPPr>
          </a:lstStyle>
          <a:p xmlns:a="http://schemas.openxmlformats.org/drawingml/2006/main">
            <a:pPr>
              <a:buNone/>
              <a:defRPr sz="1875" b="1">
                <a:solidFill>
                  <a:srgbClr val="157D80"/>
                </a:solidFill>
                <a:latin typeface="Aptos"/>
                <a:ea typeface="Aptos"/>
                <a:cs typeface="Aptos"/>
              </a:defRPr>
            </a:pPr>
            <a:r>
              <a:rPr sz="1875" b="1">
                <a:solidFill>
                  <a:srgbClr val="157D80"/>
                </a:solidFill>
                <a:latin typeface="Aptos"/>
                <a:ea typeface="Aptos"/>
                <a:cs typeface="Aptos"/>
              </a:rPr>
              <a:t>Grant and DAO evidence</a:t>
            </a:r>
          </a:p>
        </p:txBody>
      </p:sp>
      <p:sp>
        <p:nvSpPr>
          <p:cNvPr id="12" name="">
            <a:extLst xmlns:a="http://schemas.openxmlformats.org/drawingml/2006/main">
              <a:ext uri="{FF2B5EF4-FFF2-40B4-BE49-F238E27FC236}">
                <a16:creationId xmlns:a16="http://schemas.microsoft.com/office/drawing/2014/main" id="{3D4324EE-082D-4CBA-8F33-2EF64AAE9BC0}"/>
              </a:ext>
            </a:extLst>
          </p:cNvPr>
          <p:cNvSpPr>
            <a:spLocks xmlns:a="http://schemas.openxmlformats.org/drawingml/2006/main" noGrp="1"/>
          </p:cNvSpPr>
          <p:nvPr/>
        </p:nvSpPr>
        <p:spPr>
          <a:xfrm xmlns:a="http://schemas.openxmlformats.org/drawingml/2006/main">
            <a:off x="5553075" y="3048000"/>
            <a:ext cx="4133850" cy="2876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0">
                <a:solidFill>
                  <a:srgbClr val="49616A"/>
                </a:solidFill>
                <a:latin typeface="Aptos"/>
                <a:ea typeface="Aptos"/>
                <a:cs typeface="Aptos"/>
              </a:defRPr>
            </a:defPPr>
          </a:lstStyle>
          <a:p xmlns:a="http://schemas.openxmlformats.org/drawingml/2006/main">
            <a:pPr>
              <a:buNone/>
              <a:defRPr sz="2250" b="0">
                <a:solidFill>
                  <a:srgbClr val="49616A"/>
                </a:solidFill>
                <a:latin typeface="Aptos"/>
                <a:ea typeface="Aptos"/>
                <a:cs typeface="Aptos"/>
              </a:defRPr>
            </a:pPr>
            <a:r>
              <a:rPr sz="2250" b="0">
                <a:solidFill>
                  <a:srgbClr val="49616A"/>
                </a:solidFill>
                <a:latin typeface="Aptos"/>
                <a:ea typeface="Aptos"/>
                <a:cs typeface="Aptos"/>
              </a:rPr>
              <a:t>Packet, review and vote binding</a:t>
            </a:r>
          </a:p>
          <a:p xmlns:a="http://schemas.openxmlformats.org/drawingml/2006/main">
            <a:pPr>
              <a:buNone/>
              <a:defRPr sz="2250" b="0">
                <a:solidFill>
                  <a:srgbClr val="49616A"/>
                </a:solidFill>
                <a:latin typeface="Aptos"/>
                <a:ea typeface="Aptos"/>
                <a:cs typeface="Aptos"/>
              </a:defRPr>
            </a:pPr>
            <a:r>
              <a:rPr sz="2250" b="0">
                <a:solidFill>
                  <a:srgbClr val="49616A"/>
                </a:solidFill>
                <a:latin typeface="Aptos"/>
                <a:ea typeface="Aptos"/>
                <a:cs typeface="Aptos"/>
              </a:rPr>
              <a:t>Cited public DAO facts</a:t>
            </a:r>
          </a:p>
          <a:p xmlns:a="http://schemas.openxmlformats.org/drawingml/2006/main">
            <a:pPr>
              <a:buNone/>
              <a:defRPr sz="2250" b="0">
                <a:solidFill>
                  <a:srgbClr val="49616A"/>
                </a:solidFill>
                <a:latin typeface="Aptos"/>
                <a:ea typeface="Aptos"/>
                <a:cs typeface="Aptos"/>
              </a:defRPr>
            </a:pPr>
            <a:r>
              <a:rPr sz="2250" b="0">
                <a:solidFill>
                  <a:srgbClr val="49616A"/>
                </a:solidFill>
                <a:latin typeface="Aptos"/>
                <a:ea typeface="Aptos"/>
                <a:cs typeface="Aptos"/>
              </a:rPr>
              <a:t>Eligibility remains unverified</a:t>
            </a:r>
          </a:p>
          <a:p xmlns:a="http://schemas.openxmlformats.org/drawingml/2006/main">
            <a:pPr>
              <a:buNone/>
              <a:defRPr sz="2250" b="0">
                <a:solidFill>
                  <a:srgbClr val="49616A"/>
                </a:solidFill>
                <a:latin typeface="Aptos"/>
                <a:ea typeface="Aptos"/>
                <a:cs typeface="Aptos"/>
              </a:defRPr>
            </a:pPr>
            <a:r>
              <a:rPr sz="2250" b="0">
                <a:solidFill>
                  <a:srgbClr val="49616A"/>
                </a:solidFill>
                <a:latin typeface="Aptos"/>
                <a:ea typeface="Aptos"/>
                <a:cs typeface="Aptos"/>
              </a:rPr>
              <a:t>Live governance adapter pending</a:t>
            </a:r>
          </a:p>
        </p:txBody>
      </p:sp>
      <p:sp>
        <p:nvSpPr>
          <p:cNvPr id="13" name="">
            <a:extLst xmlns:a="http://schemas.openxmlformats.org/drawingml/2006/main">
              <a:ext uri="{FF2B5EF4-FFF2-40B4-BE49-F238E27FC236}">
                <a16:creationId xmlns:a16="http://schemas.microsoft.com/office/drawing/2014/main" id="{348D0D77-81D9-4FF9-81B8-5D4A93C15511}"/>
              </a:ext>
            </a:extLst>
          </p:cNvPr>
          <p:cNvSpPr>
            <a:spLocks xmlns:a="http://schemas.openxmlformats.org/drawingml/2006/main" noGrp="1"/>
          </p:cNvSpPr>
          <p:nvPr/>
        </p:nvSpPr>
        <p:spPr>
          <a:xfrm xmlns:a="http://schemas.openxmlformats.org/drawingml/2006/main">
            <a:off x="10191750" y="2381250"/>
            <a:ext cx="4476750" cy="3619500"/>
          </a:xfrm>
          <a:prstGeom xmlns:a="http://schemas.openxmlformats.org/drawingml/2006/main" prst="rect">
            <a:avLst/>
          </a:prstGeom>
          <a:solidFill xmlns:a="http://schemas.openxmlformats.org/drawingml/2006/main">
            <a:srgbClr val="FFFFFF"/>
          </a:solidFill>
          <a:ln xmlns:a="http://schemas.openxmlformats.org/drawingml/2006/main" w="19050">
            <a:solidFill>
              <a:srgbClr val="157D80"/>
            </a:solidFill>
            <a:prstDash val="dash"/>
          </a:ln>
        </p:spPr>
      </p:sp>
      <p:sp>
        <p:nvSpPr>
          <p:cNvPr id="14" name="">
            <a:extLst xmlns:a="http://schemas.openxmlformats.org/drawingml/2006/main">
              <a:ext uri="{FF2B5EF4-FFF2-40B4-BE49-F238E27FC236}">
                <a16:creationId xmlns:a16="http://schemas.microsoft.com/office/drawing/2014/main" id="{2D81063D-AE01-4575-82B7-B306C6391E69}"/>
              </a:ext>
            </a:extLst>
          </p:cNvPr>
          <p:cNvSpPr>
            <a:spLocks xmlns:a="http://schemas.openxmlformats.org/drawingml/2006/main" noGrp="1"/>
          </p:cNvSpPr>
          <p:nvPr/>
        </p:nvSpPr>
        <p:spPr>
          <a:xfrm xmlns:a="http://schemas.openxmlformats.org/drawingml/2006/main">
            <a:off x="10363200" y="2514600"/>
            <a:ext cx="41338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1">
                <a:solidFill>
                  <a:srgbClr val="157D80"/>
                </a:solidFill>
                <a:latin typeface="Aptos"/>
                <a:ea typeface="Aptos"/>
                <a:cs typeface="Aptos"/>
              </a:defRPr>
            </a:defPPr>
          </a:lstStyle>
          <a:p xmlns:a="http://schemas.openxmlformats.org/drawingml/2006/main">
            <a:pPr>
              <a:buNone/>
              <a:defRPr sz="1875" b="1">
                <a:solidFill>
                  <a:srgbClr val="157D80"/>
                </a:solidFill>
                <a:latin typeface="Aptos"/>
                <a:ea typeface="Aptos"/>
                <a:cs typeface="Aptos"/>
              </a:defRPr>
            </a:pPr>
            <a:r>
              <a:rPr sz="1875" b="1">
                <a:solidFill>
                  <a:srgbClr val="157D80"/>
                </a:solidFill>
                <a:latin typeface="Aptos"/>
                <a:ea typeface="Aptos"/>
                <a:cs typeface="Aptos"/>
              </a:rPr>
              <a:t>Qualification boundary</a:t>
            </a:r>
          </a:p>
        </p:txBody>
      </p:sp>
      <p:sp>
        <p:nvSpPr>
          <p:cNvPr id="15" name="">
            <a:extLst xmlns:a="http://schemas.openxmlformats.org/drawingml/2006/main">
              <a:ext uri="{FF2B5EF4-FFF2-40B4-BE49-F238E27FC236}">
                <a16:creationId xmlns:a16="http://schemas.microsoft.com/office/drawing/2014/main" id="{8B2C696F-F2EC-4437-AA34-2898C048A905}"/>
              </a:ext>
            </a:extLst>
          </p:cNvPr>
          <p:cNvSpPr>
            <a:spLocks xmlns:a="http://schemas.openxmlformats.org/drawingml/2006/main" noGrp="1"/>
          </p:cNvSpPr>
          <p:nvPr/>
        </p:nvSpPr>
        <p:spPr>
          <a:xfrm xmlns:a="http://schemas.openxmlformats.org/drawingml/2006/main">
            <a:off x="10363200" y="3048000"/>
            <a:ext cx="4133850" cy="2876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0">
                <a:solidFill>
                  <a:srgbClr val="49616A"/>
                </a:solidFill>
                <a:latin typeface="Aptos"/>
                <a:ea typeface="Aptos"/>
                <a:cs typeface="Aptos"/>
              </a:defRPr>
            </a:defPPr>
          </a:lstStyle>
          <a:p xmlns:a="http://schemas.openxmlformats.org/drawingml/2006/main">
            <a:pPr>
              <a:buNone/>
              <a:defRPr sz="2250" b="0">
                <a:solidFill>
                  <a:srgbClr val="49616A"/>
                </a:solidFill>
                <a:latin typeface="Aptos"/>
                <a:ea typeface="Aptos"/>
                <a:cs typeface="Aptos"/>
              </a:defRPr>
            </a:pPr>
            <a:r>
              <a:rPr sz="2250" b="0">
                <a:solidFill>
                  <a:srgbClr val="49616A"/>
                </a:solidFill>
                <a:latin typeface="Aptos"/>
                <a:ea typeface="Aptos"/>
                <a:cs typeface="Aptos"/>
              </a:rPr>
              <a:t>248 combined tests pass</a:t>
            </a:r>
          </a:p>
          <a:p xmlns:a="http://schemas.openxmlformats.org/drawingml/2006/main">
            <a:pPr>
              <a:buNone/>
              <a:defRPr sz="2250" b="0">
                <a:solidFill>
                  <a:srgbClr val="49616A"/>
                </a:solidFill>
                <a:latin typeface="Aptos"/>
                <a:ea typeface="Aptos"/>
                <a:cs typeface="Aptos"/>
              </a:defRPr>
            </a:pPr>
            <a:r>
              <a:rPr sz="2250" b="0">
                <a:solidFill>
                  <a:srgbClr val="49616A"/>
                </a:solidFill>
                <a:latin typeface="Aptos"/>
                <a:ea typeface="Aptos"/>
                <a:cs typeface="Aptos"/>
              </a:rPr>
              <a:t>6 migrations, 3 native jobs</a:t>
            </a:r>
          </a:p>
          <a:p xmlns:a="http://schemas.openxmlformats.org/drawingml/2006/main">
            <a:pPr>
              <a:buNone/>
              <a:defRPr sz="2250" b="0">
                <a:solidFill>
                  <a:srgbClr val="49616A"/>
                </a:solidFill>
                <a:latin typeface="Aptos"/>
                <a:ea typeface="Aptos"/>
                <a:cs typeface="Aptos"/>
              </a:defRPr>
            </a:pPr>
            <a:r>
              <a:rPr sz="2250" b="0">
                <a:solidFill>
                  <a:srgbClr val="49616A"/>
                </a:solidFill>
                <a:latin typeface="Aptos"/>
                <a:ea typeface="Aptos"/>
                <a:cs typeface="Aptos"/>
              </a:rPr>
              <a:t>Exact artifact native pass</a:t>
            </a:r>
          </a:p>
          <a:p xmlns:a="http://schemas.openxmlformats.org/drawingml/2006/main">
            <a:pPr>
              <a:buNone/>
              <a:defRPr sz="2250" b="0">
                <a:solidFill>
                  <a:srgbClr val="49616A"/>
                </a:solidFill>
                <a:latin typeface="Aptos"/>
                <a:ea typeface="Aptos"/>
                <a:cs typeface="Aptos"/>
              </a:defRPr>
            </a:pPr>
            <a:r>
              <a:rPr sz="2250" b="0">
                <a:solidFill>
                  <a:srgbClr val="49616A"/>
                </a:solidFill>
                <a:latin typeface="Aptos"/>
                <a:ea typeface="Aptos"/>
                <a:cs typeface="Aptos"/>
              </a:rPr>
              <a:t>Full HTTP check historical</a:t>
            </a:r>
          </a:p>
        </p:txBody>
      </p:sp>
      <p:sp>
        <p:nvSpPr>
          <p:cNvPr id="16" name="">
            <a:extLst xmlns:a="http://schemas.openxmlformats.org/drawingml/2006/main">
              <a:ext uri="{FF2B5EF4-FFF2-40B4-BE49-F238E27FC236}">
                <a16:creationId xmlns:a16="http://schemas.microsoft.com/office/drawing/2014/main" id="{9D6F9082-3680-41B1-88E6-190A05E8D118}"/>
              </a:ext>
            </a:extLst>
          </p:cNvPr>
          <p:cNvSpPr>
            <a:spLocks xmlns:a="http://schemas.openxmlformats.org/drawingml/2006/main" noGrp="1"/>
          </p:cNvSpPr>
          <p:nvPr/>
        </p:nvSpPr>
        <p:spPr>
          <a:xfrm xmlns:a="http://schemas.openxmlformats.org/drawingml/2006/main">
            <a:off x="571500" y="6572250"/>
            <a:ext cx="140970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100" b="0">
                <a:solidFill>
                  <a:srgbClr val="132E38"/>
                </a:solidFill>
                <a:latin typeface="Aptos"/>
                <a:ea typeface="Aptos"/>
                <a:cs typeface="Aptos"/>
              </a:defRPr>
            </a:defPPr>
          </a:lstStyle>
          <a:p xmlns:a="http://schemas.openxmlformats.org/drawingml/2006/main">
            <a:pPr>
              <a:buNone/>
              <a:defRPr sz="2100" b="0">
                <a:solidFill>
                  <a:srgbClr val="132E38"/>
                </a:solidFill>
                <a:latin typeface="Aptos"/>
                <a:ea typeface="Aptos"/>
                <a:cs typeface="Aptos"/>
              </a:defRPr>
            </a:pPr>
            <a:r>
              <a:rPr sz="2100" b="0">
                <a:solidFill>
                  <a:srgbClr val="132E38"/>
                </a:solidFill>
                <a:latin typeface="Aptos"/>
                <a:ea typeface="Aptos"/>
                <a:cs typeface="Aptos"/>
              </a:rPr>
              <a:t>Merge is complete; live setup remains pending. CEO intake needs an assigned mandate. Status mirroring remains future.</a:t>
            </a:r>
          </a:p>
        </p:txBody>
      </p:sp>
    </p:spTree>
    <p:extLst>
      <p:ext uri="{BB962C8B-B14F-4D97-AF65-F5344CB8AC3E}">
        <p14:creationId xmlns:p14="http://schemas.microsoft.com/office/powerpoint/2010/main" val="93010346"/>
      </p:ext>
    </p:extLst>
  </p:cSld>
</p:sld>
</file>

<file path=ppt/slides/slide8.xml><?xml version="1.0" encoding="utf-8"?>
<p:sld xmlns:p="http://schemas.openxmlformats.org/presentationml/2006/main">
  <p:cSld>
    <p:bg>
      <p:bgPr>
        <a:solidFill xmlns:a="http://schemas.openxmlformats.org/drawingml/2006/main">
          <a:srgbClr val="F6F5F0"/>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5E567FFF-EB96-4A56-8095-D54675D333C7}"/>
              </a:ext>
            </a:extLst>
          </p:cNvPr>
          <p:cNvSpPr>
            <a:spLocks xmlns:a="http://schemas.openxmlformats.org/drawingml/2006/main" noGrp="1"/>
          </p:cNvSpPr>
          <p:nvPr/>
        </p:nvSpPr>
        <p:spPr>
          <a:xfrm xmlns:a="http://schemas.openxmlformats.org/drawingml/2006/main">
            <a:off x="571500" y="295275"/>
            <a:ext cx="9525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350" b="1">
                <a:solidFill>
                  <a:srgbClr val="157D80"/>
                </a:solidFill>
                <a:latin typeface="Aptos"/>
                <a:ea typeface="Aptos"/>
                <a:cs typeface="Aptos"/>
              </a:defRPr>
            </a:defPPr>
          </a:lstStyle>
          <a:p xmlns:a="http://schemas.openxmlformats.org/drawingml/2006/main">
            <a:pPr>
              <a:buNone/>
              <a:defRPr sz="1350" b="1">
                <a:solidFill>
                  <a:srgbClr val="157D80"/>
                </a:solidFill>
                <a:latin typeface="Aptos"/>
                <a:ea typeface="Aptos"/>
                <a:cs typeface="Aptos"/>
              </a:defRPr>
            </a:pPr>
            <a:r>
              <a:rPr sz="1350" b="1">
                <a:solidFill>
                  <a:srgbClr val="157D80"/>
                </a:solidFill>
                <a:latin typeface="Aptos"/>
                <a:ea typeface="Aptos"/>
                <a:cs typeface="Aptos"/>
              </a:rPr>
              <a:t>INERTIA / FORT WORTH DAO</a:t>
            </a:r>
          </a:p>
        </p:txBody>
      </p:sp>
      <p:sp>
        <p:nvSpPr>
          <p:cNvPr id="2" name="">
            <a:extLst xmlns:a="http://schemas.openxmlformats.org/drawingml/2006/main">
              <a:ext uri="{FF2B5EF4-FFF2-40B4-BE49-F238E27FC236}">
                <a16:creationId xmlns:a16="http://schemas.microsoft.com/office/drawing/2014/main" id="{45B0A5B7-447E-4220-8B45-71588DF9C790}"/>
              </a:ext>
            </a:extLst>
          </p:cNvPr>
          <p:cNvSpPr>
            <a:spLocks xmlns:a="http://schemas.openxmlformats.org/drawingml/2006/main" noGrp="1"/>
          </p:cNvSpPr>
          <p:nvPr/>
        </p:nvSpPr>
        <p:spPr>
          <a:xfrm xmlns:a="http://schemas.openxmlformats.org/drawingml/2006/main">
            <a:off x="571500" y="723900"/>
            <a:ext cx="140970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3450" b="1">
                <a:solidFill>
                  <a:srgbClr val="132E38"/>
                </a:solidFill>
                <a:latin typeface="Aptos"/>
                <a:ea typeface="Aptos"/>
                <a:cs typeface="Aptos"/>
              </a:defRPr>
            </a:defPPr>
          </a:lstStyle>
          <a:p xmlns:a="http://schemas.openxmlformats.org/drawingml/2006/main">
            <a:pPr>
              <a:buNone/>
              <a:defRPr sz="3450" b="1">
                <a:solidFill>
                  <a:srgbClr val="132E38"/>
                </a:solidFill>
                <a:latin typeface="Aptos"/>
                <a:ea typeface="Aptos"/>
                <a:cs typeface="Aptos"/>
              </a:defRPr>
            </a:pPr>
            <a:r>
              <a:rPr sz="3450" b="1">
                <a:solidFill>
                  <a:srgbClr val="132E38"/>
                </a:solidFill>
                <a:latin typeface="Aptos"/>
                <a:ea typeface="Aptos"/>
                <a:cs typeface="Aptos"/>
              </a:rPr>
              <a:t>Delivery focused on working outcomes</a:t>
            </a:r>
          </a:p>
        </p:txBody>
      </p:sp>
      <p:sp>
        <p:nvSpPr>
          <p:cNvPr id="3" name="">
            <a:extLst xmlns:a="http://schemas.openxmlformats.org/drawingml/2006/main">
              <a:ext uri="{FF2B5EF4-FFF2-40B4-BE49-F238E27FC236}">
                <a16:creationId xmlns:a16="http://schemas.microsoft.com/office/drawing/2014/main" id="{690BC7E6-3CA6-4111-B860-790A3EA0D412}"/>
              </a:ext>
            </a:extLst>
          </p:cNvPr>
          <p:cNvSpPr>
            <a:spLocks xmlns:a="http://schemas.openxmlformats.org/drawingml/2006/main" noGrp="1"/>
          </p:cNvSpPr>
          <p:nvPr/>
        </p:nvSpPr>
        <p:spPr>
          <a:xfrm xmlns:a="http://schemas.openxmlformats.org/drawingml/2006/main">
            <a:off x="571500" y="1362075"/>
            <a:ext cx="140970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00" b="0">
                <a:solidFill>
                  <a:srgbClr val="49616A"/>
                </a:solidFill>
                <a:latin typeface="Aptos"/>
                <a:ea typeface="Aptos"/>
                <a:cs typeface="Aptos"/>
              </a:defRPr>
            </a:defPPr>
          </a:lstStyle>
          <a:p xmlns:a="http://schemas.openxmlformats.org/drawingml/2006/main">
            <a:pPr>
              <a:buNone/>
              <a:defRPr sz="1800" b="0">
                <a:solidFill>
                  <a:srgbClr val="49616A"/>
                </a:solidFill>
                <a:latin typeface="Aptos"/>
                <a:ea typeface="Aptos"/>
                <a:cs typeface="Aptos"/>
              </a:defRPr>
            </a:pPr>
            <a:r>
              <a:rPr sz="1800" b="0">
                <a:solidFill>
                  <a:srgbClr val="49616A"/>
                </a:solidFill>
                <a:latin typeface="Aptos"/>
                <a:ea typeface="Aptos"/>
                <a:cs typeface="Aptos"/>
              </a:rPr>
              <a:t>Proposed delivery sequence. Tested and reviewed feature branches merge into develop.</a:t>
            </a:r>
          </a:p>
        </p:txBody>
      </p:sp>
      <p:sp>
        <p:nvSpPr>
          <p:cNvPr id="4" name="">
            <a:extLst xmlns:a="http://schemas.openxmlformats.org/drawingml/2006/main">
              <a:ext uri="{FF2B5EF4-FFF2-40B4-BE49-F238E27FC236}">
                <a16:creationId xmlns:a16="http://schemas.microsoft.com/office/drawing/2014/main" id="{A283D3ED-12AB-4AF0-ACF1-E019983DA6AA}"/>
              </a:ext>
            </a:extLst>
          </p:cNvPr>
          <p:cNvSpPr>
            <a:spLocks xmlns:a="http://schemas.openxmlformats.org/drawingml/2006/main" noGrp="1"/>
          </p:cNvSpPr>
          <p:nvPr/>
        </p:nvSpPr>
        <p:spPr>
          <a:xfrm xmlns:a="http://schemas.openxmlformats.org/drawingml/2006/main">
            <a:off x="571500" y="7962900"/>
            <a:ext cx="14097000" cy="9525"/>
          </a:xfrm>
          <a:prstGeom xmlns:a="http://schemas.openxmlformats.org/drawingml/2006/main" prst="rect">
            <a:avLst/>
          </a:prstGeom>
          <a:solidFill xmlns:a="http://schemas.openxmlformats.org/drawingml/2006/main">
            <a:srgbClr val="B9C9C7"/>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50D8DC96-37BC-4084-88DA-9A431A024BDC}"/>
              </a:ext>
            </a:extLst>
          </p:cNvPr>
          <p:cNvSpPr>
            <a:spLocks xmlns:a="http://schemas.openxmlformats.org/drawingml/2006/main" noGrp="1"/>
          </p:cNvSpPr>
          <p:nvPr/>
        </p:nvSpPr>
        <p:spPr>
          <a:xfrm xmlns:a="http://schemas.openxmlformats.org/drawingml/2006/main">
            <a:off x="571500" y="8105775"/>
            <a:ext cx="13144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275" b="0">
                <a:solidFill>
                  <a:srgbClr val="49616A"/>
                </a:solidFill>
                <a:latin typeface="Aptos"/>
                <a:ea typeface="Aptos"/>
                <a:cs typeface="Aptos"/>
              </a:defRPr>
            </a:defPPr>
          </a:lstStyle>
          <a:p xmlns:a="http://schemas.openxmlformats.org/drawingml/2006/main">
            <a:pPr>
              <a:buNone/>
              <a:defRPr sz="1275" b="0">
                <a:solidFill>
                  <a:srgbClr val="49616A"/>
                </a:solidFill>
                <a:latin typeface="Aptos"/>
                <a:ea typeface="Aptos"/>
                <a:cs typeface="Aptos"/>
              </a:defRPr>
            </a:pPr>
            <a:r>
              <a:rPr sz="1275" b="0">
                <a:solidFill>
                  <a:srgbClr val="49616A"/>
                </a:solidFill>
                <a:latin typeface="Aptos"/>
                <a:ea typeface="Aptos"/>
                <a:cs typeface="Aptos"/>
              </a:rPr>
              <a:t>INERTIA-2026-10-23-r9 · 23 October 2026 · Autonomous build</a:t>
            </a:r>
          </a:p>
        </p:txBody>
      </p:sp>
      <p:sp>
        <p:nvSpPr>
          <p:cNvPr id="6" name="">
            <a:extLst xmlns:a="http://schemas.openxmlformats.org/drawingml/2006/main">
              <a:ext uri="{FF2B5EF4-FFF2-40B4-BE49-F238E27FC236}">
                <a16:creationId xmlns:a16="http://schemas.microsoft.com/office/drawing/2014/main" id="{6EEE5496-EAD2-4419-8C21-4EA0A4DD92DA}"/>
              </a:ext>
            </a:extLst>
          </p:cNvPr>
          <p:cNvSpPr>
            <a:spLocks xmlns:a="http://schemas.openxmlformats.org/drawingml/2006/main" noGrp="1"/>
          </p:cNvSpPr>
          <p:nvPr/>
        </p:nvSpPr>
        <p:spPr>
          <a:xfrm xmlns:a="http://schemas.openxmlformats.org/drawingml/2006/main">
            <a:off x="14001750" y="8067675"/>
            <a:ext cx="666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00" b="1">
                <a:solidFill>
                  <a:srgbClr val="157D80"/>
                </a:solidFill>
                <a:latin typeface="Aptos"/>
                <a:ea typeface="Aptos"/>
                <a:cs typeface="Aptos"/>
              </a:defRPr>
            </a:defPPr>
          </a:lstStyle>
          <a:p xmlns:a="http://schemas.openxmlformats.org/drawingml/2006/main">
            <a:pPr>
              <a:buNone/>
              <a:defRPr sz="1800" b="1">
                <a:solidFill>
                  <a:srgbClr val="157D80"/>
                </a:solidFill>
                <a:latin typeface="Aptos"/>
                <a:ea typeface="Aptos"/>
                <a:cs typeface="Aptos"/>
              </a:defRPr>
            </a:pPr>
            <a:r>
              <a:rPr sz="1800" b="1">
                <a:solidFill>
                  <a:srgbClr val="157D80"/>
                </a:solidFill>
                <a:latin typeface="Aptos"/>
                <a:ea typeface="Aptos"/>
                <a:cs typeface="Aptos"/>
              </a:rPr>
              <a:t>08</a:t>
            </a:r>
          </a:p>
        </p:txBody>
      </p:sp>
      <p:sp>
        <p:nvSpPr>
          <p:cNvPr id="7" name="">
            <a:extLst xmlns:a="http://schemas.openxmlformats.org/drawingml/2006/main">
              <a:ext uri="{FF2B5EF4-FFF2-40B4-BE49-F238E27FC236}">
                <a16:creationId xmlns:a16="http://schemas.microsoft.com/office/drawing/2014/main" id="{4CBCEAED-129F-4A04-ADE4-ED14C78ECB0A}"/>
              </a:ext>
            </a:extLst>
          </p:cNvPr>
          <p:cNvSpPr>
            <a:spLocks xmlns:a="http://schemas.openxmlformats.org/drawingml/2006/main" noGrp="1"/>
          </p:cNvSpPr>
          <p:nvPr/>
        </p:nvSpPr>
        <p:spPr>
          <a:xfrm xmlns:a="http://schemas.openxmlformats.org/drawingml/2006/main">
            <a:off x="571500" y="2381250"/>
            <a:ext cx="4476750" cy="3619500"/>
          </a:xfrm>
          <a:prstGeom xmlns:a="http://schemas.openxmlformats.org/drawingml/2006/main" prst="rect">
            <a:avLst/>
          </a:prstGeom>
          <a:solidFill xmlns:a="http://schemas.openxmlformats.org/drawingml/2006/main">
            <a:srgbClr val="FFFFFF"/>
          </a:solidFill>
          <a:ln xmlns:a="http://schemas.openxmlformats.org/drawingml/2006/main" w="19050">
            <a:solidFill>
              <a:srgbClr val="157D80"/>
            </a:solidFill>
            <a:prstDash val="dash"/>
          </a:ln>
        </p:spPr>
      </p:sp>
      <p:sp>
        <p:nvSpPr>
          <p:cNvPr id="8" name="">
            <a:extLst xmlns:a="http://schemas.openxmlformats.org/drawingml/2006/main">
              <a:ext uri="{FF2B5EF4-FFF2-40B4-BE49-F238E27FC236}">
                <a16:creationId xmlns:a16="http://schemas.microsoft.com/office/drawing/2014/main" id="{9BAC63AA-9576-4C6C-9AAA-088C1853B07B}"/>
              </a:ext>
            </a:extLst>
          </p:cNvPr>
          <p:cNvSpPr>
            <a:spLocks xmlns:a="http://schemas.openxmlformats.org/drawingml/2006/main" noGrp="1"/>
          </p:cNvSpPr>
          <p:nvPr/>
        </p:nvSpPr>
        <p:spPr>
          <a:xfrm xmlns:a="http://schemas.openxmlformats.org/drawingml/2006/main">
            <a:off x="742950" y="2514600"/>
            <a:ext cx="41338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1">
                <a:solidFill>
                  <a:srgbClr val="157D80"/>
                </a:solidFill>
                <a:latin typeface="Aptos"/>
                <a:ea typeface="Aptos"/>
                <a:cs typeface="Aptos"/>
              </a:defRPr>
            </a:defPPr>
          </a:lstStyle>
          <a:p xmlns:a="http://schemas.openxmlformats.org/drawingml/2006/main">
            <a:pPr>
              <a:buNone/>
              <a:defRPr sz="1875" b="1">
                <a:solidFill>
                  <a:srgbClr val="157D80"/>
                </a:solidFill>
                <a:latin typeface="Aptos"/>
                <a:ea typeface="Aptos"/>
                <a:cs typeface="Aptos"/>
              </a:defRPr>
            </a:pPr>
            <a:r>
              <a:rPr sz="1875" b="1">
                <a:solidFill>
                  <a:srgbClr val="157D80"/>
                </a:solidFill>
                <a:latin typeface="Aptos"/>
                <a:ea typeface="Aptos"/>
                <a:cs typeface="Aptos"/>
              </a:rPr>
              <a:t>22–23 OCT</a:t>
            </a:r>
          </a:p>
        </p:txBody>
      </p:sp>
      <p:sp>
        <p:nvSpPr>
          <p:cNvPr id="9" name="">
            <a:extLst xmlns:a="http://schemas.openxmlformats.org/drawingml/2006/main">
              <a:ext uri="{FF2B5EF4-FFF2-40B4-BE49-F238E27FC236}">
                <a16:creationId xmlns:a16="http://schemas.microsoft.com/office/drawing/2014/main" id="{30B10408-B47D-4D49-BCBA-B19154F2962A}"/>
              </a:ext>
            </a:extLst>
          </p:cNvPr>
          <p:cNvSpPr>
            <a:spLocks xmlns:a="http://schemas.openxmlformats.org/drawingml/2006/main" noGrp="1"/>
          </p:cNvSpPr>
          <p:nvPr/>
        </p:nvSpPr>
        <p:spPr>
          <a:xfrm xmlns:a="http://schemas.openxmlformats.org/drawingml/2006/main">
            <a:off x="742950" y="3048000"/>
            <a:ext cx="4133850" cy="2876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0">
                <a:solidFill>
                  <a:srgbClr val="49616A"/>
                </a:solidFill>
                <a:latin typeface="Aptos"/>
                <a:ea typeface="Aptos"/>
                <a:cs typeface="Aptos"/>
              </a:defRPr>
            </a:defPPr>
          </a:lstStyle>
          <a:p xmlns:a="http://schemas.openxmlformats.org/drawingml/2006/main">
            <a:pPr>
              <a:buNone/>
              <a:defRPr sz="2250" b="0">
                <a:solidFill>
                  <a:srgbClr val="49616A"/>
                </a:solidFill>
                <a:latin typeface="Aptos"/>
                <a:ea typeface="Aptos"/>
                <a:cs typeface="Aptos"/>
              </a:defRPr>
            </a:pPr>
            <a:r>
              <a:rPr sz="2250" b="0">
                <a:solidFill>
                  <a:srgbClr val="49616A"/>
                </a:solidFill>
                <a:latin typeface="Aptos"/>
                <a:ea typeface="Aptos"/>
                <a:cs typeface="Aptos"/>
              </a:rPr>
              <a:t>Website caller merged</a:t>
            </a:r>
          </a:p>
          <a:p xmlns:a="http://schemas.openxmlformats.org/drawingml/2006/main">
            <a:pPr>
              <a:buNone/>
              <a:defRPr sz="2250" b="0">
                <a:solidFill>
                  <a:srgbClr val="49616A"/>
                </a:solidFill>
                <a:latin typeface="Aptos"/>
                <a:ea typeface="Aptos"/>
                <a:cs typeface="Aptos"/>
              </a:defRPr>
            </a:pPr>
            <a:r>
              <a:rPr sz="2250" b="0">
                <a:solidFill>
                  <a:srgbClr val="49616A"/>
                </a:solidFill>
                <a:latin typeface="Aptos"/>
                <a:ea typeface="Aptos"/>
                <a:cs typeface="Aptos"/>
              </a:rPr>
              <a:t>CEO checklist merged</a:t>
            </a:r>
          </a:p>
          <a:p xmlns:a="http://schemas.openxmlformats.org/drawingml/2006/main">
            <a:pPr>
              <a:buNone/>
              <a:defRPr sz="2250" b="0">
                <a:solidFill>
                  <a:srgbClr val="49616A"/>
                </a:solidFill>
                <a:latin typeface="Aptos"/>
                <a:ea typeface="Aptos"/>
                <a:cs typeface="Aptos"/>
              </a:defRPr>
            </a:pPr>
            <a:r>
              <a:rPr sz="2250" b="0">
                <a:solidFill>
                  <a:srgbClr val="49616A"/>
                </a:solidFill>
                <a:latin typeface="Aptos"/>
                <a:ea typeface="Aptos"/>
                <a:cs typeface="Aptos"/>
              </a:rPr>
              <a:t>Native comments merged</a:t>
            </a:r>
          </a:p>
          <a:p xmlns:a="http://schemas.openxmlformats.org/drawingml/2006/main">
            <a:pPr>
              <a:buNone/>
              <a:defRPr sz="2250" b="0">
                <a:solidFill>
                  <a:srgbClr val="49616A"/>
                </a:solidFill>
                <a:latin typeface="Aptos"/>
                <a:ea typeface="Aptos"/>
                <a:cs typeface="Aptos"/>
              </a:defRPr>
            </a:pPr>
            <a:r>
              <a:rPr sz="2250" b="0">
                <a:solidFill>
                  <a:srgbClr val="49616A"/>
                </a:solidFill>
                <a:latin typeface="Aptos"/>
                <a:ea typeface="Aptos"/>
                <a:cs typeface="Aptos"/>
              </a:rPr>
              <a:t>Live setup remains pending</a:t>
            </a:r>
          </a:p>
        </p:txBody>
      </p:sp>
      <p:sp>
        <p:nvSpPr>
          <p:cNvPr id="10" name="">
            <a:extLst xmlns:a="http://schemas.openxmlformats.org/drawingml/2006/main">
              <a:ext uri="{FF2B5EF4-FFF2-40B4-BE49-F238E27FC236}">
                <a16:creationId xmlns:a16="http://schemas.microsoft.com/office/drawing/2014/main" id="{44C87D87-17FC-4C14-B243-ABA206108EF6}"/>
              </a:ext>
            </a:extLst>
          </p:cNvPr>
          <p:cNvSpPr>
            <a:spLocks xmlns:a="http://schemas.openxmlformats.org/drawingml/2006/main" noGrp="1"/>
          </p:cNvSpPr>
          <p:nvPr/>
        </p:nvSpPr>
        <p:spPr>
          <a:xfrm xmlns:a="http://schemas.openxmlformats.org/drawingml/2006/main">
            <a:off x="5381625" y="2381250"/>
            <a:ext cx="4476750" cy="3619500"/>
          </a:xfrm>
          <a:prstGeom xmlns:a="http://schemas.openxmlformats.org/drawingml/2006/main" prst="rect">
            <a:avLst/>
          </a:prstGeom>
          <a:solidFill xmlns:a="http://schemas.openxmlformats.org/drawingml/2006/main">
            <a:srgbClr val="FFFFFF"/>
          </a:solidFill>
          <a:ln xmlns:a="http://schemas.openxmlformats.org/drawingml/2006/main" w="19050">
            <a:solidFill>
              <a:srgbClr val="157D80"/>
            </a:solidFill>
            <a:prstDash val="dash"/>
          </a:ln>
        </p:spPr>
      </p:sp>
      <p:sp>
        <p:nvSpPr>
          <p:cNvPr id="11" name="">
            <a:extLst xmlns:a="http://schemas.openxmlformats.org/drawingml/2006/main">
              <a:ext uri="{FF2B5EF4-FFF2-40B4-BE49-F238E27FC236}">
                <a16:creationId xmlns:a16="http://schemas.microsoft.com/office/drawing/2014/main" id="{C204AB85-AA3F-478A-98AE-1CBD71E38CD3}"/>
              </a:ext>
            </a:extLst>
          </p:cNvPr>
          <p:cNvSpPr>
            <a:spLocks xmlns:a="http://schemas.openxmlformats.org/drawingml/2006/main" noGrp="1"/>
          </p:cNvSpPr>
          <p:nvPr/>
        </p:nvSpPr>
        <p:spPr>
          <a:xfrm xmlns:a="http://schemas.openxmlformats.org/drawingml/2006/main">
            <a:off x="5553075" y="2514600"/>
            <a:ext cx="41338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1">
                <a:solidFill>
                  <a:srgbClr val="157D80"/>
                </a:solidFill>
                <a:latin typeface="Aptos"/>
                <a:ea typeface="Aptos"/>
                <a:cs typeface="Aptos"/>
              </a:defRPr>
            </a:defPPr>
          </a:lstStyle>
          <a:p xmlns:a="http://schemas.openxmlformats.org/drawingml/2006/main">
            <a:pPr>
              <a:buNone/>
              <a:defRPr sz="1875" b="1">
                <a:solidFill>
                  <a:srgbClr val="157D80"/>
                </a:solidFill>
                <a:latin typeface="Aptos"/>
                <a:ea typeface="Aptos"/>
                <a:cs typeface="Aptos"/>
              </a:defRPr>
            </a:pPr>
            <a:r>
              <a:rPr sz="1875" b="1">
                <a:solidFill>
                  <a:srgbClr val="157D80"/>
                </a:solidFill>
                <a:latin typeface="Aptos"/>
                <a:ea typeface="Aptos"/>
                <a:cs typeface="Aptos"/>
              </a:rPr>
              <a:t>23–27 OCT</a:t>
            </a:r>
          </a:p>
        </p:txBody>
      </p:sp>
      <p:sp>
        <p:nvSpPr>
          <p:cNvPr id="12" name="">
            <a:extLst xmlns:a="http://schemas.openxmlformats.org/drawingml/2006/main">
              <a:ext uri="{FF2B5EF4-FFF2-40B4-BE49-F238E27FC236}">
                <a16:creationId xmlns:a16="http://schemas.microsoft.com/office/drawing/2014/main" id="{F0672BBB-ED90-449A-BE6C-57BDA8427636}"/>
              </a:ext>
            </a:extLst>
          </p:cNvPr>
          <p:cNvSpPr>
            <a:spLocks xmlns:a="http://schemas.openxmlformats.org/drawingml/2006/main" noGrp="1"/>
          </p:cNvSpPr>
          <p:nvPr/>
        </p:nvSpPr>
        <p:spPr>
          <a:xfrm xmlns:a="http://schemas.openxmlformats.org/drawingml/2006/main">
            <a:off x="5553075" y="3048000"/>
            <a:ext cx="4133850" cy="2876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0">
                <a:solidFill>
                  <a:srgbClr val="49616A"/>
                </a:solidFill>
                <a:latin typeface="Aptos"/>
                <a:ea typeface="Aptos"/>
                <a:cs typeface="Aptos"/>
              </a:defRPr>
            </a:defPPr>
          </a:lstStyle>
          <a:p xmlns:a="http://schemas.openxmlformats.org/drawingml/2006/main">
            <a:pPr>
              <a:buNone/>
              <a:defRPr sz="2250" b="0">
                <a:solidFill>
                  <a:srgbClr val="49616A"/>
                </a:solidFill>
                <a:latin typeface="Aptos"/>
                <a:ea typeface="Aptos"/>
                <a:cs typeface="Aptos"/>
              </a:defRPr>
            </a:pPr>
            <a:r>
              <a:rPr sz="2250" b="0">
                <a:solidFill>
                  <a:srgbClr val="49616A"/>
                </a:solidFill>
                <a:latin typeface="Aptos"/>
                <a:ea typeface="Aptos"/>
                <a:cs typeface="Aptos"/>
              </a:rPr>
              <a:t>Finish live adapters</a:t>
            </a:r>
          </a:p>
          <a:p xmlns:a="http://schemas.openxmlformats.org/drawingml/2006/main">
            <a:pPr>
              <a:buNone/>
              <a:defRPr sz="2250" b="0">
                <a:solidFill>
                  <a:srgbClr val="49616A"/>
                </a:solidFill>
                <a:latin typeface="Aptos"/>
                <a:ea typeface="Aptos"/>
                <a:cs typeface="Aptos"/>
              </a:defRPr>
            </a:pPr>
            <a:r>
              <a:rPr sz="2250" b="0">
                <a:solidFill>
                  <a:srgbClr val="49616A"/>
                </a:solidFill>
                <a:latin typeface="Aptos"/>
                <a:ea typeface="Aptos"/>
                <a:cs typeface="Aptos"/>
              </a:rPr>
              <a:t>Run repeatable upgrade checks</a:t>
            </a:r>
          </a:p>
          <a:p xmlns:a="http://schemas.openxmlformats.org/drawingml/2006/main">
            <a:pPr>
              <a:buNone/>
              <a:defRPr sz="2250" b="0">
                <a:solidFill>
                  <a:srgbClr val="49616A"/>
                </a:solidFill>
                <a:latin typeface="Aptos"/>
                <a:ea typeface="Aptos"/>
                <a:cs typeface="Aptos"/>
              </a:defRPr>
            </a:pPr>
            <a:r>
              <a:rPr sz="2250" b="0">
                <a:solidFill>
                  <a:srgbClr val="49616A"/>
                </a:solidFill>
                <a:latin typeface="Aptos"/>
                <a:ea typeface="Aptos"/>
                <a:cs typeface="Aptos"/>
              </a:rPr>
              <a:t>Test member contribution</a:t>
            </a:r>
          </a:p>
          <a:p xmlns:a="http://schemas.openxmlformats.org/drawingml/2006/main">
            <a:pPr>
              <a:buNone/>
              <a:defRPr sz="2250" b="0">
                <a:solidFill>
                  <a:srgbClr val="49616A"/>
                </a:solidFill>
                <a:latin typeface="Aptos"/>
                <a:ea typeface="Aptos"/>
                <a:cs typeface="Aptos"/>
              </a:defRPr>
            </a:pPr>
            <a:r>
              <a:rPr sz="2250" b="0">
                <a:solidFill>
                  <a:srgbClr val="49616A"/>
                </a:solidFill>
                <a:latin typeface="Aptos"/>
                <a:ea typeface="Aptos"/>
                <a:cs typeface="Aptos"/>
              </a:rPr>
              <a:t>Test backup recovery</a:t>
            </a:r>
          </a:p>
        </p:txBody>
      </p:sp>
      <p:sp>
        <p:nvSpPr>
          <p:cNvPr id="13" name="">
            <a:extLst xmlns:a="http://schemas.openxmlformats.org/drawingml/2006/main">
              <a:ext uri="{FF2B5EF4-FFF2-40B4-BE49-F238E27FC236}">
                <a16:creationId xmlns:a16="http://schemas.microsoft.com/office/drawing/2014/main" id="{95122083-D8F6-4998-A5DD-7F6E8DFD39A3}"/>
              </a:ext>
            </a:extLst>
          </p:cNvPr>
          <p:cNvSpPr>
            <a:spLocks xmlns:a="http://schemas.openxmlformats.org/drawingml/2006/main" noGrp="1"/>
          </p:cNvSpPr>
          <p:nvPr/>
        </p:nvSpPr>
        <p:spPr>
          <a:xfrm xmlns:a="http://schemas.openxmlformats.org/drawingml/2006/main">
            <a:off x="10191750" y="2381250"/>
            <a:ext cx="4476750" cy="3619500"/>
          </a:xfrm>
          <a:prstGeom xmlns:a="http://schemas.openxmlformats.org/drawingml/2006/main" prst="rect">
            <a:avLst/>
          </a:prstGeom>
          <a:solidFill xmlns:a="http://schemas.openxmlformats.org/drawingml/2006/main">
            <a:srgbClr val="FFFFFF"/>
          </a:solidFill>
          <a:ln xmlns:a="http://schemas.openxmlformats.org/drawingml/2006/main" w="19050">
            <a:solidFill>
              <a:srgbClr val="157D80"/>
            </a:solidFill>
            <a:prstDash val="dash"/>
          </a:ln>
        </p:spPr>
      </p:sp>
      <p:sp>
        <p:nvSpPr>
          <p:cNvPr id="14" name="">
            <a:extLst xmlns:a="http://schemas.openxmlformats.org/drawingml/2006/main">
              <a:ext uri="{FF2B5EF4-FFF2-40B4-BE49-F238E27FC236}">
                <a16:creationId xmlns:a16="http://schemas.microsoft.com/office/drawing/2014/main" id="{CD33B486-CFD9-4B91-B987-69295E0AB051}"/>
              </a:ext>
            </a:extLst>
          </p:cNvPr>
          <p:cNvSpPr>
            <a:spLocks xmlns:a="http://schemas.openxmlformats.org/drawingml/2006/main" noGrp="1"/>
          </p:cNvSpPr>
          <p:nvPr/>
        </p:nvSpPr>
        <p:spPr>
          <a:xfrm xmlns:a="http://schemas.openxmlformats.org/drawingml/2006/main">
            <a:off x="10363200" y="2514600"/>
            <a:ext cx="41338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1">
                <a:solidFill>
                  <a:srgbClr val="157D80"/>
                </a:solidFill>
                <a:latin typeface="Aptos"/>
                <a:ea typeface="Aptos"/>
                <a:cs typeface="Aptos"/>
              </a:defRPr>
            </a:defPPr>
          </a:lstStyle>
          <a:p xmlns:a="http://schemas.openxmlformats.org/drawingml/2006/main">
            <a:pPr>
              <a:buNone/>
              <a:defRPr sz="1875" b="1">
                <a:solidFill>
                  <a:srgbClr val="157D80"/>
                </a:solidFill>
                <a:latin typeface="Aptos"/>
                <a:ea typeface="Aptos"/>
                <a:cs typeface="Aptos"/>
              </a:defRPr>
            </a:pPr>
            <a:r>
              <a:rPr sz="1875" b="1">
                <a:solidFill>
                  <a:srgbClr val="157D80"/>
                </a:solidFill>
                <a:latin typeface="Aptos"/>
                <a:ea typeface="Aptos"/>
                <a:cs typeface="Aptos"/>
              </a:rPr>
              <a:t>28–30 OCT</a:t>
            </a:r>
          </a:p>
        </p:txBody>
      </p:sp>
      <p:sp>
        <p:nvSpPr>
          <p:cNvPr id="15" name="">
            <a:extLst xmlns:a="http://schemas.openxmlformats.org/drawingml/2006/main">
              <a:ext uri="{FF2B5EF4-FFF2-40B4-BE49-F238E27FC236}">
                <a16:creationId xmlns:a16="http://schemas.microsoft.com/office/drawing/2014/main" id="{4554D70B-183C-4629-8613-DBCE74744C5B}"/>
              </a:ext>
            </a:extLst>
          </p:cNvPr>
          <p:cNvSpPr>
            <a:spLocks xmlns:a="http://schemas.openxmlformats.org/drawingml/2006/main" noGrp="1"/>
          </p:cNvSpPr>
          <p:nvPr/>
        </p:nvSpPr>
        <p:spPr>
          <a:xfrm xmlns:a="http://schemas.openxmlformats.org/drawingml/2006/main">
            <a:off x="10363200" y="3048000"/>
            <a:ext cx="4133850" cy="2876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0">
                <a:solidFill>
                  <a:srgbClr val="49616A"/>
                </a:solidFill>
                <a:latin typeface="Aptos"/>
                <a:ea typeface="Aptos"/>
                <a:cs typeface="Aptos"/>
              </a:defRPr>
            </a:defPPr>
          </a:lstStyle>
          <a:p xmlns:a="http://schemas.openxmlformats.org/drawingml/2006/main">
            <a:pPr>
              <a:buNone/>
              <a:defRPr sz="2250" b="0">
                <a:solidFill>
                  <a:srgbClr val="49616A"/>
                </a:solidFill>
                <a:latin typeface="Aptos"/>
                <a:ea typeface="Aptos"/>
                <a:cs typeface="Aptos"/>
              </a:defRPr>
            </a:pPr>
            <a:r>
              <a:rPr sz="2250" b="0">
                <a:solidFill>
                  <a:srgbClr val="49616A"/>
                </a:solidFill>
                <a:latin typeface="Aptos"/>
                <a:ea typeface="Aptos"/>
                <a:cs typeface="Aptos"/>
              </a:rPr>
              <a:t>Test recovery and isolation</a:t>
            </a:r>
          </a:p>
          <a:p xmlns:a="http://schemas.openxmlformats.org/drawingml/2006/main">
            <a:pPr>
              <a:buNone/>
              <a:defRPr sz="2250" b="0">
                <a:solidFill>
                  <a:srgbClr val="49616A"/>
                </a:solidFill>
                <a:latin typeface="Aptos"/>
                <a:ea typeface="Aptos"/>
                <a:cs typeface="Aptos"/>
              </a:defRPr>
            </a:pPr>
            <a:r>
              <a:rPr sz="2250" b="0">
                <a:solidFill>
                  <a:srgbClr val="49616A"/>
                </a:solidFill>
                <a:latin typeface="Aptos"/>
                <a:ea typeface="Aptos"/>
                <a:cs typeface="Aptos"/>
              </a:rPr>
              <a:t>Proposed Oct 29 rehearsal buffer</a:t>
            </a:r>
          </a:p>
          <a:p xmlns:a="http://schemas.openxmlformats.org/drawingml/2006/main">
            <a:pPr>
              <a:buNone/>
              <a:defRPr sz="2250" b="0">
                <a:solidFill>
                  <a:srgbClr val="49616A"/>
                </a:solidFill>
                <a:latin typeface="Aptos"/>
                <a:ea typeface="Aptos"/>
                <a:cs typeface="Aptos"/>
              </a:defRPr>
            </a:pPr>
            <a:r>
              <a:rPr sz="2250" b="0">
                <a:solidFill>
                  <a:srgbClr val="49616A"/>
                </a:solidFill>
                <a:latin typeface="Aptos"/>
                <a:ea typeface="Aptos"/>
                <a:cs typeface="Aptos"/>
              </a:rPr>
              <a:t>Deck and reproducible evidence</a:t>
            </a:r>
          </a:p>
          <a:p xmlns:a="http://schemas.openxmlformats.org/drawingml/2006/main">
            <a:pPr>
              <a:buNone/>
              <a:defRPr sz="2250" b="0">
                <a:solidFill>
                  <a:srgbClr val="49616A"/>
                </a:solidFill>
                <a:latin typeface="Aptos"/>
                <a:ea typeface="Aptos"/>
                <a:cs typeface="Aptos"/>
              </a:defRPr>
            </a:pPr>
            <a:r>
              <a:rPr sz="2250" b="0">
                <a:solidFill>
                  <a:srgbClr val="49616A"/>
                </a:solidFill>
                <a:latin typeface="Aptos"/>
                <a:ea typeface="Aptos"/>
                <a:cs typeface="Aptos"/>
              </a:rPr>
              <a:t>Oct 30 owner submission handoff</a:t>
            </a:r>
          </a:p>
        </p:txBody>
      </p:sp>
      <p:sp>
        <p:nvSpPr>
          <p:cNvPr id="16" name="">
            <a:extLst xmlns:a="http://schemas.openxmlformats.org/drawingml/2006/main">
              <a:ext uri="{FF2B5EF4-FFF2-40B4-BE49-F238E27FC236}">
                <a16:creationId xmlns:a16="http://schemas.microsoft.com/office/drawing/2014/main" id="{660BE28A-2F62-40D0-835D-1185992D3F3E}"/>
              </a:ext>
            </a:extLst>
          </p:cNvPr>
          <p:cNvSpPr>
            <a:spLocks xmlns:a="http://schemas.openxmlformats.org/drawingml/2006/main" noGrp="1"/>
          </p:cNvSpPr>
          <p:nvPr/>
        </p:nvSpPr>
        <p:spPr>
          <a:xfrm xmlns:a="http://schemas.openxmlformats.org/drawingml/2006/main">
            <a:off x="571500" y="6572250"/>
            <a:ext cx="140970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100" b="0">
                <a:solidFill>
                  <a:srgbClr val="132E38"/>
                </a:solidFill>
                <a:latin typeface="Aptos"/>
                <a:ea typeface="Aptos"/>
                <a:cs typeface="Aptos"/>
              </a:defRPr>
            </a:defPPr>
          </a:lstStyle>
          <a:p xmlns:a="http://schemas.openxmlformats.org/drawingml/2006/main">
            <a:pPr>
              <a:buNone/>
              <a:defRPr sz="2100" b="0">
                <a:solidFill>
                  <a:srgbClr val="132E38"/>
                </a:solidFill>
                <a:latin typeface="Aptos"/>
                <a:ea typeface="Aptos"/>
                <a:cs typeface="Aptos"/>
              </a:defRPr>
            </a:pPr>
            <a:r>
              <a:rPr sz="2100" b="0">
                <a:solidFill>
                  <a:srgbClr val="132E38"/>
                </a:solidFill>
                <a:latin typeface="Aptos"/>
                <a:ea typeface="Aptos"/>
                <a:cs typeface="Aptos"/>
              </a:rPr>
              <a:t>Cloud-first execution. No live deployment or new credentials in this work. Keep the five artifacts aligned before delivery.</a:t>
            </a:r>
          </a:p>
        </p:txBody>
      </p:sp>
    </p:spTree>
    <p:extLst>
      <p:ext uri="{BB962C8B-B14F-4D97-AF65-F5344CB8AC3E}">
        <p14:creationId xmlns:p14="http://schemas.microsoft.com/office/powerpoint/2010/main" val="30161371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2026-10-23T11:21:09.7910000Z</dcterms:created>
  <dcterms:modified xsi:type="dcterms:W3CDTF">2026-10-23T11:21:09.7910000Z</dcterms:modified>
</coreProperties>
</file>