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bd7dab74cc4911" /><Relationship Type="http://schemas.openxmlformats.org/officeDocument/2006/relationships/extended-properties" Target="/docProps/app.xml" Id="R8c22faf0dcd74b3b" /><Relationship Type="http://schemas.openxmlformats.org/officeDocument/2006/relationships/officeDocument" Target="/ppt/presentation.xml" Id="R457a9a857e214942" /></Relationships>
</file>

<file path=ppt/presentation.xml><?xml version="1.0" encoding="utf-8"?>
<p:presentation xmlns:p="http://schemas.openxmlformats.org/presentationml/2006/main">
  <p:sldMasterIdLst>
    <p:sldMasterId xmlns:r="http://schemas.openxmlformats.org/officeDocument/2006/relationships" id="2147483648" r:id="Re7ddbcfda06747ab"/>
  </p:sldMasterIdLst>
  <p:notesMasterIdLst>
    <p:notesMasterId xmlns:r="http://schemas.openxmlformats.org/officeDocument/2006/relationships" r:id="R1471660a58144325"/>
  </p:notesMasterIdLst>
  <p:sldIdLst>
    <p:sldId xmlns:r="http://schemas.openxmlformats.org/officeDocument/2006/relationships" id="256" r:id="Rfb5b696808f94886"/>
    <p:sldId xmlns:r="http://schemas.openxmlformats.org/officeDocument/2006/relationships" id="257" r:id="R88a131d998e348d4"/>
    <p:sldId xmlns:r="http://schemas.openxmlformats.org/officeDocument/2006/relationships" id="258" r:id="R9b898905b5484359"/>
    <p:sldId xmlns:r="http://schemas.openxmlformats.org/officeDocument/2006/relationships" id="259" r:id="Rb95b11312fed4fb1"/>
    <p:sldId xmlns:r="http://schemas.openxmlformats.org/officeDocument/2006/relationships" id="260" r:id="Rd7f2a2ed4dd64ff8"/>
    <p:sldId xmlns:r="http://schemas.openxmlformats.org/officeDocument/2006/relationships" id="261" r:id="Rd979f7c227ed4c85"/>
    <p:sldId xmlns:r="http://schemas.openxmlformats.org/officeDocument/2006/relationships" id="262" r:id="R9530d9a3c9144107"/>
    <p:sldId xmlns:r="http://schemas.openxmlformats.org/officeDocument/2006/relationships" id="263" r:id="Rf34e13d35cb345e1"/>
    <p:sldId xmlns:r="http://schemas.openxmlformats.org/officeDocument/2006/relationships" id="264" r:id="R4633fd83b2404ec3"/>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33bb0c918d04396" /><Relationship Type="http://schemas.openxmlformats.org/officeDocument/2006/relationships/slideMaster" Target="/ppt/slideMasters/slideMaster1.xml" Id="Re7ddbcfda06747ab" /><Relationship Type="http://schemas.openxmlformats.org/officeDocument/2006/relationships/notesMaster" Target="/ppt/notesMasters/notesMaster1.xml" Id="R1471660a58144325" /><Relationship Type="http://schemas.openxmlformats.org/officeDocument/2006/relationships/presProps" Target="/ppt/presProps.xml" Id="R6e2355f5ef214812" /><Relationship Type="http://schemas.openxmlformats.org/officeDocument/2006/relationships/tableStyles" Target="/ppt/tableStyles.xml" Id="R142ec33c2cdb45c7" /><Relationship Type="http://schemas.openxmlformats.org/officeDocument/2006/relationships/slide" Target="/ppt/slides/slide1.xml" Id="Rfb5b696808f94886" /><Relationship Type="http://schemas.openxmlformats.org/officeDocument/2006/relationships/slide" Target="/ppt/slides/slide2.xml" Id="R88a131d998e348d4" /><Relationship Type="http://schemas.openxmlformats.org/officeDocument/2006/relationships/slide" Target="/ppt/slides/slide3.xml" Id="R9b898905b5484359" /><Relationship Type="http://schemas.openxmlformats.org/officeDocument/2006/relationships/slide" Target="/ppt/slides/slide4.xml" Id="Rb95b11312fed4fb1" /><Relationship Type="http://schemas.openxmlformats.org/officeDocument/2006/relationships/slide" Target="/ppt/slides/slide5.xml" Id="Rd7f2a2ed4dd64ff8" /><Relationship Type="http://schemas.openxmlformats.org/officeDocument/2006/relationships/slide" Target="/ppt/slides/slide6.xml" Id="Rd979f7c227ed4c85" /><Relationship Type="http://schemas.openxmlformats.org/officeDocument/2006/relationships/slide" Target="/ppt/slides/slide7.xml" Id="R9530d9a3c9144107" /><Relationship Type="http://schemas.openxmlformats.org/officeDocument/2006/relationships/slide" Target="/ppt/slides/slide8.xml" Id="Rf34e13d35cb345e1" /><Relationship Type="http://schemas.openxmlformats.org/officeDocument/2006/relationships/slide" Target="/ppt/slides/slide9.xml" Id="R4633fd83b2404ec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9831d5ec1f145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f0c0777cb7c4be1" /><Relationship Type="http://schemas.openxmlformats.org/officeDocument/2006/relationships/notesMaster" Target="/ppt/notesMasters/notesMaster1.xml" Id="R8f2595c38dbe4e89" /></Relationships>
</file>

<file path=ppt/notesSlides/_rels/notesSlide2.xml.rels>&#65279;<?xml version="1.0" encoding="utf-8"?><Relationships xmlns="http://schemas.openxmlformats.org/package/2006/relationships"><Relationship Type="http://schemas.openxmlformats.org/officeDocument/2006/relationships/slide" Target="/ppt/slides/slide2.xml" Id="Ra78633f7f1114302" /><Relationship Type="http://schemas.openxmlformats.org/officeDocument/2006/relationships/notesMaster" Target="/ppt/notesMasters/notesMaster1.xml" Id="Rcea808822f19430f" /></Relationships>
</file>

<file path=ppt/notesSlides/_rels/notesSlide3.xml.rels>&#65279;<?xml version="1.0" encoding="utf-8"?><Relationships xmlns="http://schemas.openxmlformats.org/package/2006/relationships"><Relationship Type="http://schemas.openxmlformats.org/officeDocument/2006/relationships/slide" Target="/ppt/slides/slide3.xml" Id="R484385dff240493e" /><Relationship Type="http://schemas.openxmlformats.org/officeDocument/2006/relationships/notesMaster" Target="/ppt/notesMasters/notesMaster1.xml" Id="R6a434bf123184dbc" /></Relationships>
</file>

<file path=ppt/notesSlides/_rels/notesSlide4.xml.rels>&#65279;<?xml version="1.0" encoding="utf-8"?><Relationships xmlns="http://schemas.openxmlformats.org/package/2006/relationships"><Relationship Type="http://schemas.openxmlformats.org/officeDocument/2006/relationships/slide" Target="/ppt/slides/slide4.xml" Id="Rb858a23b747c46ff" /><Relationship Type="http://schemas.openxmlformats.org/officeDocument/2006/relationships/notesMaster" Target="/ppt/notesMasters/notesMaster1.xml" Id="Rcaef4a2558a8414c" /></Relationships>
</file>

<file path=ppt/notesSlides/_rels/notesSlide5.xml.rels>&#65279;<?xml version="1.0" encoding="utf-8"?><Relationships xmlns="http://schemas.openxmlformats.org/package/2006/relationships"><Relationship Type="http://schemas.openxmlformats.org/officeDocument/2006/relationships/slide" Target="/ppt/slides/slide5.xml" Id="R3987f3aa1a994f91" /><Relationship Type="http://schemas.openxmlformats.org/officeDocument/2006/relationships/notesMaster" Target="/ppt/notesMasters/notesMaster1.xml" Id="R900cfa5f7cc2459a" /></Relationships>
</file>

<file path=ppt/notesSlides/_rels/notesSlide6.xml.rels>&#65279;<?xml version="1.0" encoding="utf-8"?><Relationships xmlns="http://schemas.openxmlformats.org/package/2006/relationships"><Relationship Type="http://schemas.openxmlformats.org/officeDocument/2006/relationships/slide" Target="/ppt/slides/slide6.xml" Id="Re46a44ad8c154b8d" /><Relationship Type="http://schemas.openxmlformats.org/officeDocument/2006/relationships/notesMaster" Target="/ppt/notesMasters/notesMaster1.xml" Id="R16012e92ae37463c" /></Relationships>
</file>

<file path=ppt/notesSlides/_rels/notesSlide7.xml.rels>&#65279;<?xml version="1.0" encoding="utf-8"?><Relationships xmlns="http://schemas.openxmlformats.org/package/2006/relationships"><Relationship Type="http://schemas.openxmlformats.org/officeDocument/2006/relationships/slide" Target="/ppt/slides/slide7.xml" Id="R45c97a70790d4fa9" /><Relationship Type="http://schemas.openxmlformats.org/officeDocument/2006/relationships/notesMaster" Target="/ppt/notesMasters/notesMaster1.xml" Id="R6eec9ba024ed464d" /></Relationships>
</file>

<file path=ppt/notesSlides/_rels/notesSlide8.xml.rels>&#65279;<?xml version="1.0" encoding="utf-8"?><Relationships xmlns="http://schemas.openxmlformats.org/package/2006/relationships"><Relationship Type="http://schemas.openxmlformats.org/officeDocument/2006/relationships/slide" Target="/ppt/slides/slide8.xml" Id="R8218011d1aa94fc4" /><Relationship Type="http://schemas.openxmlformats.org/officeDocument/2006/relationships/notesMaster" Target="/ppt/notesMasters/notesMaster1.xml" Id="R14fe42c2883440b0" /></Relationships>
</file>

<file path=ppt/notesSlides/_rels/notesSlide9.xml.rels>&#65279;<?xml version="1.0" encoding="utf-8"?><Relationships xmlns="http://schemas.openxmlformats.org/package/2006/relationships"><Relationship Type="http://schemas.openxmlformats.org/officeDocument/2006/relationships/slide" Target="/ppt/slides/slide9.xml" Id="R30f302bd8ba74cc5" /><Relationship Type="http://schemas.openxmlformats.org/officeDocument/2006/relationships/notesMaster" Target="/ppt/notesMasters/notesMaster1.xml" Id="Rcd6d418e0173407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§§1–3 and R-I01–R-I04, plan.md, and docs/implementation/live-handoff-checklist.md.</a:t>
            </a:r>
          </a:p>
          <a:p xmlns:a="http://schemas.openxmlformats.org/drawingml/2006/main">
            <a:r>
              <a:t/>
            </a:r>
          </a:p>
          <a:p xmlns:a="http://schemas.openxmlformats.org/drawingml/2006/main">
            <a:r>
              <a:t>Paperclip owns tasks, agents, runs, reviews and budgets. Buzz and the dashboard expose the same task and decision IDs. The bridge carries paired signed messages and native results. Inertia adapters connect domain services and the required partner graph.</a:t>
            </a:r>
          </a:p>
          <a:p xmlns:a="http://schemas.openxmlformats.org/drawingml/2006/main">
            <a:r>
              <a:t/>
            </a:r>
          </a:p>
          <a:p xmlns:a="http://schemas.openxmlformats.org/drawingml/2006/main">
            <a:r>
              <a:t>Next connections: live host/relay pairing, general intake, runtime enrollment and domain adapters. Dashed lines mark connections awaiting integration.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§2 and R-C01–R-C05; Operational DAO partner graph design, 23 October 2026.</a:t>
            </a:r>
          </a:p>
          <a:p xmlns:a="http://schemas.openxmlformats.org/drawingml/2006/main">
            <a:r>
              <a:t/>
            </a:r>
          </a:p>
          <a:p xmlns:a="http://schemas.openxmlformats.org/drawingml/2006/main">
            <a:r>
              <a:t>The CEO agent prioritizes intake within configured authority and budgets. Paperclip checks dependencies and assigns exclusive checkout. Validation applies task criteria and required reviews. Failed criteria return work for revision.</a:t>
            </a:r>
          </a:p>
          <a:p xmlns:a="http://schemas.openxmlformats.org/drawingml/2006/main">
            <a:r>
              <a:t/>
            </a:r>
          </a:p>
          <a:p xmlns:a="http://schemas.openxmlformats.org/drawingml/2006/main">
            <a:r>
              <a:t>Research completion returns an answer and a durable knowledge receipt. Sufficient saved evidence permits a no-change receipt. Useful new evidence commits with history and projection outbox entries in PostgreSQL. Projection receipts track any pending graph refresh through reconciliation.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R-M01–R-M04 and R-F04; docs/integrations/dao-website-member-publication-proposal.md; dao-website-publication-v1.1-clarifications.md.</a:t>
            </a:r>
          </a:p>
          <a:p xmlns:a="http://schemas.openxmlformats.org/drawingml/2006/main">
            <a:r>
              <a:t/>
            </a:r>
          </a:p>
          <a:p xmlns:a="http://schemas.openxmlformats.org/drawingml/2006/main">
            <a:r>
              <a:t>Roundtable preserves original meeting sources, prepares a cleaned transcript and separate notes, and extracts source-linked candidates. Summary-only material produces notes and a missing-transcript task. Trusted admission retains exact evidence, revisions, audience and project/opportunity scope. Decisions and commitments require an authorized decision record. Published links return to the Paperclip task and Buzz thread.</a:t>
            </a:r>
          </a:p>
          <a:p xmlns:a="http://schemas.openxmlformats.org/drawingml/2006/main">
            <a:r>
              <a:t/>
            </a:r>
          </a:p>
          <a:p xmlns:a="http://schemas.openxmlformats.org/drawingml/2006/main">
            <a:r>
              <a:t>Next: connect authorized Drive readiness, website membership/publication, action intake and the trusted importer/admission policy.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R-G01–R-G04 and R-F01–R-F08; docs/development/funding-enhancement/spec.md; docs/development/native-grant-workflow.md.</a:t>
            </a:r>
          </a:p>
          <a:p xmlns:a="http://schemas.openxmlformats.org/drawingml/2006/main">
            <a:r>
              <a:t/>
            </a:r>
          </a:p>
          <a:p xmlns:a="http://schemas.openxmlformats.org/drawingml/2006/main">
            <a:r>
              <a:t>Agents query saved partners, research gaps and save useful findings. Independent review checks claims and remaining work. The DAO meeting requests further preparation or advances a ready packet to authorized human signoff.</a:t>
            </a:r>
          </a:p>
          <a:p xmlns:a="http://schemas.openxmlformats.org/drawingml/2006/main">
            <a:r>
              <a:t/>
            </a:r>
          </a:p>
          <a:p xmlns:a="http://schemas.openxmlformats.org/drawingml/2006/main">
            <a:r>
              <a:t>The frozen direct-application packet binds exact content, attachments and review references to its required final Vocdoni vote. Verified approval opens the separately authorized manual submission path. An optional shortlist vote remains a distinct decision.</a:t>
            </a:r>
          </a:p>
          <a:p xmlns:a="http://schemas.openxmlformats.org/drawingml/2006/main">
            <a:r>
              <a:t/>
            </a:r>
          </a:p>
          <a:p xmlns:a="http://schemas.openxmlformats.org/drawingml/2006/main">
            <a:r>
              <a:t>Next: connect trusted human review and live final-vote verification.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§2 and R-C01–R-C05; docs/implementation/live-handoff-checklist.md.</a:t>
            </a:r>
          </a:p>
          <a:p xmlns:a="http://schemas.openxmlformats.org/drawingml/2006/main">
            <a:r>
              <a:t/>
            </a:r>
          </a:p>
          <a:p xmlns:a="http://schemas.openxmlformats.org/drawingml/2006/main">
            <a:r>
              <a:t>An enrolled member agent receives an assigned task, authorized evidence and scoped tools in a sandbox and isolated worktree. It returns candidate evidence. Trusted services validate identity, task revision and source scope, then apply required reviews and accept the task update. A designated human supplies authenticated decisions when required. Database, admin and publisher credentials stay in trusted services.</a:t>
            </a:r>
          </a:p>
          <a:p xmlns:a="http://schemas.openxmlformats.org/drawingml/2006/main">
            <a:r>
              <a:t/>
            </a:r>
          </a:p>
          <a:p xmlns:a="http://schemas.openxmlformats.org/drawingml/2006/main">
            <a:r>
              <a:t>Next: qualify member enrollment, live runtime isolation and contribution adapters.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§5; docs/development/dao-data-consolidation.md; funding-enhancement/spec.md R-F04–R-F05; Operational DAO partner graph design, 23 October 2026.</a:t>
            </a:r>
          </a:p>
          <a:p xmlns:a="http://schemas.openxmlformats.org/drawingml/2006/main">
            <a:r>
              <a:t/>
            </a:r>
          </a:p>
          <a:p xmlns:a="http://schemas.openxmlformats.org/drawingml/2006/main">
            <a:r>
              <a:t>Authoritative evidence: PostgreSQL. Retrieval index: Helix. Work and decisions: Paperclip. Website and meeting services retain their records, canonical IDs and permissions. The research transaction writes admitted facts, history and a projection outbox together.</a:t>
            </a:r>
          </a:p>
          <a:p xmlns:a="http://schemas.openxmlformats.org/drawingml/2006/main">
            <a:r>
              <a:t/>
            </a:r>
          </a:p>
          <a:p xmlns:a="http://schemas.openxmlformats.org/drawingml/2006/main">
            <a:r>
              <a:t>Queries revalidate source revision, permissions and scope before returning names, contacts or evidence. Bounded authorized PG retrieval supports Helix recovery. Revocation takes effect at authoritative retrieval immediately.</a:t>
            </a:r>
          </a:p>
          <a:p xmlns:a="http://schemas.openxmlformats.org/drawingml/2006/main">
            <a:r>
              <a:t/>
            </a:r>
          </a:p>
          <a:p xmlns:a="http://schemas.openxmlformats.org/drawingml/2006/main">
            <a:r>
              <a:t>Next: qualify domain/schema isolation, PG concurrency and graph integration. Financial inputs retain period, accounting basis, currency and provenance. Production QuickBooks compatibility, cash evidence and spending authority require separate qualification. Broader 990 and semantic enrichment follow the core graph.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Operational DAO partner graph design and John's partnership context, 23 October 2026; https://www.techfortworth.org/made-manufacturing-accelerator; https://moonshotus.com/; https://liquidacre.com/; https://hack.fwtx.city/; https://www.irs.gov/pub/irs-soi/eo_co.csv; https://apps.irs.gov/pub/epostcard/data-download-pub78.zip.</a:t>
            </a:r>
          </a:p>
          <a:p xmlns:a="http://schemas.openxmlformats.org/drawingml/2006/main">
            <a:r>
              <a:t/>
            </a:r>
          </a:p>
          <a:p xmlns:a="http://schemas.openxmlformats.org/drawingml/2006/main">
            <a:r>
              <a:t>Maintain organizations, people, organizational contact roles, programs, projects, events, work history and relationship owners from the authorized source inventory. Every fact retains source/revision/hash, exact evidence, dates, audience and project/opportunity scope. Identity resolution keeps unresolved records explicit.</a:t>
            </a:r>
          </a:p>
          <a:p xmlns:a="http://schemas.openxmlformats.org/drawingml/2006/main">
            <a:r>
              <a:t/>
            </a:r>
          </a:p>
          <a:p xmlns:a="http://schemas.openxmlformats.org/drawingml/2006/main">
            <a:r>
              <a:t>Query and revalidate existing evidence first, using bounded PG fallback when needed. Sufficient evidence yields an answer and no-change receipt. A zero-delta receipt completes the work without a graph write. Otherwise research missing/stale facts and commit useful findings, including discoveries from rejected opportunities. Durable PG receipts support idempotent projection, replay and recovery. Current admitted evidence supports graph claims. Evidenced relationships and an identified DAO owner support introduction paths.</a:t>
            </a:r>
          </a:p>
          <a:p xmlns:a="http://schemas.openxmlformats.org/drawingml/2006/main">
            <a:r>
              <a:t/>
            </a:r>
          </a:p>
          <a:p xmlns:a="http://schemas.openxmlformats.org/drawingml/2006/main">
            <a:r>
              <a:t>MADE is a TechFW program. Moonshot and LiquidAcre are existing collaborators. Moonshot's contracting entity and the spoken Liquid Acres alias still require identity resolution. Evidence establishes roles and delivery stage. October 30 closing-host work remains planned.</a:t>
            </a:r>
          </a:p>
          <a:p xmlns:a="http://schemas.openxmlformats.org/drawingml/2006/main">
            <a:r>
              <a:t/>
            </a:r>
          </a:p>
          <a:p xmlns:a="http://schemas.openxmlformats.org/drawingml/2006/main">
            <a:r>
              <a:t>DAO EIN 41-2815082 matches official IRS 501(c)(3)/public-charity records. The filing address, Fort Worth program geography, determination-letter attachment and funder-specific eligibility remain separate evidence fields. Lead/fiscal roles and commitments require opportunity-specific evidence and approval.</a:t>
            </a:r>
          </a:p>
          <a:p xmlns:a="http://schemas.openxmlformats.org/drawingml/2006/main">
            <a:r>
              <a:t/>
            </a:r>
          </a:p>
          <a:p xmlns:a="http://schemas.openxmlformats.org/drawingml/2006/main">
            <a:r>
              <a:t>Next: complete typed assertions, writeback, projector and scoped queries, then qualify ongoing refresh, correction/revocation and end-to-end reuse.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docs/implementation/live-handoff-checklist.md; docs/integrations/dao-website-member-publication-proposal.md; docs/development/native-grant-workflow.md; spec.md R-Y01 and R-C01–R-C05; Operational DAO partner graph design, 23 October 2026.</a:t>
            </a:r>
          </a:p>
          <a:p xmlns:a="http://schemas.openxmlformats.org/drawingml/2006/main">
            <a:r>
              <a:t/>
            </a:r>
          </a:p>
          <a:p xmlns:a="http://schemas.openxmlformats.org/drawingml/2006/main">
            <a:r>
              <a:t>John owns website integration. Website reads enforce active membership. Funding human decisions and final-packet vote verification use separate adapters. The DFW knowledge service owns evidence admission/history and projection receipts. Website/meeting services retain source permissions. Inertia supplies source synchronization, graph projection and scoped queries. Paperclip schedules these jobs and assigns unresolved work. Y2 retains interest/source identity and links to existing work or a deduplicated follow-up.</a:t>
            </a:r>
          </a:p>
          <a:p xmlns:a="http://schemas.openxmlformats.org/drawingml/2006/main">
            <a:r>
              <a:t/>
            </a:r>
          </a:p>
          <a:p xmlns:a="http://schemas.openxmlformats.org/drawingml/2006/main">
            <a:r>
              <a:t>Next connections and component responsibilities appear in the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§1, plan.md and testing.md; Reusable DAO knowledge and financial snapshots implementation report; Operational DAO partner graph design; https://github.com/NetRxn/DFW-Gov-Fund/pull/42; https://github.com/NetRxn/DFW-Gov-Fund/actions/runs/40027003050. Status: 23 October 2026.</a:t>
            </a:r>
          </a:p>
          <a:p xmlns:a="http://schemas.openxmlformats.org/drawingml/2006/main">
            <a:r>
              <a:t/>
            </a:r>
          </a:p>
          <a:p xmlns:a="http://schemas.openxmlformats.org/drawingml/2006/main">
            <a:r>
              <a:t>Merged cores: Buzz bridge/plugin, Roundtable core/publication client, grant packet/vote binding, funding candidate/route review and portable skills 3.4.1. Reviewed public drafting, saved partner preparation and independent gap review await release qualification.</a:t>
            </a:r>
          </a:p>
          <a:p xmlns:a="http://schemas.openxmlformats.org/drawingml/2006/main">
            <a:r>
              <a:t/>
            </a:r>
          </a:p>
          <a:p xmlns:a="http://schemas.openxmlformats.org/drawingml/2006/main">
            <a:r>
              <a:t>Evidence/SQL reuse and the sanitized USD financial-fixture contract are locally implemented and independently approved, unpublished and not live. Trusted importer policy, real PostgreSQL concurrency/schema qualification and production financial-provider compatibility remain next steps.</a:t>
            </a:r>
          </a:p>
          <a:p xmlns:a="http://schemas.openxmlformats.org/drawingml/2006/main">
            <a:r>
              <a:t/>
            </a:r>
          </a:p>
          <a:p xmlns:a="http://schemas.openxmlformats.org/drawingml/2006/main">
            <a:r>
              <a:t>Discovery repairs are published as draft PR 42 on discovery/2026-10-23-refresh at head a342ab1cd38e2e6f65a98c2c582b14d70fa5adae. Source-qualification receipts from run 40027003050 are in review. The dated live scout is next after accepted qualification. July cases remain historical. Manual research and private replay retain separate provenance. The proposed knowledge delta awaits authorized ingestion.</a:t>
            </a:r>
          </a:p>
          <a:p xmlns:a="http://schemas.openxmlformats.org/drawingml/2006/main">
            <a:r>
              <a:t/>
            </a:r>
          </a:p>
          <a:p xmlns:a="http://schemas.openxmlformats.org/drawingml/2006/main">
            <a:r>
              <a:t>Core graph implementation is underway. Official Helix TypeScript SDK 3.1.0 and embedded runtime 0.3.3 are installed, and a real embedded query passed. Full typed relationship/writeback, projector and end-to-end behavior await acceptance. Next gates cover ongoing refresh, scoped retrieval, correction/revocation, replay and real PG/Helix operation. Broader 990 enrichment and optional semantic/vector search follow separately.</a:t>
            </a:r>
          </a:p>
          <a:p xmlns:a="http://schemas.openxmlformats.org/drawingml/2006/main">
            <a:r>
              <a:t/>
            </a:r>
          </a:p>
          <a:p xmlns:a="http://schemas.openxmlformats.org/drawingml/2006/main">
            <a:r>
              <a:t>Connected demo acceptance: automatic member-site meeting publication, a human-reviewed direct-application packet and required final vote with a verified manual-submission transition, known partner evidence reused and new useful research retrieved on a later run, and an accepted second-member agent contribution. Live source/tool connections and benchmark/quality assessment remain part of rehearsal.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bb120767eca414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9b70d9fb4bc419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fd4705f0a9e495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626ce95c136441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9317e1fa7dd428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007be50822f4a4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950BFC-217D-4774-A620-BEBEE0ED29B8}"/>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746DF64-0B39-41A7-9E28-4CF2841F3815}"/>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ABE3B87-8148-4C27-8BAF-DC41AB1A03EB}"/>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EBA59C-8BC5-4719-AAFB-4C721B407E47}"/>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5E92294-CC5F-4B36-AF96-9E55CDE00C5A}"/>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8E5A83E-7693-46A4-A5EE-8535B3A79973}"/>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098BAEE-66F5-488E-8CF8-8CA3CE38EB51}"/>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383F8B2-8DF4-4AE1-B211-52A168DF6CC4}"/>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57D6E9-88D9-4BB7-9A8A-508C144DC90C}"/>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1A47CAD-E9AD-4DED-96D6-E8055D1321AB}"/>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03331577c194fc9" /><Relationship Type="http://schemas.openxmlformats.org/officeDocument/2006/relationships/slideLayout" Target="/ppt/slideLayouts/slideLayout1.xml" Id="R616afb358831442e" /><Relationship Type="http://schemas.openxmlformats.org/officeDocument/2006/relationships/slideLayout" Target="/ppt/slideLayouts/slideLayout2.xml" Id="Rfde21c57e53542b3" /><Relationship Type="http://schemas.openxmlformats.org/officeDocument/2006/relationships/slideLayout" Target="/ppt/slideLayouts/slideLayout3.xml" Id="R7f862b9ad23c48f8" /><Relationship Type="http://schemas.openxmlformats.org/officeDocument/2006/relationships/slideLayout" Target="/ppt/slideLayouts/slideLayout4.xml" Id="R118090782d914de2" /><Relationship Type="http://schemas.openxmlformats.org/officeDocument/2006/relationships/slideLayout" Target="/ppt/slideLayouts/slideLayout5.xml" Id="R8b61cb293b1a4343" /><Relationship Type="http://schemas.openxmlformats.org/officeDocument/2006/relationships/slideLayout" Target="/ppt/slideLayouts/slideLayout6.xml" Id="R3f6b22852b3d4e5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16afb358831442e"/>
    <p:sldLayoutId xmlns:r="http://schemas.openxmlformats.org/officeDocument/2006/relationships" id="2147483650" r:id="Rfde21c57e53542b3"/>
    <p:sldLayoutId xmlns:r="http://schemas.openxmlformats.org/officeDocument/2006/relationships" id="2147483651" r:id="R7f862b9ad23c48f8"/>
    <p:sldLayoutId xmlns:r="http://schemas.openxmlformats.org/officeDocument/2006/relationships" id="2147483652" r:id="R118090782d914de2"/>
    <p:sldLayoutId xmlns:r="http://schemas.openxmlformats.org/officeDocument/2006/relationships" id="2147483653" r:id="R8b61cb293b1a4343"/>
    <p:sldLayoutId xmlns:r="http://schemas.openxmlformats.org/officeDocument/2006/relationships" id="2147483654" r:id="R3f6b22852b3d4e5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fdb0c0e080546bf" /><Relationship Type="http://schemas.openxmlformats.org/officeDocument/2006/relationships/notesSlide" Target="/ppt/notesSlides/notesSlide1.xml" Id="Rd5422e453aeb4c1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c702869c5d2408e" /><Relationship Type="http://schemas.openxmlformats.org/officeDocument/2006/relationships/notesSlide" Target="/ppt/notesSlides/notesSlide2.xml" Id="R7e76541d19a74b0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fea14bfc478440c" /><Relationship Type="http://schemas.openxmlformats.org/officeDocument/2006/relationships/notesSlide" Target="/ppt/notesSlides/notesSlide3.xml" Id="Rffe98208d00b46e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58dfebf6e8b4d88" /><Relationship Type="http://schemas.openxmlformats.org/officeDocument/2006/relationships/notesSlide" Target="/ppt/notesSlides/notesSlide4.xml" Id="R97e34cc85be94aa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841e98611044345" /><Relationship Type="http://schemas.openxmlformats.org/officeDocument/2006/relationships/notesSlide" Target="/ppt/notesSlides/notesSlide5.xml" Id="Rca847f68f5e5455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0fa560cf7e0429a" /><Relationship Type="http://schemas.openxmlformats.org/officeDocument/2006/relationships/notesSlide" Target="/ppt/notesSlides/notesSlide6.xml" Id="R52df571a676b4fc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582f13b9d3742b6" /><Relationship Type="http://schemas.openxmlformats.org/officeDocument/2006/relationships/notesSlide" Target="/ppt/notesSlides/notesSlide7.xml" Id="Rd3b270847973420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53318e29db34292" /><Relationship Type="http://schemas.openxmlformats.org/officeDocument/2006/relationships/notesSlide" Target="/ppt/notesSlides/notesSlide8.xml" Id="R51ba84713fe5481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8e64b25ce064907" /><Relationship Type="http://schemas.openxmlformats.org/officeDocument/2006/relationships/notesSlide" Target="/ppt/notesSlides/notesSlide9.xml" Id="R6222033018c948b7" /></Relationships>
</file>

<file path=ppt/slides/slide1.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9" name="">
            <a:extLst xmlns:a="http://schemas.openxmlformats.org/drawingml/2006/main">
              <a:ext uri="{FF2B5EF4-FFF2-40B4-BE49-F238E27FC236}">
                <a16:creationId xmlns:a16="http://schemas.microsoft.com/office/drawing/2014/main" id="{2638FB43-5EF1-4133-9489-D42BD6A1F3AB}"/>
              </a:ext>
            </a:extLst>
          </p:cNvPr>
          <p:cNvCxnSpPr>
            <a:stCxn xmlns:a="http://schemas.openxmlformats.org/drawingml/2006/main" id="23" idx="3"/>
            <a:endCxn xmlns:a="http://schemas.openxmlformats.org/drawingml/2006/main" id="26" idx="1"/>
          </p:cNvCxnSpPr>
          <p:nvPr/>
        </p:nvCxnSpPr>
        <p:spPr>
          <a:xfrm xmlns:a="http://schemas.openxmlformats.org/drawingml/2006/main">
            <a:off x="10001250" y="7215188"/>
            <a:ext cx="1333500" cy="0"/>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cxnSp>
        <p:nvCxnSpPr>
          <p:cNvPr id="32" name="">
            <a:extLst xmlns:a="http://schemas.openxmlformats.org/drawingml/2006/main">
              <a:ext uri="{FF2B5EF4-FFF2-40B4-BE49-F238E27FC236}">
                <a16:creationId xmlns:a16="http://schemas.microsoft.com/office/drawing/2014/main" id="{B4313EE5-5C53-43D7-99BE-F29F673E49A5}"/>
              </a:ext>
            </a:extLst>
          </p:cNvPr>
          <p:cNvCxnSpPr>
            <a:stCxn xmlns:a="http://schemas.openxmlformats.org/drawingml/2006/main" id="14" idx="3"/>
            <a:endCxn xmlns:a="http://schemas.openxmlformats.org/drawingml/2006/main" id="17" idx="1"/>
          </p:cNvCxnSpPr>
          <p:nvPr/>
        </p:nvCxnSpPr>
        <p:spPr>
          <a:xfrm xmlns:a="http://schemas.openxmlformats.org/drawingml/2006/main">
            <a:off x="3848100" y="4752975"/>
            <a:ext cx="13906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cxnSp>
        <p:nvCxnSpPr>
          <p:cNvPr id="29" name="">
            <a:extLst xmlns:a="http://schemas.openxmlformats.org/drawingml/2006/main">
              <a:ext uri="{FF2B5EF4-FFF2-40B4-BE49-F238E27FC236}">
                <a16:creationId xmlns:a16="http://schemas.microsoft.com/office/drawing/2014/main" id="{7E5DFC84-48BC-4F9F-B5D0-4970391E5749}"/>
              </a:ext>
            </a:extLst>
          </p:cNvPr>
          <p:cNvCxnSpPr>
            <a:stCxn xmlns:a="http://schemas.openxmlformats.org/drawingml/2006/main" id="5" idx="3"/>
            <a:endCxn xmlns:a="http://schemas.openxmlformats.org/drawingml/2006/main" id="8" idx="1"/>
          </p:cNvCxnSpPr>
          <p:nvPr/>
        </p:nvCxnSpPr>
        <p:spPr>
          <a:xfrm xmlns:a="http://schemas.openxmlformats.org/drawingml/2006/main">
            <a:off x="3848100" y="2595563"/>
            <a:ext cx="1390650" cy="0"/>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sp>
        <p:nvSpPr>
          <p:cNvPr id="41" name="text-1">
            <a:extLst xmlns:a="http://schemas.openxmlformats.org/drawingml/2006/main">
              <a:ext uri="{FF2B5EF4-FFF2-40B4-BE49-F238E27FC236}">
                <a16:creationId xmlns:a16="http://schemas.microsoft.com/office/drawing/2014/main" id="{B7CE4B36-16BE-4360-9692-71EDF529360C}"/>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Inertia system architecture</a:t>
            </a:r>
          </a:p>
        </p:txBody>
      </p:sp>
      <p:sp>
        <p:nvSpPr>
          <p:cNvPr id="2" name="text-2">
            <a:extLst xmlns:a="http://schemas.openxmlformats.org/drawingml/2006/main">
              <a:ext uri="{FF2B5EF4-FFF2-40B4-BE49-F238E27FC236}">
                <a16:creationId xmlns:a16="http://schemas.microsoft.com/office/drawing/2014/main" id="{24236926-B127-4705-A77F-226EA896E76D}"/>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1</a:t>
            </a:r>
          </a:p>
        </p:txBody>
      </p:sp>
      <p:sp>
        <p:nvSpPr>
          <p:cNvPr id="3" name="text-3">
            <a:extLst xmlns:a="http://schemas.openxmlformats.org/drawingml/2006/main">
              <a:ext uri="{FF2B5EF4-FFF2-40B4-BE49-F238E27FC236}">
                <a16:creationId xmlns:a16="http://schemas.microsoft.com/office/drawing/2014/main" id="{F9DA98B9-F8B5-4974-B26B-D47D5A4D35C5}"/>
              </a:ext>
            </a:extLst>
          </p:cNvPr>
          <p:cNvSpPr>
            <a:spLocks xmlns:a="http://schemas.openxmlformats.org/drawingml/2006/main" noGrp="1"/>
          </p:cNvSpPr>
          <p:nvPr/>
        </p:nvSpPr>
        <p:spPr>
          <a:xfrm xmlns:a="http://schemas.openxmlformats.org/drawingml/2006/main">
            <a:off x="609600" y="1285875"/>
            <a:ext cx="10477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Buzz and the dashboard share the same Paperclip tasks and decisions</a:t>
            </a:r>
          </a:p>
        </p:txBody>
      </p:sp>
      <p:sp>
        <p:nvSpPr>
          <p:cNvPr id="4" name="text-4">
            <a:extLst xmlns:a="http://schemas.openxmlformats.org/drawingml/2006/main">
              <a:ext uri="{FF2B5EF4-FFF2-40B4-BE49-F238E27FC236}">
                <a16:creationId xmlns:a16="http://schemas.microsoft.com/office/drawing/2014/main" id="{69DDC3A6-1E54-4A1E-83C4-3F0EC1DC3F63}"/>
              </a:ext>
            </a:extLst>
          </p:cNvPr>
          <p:cNvSpPr>
            <a:spLocks xmlns:a="http://schemas.openxmlformats.org/drawingml/2006/main" noGrp="1"/>
          </p:cNvSpPr>
          <p:nvPr/>
        </p:nvSpPr>
        <p:spPr>
          <a:xfrm xmlns:a="http://schemas.openxmlformats.org/drawingml/2006/main">
            <a:off x="11144250" y="1381125"/>
            <a:ext cx="34861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75" b="0">
                <a:solidFill>
                  <a:srgbClr val="4A6572"/>
                </a:solidFill>
                <a:latin typeface="Aptos"/>
                <a:ea typeface="Aptos"/>
                <a:cs typeface="Aptos"/>
              </a:defRPr>
            </a:defPPr>
          </a:lstStyle>
          <a:p xmlns:a="http://schemas.openxmlformats.org/drawingml/2006/main">
            <a:pPr algn="r">
              <a:buNone/>
              <a:defRPr sz="1575" b="0">
                <a:solidFill>
                  <a:srgbClr val="4A6572"/>
                </a:solidFill>
                <a:latin typeface="Aptos"/>
                <a:ea typeface="Aptos"/>
                <a:cs typeface="Aptos"/>
              </a:defRPr>
            </a:pPr>
            <a:r>
              <a:rPr sz="1575" b="0">
                <a:solidFill>
                  <a:srgbClr val="4A6572"/>
                </a:solidFill>
                <a:latin typeface="Aptos"/>
                <a:ea typeface="Aptos"/>
                <a:cs typeface="Aptos"/>
              </a:rPr>
              <a:t>Dashed: planned connection</a:t>
            </a:r>
          </a:p>
        </p:txBody>
      </p:sp>
      <p:sp>
        <p:nvSpPr>
          <p:cNvPr id="5" name="node-5">
            <a:extLst xmlns:a="http://schemas.openxmlformats.org/drawingml/2006/main">
              <a:ext uri="{FF2B5EF4-FFF2-40B4-BE49-F238E27FC236}">
                <a16:creationId xmlns:a16="http://schemas.microsoft.com/office/drawing/2014/main" id="{69CCB21F-23CF-4191-8D09-1DB8A0DD5563}"/>
              </a:ext>
            </a:extLst>
          </p:cNvPr>
          <p:cNvSpPr>
            <a:spLocks xmlns:a="http://schemas.openxmlformats.org/drawingml/2006/main" noGrp="1"/>
          </p:cNvSpPr>
          <p:nvPr/>
        </p:nvSpPr>
        <p:spPr>
          <a:xfrm xmlns:a="http://schemas.openxmlformats.org/drawingml/2006/main">
            <a:off x="609600" y="2095500"/>
            <a:ext cx="3238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6" name="text-6">
            <a:extLst xmlns:a="http://schemas.openxmlformats.org/drawingml/2006/main">
              <a:ext uri="{FF2B5EF4-FFF2-40B4-BE49-F238E27FC236}">
                <a16:creationId xmlns:a16="http://schemas.microsoft.com/office/drawing/2014/main" id="{A7B92B7D-E123-48A9-8EFB-23C469F6CBCE}"/>
              </a:ext>
            </a:extLst>
          </p:cNvPr>
          <p:cNvSpPr>
            <a:spLocks xmlns:a="http://schemas.openxmlformats.org/drawingml/2006/main" noGrp="1"/>
          </p:cNvSpPr>
          <p:nvPr/>
        </p:nvSpPr>
        <p:spPr>
          <a:xfrm xmlns:a="http://schemas.openxmlformats.org/drawingml/2006/main">
            <a:off x="800100" y="2257425"/>
            <a:ext cx="2857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Buzz</a:t>
            </a:r>
          </a:p>
        </p:txBody>
      </p:sp>
      <p:sp>
        <p:nvSpPr>
          <p:cNvPr id="7" name="text-7">
            <a:extLst xmlns:a="http://schemas.openxmlformats.org/drawingml/2006/main">
              <a:ext uri="{FF2B5EF4-FFF2-40B4-BE49-F238E27FC236}">
                <a16:creationId xmlns:a16="http://schemas.microsoft.com/office/drawing/2014/main" id="{0D2C7938-825D-495A-89F0-5854D0406273}"/>
              </a:ext>
            </a:extLst>
          </p:cNvPr>
          <p:cNvSpPr>
            <a:spLocks xmlns:a="http://schemas.openxmlformats.org/drawingml/2006/main" noGrp="1"/>
          </p:cNvSpPr>
          <p:nvPr/>
        </p:nvSpPr>
        <p:spPr>
          <a:xfrm xmlns:a="http://schemas.openxmlformats.org/drawingml/2006/main">
            <a:off x="800100" y="2653665"/>
            <a:ext cx="2857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Member conversation</a:t>
            </a:r>
          </a:p>
        </p:txBody>
      </p:sp>
      <p:sp>
        <p:nvSpPr>
          <p:cNvPr id="8" name="node-8">
            <a:extLst xmlns:a="http://schemas.openxmlformats.org/drawingml/2006/main">
              <a:ext uri="{FF2B5EF4-FFF2-40B4-BE49-F238E27FC236}">
                <a16:creationId xmlns:a16="http://schemas.microsoft.com/office/drawing/2014/main" id="{6B20E0A3-89C9-4055-AE19-DC9445A12328}"/>
              </a:ext>
            </a:extLst>
          </p:cNvPr>
          <p:cNvSpPr>
            <a:spLocks xmlns:a="http://schemas.openxmlformats.org/drawingml/2006/main" noGrp="1"/>
          </p:cNvSpPr>
          <p:nvPr/>
        </p:nvSpPr>
        <p:spPr>
          <a:xfrm xmlns:a="http://schemas.openxmlformats.org/drawingml/2006/main">
            <a:off x="5238750" y="2095500"/>
            <a:ext cx="3619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9" name="text-9">
            <a:extLst xmlns:a="http://schemas.openxmlformats.org/drawingml/2006/main">
              <a:ext uri="{FF2B5EF4-FFF2-40B4-BE49-F238E27FC236}">
                <a16:creationId xmlns:a16="http://schemas.microsoft.com/office/drawing/2014/main" id="{A021D6EF-569E-496F-81F5-D0DB49EA78EB}"/>
              </a:ext>
            </a:extLst>
          </p:cNvPr>
          <p:cNvSpPr>
            <a:spLocks xmlns:a="http://schemas.openxmlformats.org/drawingml/2006/main" noGrp="1"/>
          </p:cNvSpPr>
          <p:nvPr/>
        </p:nvSpPr>
        <p:spPr>
          <a:xfrm xmlns:a="http://schemas.openxmlformats.org/drawingml/2006/main">
            <a:off x="5429250" y="2257425"/>
            <a:ext cx="3238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Inertia bridge</a:t>
            </a:r>
          </a:p>
        </p:txBody>
      </p:sp>
      <p:sp>
        <p:nvSpPr>
          <p:cNvPr id="10" name="text-10">
            <a:extLst xmlns:a="http://schemas.openxmlformats.org/drawingml/2006/main">
              <a:ext uri="{FF2B5EF4-FFF2-40B4-BE49-F238E27FC236}">
                <a16:creationId xmlns:a16="http://schemas.microsoft.com/office/drawing/2014/main" id="{EE656676-69CD-4623-AEF1-B20847F0793E}"/>
              </a:ext>
            </a:extLst>
          </p:cNvPr>
          <p:cNvSpPr>
            <a:spLocks xmlns:a="http://schemas.openxmlformats.org/drawingml/2006/main" noGrp="1"/>
          </p:cNvSpPr>
          <p:nvPr/>
        </p:nvSpPr>
        <p:spPr>
          <a:xfrm xmlns:a="http://schemas.openxmlformats.org/drawingml/2006/main">
            <a:off x="5429250" y="2653665"/>
            <a:ext cx="3238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Paired signed messages</a:t>
            </a:r>
          </a:p>
        </p:txBody>
      </p:sp>
      <p:sp>
        <p:nvSpPr>
          <p:cNvPr id="11" name="node-11">
            <a:extLst xmlns:a="http://schemas.openxmlformats.org/drawingml/2006/main">
              <a:ext uri="{FF2B5EF4-FFF2-40B4-BE49-F238E27FC236}">
                <a16:creationId xmlns:a16="http://schemas.microsoft.com/office/drawing/2014/main" id="{250E6303-DBCA-42A9-9B5D-F09DC818F9B7}"/>
              </a:ext>
            </a:extLst>
          </p:cNvPr>
          <p:cNvSpPr>
            <a:spLocks xmlns:a="http://schemas.openxmlformats.org/drawingml/2006/main" noGrp="1"/>
          </p:cNvSpPr>
          <p:nvPr/>
        </p:nvSpPr>
        <p:spPr>
          <a:xfrm xmlns:a="http://schemas.openxmlformats.org/drawingml/2006/main">
            <a:off x="10572750" y="2095500"/>
            <a:ext cx="405765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2" name="text-12">
            <a:extLst xmlns:a="http://schemas.openxmlformats.org/drawingml/2006/main">
              <a:ext uri="{FF2B5EF4-FFF2-40B4-BE49-F238E27FC236}">
                <a16:creationId xmlns:a16="http://schemas.microsoft.com/office/drawing/2014/main" id="{F2D38B1D-791B-450A-B191-A7B914555C22}"/>
              </a:ext>
            </a:extLst>
          </p:cNvPr>
          <p:cNvSpPr>
            <a:spLocks xmlns:a="http://schemas.openxmlformats.org/drawingml/2006/main" noGrp="1"/>
          </p:cNvSpPr>
          <p:nvPr/>
        </p:nvSpPr>
        <p:spPr>
          <a:xfrm xmlns:a="http://schemas.openxmlformats.org/drawingml/2006/main">
            <a:off x="10763250" y="2257425"/>
            <a:ext cx="3676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 dashboard</a:t>
            </a:r>
          </a:p>
        </p:txBody>
      </p:sp>
      <p:sp>
        <p:nvSpPr>
          <p:cNvPr id="13" name="text-13">
            <a:extLst xmlns:a="http://schemas.openxmlformats.org/drawingml/2006/main">
              <a:ext uri="{FF2B5EF4-FFF2-40B4-BE49-F238E27FC236}">
                <a16:creationId xmlns:a16="http://schemas.microsoft.com/office/drawing/2014/main" id="{D333D555-A752-425F-A409-E66C9FBC4D50}"/>
              </a:ext>
            </a:extLst>
          </p:cNvPr>
          <p:cNvSpPr>
            <a:spLocks xmlns:a="http://schemas.openxmlformats.org/drawingml/2006/main" noGrp="1"/>
          </p:cNvSpPr>
          <p:nvPr/>
        </p:nvSpPr>
        <p:spPr>
          <a:xfrm xmlns:a="http://schemas.openxmlformats.org/drawingml/2006/main">
            <a:off x="10763250" y="2653665"/>
            <a:ext cx="3676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Member work and review</a:t>
            </a:r>
          </a:p>
        </p:txBody>
      </p:sp>
      <p:sp>
        <p:nvSpPr>
          <p:cNvPr id="14" name="node-14">
            <a:extLst xmlns:a="http://schemas.openxmlformats.org/drawingml/2006/main">
              <a:ext uri="{FF2B5EF4-FFF2-40B4-BE49-F238E27FC236}">
                <a16:creationId xmlns:a16="http://schemas.microsoft.com/office/drawing/2014/main" id="{C3A62294-0231-41DE-93F9-22A05292C251}"/>
              </a:ext>
            </a:extLst>
          </p:cNvPr>
          <p:cNvSpPr>
            <a:spLocks xmlns:a="http://schemas.openxmlformats.org/drawingml/2006/main" noGrp="1"/>
          </p:cNvSpPr>
          <p:nvPr/>
        </p:nvSpPr>
        <p:spPr>
          <a:xfrm xmlns:a="http://schemas.openxmlformats.org/drawingml/2006/main">
            <a:off x="609600" y="3905250"/>
            <a:ext cx="3238500" cy="16954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5" name="text-15">
            <a:extLst xmlns:a="http://schemas.openxmlformats.org/drawingml/2006/main">
              <a:ext uri="{FF2B5EF4-FFF2-40B4-BE49-F238E27FC236}">
                <a16:creationId xmlns:a16="http://schemas.microsoft.com/office/drawing/2014/main" id="{64E5FC67-B32F-4F3E-8DD1-A0F8E0133F96}"/>
              </a:ext>
            </a:extLst>
          </p:cNvPr>
          <p:cNvSpPr>
            <a:spLocks xmlns:a="http://schemas.openxmlformats.org/drawingml/2006/main" noGrp="1"/>
          </p:cNvSpPr>
          <p:nvPr/>
        </p:nvSpPr>
        <p:spPr>
          <a:xfrm xmlns:a="http://schemas.openxmlformats.org/drawingml/2006/main">
            <a:off x="800100" y="4067175"/>
            <a:ext cx="2857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Work intake</a:t>
            </a:r>
          </a:p>
        </p:txBody>
      </p:sp>
      <p:sp>
        <p:nvSpPr>
          <p:cNvPr id="16" name="text-16">
            <a:extLst xmlns:a="http://schemas.openxmlformats.org/drawingml/2006/main">
              <a:ext uri="{FF2B5EF4-FFF2-40B4-BE49-F238E27FC236}">
                <a16:creationId xmlns:a16="http://schemas.microsoft.com/office/drawing/2014/main" id="{74F3930C-FA5F-46DE-85BA-9EB376C5BA24}"/>
              </a:ext>
            </a:extLst>
          </p:cNvPr>
          <p:cNvSpPr>
            <a:spLocks xmlns:a="http://schemas.openxmlformats.org/drawingml/2006/main" noGrp="1"/>
          </p:cNvSpPr>
          <p:nvPr/>
        </p:nvSpPr>
        <p:spPr>
          <a:xfrm xmlns:a="http://schemas.openxmlformats.org/drawingml/2006/main">
            <a:off x="800100" y="4463415"/>
            <a:ext cx="2857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Meeting actions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Innovation bounties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Funding opportunities</a:t>
            </a:r>
          </a:p>
        </p:txBody>
      </p:sp>
      <p:sp>
        <p:nvSpPr>
          <p:cNvPr id="17" name="node-17">
            <a:extLst xmlns:a="http://schemas.openxmlformats.org/drawingml/2006/main">
              <a:ext uri="{FF2B5EF4-FFF2-40B4-BE49-F238E27FC236}">
                <a16:creationId xmlns:a16="http://schemas.microsoft.com/office/drawing/2014/main" id="{BB251451-BA4A-4657-B58A-009B6EFC7529}"/>
              </a:ext>
            </a:extLst>
          </p:cNvPr>
          <p:cNvSpPr>
            <a:spLocks xmlns:a="http://schemas.openxmlformats.org/drawingml/2006/main" noGrp="1"/>
          </p:cNvSpPr>
          <p:nvPr/>
        </p:nvSpPr>
        <p:spPr>
          <a:xfrm xmlns:a="http://schemas.openxmlformats.org/drawingml/2006/main">
            <a:off x="5238750" y="3905250"/>
            <a:ext cx="9391650" cy="16954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18" name="text-18">
            <a:extLst xmlns:a="http://schemas.openxmlformats.org/drawingml/2006/main">
              <a:ext uri="{FF2B5EF4-FFF2-40B4-BE49-F238E27FC236}">
                <a16:creationId xmlns:a16="http://schemas.microsoft.com/office/drawing/2014/main" id="{1337BF75-D48D-4FE9-9D9A-183EF3545EE5}"/>
              </a:ext>
            </a:extLst>
          </p:cNvPr>
          <p:cNvSpPr>
            <a:spLocks xmlns:a="http://schemas.openxmlformats.org/drawingml/2006/main" noGrp="1"/>
          </p:cNvSpPr>
          <p:nvPr/>
        </p:nvSpPr>
        <p:spPr>
          <a:xfrm xmlns:a="http://schemas.openxmlformats.org/drawingml/2006/main">
            <a:off x="5429250" y="4067175"/>
            <a:ext cx="901065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57D80"/>
                </a:solidFill>
                <a:latin typeface="Aptos"/>
                <a:ea typeface="Aptos"/>
                <a:cs typeface="Aptos"/>
              </a:defRPr>
            </a:defPPr>
          </a:lstStyle>
          <a:p xmlns:a="http://schemas.openxmlformats.org/drawingml/2006/main">
            <a:pPr algn="l">
              <a:buNone/>
              <a:defRPr sz="2550" b="1">
                <a:solidFill>
                  <a:srgbClr val="157D80"/>
                </a:solidFill>
                <a:latin typeface="Aptos"/>
                <a:ea typeface="Aptos"/>
                <a:cs typeface="Aptos"/>
              </a:defRPr>
            </a:pPr>
            <a:r>
              <a:rPr sz="2550" b="1">
                <a:solidFill>
                  <a:srgbClr val="157D80"/>
                </a:solidFill>
                <a:latin typeface="Aptos"/>
                <a:ea typeface="Aptos"/>
                <a:cs typeface="Aptos"/>
              </a:rPr>
              <a:t>Paperclip</a:t>
            </a:r>
          </a:p>
        </p:txBody>
      </p:sp>
      <p:sp>
        <p:nvSpPr>
          <p:cNvPr id="19" name="text-19">
            <a:extLst xmlns:a="http://schemas.openxmlformats.org/drawingml/2006/main">
              <a:ext uri="{FF2B5EF4-FFF2-40B4-BE49-F238E27FC236}">
                <a16:creationId xmlns:a16="http://schemas.microsoft.com/office/drawing/2014/main" id="{619CB2F8-B380-4583-AA37-924F9EA26148}"/>
              </a:ext>
            </a:extLst>
          </p:cNvPr>
          <p:cNvSpPr>
            <a:spLocks xmlns:a="http://schemas.openxmlformats.org/drawingml/2006/main" noGrp="1"/>
          </p:cNvSpPr>
          <p:nvPr/>
        </p:nvSpPr>
        <p:spPr>
          <a:xfrm xmlns:a="http://schemas.openxmlformats.org/drawingml/2006/main">
            <a:off x="5429250" y="4509897"/>
            <a:ext cx="9010650" cy="688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A6572"/>
                </a:solidFill>
                <a:latin typeface="Aptos"/>
                <a:ea typeface="Aptos"/>
                <a:cs typeface="Aptos"/>
              </a:defRPr>
            </a:defPPr>
          </a:lstStyle>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Tasks and agent hierarchy</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Delegation, reviews, hiring and budgets</a:t>
            </a:r>
          </a:p>
        </p:txBody>
      </p:sp>
      <p:sp>
        <p:nvSpPr>
          <p:cNvPr id="20" name="node-20">
            <a:extLst xmlns:a="http://schemas.openxmlformats.org/drawingml/2006/main">
              <a:ext uri="{FF2B5EF4-FFF2-40B4-BE49-F238E27FC236}">
                <a16:creationId xmlns:a16="http://schemas.microsoft.com/office/drawing/2014/main" id="{BF4E97B9-F442-4238-8217-E764BF994DEC}"/>
              </a:ext>
            </a:extLst>
          </p:cNvPr>
          <p:cNvSpPr>
            <a:spLocks xmlns:a="http://schemas.openxmlformats.org/drawingml/2006/main" noGrp="1"/>
          </p:cNvSpPr>
          <p:nvPr/>
        </p:nvSpPr>
        <p:spPr>
          <a:xfrm xmlns:a="http://schemas.openxmlformats.org/drawingml/2006/main">
            <a:off x="609600" y="6715125"/>
            <a:ext cx="4000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1" name="text-21">
            <a:extLst xmlns:a="http://schemas.openxmlformats.org/drawingml/2006/main">
              <a:ext uri="{FF2B5EF4-FFF2-40B4-BE49-F238E27FC236}">
                <a16:creationId xmlns:a16="http://schemas.microsoft.com/office/drawing/2014/main" id="{8078C0DE-5775-4C9C-A245-EFAEB50BA0B7}"/>
              </a:ext>
            </a:extLst>
          </p:cNvPr>
          <p:cNvSpPr>
            <a:spLocks xmlns:a="http://schemas.openxmlformats.org/drawingml/2006/main" noGrp="1"/>
          </p:cNvSpPr>
          <p:nvPr/>
        </p:nvSpPr>
        <p:spPr>
          <a:xfrm xmlns:a="http://schemas.openxmlformats.org/drawingml/2006/main">
            <a:off x="800100" y="6877050"/>
            <a:ext cx="3619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Agent runtimes</a:t>
            </a:r>
          </a:p>
        </p:txBody>
      </p:sp>
      <p:sp>
        <p:nvSpPr>
          <p:cNvPr id="22" name="text-22">
            <a:extLst xmlns:a="http://schemas.openxmlformats.org/drawingml/2006/main">
              <a:ext uri="{FF2B5EF4-FFF2-40B4-BE49-F238E27FC236}">
                <a16:creationId xmlns:a16="http://schemas.microsoft.com/office/drawing/2014/main" id="{05E3610C-1CD5-4363-9CD9-5257C21E5BDB}"/>
              </a:ext>
            </a:extLst>
          </p:cNvPr>
          <p:cNvSpPr>
            <a:spLocks xmlns:a="http://schemas.openxmlformats.org/drawingml/2006/main" noGrp="1"/>
          </p:cNvSpPr>
          <p:nvPr/>
        </p:nvSpPr>
        <p:spPr>
          <a:xfrm xmlns:a="http://schemas.openxmlformats.org/drawingml/2006/main">
            <a:off x="800100" y="7273290"/>
            <a:ext cx="3619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Central or member computers</a:t>
            </a:r>
          </a:p>
        </p:txBody>
      </p:sp>
      <p:sp>
        <p:nvSpPr>
          <p:cNvPr id="23" name="node-23">
            <a:extLst xmlns:a="http://schemas.openxmlformats.org/drawingml/2006/main">
              <a:ext uri="{FF2B5EF4-FFF2-40B4-BE49-F238E27FC236}">
                <a16:creationId xmlns:a16="http://schemas.microsoft.com/office/drawing/2014/main" id="{A6F0AA33-B7EB-4E10-A07A-24C84ADA2032}"/>
              </a:ext>
            </a:extLst>
          </p:cNvPr>
          <p:cNvSpPr>
            <a:spLocks xmlns:a="http://schemas.openxmlformats.org/drawingml/2006/main" noGrp="1"/>
          </p:cNvSpPr>
          <p:nvPr/>
        </p:nvSpPr>
        <p:spPr>
          <a:xfrm xmlns:a="http://schemas.openxmlformats.org/drawingml/2006/main">
            <a:off x="6477000" y="6715125"/>
            <a:ext cx="352425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4" name="text-24">
            <a:extLst xmlns:a="http://schemas.openxmlformats.org/drawingml/2006/main">
              <a:ext uri="{FF2B5EF4-FFF2-40B4-BE49-F238E27FC236}">
                <a16:creationId xmlns:a16="http://schemas.microsoft.com/office/drawing/2014/main" id="{27658274-C5C2-4410-A8EB-6C16CC265416}"/>
              </a:ext>
            </a:extLst>
          </p:cNvPr>
          <p:cNvSpPr>
            <a:spLocks xmlns:a="http://schemas.openxmlformats.org/drawingml/2006/main" noGrp="1"/>
          </p:cNvSpPr>
          <p:nvPr/>
        </p:nvSpPr>
        <p:spPr>
          <a:xfrm xmlns:a="http://schemas.openxmlformats.org/drawingml/2006/main">
            <a:off x="6667500" y="6877050"/>
            <a:ext cx="31432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Inertia adapters</a:t>
            </a:r>
          </a:p>
        </p:txBody>
      </p:sp>
      <p:sp>
        <p:nvSpPr>
          <p:cNvPr id="25" name="text-25">
            <a:extLst xmlns:a="http://schemas.openxmlformats.org/drawingml/2006/main">
              <a:ext uri="{FF2B5EF4-FFF2-40B4-BE49-F238E27FC236}">
                <a16:creationId xmlns:a16="http://schemas.microsoft.com/office/drawing/2014/main" id="{262CCD23-6037-45FE-83A7-0087132737D1}"/>
              </a:ext>
            </a:extLst>
          </p:cNvPr>
          <p:cNvSpPr>
            <a:spLocks xmlns:a="http://schemas.openxmlformats.org/drawingml/2006/main" noGrp="1"/>
          </p:cNvSpPr>
          <p:nvPr/>
        </p:nvSpPr>
        <p:spPr>
          <a:xfrm xmlns:a="http://schemas.openxmlformats.org/drawingml/2006/main">
            <a:off x="6667500" y="7273290"/>
            <a:ext cx="31432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Domain data and actions</a:t>
            </a:r>
          </a:p>
        </p:txBody>
      </p:sp>
      <p:sp>
        <p:nvSpPr>
          <p:cNvPr id="26" name="node-26">
            <a:extLst xmlns:a="http://schemas.openxmlformats.org/drawingml/2006/main">
              <a:ext uri="{FF2B5EF4-FFF2-40B4-BE49-F238E27FC236}">
                <a16:creationId xmlns:a16="http://schemas.microsoft.com/office/drawing/2014/main" id="{1C23E5E4-3A87-4441-8E93-3EA5234F59E5}"/>
              </a:ext>
            </a:extLst>
          </p:cNvPr>
          <p:cNvSpPr>
            <a:spLocks xmlns:a="http://schemas.openxmlformats.org/drawingml/2006/main" noGrp="1"/>
          </p:cNvSpPr>
          <p:nvPr/>
        </p:nvSpPr>
        <p:spPr>
          <a:xfrm xmlns:a="http://schemas.openxmlformats.org/drawingml/2006/main">
            <a:off x="11334750" y="6524625"/>
            <a:ext cx="32956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7" name="text-27">
            <a:extLst xmlns:a="http://schemas.openxmlformats.org/drawingml/2006/main">
              <a:ext uri="{FF2B5EF4-FFF2-40B4-BE49-F238E27FC236}">
                <a16:creationId xmlns:a16="http://schemas.microsoft.com/office/drawing/2014/main" id="{21BAD4B0-7A98-47D5-9740-717FC4380448}"/>
              </a:ext>
            </a:extLst>
          </p:cNvPr>
          <p:cNvSpPr>
            <a:spLocks xmlns:a="http://schemas.openxmlformats.org/drawingml/2006/main" noGrp="1"/>
          </p:cNvSpPr>
          <p:nvPr/>
        </p:nvSpPr>
        <p:spPr>
          <a:xfrm xmlns:a="http://schemas.openxmlformats.org/drawingml/2006/main">
            <a:off x="11525250" y="6686550"/>
            <a:ext cx="2914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Connected services</a:t>
            </a:r>
          </a:p>
        </p:txBody>
      </p:sp>
      <p:sp>
        <p:nvSpPr>
          <p:cNvPr id="28" name="text-28">
            <a:extLst xmlns:a="http://schemas.openxmlformats.org/drawingml/2006/main">
              <a:ext uri="{FF2B5EF4-FFF2-40B4-BE49-F238E27FC236}">
                <a16:creationId xmlns:a16="http://schemas.microsoft.com/office/drawing/2014/main" id="{ED6A295F-7F8D-4F0F-B1F4-4EAECCFA9D3A}"/>
              </a:ext>
            </a:extLst>
          </p:cNvPr>
          <p:cNvSpPr>
            <a:spLocks xmlns:a="http://schemas.openxmlformats.org/drawingml/2006/main" noGrp="1"/>
          </p:cNvSpPr>
          <p:nvPr/>
        </p:nvSpPr>
        <p:spPr>
          <a:xfrm xmlns:a="http://schemas.openxmlformats.org/drawingml/2006/main">
            <a:off x="11525250" y="7082790"/>
            <a:ext cx="29146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Website, funding, Helix</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Vocdoni and Y2</a:t>
            </a:r>
          </a:p>
        </p:txBody>
      </p:sp>
      <p:cxnSp>
        <p:nvCxnSpPr>
          <p:cNvPr id="30" name="flow-29">
            <a:extLst xmlns:a="http://schemas.openxmlformats.org/drawingml/2006/main">
              <a:ext uri="{FF2B5EF4-FFF2-40B4-BE49-F238E27FC236}">
                <a16:creationId xmlns:a16="http://schemas.microsoft.com/office/drawing/2014/main" id="{55BD9632-CE50-4111-9B2D-333D49A6FCE7}"/>
              </a:ext>
            </a:extLst>
          </p:cNvPr>
          <p:cNvCxnSpPr/>
          <p:nvPr/>
        </p:nvCxnSpPr>
        <p:spPr>
          <a:xfrm xmlns:a="http://schemas.openxmlformats.org/drawingml/2006/main" flipH="0" flipV="0">
            <a:off x="7048500" y="3095625"/>
            <a:ext cx="0" cy="809625"/>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cxnSp>
        <p:nvCxnSpPr>
          <p:cNvPr id="31" name="flow-30">
            <a:extLst xmlns:a="http://schemas.openxmlformats.org/drawingml/2006/main">
              <a:ext uri="{FF2B5EF4-FFF2-40B4-BE49-F238E27FC236}">
                <a16:creationId xmlns:a16="http://schemas.microsoft.com/office/drawing/2014/main" id="{D2300CCC-0612-4D12-9CBF-D8DCB3D96768}"/>
              </a:ext>
            </a:extLst>
          </p:cNvPr>
          <p:cNvCxnSpPr/>
          <p:nvPr/>
        </p:nvCxnSpPr>
        <p:spPr>
          <a:xfrm xmlns:a="http://schemas.openxmlformats.org/drawingml/2006/main" flipH="0" flipV="0">
            <a:off x="12601575" y="3095625"/>
            <a:ext cx="0" cy="809625"/>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sp>
        <p:nvSpPr>
          <p:cNvPr id="33" name="text-31">
            <a:extLst xmlns:a="http://schemas.openxmlformats.org/drawingml/2006/main">
              <a:ext uri="{FF2B5EF4-FFF2-40B4-BE49-F238E27FC236}">
                <a16:creationId xmlns:a16="http://schemas.microsoft.com/office/drawing/2014/main" id="{FB36DD03-443E-41F8-AB74-9B6526223C5B}"/>
              </a:ext>
            </a:extLst>
          </p:cNvPr>
          <p:cNvSpPr>
            <a:spLocks xmlns:a="http://schemas.openxmlformats.org/drawingml/2006/main" noGrp="1"/>
          </p:cNvSpPr>
          <p:nvPr/>
        </p:nvSpPr>
        <p:spPr>
          <a:xfrm xmlns:a="http://schemas.openxmlformats.org/drawingml/2006/main">
            <a:off x="3838575" y="4362450"/>
            <a:ext cx="14001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Planned</a:t>
            </a:r>
          </a:p>
        </p:txBody>
      </p:sp>
      <p:cxnSp>
        <p:nvCxnSpPr>
          <p:cNvPr id="34" name="flow-32">
            <a:extLst xmlns:a="http://schemas.openxmlformats.org/drawingml/2006/main">
              <a:ext uri="{FF2B5EF4-FFF2-40B4-BE49-F238E27FC236}">
                <a16:creationId xmlns:a16="http://schemas.microsoft.com/office/drawing/2014/main" id="{AC985D5E-77DF-4B76-9B8D-72BE0CC090A2}"/>
              </a:ext>
            </a:extLst>
          </p:cNvPr>
          <p:cNvCxnSpPr/>
          <p:nvPr/>
        </p:nvCxnSpPr>
        <p:spPr>
          <a:xfrm xmlns:a="http://schemas.openxmlformats.org/drawingml/2006/main" flipH="0" flipV="0">
            <a:off x="6429375" y="5600700"/>
            <a:ext cx="0" cy="590550"/>
          </a:xfrm>
          <a:prstGeom xmlns:a="http://schemas.openxmlformats.org/drawingml/2006/main" prst="straightConnector1">
            <a:avLst/>
          </a:prstGeom>
          <a:ln xmlns:a="http://schemas.openxmlformats.org/drawingml/2006/main" w="23813">
            <a:solidFill>
              <a:srgbClr val="157D80"/>
            </a:solidFill>
            <a:prstDash val="dash"/>
            <a:headEnd type="triangle" w="med" len="med"/>
          </a:ln>
        </p:spPr>
      </p:cxnSp>
      <p:cxnSp>
        <p:nvCxnSpPr>
          <p:cNvPr id="35" name="flow-33">
            <a:extLst xmlns:a="http://schemas.openxmlformats.org/drawingml/2006/main">
              <a:ext uri="{FF2B5EF4-FFF2-40B4-BE49-F238E27FC236}">
                <a16:creationId xmlns:a16="http://schemas.microsoft.com/office/drawing/2014/main" id="{A7CAAAC6-3736-488A-A448-04C82E9ACE30}"/>
              </a:ext>
            </a:extLst>
          </p:cNvPr>
          <p:cNvCxnSpPr/>
          <p:nvPr/>
        </p:nvCxnSpPr>
        <p:spPr>
          <a:xfrm xmlns:a="http://schemas.openxmlformats.org/drawingml/2006/main" flipH="1" flipV="0">
            <a:off x="2609850" y="6191250"/>
            <a:ext cx="381952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36" name="flow-34">
            <a:extLst xmlns:a="http://schemas.openxmlformats.org/drawingml/2006/main">
              <a:ext uri="{FF2B5EF4-FFF2-40B4-BE49-F238E27FC236}">
                <a16:creationId xmlns:a16="http://schemas.microsoft.com/office/drawing/2014/main" id="{89BD5D39-1F2D-4203-84F0-727A2A44DE0E}"/>
              </a:ext>
            </a:extLst>
          </p:cNvPr>
          <p:cNvCxnSpPr/>
          <p:nvPr/>
        </p:nvCxnSpPr>
        <p:spPr>
          <a:xfrm xmlns:a="http://schemas.openxmlformats.org/drawingml/2006/main" flipH="0" flipV="0">
            <a:off x="2609850" y="6191250"/>
            <a:ext cx="0" cy="523875"/>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7" name="text-35">
            <a:extLst xmlns:a="http://schemas.openxmlformats.org/drawingml/2006/main">
              <a:ext uri="{FF2B5EF4-FFF2-40B4-BE49-F238E27FC236}">
                <a16:creationId xmlns:a16="http://schemas.microsoft.com/office/drawing/2014/main" id="{CA8A2620-AED6-48E1-8F91-2001D1F4038A}"/>
              </a:ext>
            </a:extLst>
          </p:cNvPr>
          <p:cNvSpPr>
            <a:spLocks xmlns:a="http://schemas.openxmlformats.org/drawingml/2006/main" noGrp="1"/>
          </p:cNvSpPr>
          <p:nvPr/>
        </p:nvSpPr>
        <p:spPr>
          <a:xfrm xmlns:a="http://schemas.openxmlformats.org/drawingml/2006/main">
            <a:off x="2762250" y="5781675"/>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Assigned work / results</a:t>
            </a:r>
          </a:p>
        </p:txBody>
      </p:sp>
      <p:cxnSp>
        <p:nvCxnSpPr>
          <p:cNvPr id="38" name="flow-36">
            <a:extLst xmlns:a="http://schemas.openxmlformats.org/drawingml/2006/main">
              <a:ext uri="{FF2B5EF4-FFF2-40B4-BE49-F238E27FC236}">
                <a16:creationId xmlns:a16="http://schemas.microsoft.com/office/drawing/2014/main" id="{ECE64A28-95CE-4E64-A43D-F044FB1CE7E2}"/>
              </a:ext>
            </a:extLst>
          </p:cNvPr>
          <p:cNvCxnSpPr/>
          <p:nvPr/>
        </p:nvCxnSpPr>
        <p:spPr>
          <a:xfrm xmlns:a="http://schemas.openxmlformats.org/drawingml/2006/main" flipH="0" flipV="0">
            <a:off x="8239125" y="5600700"/>
            <a:ext cx="0" cy="1114425"/>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sp>
        <p:nvSpPr>
          <p:cNvPr id="40" name="text-37">
            <a:extLst xmlns:a="http://schemas.openxmlformats.org/drawingml/2006/main">
              <a:ext uri="{FF2B5EF4-FFF2-40B4-BE49-F238E27FC236}">
                <a16:creationId xmlns:a16="http://schemas.microsoft.com/office/drawing/2014/main" id="{0B6444DF-FC92-4250-A766-2EEB47BA7645}"/>
              </a:ext>
            </a:extLst>
          </p:cNvPr>
          <p:cNvSpPr>
            <a:spLocks xmlns:a="http://schemas.openxmlformats.org/drawingml/2006/main" noGrp="1"/>
          </p:cNvSpPr>
          <p:nvPr/>
        </p:nvSpPr>
        <p:spPr>
          <a:xfrm xmlns:a="http://schemas.openxmlformats.org/drawingml/2006/main">
            <a:off x="9991725" y="6867525"/>
            <a:ext cx="1352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Data / actions</a:t>
            </a:r>
          </a:p>
        </p:txBody>
      </p:sp>
    </p:spTree>
    <p:extLst>
      <p:ext uri="{BB962C8B-B14F-4D97-AF65-F5344CB8AC3E}">
        <p14:creationId xmlns:p14="http://schemas.microsoft.com/office/powerpoint/2010/main" val="687993816"/>
      </p:ext>
    </p:extLst>
  </p:cSld>
</p:sld>
</file>

<file path=ppt/slides/slide2.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5" name="">
            <a:extLst xmlns:a="http://schemas.openxmlformats.org/drawingml/2006/main">
              <a:ext uri="{FF2B5EF4-FFF2-40B4-BE49-F238E27FC236}">
                <a16:creationId xmlns:a16="http://schemas.microsoft.com/office/drawing/2014/main" id="{57DBA162-4F9E-40B1-96DF-AD08BB0F3A30}"/>
              </a:ext>
            </a:extLst>
          </p:cNvPr>
          <p:cNvCxnSpPr>
            <a:stCxn xmlns:a="http://schemas.openxmlformats.org/drawingml/2006/main" id="22" idx="1"/>
            <a:endCxn xmlns:a="http://schemas.openxmlformats.org/drawingml/2006/main" id="25" idx="3"/>
          </p:cNvCxnSpPr>
          <p:nvPr/>
        </p:nvCxnSpPr>
        <p:spPr>
          <a:xfrm xmlns:a="http://schemas.openxmlformats.org/drawingml/2006/main" flipH="1">
            <a:off x="5467350" y="6905625"/>
            <a:ext cx="45339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1" name="">
            <a:extLst xmlns:a="http://schemas.openxmlformats.org/drawingml/2006/main">
              <a:ext uri="{FF2B5EF4-FFF2-40B4-BE49-F238E27FC236}">
                <a16:creationId xmlns:a16="http://schemas.microsoft.com/office/drawing/2014/main" id="{F7EF065C-7E51-4463-8E1D-0396E8E27B6E}"/>
              </a:ext>
            </a:extLst>
          </p:cNvPr>
          <p:cNvCxnSpPr>
            <a:stCxn xmlns:a="http://schemas.openxmlformats.org/drawingml/2006/main" id="12" idx="3"/>
            <a:endCxn xmlns:a="http://schemas.openxmlformats.org/drawingml/2006/main" id="15" idx="1"/>
          </p:cNvCxnSpPr>
          <p:nvPr/>
        </p:nvCxnSpPr>
        <p:spPr>
          <a:xfrm xmlns:a="http://schemas.openxmlformats.org/drawingml/2006/main">
            <a:off x="11744325"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0" name="">
            <a:extLst xmlns:a="http://schemas.openxmlformats.org/drawingml/2006/main">
              <a:ext uri="{FF2B5EF4-FFF2-40B4-BE49-F238E27FC236}">
                <a16:creationId xmlns:a16="http://schemas.microsoft.com/office/drawing/2014/main" id="{8960E32D-97B0-4005-B9D4-5BF3BA84F1B2}"/>
              </a:ext>
            </a:extLst>
          </p:cNvPr>
          <p:cNvCxnSpPr>
            <a:stCxn xmlns:a="http://schemas.openxmlformats.org/drawingml/2006/main" id="9" idx="3"/>
            <a:endCxn xmlns:a="http://schemas.openxmlformats.org/drawingml/2006/main" id="12" idx="1"/>
          </p:cNvCxnSpPr>
          <p:nvPr/>
        </p:nvCxnSpPr>
        <p:spPr>
          <a:xfrm xmlns:a="http://schemas.openxmlformats.org/drawingml/2006/main">
            <a:off x="8858250"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9" name="">
            <a:extLst xmlns:a="http://schemas.openxmlformats.org/drawingml/2006/main">
              <a:ext uri="{FF2B5EF4-FFF2-40B4-BE49-F238E27FC236}">
                <a16:creationId xmlns:a16="http://schemas.microsoft.com/office/drawing/2014/main" id="{9F7F184F-EF9A-47F9-ACF3-BA72750A3A9C}"/>
              </a:ext>
            </a:extLst>
          </p:cNvPr>
          <p:cNvCxnSpPr>
            <a:stCxn xmlns:a="http://schemas.openxmlformats.org/drawingml/2006/main" id="6" idx="3"/>
            <a:endCxn xmlns:a="http://schemas.openxmlformats.org/drawingml/2006/main" id="9" idx="1"/>
          </p:cNvCxnSpPr>
          <p:nvPr/>
        </p:nvCxnSpPr>
        <p:spPr>
          <a:xfrm xmlns:a="http://schemas.openxmlformats.org/drawingml/2006/main">
            <a:off x="5972175"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8" name="">
            <a:extLst xmlns:a="http://schemas.openxmlformats.org/drawingml/2006/main">
              <a:ext uri="{FF2B5EF4-FFF2-40B4-BE49-F238E27FC236}">
                <a16:creationId xmlns:a16="http://schemas.microsoft.com/office/drawing/2014/main" id="{81B91D6E-DBAD-4E1F-BBFE-BB9FCE6059F3}"/>
              </a:ext>
            </a:extLst>
          </p:cNvPr>
          <p:cNvCxnSpPr>
            <a:stCxn xmlns:a="http://schemas.openxmlformats.org/drawingml/2006/main" id="3" idx="3"/>
            <a:endCxn xmlns:a="http://schemas.openxmlformats.org/drawingml/2006/main" id="6" idx="1"/>
          </p:cNvCxnSpPr>
          <p:nvPr/>
        </p:nvCxnSpPr>
        <p:spPr>
          <a:xfrm xmlns:a="http://schemas.openxmlformats.org/drawingml/2006/main">
            <a:off x="3086100"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8" name="text-38">
            <a:extLst xmlns:a="http://schemas.openxmlformats.org/drawingml/2006/main">
              <a:ext uri="{FF2B5EF4-FFF2-40B4-BE49-F238E27FC236}">
                <a16:creationId xmlns:a16="http://schemas.microsoft.com/office/drawing/2014/main" id="{CC4861A8-D8F9-4A96-9F29-F1767A644393}"/>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Task lifecycle</a:t>
            </a:r>
          </a:p>
        </p:txBody>
      </p:sp>
      <p:sp>
        <p:nvSpPr>
          <p:cNvPr id="2" name="text-39">
            <a:extLst xmlns:a="http://schemas.openxmlformats.org/drawingml/2006/main">
              <a:ext uri="{FF2B5EF4-FFF2-40B4-BE49-F238E27FC236}">
                <a16:creationId xmlns:a16="http://schemas.microsoft.com/office/drawing/2014/main" id="{BCC5EE8F-603B-44DE-A3CF-E9160245542C}"/>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2</a:t>
            </a:r>
          </a:p>
        </p:txBody>
      </p:sp>
      <p:sp>
        <p:nvSpPr>
          <p:cNvPr id="3" name="node-40">
            <a:extLst xmlns:a="http://schemas.openxmlformats.org/drawingml/2006/main">
              <a:ext uri="{FF2B5EF4-FFF2-40B4-BE49-F238E27FC236}">
                <a16:creationId xmlns:a16="http://schemas.microsoft.com/office/drawing/2014/main" id="{F9DC9AB3-A9AA-4197-8E5F-6861652CB79A}"/>
              </a:ext>
            </a:extLst>
          </p:cNvPr>
          <p:cNvSpPr>
            <a:spLocks xmlns:a="http://schemas.openxmlformats.org/drawingml/2006/main" noGrp="1"/>
          </p:cNvSpPr>
          <p:nvPr/>
        </p:nvSpPr>
        <p:spPr>
          <a:xfrm xmlns:a="http://schemas.openxmlformats.org/drawingml/2006/main">
            <a:off x="60960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41">
            <a:extLst xmlns:a="http://schemas.openxmlformats.org/drawingml/2006/main">
              <a:ext uri="{FF2B5EF4-FFF2-40B4-BE49-F238E27FC236}">
                <a16:creationId xmlns:a16="http://schemas.microsoft.com/office/drawing/2014/main" id="{B686920C-78F5-4DD1-A028-7FAE9C9254A4}"/>
              </a:ext>
            </a:extLst>
          </p:cNvPr>
          <p:cNvSpPr>
            <a:spLocks xmlns:a="http://schemas.openxmlformats.org/drawingml/2006/main" noGrp="1"/>
          </p:cNvSpPr>
          <p:nvPr/>
        </p:nvSpPr>
        <p:spPr>
          <a:xfrm xmlns:a="http://schemas.openxmlformats.org/drawingml/2006/main">
            <a:off x="800100"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Task intake</a:t>
            </a:r>
          </a:p>
        </p:txBody>
      </p:sp>
      <p:sp>
        <p:nvSpPr>
          <p:cNvPr id="5" name="text-42">
            <a:extLst xmlns:a="http://schemas.openxmlformats.org/drawingml/2006/main">
              <a:ext uri="{FF2B5EF4-FFF2-40B4-BE49-F238E27FC236}">
                <a16:creationId xmlns:a16="http://schemas.microsoft.com/office/drawing/2014/main" id="{42584B02-B1B3-48E8-A52E-C40A2202F804}"/>
              </a:ext>
            </a:extLst>
          </p:cNvPr>
          <p:cNvSpPr>
            <a:spLocks xmlns:a="http://schemas.openxmlformats.org/drawingml/2006/main" noGrp="1"/>
          </p:cNvSpPr>
          <p:nvPr/>
        </p:nvSpPr>
        <p:spPr>
          <a:xfrm xmlns:a="http://schemas.openxmlformats.org/drawingml/2006/main">
            <a:off x="800100" y="2987040"/>
            <a:ext cx="2095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Objective and</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source</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Done criteria</a:t>
            </a:r>
          </a:p>
        </p:txBody>
      </p:sp>
      <p:sp>
        <p:nvSpPr>
          <p:cNvPr id="6" name="node-43">
            <a:extLst xmlns:a="http://schemas.openxmlformats.org/drawingml/2006/main">
              <a:ext uri="{FF2B5EF4-FFF2-40B4-BE49-F238E27FC236}">
                <a16:creationId xmlns:a16="http://schemas.microsoft.com/office/drawing/2014/main" id="{419435F1-5638-445F-9B5F-1401A1E7A1B7}"/>
              </a:ext>
            </a:extLst>
          </p:cNvPr>
          <p:cNvSpPr>
            <a:spLocks xmlns:a="http://schemas.openxmlformats.org/drawingml/2006/main" noGrp="1"/>
          </p:cNvSpPr>
          <p:nvPr/>
        </p:nvSpPr>
        <p:spPr>
          <a:xfrm xmlns:a="http://schemas.openxmlformats.org/drawingml/2006/main">
            <a:off x="3495675"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44">
            <a:extLst xmlns:a="http://schemas.openxmlformats.org/drawingml/2006/main">
              <a:ext uri="{FF2B5EF4-FFF2-40B4-BE49-F238E27FC236}">
                <a16:creationId xmlns:a16="http://schemas.microsoft.com/office/drawing/2014/main" id="{303EC00A-0E83-4A4E-A129-0848D5EDE435}"/>
              </a:ext>
            </a:extLst>
          </p:cNvPr>
          <p:cNvSpPr>
            <a:spLocks xmlns:a="http://schemas.openxmlformats.org/drawingml/2006/main" noGrp="1"/>
          </p:cNvSpPr>
          <p:nvPr/>
        </p:nvSpPr>
        <p:spPr>
          <a:xfrm xmlns:a="http://schemas.openxmlformats.org/drawingml/2006/main">
            <a:off x="3686175"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CEO agent</a:t>
            </a:r>
          </a:p>
        </p:txBody>
      </p:sp>
      <p:sp>
        <p:nvSpPr>
          <p:cNvPr id="8" name="text-45">
            <a:extLst xmlns:a="http://schemas.openxmlformats.org/drawingml/2006/main">
              <a:ext uri="{FF2B5EF4-FFF2-40B4-BE49-F238E27FC236}">
                <a16:creationId xmlns:a16="http://schemas.microsoft.com/office/drawing/2014/main" id="{53F419D5-F8B6-4641-8B9B-A5B482A2284D}"/>
              </a:ext>
            </a:extLst>
          </p:cNvPr>
          <p:cNvSpPr>
            <a:spLocks xmlns:a="http://schemas.openxmlformats.org/drawingml/2006/main" noGrp="1"/>
          </p:cNvSpPr>
          <p:nvPr/>
        </p:nvSpPr>
        <p:spPr>
          <a:xfrm xmlns:a="http://schemas.openxmlformats.org/drawingml/2006/main">
            <a:off x="3686175" y="2987040"/>
            <a:ext cx="209550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Prioritize</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Delegate</a:t>
            </a:r>
          </a:p>
        </p:txBody>
      </p:sp>
      <p:sp>
        <p:nvSpPr>
          <p:cNvPr id="9" name="node-46">
            <a:extLst xmlns:a="http://schemas.openxmlformats.org/drawingml/2006/main">
              <a:ext uri="{FF2B5EF4-FFF2-40B4-BE49-F238E27FC236}">
                <a16:creationId xmlns:a16="http://schemas.microsoft.com/office/drawing/2014/main" id="{1589C988-1BBC-4EAE-B3C8-802250EAB29D}"/>
              </a:ext>
            </a:extLst>
          </p:cNvPr>
          <p:cNvSpPr>
            <a:spLocks xmlns:a="http://schemas.openxmlformats.org/drawingml/2006/main" noGrp="1"/>
          </p:cNvSpPr>
          <p:nvPr/>
        </p:nvSpPr>
        <p:spPr>
          <a:xfrm xmlns:a="http://schemas.openxmlformats.org/drawingml/2006/main">
            <a:off x="638175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47">
            <a:extLst xmlns:a="http://schemas.openxmlformats.org/drawingml/2006/main">
              <a:ext uri="{FF2B5EF4-FFF2-40B4-BE49-F238E27FC236}">
                <a16:creationId xmlns:a16="http://schemas.microsoft.com/office/drawing/2014/main" id="{D115F70E-0C7D-4548-9706-7F75A23D09C1}"/>
              </a:ext>
            </a:extLst>
          </p:cNvPr>
          <p:cNvSpPr>
            <a:spLocks xmlns:a="http://schemas.openxmlformats.org/drawingml/2006/main" noGrp="1"/>
          </p:cNvSpPr>
          <p:nvPr/>
        </p:nvSpPr>
        <p:spPr>
          <a:xfrm xmlns:a="http://schemas.openxmlformats.org/drawingml/2006/main">
            <a:off x="6572250" y="2590800"/>
            <a:ext cx="20955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Claim task</a:t>
            </a:r>
          </a:p>
        </p:txBody>
      </p:sp>
      <p:sp>
        <p:nvSpPr>
          <p:cNvPr id="11" name="text-48">
            <a:extLst xmlns:a="http://schemas.openxmlformats.org/drawingml/2006/main">
              <a:ext uri="{FF2B5EF4-FFF2-40B4-BE49-F238E27FC236}">
                <a16:creationId xmlns:a16="http://schemas.microsoft.com/office/drawing/2014/main" id="{290BEB40-602D-41B7-A1A7-0BF1B6FCB946}"/>
              </a:ext>
            </a:extLst>
          </p:cNvPr>
          <p:cNvSpPr>
            <a:spLocks xmlns:a="http://schemas.openxmlformats.org/drawingml/2006/main" noGrp="1"/>
          </p:cNvSpPr>
          <p:nvPr/>
        </p:nvSpPr>
        <p:spPr>
          <a:xfrm xmlns:a="http://schemas.openxmlformats.org/drawingml/2006/main">
            <a:off x="6572250" y="2975420"/>
            <a:ext cx="2095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Dependencies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Exclusive</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checkout</a:t>
            </a:r>
          </a:p>
        </p:txBody>
      </p:sp>
      <p:sp>
        <p:nvSpPr>
          <p:cNvPr id="12" name="node-49">
            <a:extLst xmlns:a="http://schemas.openxmlformats.org/drawingml/2006/main">
              <a:ext uri="{FF2B5EF4-FFF2-40B4-BE49-F238E27FC236}">
                <a16:creationId xmlns:a16="http://schemas.microsoft.com/office/drawing/2014/main" id="{E531CC32-C727-4F28-8BE8-8C62CDAD3FF2}"/>
              </a:ext>
            </a:extLst>
          </p:cNvPr>
          <p:cNvSpPr>
            <a:spLocks xmlns:a="http://schemas.openxmlformats.org/drawingml/2006/main" noGrp="1"/>
          </p:cNvSpPr>
          <p:nvPr/>
        </p:nvSpPr>
        <p:spPr>
          <a:xfrm xmlns:a="http://schemas.openxmlformats.org/drawingml/2006/main">
            <a:off x="9267825"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text-50">
            <a:extLst xmlns:a="http://schemas.openxmlformats.org/drawingml/2006/main">
              <a:ext uri="{FF2B5EF4-FFF2-40B4-BE49-F238E27FC236}">
                <a16:creationId xmlns:a16="http://schemas.microsoft.com/office/drawing/2014/main" id="{4658FEF7-BFCE-4681-80F5-2A81631E2B9B}"/>
              </a:ext>
            </a:extLst>
          </p:cNvPr>
          <p:cNvSpPr>
            <a:spLocks xmlns:a="http://schemas.openxmlformats.org/drawingml/2006/main" noGrp="1"/>
          </p:cNvSpPr>
          <p:nvPr/>
        </p:nvSpPr>
        <p:spPr>
          <a:xfrm xmlns:a="http://schemas.openxmlformats.org/drawingml/2006/main">
            <a:off x="9458325"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Execution</a:t>
            </a:r>
          </a:p>
        </p:txBody>
      </p:sp>
      <p:sp>
        <p:nvSpPr>
          <p:cNvPr id="14" name="text-51">
            <a:extLst xmlns:a="http://schemas.openxmlformats.org/drawingml/2006/main">
              <a:ext uri="{FF2B5EF4-FFF2-40B4-BE49-F238E27FC236}">
                <a16:creationId xmlns:a16="http://schemas.microsoft.com/office/drawing/2014/main" id="{43B20822-3855-4EE4-A5DD-D6E64F3DDD04}"/>
              </a:ext>
            </a:extLst>
          </p:cNvPr>
          <p:cNvSpPr>
            <a:spLocks xmlns:a="http://schemas.openxmlformats.org/drawingml/2006/main" noGrp="1"/>
          </p:cNvSpPr>
          <p:nvPr/>
        </p:nvSpPr>
        <p:spPr>
          <a:xfrm xmlns:a="http://schemas.openxmlformats.org/drawingml/2006/main">
            <a:off x="9458325" y="2987040"/>
            <a:ext cx="2095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Central or member</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Scoped tools</a:t>
            </a:r>
          </a:p>
        </p:txBody>
      </p:sp>
      <p:sp>
        <p:nvSpPr>
          <p:cNvPr id="15" name="node-52">
            <a:extLst xmlns:a="http://schemas.openxmlformats.org/drawingml/2006/main">
              <a:ext uri="{FF2B5EF4-FFF2-40B4-BE49-F238E27FC236}">
                <a16:creationId xmlns:a16="http://schemas.microsoft.com/office/drawing/2014/main" id="{30E4C43E-2E31-489D-9560-642DE15DA0AC}"/>
              </a:ext>
            </a:extLst>
          </p:cNvPr>
          <p:cNvSpPr>
            <a:spLocks xmlns:a="http://schemas.openxmlformats.org/drawingml/2006/main" noGrp="1"/>
          </p:cNvSpPr>
          <p:nvPr/>
        </p:nvSpPr>
        <p:spPr>
          <a:xfrm xmlns:a="http://schemas.openxmlformats.org/drawingml/2006/main">
            <a:off x="1215390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6" name="text-53">
            <a:extLst xmlns:a="http://schemas.openxmlformats.org/drawingml/2006/main">
              <a:ext uri="{FF2B5EF4-FFF2-40B4-BE49-F238E27FC236}">
                <a16:creationId xmlns:a16="http://schemas.microsoft.com/office/drawing/2014/main" id="{135E2039-3505-4B72-A57A-45D38DF21F63}"/>
              </a:ext>
            </a:extLst>
          </p:cNvPr>
          <p:cNvSpPr>
            <a:spLocks xmlns:a="http://schemas.openxmlformats.org/drawingml/2006/main" noGrp="1"/>
          </p:cNvSpPr>
          <p:nvPr/>
        </p:nvSpPr>
        <p:spPr>
          <a:xfrm xmlns:a="http://schemas.openxmlformats.org/drawingml/2006/main">
            <a:off x="12344400" y="2590800"/>
            <a:ext cx="20955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Validation</a:t>
            </a:r>
          </a:p>
        </p:txBody>
      </p:sp>
      <p:sp>
        <p:nvSpPr>
          <p:cNvPr id="17" name="text-54">
            <a:extLst xmlns:a="http://schemas.openxmlformats.org/drawingml/2006/main">
              <a:ext uri="{FF2B5EF4-FFF2-40B4-BE49-F238E27FC236}">
                <a16:creationId xmlns:a16="http://schemas.microsoft.com/office/drawing/2014/main" id="{55F523B3-596B-48BE-9314-9D537DD16637}"/>
              </a:ext>
            </a:extLst>
          </p:cNvPr>
          <p:cNvSpPr>
            <a:spLocks xmlns:a="http://schemas.openxmlformats.org/drawingml/2006/main" noGrp="1"/>
          </p:cNvSpPr>
          <p:nvPr/>
        </p:nvSpPr>
        <p:spPr>
          <a:xfrm xmlns:a="http://schemas.openxmlformats.org/drawingml/2006/main">
            <a:off x="12344400" y="2963799"/>
            <a:ext cx="2095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Task criteria</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Required reviews</a:t>
            </a:r>
          </a:p>
        </p:txBody>
      </p:sp>
      <p:sp>
        <p:nvSpPr>
          <p:cNvPr id="22" name="node-55">
            <a:extLst xmlns:a="http://schemas.openxmlformats.org/drawingml/2006/main">
              <a:ext uri="{FF2B5EF4-FFF2-40B4-BE49-F238E27FC236}">
                <a16:creationId xmlns:a16="http://schemas.microsoft.com/office/drawing/2014/main" id="{663BE0D1-67E5-4068-936C-A95F4A1EF56E}"/>
              </a:ext>
            </a:extLst>
          </p:cNvPr>
          <p:cNvSpPr>
            <a:spLocks xmlns:a="http://schemas.openxmlformats.org/drawingml/2006/main" noGrp="1"/>
          </p:cNvSpPr>
          <p:nvPr/>
        </p:nvSpPr>
        <p:spPr>
          <a:xfrm xmlns:a="http://schemas.openxmlformats.org/drawingml/2006/main">
            <a:off x="10001250" y="6238875"/>
            <a:ext cx="4629150" cy="1333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3" name="text-56">
            <a:extLst xmlns:a="http://schemas.openxmlformats.org/drawingml/2006/main">
              <a:ext uri="{FF2B5EF4-FFF2-40B4-BE49-F238E27FC236}">
                <a16:creationId xmlns:a16="http://schemas.microsoft.com/office/drawing/2014/main" id="{D0EFF5A5-57A7-4E35-87C2-1AD53161D689}"/>
              </a:ext>
            </a:extLst>
          </p:cNvPr>
          <p:cNvSpPr>
            <a:spLocks xmlns:a="http://schemas.openxmlformats.org/drawingml/2006/main" noGrp="1"/>
          </p:cNvSpPr>
          <p:nvPr/>
        </p:nvSpPr>
        <p:spPr>
          <a:xfrm xmlns:a="http://schemas.openxmlformats.org/drawingml/2006/main">
            <a:off x="10191750" y="6400800"/>
            <a:ext cx="42481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Accepted result</a:t>
            </a:r>
          </a:p>
        </p:txBody>
      </p:sp>
      <p:sp>
        <p:nvSpPr>
          <p:cNvPr id="24" name="text-57">
            <a:extLst xmlns:a="http://schemas.openxmlformats.org/drawingml/2006/main">
              <a:ext uri="{FF2B5EF4-FFF2-40B4-BE49-F238E27FC236}">
                <a16:creationId xmlns:a16="http://schemas.microsoft.com/office/drawing/2014/main" id="{990DFB01-A5DA-457F-9C0C-E1DE4C380FC1}"/>
              </a:ext>
            </a:extLst>
          </p:cNvPr>
          <p:cNvSpPr>
            <a:spLocks xmlns:a="http://schemas.openxmlformats.org/drawingml/2006/main" noGrp="1"/>
          </p:cNvSpPr>
          <p:nvPr/>
        </p:nvSpPr>
        <p:spPr>
          <a:xfrm xmlns:a="http://schemas.openxmlformats.org/drawingml/2006/main">
            <a:off x="10191750" y="6797040"/>
            <a:ext cx="4248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Task status and output links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Research delta when applicable</a:t>
            </a:r>
          </a:p>
        </p:txBody>
      </p:sp>
      <p:sp>
        <p:nvSpPr>
          <p:cNvPr id="25" name="node-58">
            <a:extLst xmlns:a="http://schemas.openxmlformats.org/drawingml/2006/main">
              <a:ext uri="{FF2B5EF4-FFF2-40B4-BE49-F238E27FC236}">
                <a16:creationId xmlns:a16="http://schemas.microsoft.com/office/drawing/2014/main" id="{46E5DF68-39F5-4F13-A294-67F1259B992E}"/>
              </a:ext>
            </a:extLst>
          </p:cNvPr>
          <p:cNvSpPr>
            <a:spLocks xmlns:a="http://schemas.openxmlformats.org/drawingml/2006/main" noGrp="1"/>
          </p:cNvSpPr>
          <p:nvPr/>
        </p:nvSpPr>
        <p:spPr>
          <a:xfrm xmlns:a="http://schemas.openxmlformats.org/drawingml/2006/main">
            <a:off x="609600" y="6238875"/>
            <a:ext cx="4857750" cy="1333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6" name="text-59">
            <a:extLst xmlns:a="http://schemas.openxmlformats.org/drawingml/2006/main">
              <a:ext uri="{FF2B5EF4-FFF2-40B4-BE49-F238E27FC236}">
                <a16:creationId xmlns:a16="http://schemas.microsoft.com/office/drawing/2014/main" id="{A363D15D-73F2-4FB2-988C-7B2323075AB3}"/>
              </a:ext>
            </a:extLst>
          </p:cNvPr>
          <p:cNvSpPr>
            <a:spLocks xmlns:a="http://schemas.openxmlformats.org/drawingml/2006/main" noGrp="1"/>
          </p:cNvSpPr>
          <p:nvPr/>
        </p:nvSpPr>
        <p:spPr>
          <a:xfrm xmlns:a="http://schemas.openxmlformats.org/drawingml/2006/main">
            <a:off x="800100" y="6400800"/>
            <a:ext cx="4476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Buzz and dashboard</a:t>
            </a:r>
          </a:p>
        </p:txBody>
      </p:sp>
      <p:sp>
        <p:nvSpPr>
          <p:cNvPr id="27" name="text-60">
            <a:extLst xmlns:a="http://schemas.openxmlformats.org/drawingml/2006/main">
              <a:ext uri="{FF2B5EF4-FFF2-40B4-BE49-F238E27FC236}">
                <a16:creationId xmlns:a16="http://schemas.microsoft.com/office/drawing/2014/main" id="{D4BFCCCC-37B6-4F15-B327-1FDEC4B1AE65}"/>
              </a:ext>
            </a:extLst>
          </p:cNvPr>
          <p:cNvSpPr>
            <a:spLocks xmlns:a="http://schemas.openxmlformats.org/drawingml/2006/main" noGrp="1"/>
          </p:cNvSpPr>
          <p:nvPr/>
        </p:nvSpPr>
        <p:spPr>
          <a:xfrm xmlns:a="http://schemas.openxmlformats.org/drawingml/2006/main">
            <a:off x="800100" y="6797040"/>
            <a:ext cx="4476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Result returned to the member</a:t>
            </a:r>
          </a:p>
        </p:txBody>
      </p:sp>
      <p:cxnSp>
        <p:nvCxnSpPr>
          <p:cNvPr id="28" name="flow-61">
            <a:extLst xmlns:a="http://schemas.openxmlformats.org/drawingml/2006/main">
              <a:ext uri="{FF2B5EF4-FFF2-40B4-BE49-F238E27FC236}">
                <a16:creationId xmlns:a16="http://schemas.microsoft.com/office/drawing/2014/main" id="{4F7933A1-DDAF-4E19-9A3D-0A281E0AA09C}"/>
              </a:ext>
            </a:extLst>
          </p:cNvPr>
          <p:cNvCxnSpPr/>
          <p:nvPr/>
        </p:nvCxnSpPr>
        <p:spPr>
          <a:xfrm xmlns:a="http://schemas.openxmlformats.org/drawingml/2006/main" flipH="0" flipV="0">
            <a:off x="13392150" y="4095750"/>
            <a:ext cx="0" cy="214312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9" name="text-62">
            <a:extLst xmlns:a="http://schemas.openxmlformats.org/drawingml/2006/main">
              <a:ext uri="{FF2B5EF4-FFF2-40B4-BE49-F238E27FC236}">
                <a16:creationId xmlns:a16="http://schemas.microsoft.com/office/drawing/2014/main" id="{9F64CB67-FB88-4F77-9442-AA27C71FE1F5}"/>
              </a:ext>
            </a:extLst>
          </p:cNvPr>
          <p:cNvSpPr>
            <a:spLocks xmlns:a="http://schemas.openxmlformats.org/drawingml/2006/main" noGrp="1"/>
          </p:cNvSpPr>
          <p:nvPr/>
        </p:nvSpPr>
        <p:spPr>
          <a:xfrm xmlns:a="http://schemas.openxmlformats.org/drawingml/2006/main">
            <a:off x="13515975" y="4733925"/>
            <a:ext cx="11049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Pass</a:t>
            </a:r>
          </a:p>
        </p:txBody>
      </p:sp>
      <p:cxnSp>
        <p:nvCxnSpPr>
          <p:cNvPr id="30" name="flow-63">
            <a:extLst xmlns:a="http://schemas.openxmlformats.org/drawingml/2006/main">
              <a:ext uri="{FF2B5EF4-FFF2-40B4-BE49-F238E27FC236}">
                <a16:creationId xmlns:a16="http://schemas.microsoft.com/office/drawing/2014/main" id="{A0121C05-1693-4001-A6E9-55DF94F5CFB1}"/>
              </a:ext>
            </a:extLst>
          </p:cNvPr>
          <p:cNvCxnSpPr/>
          <p:nvPr/>
        </p:nvCxnSpPr>
        <p:spPr>
          <a:xfrm xmlns:a="http://schemas.openxmlformats.org/drawingml/2006/main" flipH="1" flipV="0">
            <a:off x="11849100" y="3476625"/>
            <a:ext cx="3048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31" name="flow-64">
            <a:extLst xmlns:a="http://schemas.openxmlformats.org/drawingml/2006/main">
              <a:ext uri="{FF2B5EF4-FFF2-40B4-BE49-F238E27FC236}">
                <a16:creationId xmlns:a16="http://schemas.microsoft.com/office/drawing/2014/main" id="{36BE4576-19F2-4EA2-A78A-12DF2CB3DFAB}"/>
              </a:ext>
            </a:extLst>
          </p:cNvPr>
          <p:cNvCxnSpPr/>
          <p:nvPr/>
        </p:nvCxnSpPr>
        <p:spPr>
          <a:xfrm xmlns:a="http://schemas.openxmlformats.org/drawingml/2006/main" flipH="0" flipV="0">
            <a:off x="11849100" y="3476625"/>
            <a:ext cx="0" cy="1333500"/>
          </a:xfrm>
          <a:prstGeom xmlns:a="http://schemas.openxmlformats.org/drawingml/2006/main" prst="straightConnector1">
            <a:avLst/>
          </a:prstGeom>
          <a:ln xmlns:a="http://schemas.openxmlformats.org/drawingml/2006/main" w="23813">
            <a:solidFill>
              <a:srgbClr val="157D80"/>
            </a:solidFill>
            <a:prstDash val="solid"/>
          </a:ln>
        </p:spPr>
      </p:cxnSp>
      <p:cxnSp>
        <p:nvCxnSpPr>
          <p:cNvPr id="32" name="flow-65">
            <a:extLst xmlns:a="http://schemas.openxmlformats.org/drawingml/2006/main">
              <a:ext uri="{FF2B5EF4-FFF2-40B4-BE49-F238E27FC236}">
                <a16:creationId xmlns:a16="http://schemas.microsoft.com/office/drawing/2014/main" id="{96D484F1-5763-4E92-9576-324ACE1FDFCC}"/>
              </a:ext>
            </a:extLst>
          </p:cNvPr>
          <p:cNvCxnSpPr/>
          <p:nvPr/>
        </p:nvCxnSpPr>
        <p:spPr>
          <a:xfrm xmlns:a="http://schemas.openxmlformats.org/drawingml/2006/main" flipH="1" flipV="0">
            <a:off x="10506075" y="4810125"/>
            <a:ext cx="1343025"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33" name="flow-66">
            <a:extLst xmlns:a="http://schemas.openxmlformats.org/drawingml/2006/main">
              <a:ext uri="{FF2B5EF4-FFF2-40B4-BE49-F238E27FC236}">
                <a16:creationId xmlns:a16="http://schemas.microsoft.com/office/drawing/2014/main" id="{113C177D-76DB-4104-AE45-4F2070F6C1F1}"/>
              </a:ext>
            </a:extLst>
          </p:cNvPr>
          <p:cNvCxnSpPr/>
          <p:nvPr/>
        </p:nvCxnSpPr>
        <p:spPr>
          <a:xfrm xmlns:a="http://schemas.openxmlformats.org/drawingml/2006/main" flipH="0" flipV="1">
            <a:off x="10506075" y="4095750"/>
            <a:ext cx="0" cy="71437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4" name="text-67">
            <a:extLst xmlns:a="http://schemas.openxmlformats.org/drawingml/2006/main">
              <a:ext uri="{FF2B5EF4-FFF2-40B4-BE49-F238E27FC236}">
                <a16:creationId xmlns:a16="http://schemas.microsoft.com/office/drawing/2014/main" id="{1AACC4BC-58E4-403D-8B9C-C75FA2EEA14D}"/>
              </a:ext>
            </a:extLst>
          </p:cNvPr>
          <p:cNvSpPr>
            <a:spLocks xmlns:a="http://schemas.openxmlformats.org/drawingml/2006/main" noGrp="1"/>
          </p:cNvSpPr>
          <p:nvPr/>
        </p:nvSpPr>
        <p:spPr>
          <a:xfrm xmlns:a="http://schemas.openxmlformats.org/drawingml/2006/main">
            <a:off x="10287000" y="5000625"/>
            <a:ext cx="2190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Rework</a:t>
            </a:r>
          </a:p>
        </p:txBody>
      </p:sp>
      <p:sp>
        <p:nvSpPr>
          <p:cNvPr id="36" name="text-68">
            <a:extLst xmlns:a="http://schemas.openxmlformats.org/drawingml/2006/main">
              <a:ext uri="{FF2B5EF4-FFF2-40B4-BE49-F238E27FC236}">
                <a16:creationId xmlns:a16="http://schemas.microsoft.com/office/drawing/2014/main" id="{5104DC9F-8377-421B-AFC8-D54B51D6D4DF}"/>
              </a:ext>
            </a:extLst>
          </p:cNvPr>
          <p:cNvSpPr>
            <a:spLocks xmlns:a="http://schemas.openxmlformats.org/drawingml/2006/main" noGrp="1"/>
          </p:cNvSpPr>
          <p:nvPr/>
        </p:nvSpPr>
        <p:spPr>
          <a:xfrm xmlns:a="http://schemas.openxmlformats.org/drawingml/2006/main">
            <a:off x="5905500" y="6534150"/>
            <a:ext cx="3429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0">
                <a:solidFill>
                  <a:srgbClr val="4A6572"/>
                </a:solidFill>
                <a:latin typeface="Aptos"/>
                <a:ea typeface="Aptos"/>
                <a:cs typeface="Aptos"/>
              </a:defRPr>
            </a:defPPr>
          </a:lstStyle>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Publish result and status</a:t>
            </a:r>
          </a:p>
        </p:txBody>
      </p:sp>
      <p:sp>
        <p:nvSpPr>
          <p:cNvPr id="37" name="text-69">
            <a:extLst xmlns:a="http://schemas.openxmlformats.org/drawingml/2006/main">
              <a:ext uri="{FF2B5EF4-FFF2-40B4-BE49-F238E27FC236}">
                <a16:creationId xmlns:a16="http://schemas.microsoft.com/office/drawing/2014/main" id="{8D519C09-2176-4484-8FB9-5BA7173AB996}"/>
              </a:ext>
            </a:extLst>
          </p:cNvPr>
          <p:cNvSpPr>
            <a:spLocks xmlns:a="http://schemas.openxmlformats.org/drawingml/2006/main" noGrp="1"/>
          </p:cNvSpPr>
          <p:nvPr/>
        </p:nvSpPr>
        <p:spPr>
          <a:xfrm xmlns:a="http://schemas.openxmlformats.org/drawingml/2006/main">
            <a:off x="3495675" y="4429125"/>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Paperclip applies hiring and budget policy</a:t>
            </a:r>
          </a:p>
        </p:txBody>
      </p:sp>
    </p:spTree>
    <p:extLst>
      <p:ext uri="{BB962C8B-B14F-4D97-AF65-F5344CB8AC3E}">
        <p14:creationId xmlns:p14="http://schemas.microsoft.com/office/powerpoint/2010/main" val="497893197"/>
      </p:ext>
    </p:extLst>
  </p:cSld>
</p:sld>
</file>

<file path=ppt/slides/slide3.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F810E6E3-E78D-4F3C-95D5-1DCB732BAEE7}"/>
              </a:ext>
            </a:extLst>
          </p:cNvPr>
          <p:cNvCxnSpPr>
            <a:stCxn xmlns:a="http://schemas.openxmlformats.org/drawingml/2006/main" id="3" idx="3"/>
            <a:endCxn xmlns:a="http://schemas.openxmlformats.org/drawingml/2006/main" id="6" idx="1"/>
          </p:cNvCxnSpPr>
          <p:nvPr/>
        </p:nvCxnSpPr>
        <p:spPr>
          <a:xfrm xmlns:a="http://schemas.openxmlformats.org/drawingml/2006/main">
            <a:off x="3752850" y="4191000"/>
            <a:ext cx="15240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4" name="text-70">
            <a:extLst xmlns:a="http://schemas.openxmlformats.org/drawingml/2006/main">
              <a:ext uri="{FF2B5EF4-FFF2-40B4-BE49-F238E27FC236}">
                <a16:creationId xmlns:a16="http://schemas.microsoft.com/office/drawing/2014/main" id="{B2A23D7F-822E-4D30-8FE5-929C0A22B702}"/>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Roundtable meeting flow</a:t>
            </a:r>
          </a:p>
        </p:txBody>
      </p:sp>
      <p:sp>
        <p:nvSpPr>
          <p:cNvPr id="2" name="text-71">
            <a:extLst xmlns:a="http://schemas.openxmlformats.org/drawingml/2006/main">
              <a:ext uri="{FF2B5EF4-FFF2-40B4-BE49-F238E27FC236}">
                <a16:creationId xmlns:a16="http://schemas.microsoft.com/office/drawing/2014/main" id="{C18A7868-8FE3-4B5A-AC56-052268CBB6A0}"/>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3</a:t>
            </a:r>
          </a:p>
        </p:txBody>
      </p:sp>
      <p:sp>
        <p:nvSpPr>
          <p:cNvPr id="3" name="node-72">
            <a:extLst xmlns:a="http://schemas.openxmlformats.org/drawingml/2006/main">
              <a:ext uri="{FF2B5EF4-FFF2-40B4-BE49-F238E27FC236}">
                <a16:creationId xmlns:a16="http://schemas.microsoft.com/office/drawing/2014/main" id="{48B6EF01-C26A-40F7-9F96-CC60CBECABB9}"/>
              </a:ext>
            </a:extLst>
          </p:cNvPr>
          <p:cNvSpPr>
            <a:spLocks xmlns:a="http://schemas.openxmlformats.org/drawingml/2006/main" noGrp="1"/>
          </p:cNvSpPr>
          <p:nvPr/>
        </p:nvSpPr>
        <p:spPr>
          <a:xfrm xmlns:a="http://schemas.openxmlformats.org/drawingml/2006/main">
            <a:off x="609600" y="3476625"/>
            <a:ext cx="31432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73">
            <a:extLst xmlns:a="http://schemas.openxmlformats.org/drawingml/2006/main">
              <a:ext uri="{FF2B5EF4-FFF2-40B4-BE49-F238E27FC236}">
                <a16:creationId xmlns:a16="http://schemas.microsoft.com/office/drawing/2014/main" id="{360B14EF-AC43-450E-868A-66596794CCCB}"/>
              </a:ext>
            </a:extLst>
          </p:cNvPr>
          <p:cNvSpPr>
            <a:spLocks xmlns:a="http://schemas.openxmlformats.org/drawingml/2006/main" noGrp="1"/>
          </p:cNvSpPr>
          <p:nvPr/>
        </p:nvSpPr>
        <p:spPr>
          <a:xfrm xmlns:a="http://schemas.openxmlformats.org/drawingml/2006/main">
            <a:off x="800100" y="3638550"/>
            <a:ext cx="27622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Meet / Gemini</a:t>
            </a:r>
          </a:p>
        </p:txBody>
      </p:sp>
      <p:sp>
        <p:nvSpPr>
          <p:cNvPr id="5" name="text-74">
            <a:extLst xmlns:a="http://schemas.openxmlformats.org/drawingml/2006/main">
              <a:ext uri="{FF2B5EF4-FFF2-40B4-BE49-F238E27FC236}">
                <a16:creationId xmlns:a16="http://schemas.microsoft.com/office/drawing/2014/main" id="{7F5F2247-2FF0-4963-8B57-A313F1CB1AEE}"/>
              </a:ext>
            </a:extLst>
          </p:cNvPr>
          <p:cNvSpPr>
            <a:spLocks xmlns:a="http://schemas.openxmlformats.org/drawingml/2006/main" noGrp="1"/>
          </p:cNvSpPr>
          <p:nvPr/>
        </p:nvSpPr>
        <p:spPr>
          <a:xfrm xmlns:a="http://schemas.openxmlformats.org/drawingml/2006/main">
            <a:off x="800100" y="4046411"/>
            <a:ext cx="276225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Recording and outputs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in organization Drive</a:t>
            </a:r>
          </a:p>
        </p:txBody>
      </p:sp>
      <p:sp>
        <p:nvSpPr>
          <p:cNvPr id="6" name="node-75">
            <a:extLst xmlns:a="http://schemas.openxmlformats.org/drawingml/2006/main">
              <a:ext uri="{FF2B5EF4-FFF2-40B4-BE49-F238E27FC236}">
                <a16:creationId xmlns:a16="http://schemas.microsoft.com/office/drawing/2014/main" id="{29DD215B-B94F-41A7-ABD8-7575B741ED8C}"/>
              </a:ext>
            </a:extLst>
          </p:cNvPr>
          <p:cNvSpPr>
            <a:spLocks xmlns:a="http://schemas.openxmlformats.org/drawingml/2006/main" noGrp="1"/>
          </p:cNvSpPr>
          <p:nvPr/>
        </p:nvSpPr>
        <p:spPr>
          <a:xfrm xmlns:a="http://schemas.openxmlformats.org/drawingml/2006/main">
            <a:off x="5276850" y="3476625"/>
            <a:ext cx="34290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7" name="text-76">
            <a:extLst xmlns:a="http://schemas.openxmlformats.org/drawingml/2006/main">
              <a:ext uri="{FF2B5EF4-FFF2-40B4-BE49-F238E27FC236}">
                <a16:creationId xmlns:a16="http://schemas.microsoft.com/office/drawing/2014/main" id="{65BB40F9-76A4-4C35-90C7-23AB19EBA9B0}"/>
              </a:ext>
            </a:extLst>
          </p:cNvPr>
          <p:cNvSpPr>
            <a:spLocks xmlns:a="http://schemas.openxmlformats.org/drawingml/2006/main" noGrp="1"/>
          </p:cNvSpPr>
          <p:nvPr/>
        </p:nvSpPr>
        <p:spPr>
          <a:xfrm xmlns:a="http://schemas.openxmlformats.org/drawingml/2006/main">
            <a:off x="5467350" y="3638550"/>
            <a:ext cx="3048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Roundtable</a:t>
            </a:r>
          </a:p>
        </p:txBody>
      </p:sp>
      <p:sp>
        <p:nvSpPr>
          <p:cNvPr id="8" name="text-77">
            <a:extLst xmlns:a="http://schemas.openxmlformats.org/drawingml/2006/main">
              <a:ext uri="{FF2B5EF4-FFF2-40B4-BE49-F238E27FC236}">
                <a16:creationId xmlns:a16="http://schemas.microsoft.com/office/drawing/2014/main" id="{E27993DC-C3C4-4B85-B4F9-55A9D27F7A5D}"/>
              </a:ext>
            </a:extLst>
          </p:cNvPr>
          <p:cNvSpPr>
            <a:spLocks xmlns:a="http://schemas.openxmlformats.org/drawingml/2006/main" noGrp="1"/>
          </p:cNvSpPr>
          <p:nvPr/>
        </p:nvSpPr>
        <p:spPr>
          <a:xfrm xmlns:a="http://schemas.openxmlformats.org/drawingml/2006/main">
            <a:off x="5467350" y="4034790"/>
            <a:ext cx="304800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Clean transcript</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Extract notes and actions</a:t>
            </a:r>
          </a:p>
        </p:txBody>
      </p:sp>
      <p:sp>
        <p:nvSpPr>
          <p:cNvPr id="9" name="node-78">
            <a:extLst xmlns:a="http://schemas.openxmlformats.org/drawingml/2006/main">
              <a:ext uri="{FF2B5EF4-FFF2-40B4-BE49-F238E27FC236}">
                <a16:creationId xmlns:a16="http://schemas.microsoft.com/office/drawing/2014/main" id="{4010F8E3-71EF-46BE-A94C-E5B0D5A64B03}"/>
              </a:ext>
            </a:extLst>
          </p:cNvPr>
          <p:cNvSpPr>
            <a:spLocks xmlns:a="http://schemas.openxmlformats.org/drawingml/2006/main" noGrp="1"/>
          </p:cNvSpPr>
          <p:nvPr/>
        </p:nvSpPr>
        <p:spPr>
          <a:xfrm xmlns:a="http://schemas.openxmlformats.org/drawingml/2006/main">
            <a:off x="10915650" y="1952625"/>
            <a:ext cx="3714750" cy="1238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79">
            <a:extLst xmlns:a="http://schemas.openxmlformats.org/drawingml/2006/main">
              <a:ext uri="{FF2B5EF4-FFF2-40B4-BE49-F238E27FC236}">
                <a16:creationId xmlns:a16="http://schemas.microsoft.com/office/drawing/2014/main" id="{6CFF752D-8DC2-4D3E-B78A-9044ED5AD97D}"/>
              </a:ext>
            </a:extLst>
          </p:cNvPr>
          <p:cNvSpPr>
            <a:spLocks xmlns:a="http://schemas.openxmlformats.org/drawingml/2006/main" noGrp="1"/>
          </p:cNvSpPr>
          <p:nvPr/>
        </p:nvSpPr>
        <p:spPr>
          <a:xfrm xmlns:a="http://schemas.openxmlformats.org/drawingml/2006/main">
            <a:off x="11106150" y="2114550"/>
            <a:ext cx="3333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Member website</a:t>
            </a:r>
          </a:p>
        </p:txBody>
      </p:sp>
      <p:sp>
        <p:nvSpPr>
          <p:cNvPr id="11" name="text-80">
            <a:extLst xmlns:a="http://schemas.openxmlformats.org/drawingml/2006/main">
              <a:ext uri="{FF2B5EF4-FFF2-40B4-BE49-F238E27FC236}">
                <a16:creationId xmlns:a16="http://schemas.microsoft.com/office/drawing/2014/main" id="{A6882D56-D19A-444B-AB63-E402019146C9}"/>
              </a:ext>
            </a:extLst>
          </p:cNvPr>
          <p:cNvSpPr>
            <a:spLocks xmlns:a="http://schemas.openxmlformats.org/drawingml/2006/main" noGrp="1"/>
          </p:cNvSpPr>
          <p:nvPr/>
        </p:nvSpPr>
        <p:spPr>
          <a:xfrm xmlns:a="http://schemas.openxmlformats.org/drawingml/2006/main">
            <a:off x="11106150" y="2510790"/>
            <a:ext cx="3333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Transcript + separate notes</a:t>
            </a:r>
          </a:p>
        </p:txBody>
      </p:sp>
      <p:sp>
        <p:nvSpPr>
          <p:cNvPr id="12" name="node-81">
            <a:extLst xmlns:a="http://schemas.openxmlformats.org/drawingml/2006/main">
              <a:ext uri="{FF2B5EF4-FFF2-40B4-BE49-F238E27FC236}">
                <a16:creationId xmlns:a16="http://schemas.microsoft.com/office/drawing/2014/main" id="{44742EBF-EDD7-4520-8410-48E1919730C7}"/>
              </a:ext>
            </a:extLst>
          </p:cNvPr>
          <p:cNvSpPr>
            <a:spLocks xmlns:a="http://schemas.openxmlformats.org/drawingml/2006/main" noGrp="1"/>
          </p:cNvSpPr>
          <p:nvPr/>
        </p:nvSpPr>
        <p:spPr>
          <a:xfrm xmlns:a="http://schemas.openxmlformats.org/drawingml/2006/main">
            <a:off x="10915650" y="4191000"/>
            <a:ext cx="3714750" cy="11430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text-82">
            <a:extLst xmlns:a="http://schemas.openxmlformats.org/drawingml/2006/main">
              <a:ext uri="{FF2B5EF4-FFF2-40B4-BE49-F238E27FC236}">
                <a16:creationId xmlns:a16="http://schemas.microsoft.com/office/drawing/2014/main" id="{646F40F9-0907-4915-9054-2D8F4CC6F753}"/>
              </a:ext>
            </a:extLst>
          </p:cNvPr>
          <p:cNvSpPr>
            <a:spLocks xmlns:a="http://schemas.openxmlformats.org/drawingml/2006/main" noGrp="1"/>
          </p:cNvSpPr>
          <p:nvPr/>
        </p:nvSpPr>
        <p:spPr>
          <a:xfrm xmlns:a="http://schemas.openxmlformats.org/drawingml/2006/main">
            <a:off x="11106150" y="4352925"/>
            <a:ext cx="3333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 tasks</a:t>
            </a:r>
          </a:p>
        </p:txBody>
      </p:sp>
      <p:sp>
        <p:nvSpPr>
          <p:cNvPr id="14" name="text-83">
            <a:extLst xmlns:a="http://schemas.openxmlformats.org/drawingml/2006/main">
              <a:ext uri="{FF2B5EF4-FFF2-40B4-BE49-F238E27FC236}">
                <a16:creationId xmlns:a16="http://schemas.microsoft.com/office/drawing/2014/main" id="{9D610905-2C51-4E42-A12D-618A5810B610}"/>
              </a:ext>
            </a:extLst>
          </p:cNvPr>
          <p:cNvSpPr>
            <a:spLocks xmlns:a="http://schemas.openxmlformats.org/drawingml/2006/main" noGrp="1"/>
          </p:cNvSpPr>
          <p:nvPr/>
        </p:nvSpPr>
        <p:spPr>
          <a:xfrm xmlns:a="http://schemas.openxmlformats.org/drawingml/2006/main">
            <a:off x="11106150" y="4749165"/>
            <a:ext cx="3333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Proposed actions + sources</a:t>
            </a:r>
          </a:p>
        </p:txBody>
      </p:sp>
      <p:sp>
        <p:nvSpPr>
          <p:cNvPr id="15" name="node-84">
            <a:extLst xmlns:a="http://schemas.openxmlformats.org/drawingml/2006/main">
              <a:ext uri="{FF2B5EF4-FFF2-40B4-BE49-F238E27FC236}">
                <a16:creationId xmlns:a16="http://schemas.microsoft.com/office/drawing/2014/main" id="{A50885F1-EE6E-4428-A028-0ADA08DEFDDB}"/>
              </a:ext>
            </a:extLst>
          </p:cNvPr>
          <p:cNvSpPr>
            <a:spLocks xmlns:a="http://schemas.openxmlformats.org/drawingml/2006/main" noGrp="1"/>
          </p:cNvSpPr>
          <p:nvPr/>
        </p:nvSpPr>
        <p:spPr>
          <a:xfrm xmlns:a="http://schemas.openxmlformats.org/drawingml/2006/main">
            <a:off x="10915650" y="6429375"/>
            <a:ext cx="3714750" cy="1238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6" name="text-85">
            <a:extLst xmlns:a="http://schemas.openxmlformats.org/drawingml/2006/main">
              <a:ext uri="{FF2B5EF4-FFF2-40B4-BE49-F238E27FC236}">
                <a16:creationId xmlns:a16="http://schemas.microsoft.com/office/drawing/2014/main" id="{58465C16-802D-4D8F-BE8B-73188D189D05}"/>
              </a:ext>
            </a:extLst>
          </p:cNvPr>
          <p:cNvSpPr>
            <a:spLocks xmlns:a="http://schemas.openxmlformats.org/drawingml/2006/main" noGrp="1"/>
          </p:cNvSpPr>
          <p:nvPr/>
        </p:nvSpPr>
        <p:spPr>
          <a:xfrm xmlns:a="http://schemas.openxmlformats.org/drawingml/2006/main">
            <a:off x="11106150" y="6591300"/>
            <a:ext cx="333375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DAO knowledge</a:t>
            </a:r>
          </a:p>
        </p:txBody>
      </p:sp>
      <p:sp>
        <p:nvSpPr>
          <p:cNvPr id="17" name="text-86">
            <a:extLst xmlns:a="http://schemas.openxmlformats.org/drawingml/2006/main">
              <a:ext uri="{FF2B5EF4-FFF2-40B4-BE49-F238E27FC236}">
                <a16:creationId xmlns:a16="http://schemas.microsoft.com/office/drawing/2014/main" id="{FEA54449-E996-4E81-8FC7-F70151FA6996}"/>
              </a:ext>
            </a:extLst>
          </p:cNvPr>
          <p:cNvSpPr>
            <a:spLocks xmlns:a="http://schemas.openxmlformats.org/drawingml/2006/main" noGrp="1"/>
          </p:cNvSpPr>
          <p:nvPr/>
        </p:nvSpPr>
        <p:spPr>
          <a:xfrm xmlns:a="http://schemas.openxmlformats.org/drawingml/2006/main">
            <a:off x="11106150" y="6964299"/>
            <a:ext cx="333375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Reviewed facts and</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decisions</a:t>
            </a:r>
          </a:p>
        </p:txBody>
      </p:sp>
      <p:sp>
        <p:nvSpPr>
          <p:cNvPr id="19" name="text-87">
            <a:extLst xmlns:a="http://schemas.openxmlformats.org/drawingml/2006/main">
              <a:ext uri="{FF2B5EF4-FFF2-40B4-BE49-F238E27FC236}">
                <a16:creationId xmlns:a16="http://schemas.microsoft.com/office/drawing/2014/main" id="{21D85B3C-1AF9-42B1-A1BC-265472954D05}"/>
              </a:ext>
            </a:extLst>
          </p:cNvPr>
          <p:cNvSpPr>
            <a:spLocks xmlns:a="http://schemas.openxmlformats.org/drawingml/2006/main" noGrp="1"/>
          </p:cNvSpPr>
          <p:nvPr/>
        </p:nvSpPr>
        <p:spPr>
          <a:xfrm xmlns:a="http://schemas.openxmlformats.org/drawingml/2006/main">
            <a:off x="3752850" y="3571875"/>
            <a:ext cx="1524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Source job</a:t>
            </a:r>
          </a:p>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pending</a:t>
            </a:r>
          </a:p>
        </p:txBody>
      </p:sp>
      <p:cxnSp>
        <p:nvCxnSpPr>
          <p:cNvPr id="20" name="flow-88">
            <a:extLst xmlns:a="http://schemas.openxmlformats.org/drawingml/2006/main">
              <a:ext uri="{FF2B5EF4-FFF2-40B4-BE49-F238E27FC236}">
                <a16:creationId xmlns:a16="http://schemas.microsoft.com/office/drawing/2014/main" id="{FA700758-6063-4BD3-9145-558DA36A1A8B}"/>
              </a:ext>
            </a:extLst>
          </p:cNvPr>
          <p:cNvCxnSpPr/>
          <p:nvPr/>
        </p:nvCxnSpPr>
        <p:spPr>
          <a:xfrm xmlns:a="http://schemas.openxmlformats.org/drawingml/2006/main" flipH="0" flipV="0">
            <a:off x="8705850" y="3810000"/>
            <a:ext cx="9525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1" name="flow-89">
            <a:extLst xmlns:a="http://schemas.openxmlformats.org/drawingml/2006/main">
              <a:ext uri="{FF2B5EF4-FFF2-40B4-BE49-F238E27FC236}">
                <a16:creationId xmlns:a16="http://schemas.microsoft.com/office/drawing/2014/main" id="{2A320953-D319-41AF-BADC-83004547950E}"/>
              </a:ext>
            </a:extLst>
          </p:cNvPr>
          <p:cNvCxnSpPr/>
          <p:nvPr/>
        </p:nvCxnSpPr>
        <p:spPr>
          <a:xfrm xmlns:a="http://schemas.openxmlformats.org/drawingml/2006/main" flipH="0" flipV="1">
            <a:off x="9658350" y="2571750"/>
            <a:ext cx="0" cy="1238250"/>
          </a:xfrm>
          <a:prstGeom xmlns:a="http://schemas.openxmlformats.org/drawingml/2006/main" prst="straightConnector1">
            <a:avLst/>
          </a:prstGeom>
          <a:ln xmlns:a="http://schemas.openxmlformats.org/drawingml/2006/main" w="23813">
            <a:solidFill>
              <a:srgbClr val="157D80"/>
            </a:solidFill>
            <a:prstDash val="dash"/>
          </a:ln>
        </p:spPr>
      </p:cxnSp>
      <p:cxnSp>
        <p:nvCxnSpPr>
          <p:cNvPr id="22" name="flow-90">
            <a:extLst xmlns:a="http://schemas.openxmlformats.org/drawingml/2006/main">
              <a:ext uri="{FF2B5EF4-FFF2-40B4-BE49-F238E27FC236}">
                <a16:creationId xmlns:a16="http://schemas.microsoft.com/office/drawing/2014/main" id="{73C3075B-DC33-4479-8183-A2C8285BDD7C}"/>
              </a:ext>
            </a:extLst>
          </p:cNvPr>
          <p:cNvCxnSpPr/>
          <p:nvPr/>
        </p:nvCxnSpPr>
        <p:spPr>
          <a:xfrm xmlns:a="http://schemas.openxmlformats.org/drawingml/2006/main" flipH="0" flipV="0">
            <a:off x="9658350" y="2571750"/>
            <a:ext cx="12573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23" name="text-91">
            <a:extLst xmlns:a="http://schemas.openxmlformats.org/drawingml/2006/main">
              <a:ext uri="{FF2B5EF4-FFF2-40B4-BE49-F238E27FC236}">
                <a16:creationId xmlns:a16="http://schemas.microsoft.com/office/drawing/2014/main" id="{F40C7129-223D-4550-8938-7E09F56D003E}"/>
              </a:ext>
            </a:extLst>
          </p:cNvPr>
          <p:cNvSpPr>
            <a:spLocks xmlns:a="http://schemas.openxmlformats.org/drawingml/2006/main" noGrp="1"/>
          </p:cNvSpPr>
          <p:nvPr/>
        </p:nvSpPr>
        <p:spPr>
          <a:xfrm xmlns:a="http://schemas.openxmlformats.org/drawingml/2006/main">
            <a:off x="8858250" y="2000250"/>
            <a:ext cx="1952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Publish and</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read back</a:t>
            </a:r>
          </a:p>
        </p:txBody>
      </p:sp>
      <p:cxnSp>
        <p:nvCxnSpPr>
          <p:cNvPr id="24" name="flow-92">
            <a:extLst xmlns:a="http://schemas.openxmlformats.org/drawingml/2006/main">
              <a:ext uri="{FF2B5EF4-FFF2-40B4-BE49-F238E27FC236}">
                <a16:creationId xmlns:a16="http://schemas.microsoft.com/office/drawing/2014/main" id="{CFB5CA8C-F69E-4513-B917-F6458810358E}"/>
              </a:ext>
            </a:extLst>
          </p:cNvPr>
          <p:cNvCxnSpPr/>
          <p:nvPr/>
        </p:nvCxnSpPr>
        <p:spPr>
          <a:xfrm xmlns:a="http://schemas.openxmlformats.org/drawingml/2006/main" flipH="0" flipV="0">
            <a:off x="8705850" y="4476750"/>
            <a:ext cx="100965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5" name="flow-93">
            <a:extLst xmlns:a="http://schemas.openxmlformats.org/drawingml/2006/main">
              <a:ext uri="{FF2B5EF4-FFF2-40B4-BE49-F238E27FC236}">
                <a16:creationId xmlns:a16="http://schemas.microsoft.com/office/drawing/2014/main" id="{5A3BD616-5C6C-4A0A-9E8D-29036374F8AC}"/>
              </a:ext>
            </a:extLst>
          </p:cNvPr>
          <p:cNvCxnSpPr/>
          <p:nvPr/>
        </p:nvCxnSpPr>
        <p:spPr>
          <a:xfrm xmlns:a="http://schemas.openxmlformats.org/drawingml/2006/main" flipH="0" flipV="0">
            <a:off x="9715500" y="4476750"/>
            <a:ext cx="0" cy="285750"/>
          </a:xfrm>
          <a:prstGeom xmlns:a="http://schemas.openxmlformats.org/drawingml/2006/main" prst="straightConnector1">
            <a:avLst/>
          </a:prstGeom>
          <a:ln xmlns:a="http://schemas.openxmlformats.org/drawingml/2006/main" w="23813">
            <a:solidFill>
              <a:srgbClr val="157D80"/>
            </a:solidFill>
            <a:prstDash val="dash"/>
          </a:ln>
        </p:spPr>
      </p:cxnSp>
      <p:cxnSp>
        <p:nvCxnSpPr>
          <p:cNvPr id="26" name="flow-94">
            <a:extLst xmlns:a="http://schemas.openxmlformats.org/drawingml/2006/main">
              <a:ext uri="{FF2B5EF4-FFF2-40B4-BE49-F238E27FC236}">
                <a16:creationId xmlns:a16="http://schemas.microsoft.com/office/drawing/2014/main" id="{AD06838F-FD01-4EA1-8BF5-8DFCDBCD7E18}"/>
              </a:ext>
            </a:extLst>
          </p:cNvPr>
          <p:cNvCxnSpPr/>
          <p:nvPr/>
        </p:nvCxnSpPr>
        <p:spPr>
          <a:xfrm xmlns:a="http://schemas.openxmlformats.org/drawingml/2006/main" flipH="0" flipV="0">
            <a:off x="9715500" y="4762500"/>
            <a:ext cx="12001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27" name="text-95">
            <a:extLst xmlns:a="http://schemas.openxmlformats.org/drawingml/2006/main">
              <a:ext uri="{FF2B5EF4-FFF2-40B4-BE49-F238E27FC236}">
                <a16:creationId xmlns:a16="http://schemas.microsoft.com/office/drawing/2014/main" id="{883D4F9A-276C-4500-A828-357D051BA112}"/>
              </a:ext>
            </a:extLst>
          </p:cNvPr>
          <p:cNvSpPr>
            <a:spLocks xmlns:a="http://schemas.openxmlformats.org/drawingml/2006/main" noGrp="1"/>
          </p:cNvSpPr>
          <p:nvPr/>
        </p:nvSpPr>
        <p:spPr>
          <a:xfrm xmlns:a="http://schemas.openxmlformats.org/drawingml/2006/main">
            <a:off x="8782050" y="4991100"/>
            <a:ext cx="2000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Action intake</a:t>
            </a:r>
          </a:p>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planned</a:t>
            </a:r>
          </a:p>
        </p:txBody>
      </p:sp>
      <p:cxnSp>
        <p:nvCxnSpPr>
          <p:cNvPr id="28" name="flow-96">
            <a:extLst xmlns:a="http://schemas.openxmlformats.org/drawingml/2006/main">
              <a:ext uri="{FF2B5EF4-FFF2-40B4-BE49-F238E27FC236}">
                <a16:creationId xmlns:a16="http://schemas.microsoft.com/office/drawing/2014/main" id="{6789951C-FDDA-4651-AA1A-4DA39B360C44}"/>
              </a:ext>
            </a:extLst>
          </p:cNvPr>
          <p:cNvCxnSpPr/>
          <p:nvPr/>
        </p:nvCxnSpPr>
        <p:spPr>
          <a:xfrm xmlns:a="http://schemas.openxmlformats.org/drawingml/2006/main" flipH="0" flipV="0">
            <a:off x="6991350" y="4905375"/>
            <a:ext cx="0" cy="2143125"/>
          </a:xfrm>
          <a:prstGeom xmlns:a="http://schemas.openxmlformats.org/drawingml/2006/main" prst="straightConnector1">
            <a:avLst/>
          </a:prstGeom>
          <a:ln xmlns:a="http://schemas.openxmlformats.org/drawingml/2006/main" w="23813">
            <a:solidFill>
              <a:srgbClr val="157D80"/>
            </a:solidFill>
            <a:prstDash val="dash"/>
          </a:ln>
        </p:spPr>
      </p:cxnSp>
      <p:cxnSp>
        <p:nvCxnSpPr>
          <p:cNvPr id="29" name="flow-97">
            <a:extLst xmlns:a="http://schemas.openxmlformats.org/drawingml/2006/main">
              <a:ext uri="{FF2B5EF4-FFF2-40B4-BE49-F238E27FC236}">
                <a16:creationId xmlns:a16="http://schemas.microsoft.com/office/drawing/2014/main" id="{C91615A6-F80E-4775-B6FA-C8148A91202C}"/>
              </a:ext>
            </a:extLst>
          </p:cNvPr>
          <p:cNvCxnSpPr/>
          <p:nvPr/>
        </p:nvCxnSpPr>
        <p:spPr>
          <a:xfrm xmlns:a="http://schemas.openxmlformats.org/drawingml/2006/main" flipH="0" flipV="0">
            <a:off x="6991350" y="7048500"/>
            <a:ext cx="39243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0" name="text-98">
            <a:extLst xmlns:a="http://schemas.openxmlformats.org/drawingml/2006/main">
              <a:ext uri="{FF2B5EF4-FFF2-40B4-BE49-F238E27FC236}">
                <a16:creationId xmlns:a16="http://schemas.microsoft.com/office/drawing/2014/main" id="{F5B98C40-24F0-45BB-8990-CEF695E0114B}"/>
              </a:ext>
            </a:extLst>
          </p:cNvPr>
          <p:cNvSpPr>
            <a:spLocks xmlns:a="http://schemas.openxmlformats.org/drawingml/2006/main" noGrp="1"/>
          </p:cNvSpPr>
          <p:nvPr/>
        </p:nvSpPr>
        <p:spPr>
          <a:xfrm xmlns:a="http://schemas.openxmlformats.org/drawingml/2006/main">
            <a:off x="7400925" y="6238875"/>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Trusted admission</a:t>
            </a:r>
          </a:p>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integration pending</a:t>
            </a:r>
          </a:p>
        </p:txBody>
      </p:sp>
      <p:sp>
        <p:nvSpPr>
          <p:cNvPr id="31" name="text-99">
            <a:extLst xmlns:a="http://schemas.openxmlformats.org/drawingml/2006/main">
              <a:ext uri="{FF2B5EF4-FFF2-40B4-BE49-F238E27FC236}">
                <a16:creationId xmlns:a16="http://schemas.microsoft.com/office/drawing/2014/main" id="{5E897F6B-4556-4565-AD9C-6795FFD5AD46}"/>
              </a:ext>
            </a:extLst>
          </p:cNvPr>
          <p:cNvSpPr>
            <a:spLocks xmlns:a="http://schemas.openxmlformats.org/drawingml/2006/main" noGrp="1"/>
          </p:cNvSpPr>
          <p:nvPr/>
        </p:nvSpPr>
        <p:spPr>
          <a:xfrm xmlns:a="http://schemas.openxmlformats.org/drawingml/2006/main">
            <a:off x="10915650" y="3314700"/>
            <a:ext cx="3714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Website integration pending</a:t>
            </a:r>
          </a:p>
        </p:txBody>
      </p:sp>
      <p:sp>
        <p:nvSpPr>
          <p:cNvPr id="32" name="text-100">
            <a:extLst xmlns:a="http://schemas.openxmlformats.org/drawingml/2006/main">
              <a:ext uri="{FF2B5EF4-FFF2-40B4-BE49-F238E27FC236}">
                <a16:creationId xmlns:a16="http://schemas.microsoft.com/office/drawing/2014/main" id="{1E7F887D-5A28-464A-BE1E-D2CA24D6C050}"/>
              </a:ext>
            </a:extLst>
          </p:cNvPr>
          <p:cNvSpPr>
            <a:spLocks xmlns:a="http://schemas.openxmlformats.org/drawingml/2006/main" noGrp="1"/>
          </p:cNvSpPr>
          <p:nvPr/>
        </p:nvSpPr>
        <p:spPr>
          <a:xfrm xmlns:a="http://schemas.openxmlformats.org/drawingml/2006/main">
            <a:off x="609600" y="6191250"/>
            <a:ext cx="514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57D80"/>
                </a:solidFill>
                <a:latin typeface="Aptos"/>
                <a:ea typeface="Aptos"/>
                <a:cs typeface="Aptos"/>
              </a:defRPr>
            </a:defPPr>
          </a:lstStyle>
          <a:p xmlns:a="http://schemas.openxmlformats.org/drawingml/2006/main">
            <a:pPr algn="l">
              <a:buNone/>
              <a:defRPr sz="2025" b="1">
                <a:solidFill>
                  <a:srgbClr val="157D80"/>
                </a:solidFill>
                <a:latin typeface="Aptos"/>
                <a:ea typeface="Aptos"/>
                <a:cs typeface="Aptos"/>
              </a:defRPr>
            </a:pPr>
            <a:r>
              <a:rPr sz="2025" b="1">
                <a:solidFill>
                  <a:srgbClr val="157D80"/>
                </a:solidFill>
                <a:latin typeface="Aptos"/>
                <a:ea typeface="Aptos"/>
                <a:cs typeface="Aptos"/>
              </a:rPr>
              <a:t>Core and publication client merged</a:t>
            </a:r>
          </a:p>
        </p:txBody>
      </p:sp>
      <p:sp>
        <p:nvSpPr>
          <p:cNvPr id="33" name="text-101">
            <a:extLst xmlns:a="http://schemas.openxmlformats.org/drawingml/2006/main">
              <a:ext uri="{FF2B5EF4-FFF2-40B4-BE49-F238E27FC236}">
                <a16:creationId xmlns:a16="http://schemas.microsoft.com/office/drawing/2014/main" id="{93FCA38A-0E4C-42C5-97D3-3F720990DDE6}"/>
              </a:ext>
            </a:extLst>
          </p:cNvPr>
          <p:cNvSpPr>
            <a:spLocks xmlns:a="http://schemas.openxmlformats.org/drawingml/2006/main" noGrp="1"/>
          </p:cNvSpPr>
          <p:nvPr/>
        </p:nvSpPr>
        <p:spPr>
          <a:xfrm xmlns:a="http://schemas.openxmlformats.org/drawingml/2006/main">
            <a:off x="609600" y="6734175"/>
            <a:ext cx="51435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Published links return to the</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Paperclip task and Buzz thread</a:t>
            </a:r>
          </a:p>
        </p:txBody>
      </p:sp>
    </p:spTree>
    <p:extLst>
      <p:ext uri="{BB962C8B-B14F-4D97-AF65-F5344CB8AC3E}">
        <p14:creationId xmlns:p14="http://schemas.microsoft.com/office/powerpoint/2010/main" val="1180322789"/>
      </p:ext>
    </p:extLst>
  </p:cSld>
</p:sld>
</file>

<file path=ppt/slides/slide4.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5" name="">
            <a:extLst xmlns:a="http://schemas.openxmlformats.org/drawingml/2006/main">
              <a:ext uri="{FF2B5EF4-FFF2-40B4-BE49-F238E27FC236}">
                <a16:creationId xmlns:a16="http://schemas.microsoft.com/office/drawing/2014/main" id="{670EB22F-B434-4F3E-AA16-6D5BB4F4815B}"/>
              </a:ext>
            </a:extLst>
          </p:cNvPr>
          <p:cNvCxnSpPr>
            <a:stCxn xmlns:a="http://schemas.openxmlformats.org/drawingml/2006/main" id="25" idx="1"/>
            <a:endCxn xmlns:a="http://schemas.openxmlformats.org/drawingml/2006/main" id="28" idx="3"/>
          </p:cNvCxnSpPr>
          <p:nvPr/>
        </p:nvCxnSpPr>
        <p:spPr>
          <a:xfrm xmlns:a="http://schemas.openxmlformats.org/drawingml/2006/main" flipH="1">
            <a:off x="3181350" y="6429375"/>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34" name="">
            <a:extLst xmlns:a="http://schemas.openxmlformats.org/drawingml/2006/main">
              <a:ext uri="{FF2B5EF4-FFF2-40B4-BE49-F238E27FC236}">
                <a16:creationId xmlns:a16="http://schemas.microsoft.com/office/drawing/2014/main" id="{25F21FFC-C3C4-4100-9C29-D400CC78BA54}"/>
              </a:ext>
            </a:extLst>
          </p:cNvPr>
          <p:cNvCxnSpPr>
            <a:stCxn xmlns:a="http://schemas.openxmlformats.org/drawingml/2006/main" id="22" idx="1"/>
            <a:endCxn xmlns:a="http://schemas.openxmlformats.org/drawingml/2006/main" id="25" idx="3"/>
          </p:cNvCxnSpPr>
          <p:nvPr/>
        </p:nvCxnSpPr>
        <p:spPr>
          <a:xfrm xmlns:a="http://schemas.openxmlformats.org/drawingml/2006/main" flipH="1">
            <a:off x="6381750" y="6429375"/>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33" name="">
            <a:extLst xmlns:a="http://schemas.openxmlformats.org/drawingml/2006/main">
              <a:ext uri="{FF2B5EF4-FFF2-40B4-BE49-F238E27FC236}">
                <a16:creationId xmlns:a16="http://schemas.microsoft.com/office/drawing/2014/main" id="{FF476E01-7BAD-4739-851E-7239EB3B493A}"/>
              </a:ext>
            </a:extLst>
          </p:cNvPr>
          <p:cNvCxnSpPr>
            <a:stCxn xmlns:a="http://schemas.openxmlformats.org/drawingml/2006/main" id="19" idx="1"/>
            <a:endCxn xmlns:a="http://schemas.openxmlformats.org/drawingml/2006/main" id="22" idx="3"/>
          </p:cNvCxnSpPr>
          <p:nvPr/>
        </p:nvCxnSpPr>
        <p:spPr>
          <a:xfrm xmlns:a="http://schemas.openxmlformats.org/drawingml/2006/main" flipH="1">
            <a:off x="10153650" y="6429375"/>
            <a:ext cx="9906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3" name="">
            <a:extLst xmlns:a="http://schemas.openxmlformats.org/drawingml/2006/main">
              <a:ext uri="{FF2B5EF4-FFF2-40B4-BE49-F238E27FC236}">
                <a16:creationId xmlns:a16="http://schemas.microsoft.com/office/drawing/2014/main" id="{746BA64D-1DD3-4212-BCAF-1C2DEE7ECBCE}"/>
              </a:ext>
            </a:extLst>
          </p:cNvPr>
          <p:cNvCxnSpPr>
            <a:stCxn xmlns:a="http://schemas.openxmlformats.org/drawingml/2006/main" id="6" idx="3"/>
            <a:endCxn xmlns:a="http://schemas.openxmlformats.org/drawingml/2006/main" id="9" idx="1"/>
          </p:cNvCxnSpPr>
          <p:nvPr/>
        </p:nvCxnSpPr>
        <p:spPr>
          <a:xfrm xmlns:a="http://schemas.openxmlformats.org/drawingml/2006/main">
            <a:off x="8896350" y="2952750"/>
            <a:ext cx="13906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2" name="">
            <a:extLst xmlns:a="http://schemas.openxmlformats.org/drawingml/2006/main">
              <a:ext uri="{FF2B5EF4-FFF2-40B4-BE49-F238E27FC236}">
                <a16:creationId xmlns:a16="http://schemas.microsoft.com/office/drawing/2014/main" id="{ABA18AAD-31DA-4632-B57B-6CAE2E53E3C1}"/>
              </a:ext>
            </a:extLst>
          </p:cNvPr>
          <p:cNvCxnSpPr>
            <a:stCxn xmlns:a="http://schemas.openxmlformats.org/drawingml/2006/main" id="3" idx="3"/>
            <a:endCxn xmlns:a="http://schemas.openxmlformats.org/drawingml/2006/main" id="6" idx="1"/>
          </p:cNvCxnSpPr>
          <p:nvPr/>
        </p:nvCxnSpPr>
        <p:spPr>
          <a:xfrm xmlns:a="http://schemas.openxmlformats.org/drawingml/2006/main">
            <a:off x="3676650" y="2952750"/>
            <a:ext cx="11811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42" name="text-102">
            <a:extLst xmlns:a="http://schemas.openxmlformats.org/drawingml/2006/main">
              <a:ext uri="{FF2B5EF4-FFF2-40B4-BE49-F238E27FC236}">
                <a16:creationId xmlns:a16="http://schemas.microsoft.com/office/drawing/2014/main" id="{0CFDCA0A-F589-4598-B2CE-CAEC54FF1065}"/>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Grant preparation and submission</a:t>
            </a:r>
          </a:p>
        </p:txBody>
      </p:sp>
      <p:sp>
        <p:nvSpPr>
          <p:cNvPr id="2" name="text-103">
            <a:extLst xmlns:a="http://schemas.openxmlformats.org/drawingml/2006/main">
              <a:ext uri="{FF2B5EF4-FFF2-40B4-BE49-F238E27FC236}">
                <a16:creationId xmlns:a16="http://schemas.microsoft.com/office/drawing/2014/main" id="{C5CCC50F-80C0-4663-B0D7-176E5D9DE13A}"/>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4</a:t>
            </a:r>
          </a:p>
        </p:txBody>
      </p:sp>
      <p:sp>
        <p:nvSpPr>
          <p:cNvPr id="3" name="node-104">
            <a:extLst xmlns:a="http://schemas.openxmlformats.org/drawingml/2006/main">
              <a:ext uri="{FF2B5EF4-FFF2-40B4-BE49-F238E27FC236}">
                <a16:creationId xmlns:a16="http://schemas.microsoft.com/office/drawing/2014/main" id="{243EBB9E-910A-4AB8-B55E-F99A9D67977E}"/>
              </a:ext>
            </a:extLst>
          </p:cNvPr>
          <p:cNvSpPr>
            <a:spLocks xmlns:a="http://schemas.openxmlformats.org/drawingml/2006/main" noGrp="1"/>
          </p:cNvSpPr>
          <p:nvPr/>
        </p:nvSpPr>
        <p:spPr>
          <a:xfrm xmlns:a="http://schemas.openxmlformats.org/drawingml/2006/main">
            <a:off x="609600" y="2095500"/>
            <a:ext cx="306705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105">
            <a:extLst xmlns:a="http://schemas.openxmlformats.org/drawingml/2006/main">
              <a:ext uri="{FF2B5EF4-FFF2-40B4-BE49-F238E27FC236}">
                <a16:creationId xmlns:a16="http://schemas.microsoft.com/office/drawing/2014/main" id="{ED34AFFB-7132-46CB-9D41-9BF924792E66}"/>
              </a:ext>
            </a:extLst>
          </p:cNvPr>
          <p:cNvSpPr>
            <a:spLocks xmlns:a="http://schemas.openxmlformats.org/drawingml/2006/main" noGrp="1"/>
          </p:cNvSpPr>
          <p:nvPr/>
        </p:nvSpPr>
        <p:spPr>
          <a:xfrm xmlns:a="http://schemas.openxmlformats.org/drawingml/2006/main">
            <a:off x="800100" y="2257425"/>
            <a:ext cx="268605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Grant inputs</a:t>
            </a:r>
          </a:p>
        </p:txBody>
      </p:sp>
      <p:sp>
        <p:nvSpPr>
          <p:cNvPr id="5" name="text-106">
            <a:extLst xmlns:a="http://schemas.openxmlformats.org/drawingml/2006/main">
              <a:ext uri="{FF2B5EF4-FFF2-40B4-BE49-F238E27FC236}">
                <a16:creationId xmlns:a16="http://schemas.microsoft.com/office/drawing/2014/main" id="{A056FFDC-33BE-4CD8-A9BF-11B1C291CF74}"/>
              </a:ext>
            </a:extLst>
          </p:cNvPr>
          <p:cNvSpPr>
            <a:spLocks xmlns:a="http://schemas.openxmlformats.org/drawingml/2006/main" noGrp="1"/>
          </p:cNvSpPr>
          <p:nvPr/>
        </p:nvSpPr>
        <p:spPr>
          <a:xfrm xmlns:a="http://schemas.openxmlformats.org/drawingml/2006/main">
            <a:off x="800100" y="2642045"/>
            <a:ext cx="2686050" cy="94449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Public grant sources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DAO projects and</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finances</a:t>
            </a:r>
          </a:p>
        </p:txBody>
      </p:sp>
      <p:sp>
        <p:nvSpPr>
          <p:cNvPr id="6" name="node-107">
            <a:extLst xmlns:a="http://schemas.openxmlformats.org/drawingml/2006/main">
              <a:ext uri="{FF2B5EF4-FFF2-40B4-BE49-F238E27FC236}">
                <a16:creationId xmlns:a16="http://schemas.microsoft.com/office/drawing/2014/main" id="{B8893988-81E1-4360-8A1A-45D5EF38DD33}"/>
              </a:ext>
            </a:extLst>
          </p:cNvPr>
          <p:cNvSpPr>
            <a:spLocks xmlns:a="http://schemas.openxmlformats.org/drawingml/2006/main" noGrp="1"/>
          </p:cNvSpPr>
          <p:nvPr/>
        </p:nvSpPr>
        <p:spPr>
          <a:xfrm xmlns:a="http://schemas.openxmlformats.org/drawingml/2006/main">
            <a:off x="4857750" y="2095500"/>
            <a:ext cx="403860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108">
            <a:extLst xmlns:a="http://schemas.openxmlformats.org/drawingml/2006/main">
              <a:ext uri="{FF2B5EF4-FFF2-40B4-BE49-F238E27FC236}">
                <a16:creationId xmlns:a16="http://schemas.microsoft.com/office/drawing/2014/main" id="{5DB87517-8795-4E0D-ABEA-DD1739E98B76}"/>
              </a:ext>
            </a:extLst>
          </p:cNvPr>
          <p:cNvSpPr>
            <a:spLocks xmlns:a="http://schemas.openxmlformats.org/drawingml/2006/main" noGrp="1"/>
          </p:cNvSpPr>
          <p:nvPr/>
        </p:nvSpPr>
        <p:spPr>
          <a:xfrm xmlns:a="http://schemas.openxmlformats.org/drawingml/2006/main">
            <a:off x="5048250" y="2257425"/>
            <a:ext cx="365760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Research and draft</a:t>
            </a:r>
          </a:p>
        </p:txBody>
      </p:sp>
      <p:sp>
        <p:nvSpPr>
          <p:cNvPr id="8" name="text-109">
            <a:extLst xmlns:a="http://schemas.openxmlformats.org/drawingml/2006/main">
              <a:ext uri="{FF2B5EF4-FFF2-40B4-BE49-F238E27FC236}">
                <a16:creationId xmlns:a16="http://schemas.microsoft.com/office/drawing/2014/main" id="{479E62EC-C2D9-4823-A667-D6071BDDDA1B}"/>
              </a:ext>
            </a:extLst>
          </p:cNvPr>
          <p:cNvSpPr>
            <a:spLocks xmlns:a="http://schemas.openxmlformats.org/drawingml/2006/main" noGrp="1"/>
          </p:cNvSpPr>
          <p:nvPr/>
        </p:nvSpPr>
        <p:spPr>
          <a:xfrm xmlns:a="http://schemas.openxmlformats.org/drawingml/2006/main">
            <a:off x="5048250" y="2665286"/>
            <a:ext cx="36576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Query saved partners first</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Research gaps and save useful</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findings for later work</a:t>
            </a:r>
          </a:p>
        </p:txBody>
      </p:sp>
      <p:sp>
        <p:nvSpPr>
          <p:cNvPr id="9" name="node-110">
            <a:extLst xmlns:a="http://schemas.openxmlformats.org/drawingml/2006/main">
              <a:ext uri="{FF2B5EF4-FFF2-40B4-BE49-F238E27FC236}">
                <a16:creationId xmlns:a16="http://schemas.microsoft.com/office/drawing/2014/main" id="{1E646A86-DDF0-4B46-8696-399E3D821A93}"/>
              </a:ext>
            </a:extLst>
          </p:cNvPr>
          <p:cNvSpPr>
            <a:spLocks xmlns:a="http://schemas.openxmlformats.org/drawingml/2006/main" noGrp="1"/>
          </p:cNvSpPr>
          <p:nvPr/>
        </p:nvSpPr>
        <p:spPr>
          <a:xfrm xmlns:a="http://schemas.openxmlformats.org/drawingml/2006/main">
            <a:off x="10287000" y="2095500"/>
            <a:ext cx="434340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111">
            <a:extLst xmlns:a="http://schemas.openxmlformats.org/drawingml/2006/main">
              <a:ext uri="{FF2B5EF4-FFF2-40B4-BE49-F238E27FC236}">
                <a16:creationId xmlns:a16="http://schemas.microsoft.com/office/drawing/2014/main" id="{61AB3BE5-BE9F-4E89-B3A1-7AFF2C4FA2B4}"/>
              </a:ext>
            </a:extLst>
          </p:cNvPr>
          <p:cNvSpPr>
            <a:spLocks xmlns:a="http://schemas.openxmlformats.org/drawingml/2006/main" noGrp="1"/>
          </p:cNvSpPr>
          <p:nvPr/>
        </p:nvSpPr>
        <p:spPr>
          <a:xfrm xmlns:a="http://schemas.openxmlformats.org/drawingml/2006/main">
            <a:off x="10477500" y="2257425"/>
            <a:ext cx="39624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Independent agent review</a:t>
            </a:r>
          </a:p>
        </p:txBody>
      </p:sp>
      <p:sp>
        <p:nvSpPr>
          <p:cNvPr id="11" name="text-112">
            <a:extLst xmlns:a="http://schemas.openxmlformats.org/drawingml/2006/main">
              <a:ext uri="{FF2B5EF4-FFF2-40B4-BE49-F238E27FC236}">
                <a16:creationId xmlns:a16="http://schemas.microsoft.com/office/drawing/2014/main" id="{1B9100BC-6361-4C72-A713-B01F7E7C2065}"/>
              </a:ext>
            </a:extLst>
          </p:cNvPr>
          <p:cNvSpPr>
            <a:spLocks xmlns:a="http://schemas.openxmlformats.org/drawingml/2006/main" noGrp="1"/>
          </p:cNvSpPr>
          <p:nvPr/>
        </p:nvSpPr>
        <p:spPr>
          <a:xfrm xmlns:a="http://schemas.openxmlformats.org/drawingml/2006/main">
            <a:off x="10477500" y="2642045"/>
            <a:ext cx="39624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Claims, route and remaining gaps</a:t>
            </a:r>
          </a:p>
        </p:txBody>
      </p:sp>
      <p:cxnSp>
        <p:nvCxnSpPr>
          <p:cNvPr id="14" name="flow-113">
            <a:extLst xmlns:a="http://schemas.openxmlformats.org/drawingml/2006/main">
              <a:ext uri="{FF2B5EF4-FFF2-40B4-BE49-F238E27FC236}">
                <a16:creationId xmlns:a16="http://schemas.microsoft.com/office/drawing/2014/main" id="{3D895D1F-E1AC-46AF-9A66-7DDFF958D5B5}"/>
              </a:ext>
            </a:extLst>
          </p:cNvPr>
          <p:cNvCxnSpPr/>
          <p:nvPr/>
        </p:nvCxnSpPr>
        <p:spPr>
          <a:xfrm xmlns:a="http://schemas.openxmlformats.org/drawingml/2006/main" flipH="1" flipV="0">
            <a:off x="9620250" y="3333750"/>
            <a:ext cx="66675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15" name="flow-114">
            <a:extLst xmlns:a="http://schemas.openxmlformats.org/drawingml/2006/main">
              <a:ext uri="{FF2B5EF4-FFF2-40B4-BE49-F238E27FC236}">
                <a16:creationId xmlns:a16="http://schemas.microsoft.com/office/drawing/2014/main" id="{CA573C54-30A4-4F82-9748-CE79A7ABDC67}"/>
              </a:ext>
            </a:extLst>
          </p:cNvPr>
          <p:cNvCxnSpPr/>
          <p:nvPr/>
        </p:nvCxnSpPr>
        <p:spPr>
          <a:xfrm xmlns:a="http://schemas.openxmlformats.org/drawingml/2006/main" flipH="0" flipV="0">
            <a:off x="9620250" y="3333750"/>
            <a:ext cx="0" cy="1104900"/>
          </a:xfrm>
          <a:prstGeom xmlns:a="http://schemas.openxmlformats.org/drawingml/2006/main" prst="straightConnector1">
            <a:avLst/>
          </a:prstGeom>
          <a:ln xmlns:a="http://schemas.openxmlformats.org/drawingml/2006/main" w="23813">
            <a:solidFill>
              <a:srgbClr val="157D80"/>
            </a:solidFill>
            <a:prstDash val="solid"/>
          </a:ln>
        </p:spPr>
      </p:cxnSp>
      <p:cxnSp>
        <p:nvCxnSpPr>
          <p:cNvPr id="16" name="flow-115">
            <a:extLst xmlns:a="http://schemas.openxmlformats.org/drawingml/2006/main">
              <a:ext uri="{FF2B5EF4-FFF2-40B4-BE49-F238E27FC236}">
                <a16:creationId xmlns:a16="http://schemas.microsoft.com/office/drawing/2014/main" id="{5E971FB2-9958-45D0-B937-9F6314D4AFFE}"/>
              </a:ext>
            </a:extLst>
          </p:cNvPr>
          <p:cNvCxnSpPr/>
          <p:nvPr/>
        </p:nvCxnSpPr>
        <p:spPr>
          <a:xfrm xmlns:a="http://schemas.openxmlformats.org/drawingml/2006/main" flipH="1" flipV="0">
            <a:off x="6877050" y="4438650"/>
            <a:ext cx="27432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17" name="flow-116">
            <a:extLst xmlns:a="http://schemas.openxmlformats.org/drawingml/2006/main">
              <a:ext uri="{FF2B5EF4-FFF2-40B4-BE49-F238E27FC236}">
                <a16:creationId xmlns:a16="http://schemas.microsoft.com/office/drawing/2014/main" id="{61E7A2FA-0034-4C56-8EE9-30274A1110E3}"/>
              </a:ext>
            </a:extLst>
          </p:cNvPr>
          <p:cNvCxnSpPr/>
          <p:nvPr/>
        </p:nvCxnSpPr>
        <p:spPr>
          <a:xfrm xmlns:a="http://schemas.openxmlformats.org/drawingml/2006/main" flipH="0" flipV="1">
            <a:off x="6877050" y="3810000"/>
            <a:ext cx="0" cy="6286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18" name="text-117">
            <a:extLst xmlns:a="http://schemas.openxmlformats.org/drawingml/2006/main">
              <a:ext uri="{FF2B5EF4-FFF2-40B4-BE49-F238E27FC236}">
                <a16:creationId xmlns:a16="http://schemas.microsoft.com/office/drawing/2014/main" id="{EFEB626B-0F9E-43CE-88A2-7BA0DDD522EB}"/>
              </a:ext>
            </a:extLst>
          </p:cNvPr>
          <p:cNvSpPr>
            <a:spLocks xmlns:a="http://schemas.openxmlformats.org/drawingml/2006/main" noGrp="1"/>
          </p:cNvSpPr>
          <p:nvPr/>
        </p:nvSpPr>
        <p:spPr>
          <a:xfrm xmlns:a="http://schemas.openxmlformats.org/drawingml/2006/main">
            <a:off x="7477125" y="4543425"/>
            <a:ext cx="2286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More agent work</a:t>
            </a:r>
          </a:p>
        </p:txBody>
      </p:sp>
      <p:sp>
        <p:nvSpPr>
          <p:cNvPr id="19" name="node-118">
            <a:extLst xmlns:a="http://schemas.openxmlformats.org/drawingml/2006/main">
              <a:ext uri="{FF2B5EF4-FFF2-40B4-BE49-F238E27FC236}">
                <a16:creationId xmlns:a16="http://schemas.microsoft.com/office/drawing/2014/main" id="{9F842685-5DAC-4B02-8E7E-5BDF3E780EAC}"/>
              </a:ext>
            </a:extLst>
          </p:cNvPr>
          <p:cNvSpPr>
            <a:spLocks xmlns:a="http://schemas.openxmlformats.org/drawingml/2006/main" noGrp="1"/>
          </p:cNvSpPr>
          <p:nvPr/>
        </p:nvSpPr>
        <p:spPr>
          <a:xfrm xmlns:a="http://schemas.openxmlformats.org/drawingml/2006/main">
            <a:off x="11144250" y="5715000"/>
            <a:ext cx="34861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0" name="text-119">
            <a:extLst xmlns:a="http://schemas.openxmlformats.org/drawingml/2006/main">
              <a:ext uri="{FF2B5EF4-FFF2-40B4-BE49-F238E27FC236}">
                <a16:creationId xmlns:a16="http://schemas.microsoft.com/office/drawing/2014/main" id="{4BC2D4D1-08FF-4F46-8DCF-C352B32855CF}"/>
              </a:ext>
            </a:extLst>
          </p:cNvPr>
          <p:cNvSpPr>
            <a:spLocks xmlns:a="http://schemas.openxmlformats.org/drawingml/2006/main" noGrp="1"/>
          </p:cNvSpPr>
          <p:nvPr/>
        </p:nvSpPr>
        <p:spPr>
          <a:xfrm xmlns:a="http://schemas.openxmlformats.org/drawingml/2006/main">
            <a:off x="11334750" y="5876925"/>
            <a:ext cx="310515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DAO meeting</a:t>
            </a:r>
          </a:p>
        </p:txBody>
      </p:sp>
      <p:sp>
        <p:nvSpPr>
          <p:cNvPr id="21" name="text-120">
            <a:extLst xmlns:a="http://schemas.openxmlformats.org/drawingml/2006/main">
              <a:ext uri="{FF2B5EF4-FFF2-40B4-BE49-F238E27FC236}">
                <a16:creationId xmlns:a16="http://schemas.microsoft.com/office/drawing/2014/main" id="{A6D4E028-A7D5-454D-96E6-E4C4B75F12B8}"/>
              </a:ext>
            </a:extLst>
          </p:cNvPr>
          <p:cNvSpPr>
            <a:spLocks xmlns:a="http://schemas.openxmlformats.org/drawingml/2006/main" noGrp="1"/>
          </p:cNvSpPr>
          <p:nvPr/>
        </p:nvSpPr>
        <p:spPr>
          <a:xfrm xmlns:a="http://schemas.openxmlformats.org/drawingml/2006/main">
            <a:off x="11334750" y="6261545"/>
            <a:ext cx="31051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Prepared brief</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Project and next steps</a:t>
            </a:r>
          </a:p>
        </p:txBody>
      </p:sp>
      <p:sp>
        <p:nvSpPr>
          <p:cNvPr id="22" name="node-121">
            <a:extLst xmlns:a="http://schemas.openxmlformats.org/drawingml/2006/main">
              <a:ext uri="{FF2B5EF4-FFF2-40B4-BE49-F238E27FC236}">
                <a16:creationId xmlns:a16="http://schemas.microsoft.com/office/drawing/2014/main" id="{FA8AC29E-61EB-45EB-B6C8-2BCE32663803}"/>
              </a:ext>
            </a:extLst>
          </p:cNvPr>
          <p:cNvSpPr>
            <a:spLocks xmlns:a="http://schemas.openxmlformats.org/drawingml/2006/main" noGrp="1"/>
          </p:cNvSpPr>
          <p:nvPr/>
        </p:nvSpPr>
        <p:spPr>
          <a:xfrm xmlns:a="http://schemas.openxmlformats.org/drawingml/2006/main">
            <a:off x="7334250" y="5715000"/>
            <a:ext cx="28194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3" name="text-122">
            <a:extLst xmlns:a="http://schemas.openxmlformats.org/drawingml/2006/main">
              <a:ext uri="{FF2B5EF4-FFF2-40B4-BE49-F238E27FC236}">
                <a16:creationId xmlns:a16="http://schemas.microsoft.com/office/drawing/2014/main" id="{7AC51754-927D-46DA-A8E9-6125F29BA8DD}"/>
              </a:ext>
            </a:extLst>
          </p:cNvPr>
          <p:cNvSpPr>
            <a:spLocks xmlns:a="http://schemas.openxmlformats.org/drawingml/2006/main" noGrp="1"/>
          </p:cNvSpPr>
          <p:nvPr/>
        </p:nvSpPr>
        <p:spPr>
          <a:xfrm xmlns:a="http://schemas.openxmlformats.org/drawingml/2006/main">
            <a:off x="7524750" y="5876925"/>
            <a:ext cx="24384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Frozen packet</a:t>
            </a:r>
          </a:p>
        </p:txBody>
      </p:sp>
      <p:sp>
        <p:nvSpPr>
          <p:cNvPr id="24" name="text-123">
            <a:extLst xmlns:a="http://schemas.openxmlformats.org/drawingml/2006/main">
              <a:ext uri="{FF2B5EF4-FFF2-40B4-BE49-F238E27FC236}">
                <a16:creationId xmlns:a16="http://schemas.microsoft.com/office/drawing/2014/main" id="{CB5DED80-66DE-4716-A0AE-A722CC3AA67B}"/>
              </a:ext>
            </a:extLst>
          </p:cNvPr>
          <p:cNvSpPr>
            <a:spLocks xmlns:a="http://schemas.openxmlformats.org/drawingml/2006/main" noGrp="1"/>
          </p:cNvSpPr>
          <p:nvPr/>
        </p:nvSpPr>
        <p:spPr>
          <a:xfrm xmlns:a="http://schemas.openxmlformats.org/drawingml/2006/main">
            <a:off x="7524750" y="6273165"/>
            <a:ext cx="2438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Human signoff</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Exact final version</a:t>
            </a:r>
          </a:p>
        </p:txBody>
      </p:sp>
      <p:sp>
        <p:nvSpPr>
          <p:cNvPr id="25" name="node-124">
            <a:extLst xmlns:a="http://schemas.openxmlformats.org/drawingml/2006/main">
              <a:ext uri="{FF2B5EF4-FFF2-40B4-BE49-F238E27FC236}">
                <a16:creationId xmlns:a16="http://schemas.microsoft.com/office/drawing/2014/main" id="{4C51BAE0-587F-4C3C-ACD9-4E1BED203F43}"/>
              </a:ext>
            </a:extLst>
          </p:cNvPr>
          <p:cNvSpPr>
            <a:spLocks xmlns:a="http://schemas.openxmlformats.org/drawingml/2006/main" noGrp="1"/>
          </p:cNvSpPr>
          <p:nvPr/>
        </p:nvSpPr>
        <p:spPr>
          <a:xfrm xmlns:a="http://schemas.openxmlformats.org/drawingml/2006/main">
            <a:off x="4133850" y="5715000"/>
            <a:ext cx="22479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6" name="text-125">
            <a:extLst xmlns:a="http://schemas.openxmlformats.org/drawingml/2006/main">
              <a:ext uri="{FF2B5EF4-FFF2-40B4-BE49-F238E27FC236}">
                <a16:creationId xmlns:a16="http://schemas.microsoft.com/office/drawing/2014/main" id="{384D3A4B-A8AB-47DD-9D77-AE738CD4E22F}"/>
              </a:ext>
            </a:extLst>
          </p:cNvPr>
          <p:cNvSpPr>
            <a:spLocks xmlns:a="http://schemas.openxmlformats.org/drawingml/2006/main" noGrp="1"/>
          </p:cNvSpPr>
          <p:nvPr/>
        </p:nvSpPr>
        <p:spPr>
          <a:xfrm xmlns:a="http://schemas.openxmlformats.org/drawingml/2006/main">
            <a:off x="4324350" y="5876925"/>
            <a:ext cx="18669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Vocdoni vote</a:t>
            </a:r>
          </a:p>
        </p:txBody>
      </p:sp>
      <p:sp>
        <p:nvSpPr>
          <p:cNvPr id="27" name="text-126">
            <a:extLst xmlns:a="http://schemas.openxmlformats.org/drawingml/2006/main">
              <a:ext uri="{FF2B5EF4-FFF2-40B4-BE49-F238E27FC236}">
                <a16:creationId xmlns:a16="http://schemas.microsoft.com/office/drawing/2014/main" id="{107675A0-919F-41DE-AAEF-D4DFB13DCF15}"/>
              </a:ext>
            </a:extLst>
          </p:cNvPr>
          <p:cNvSpPr>
            <a:spLocks xmlns:a="http://schemas.openxmlformats.org/drawingml/2006/main" noGrp="1"/>
          </p:cNvSpPr>
          <p:nvPr/>
        </p:nvSpPr>
        <p:spPr>
          <a:xfrm xmlns:a="http://schemas.openxmlformats.org/drawingml/2006/main">
            <a:off x="4324350" y="6261545"/>
            <a:ext cx="18669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Exact final</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packet</a:t>
            </a:r>
          </a:p>
        </p:txBody>
      </p:sp>
      <p:sp>
        <p:nvSpPr>
          <p:cNvPr id="28" name="node-127">
            <a:extLst xmlns:a="http://schemas.openxmlformats.org/drawingml/2006/main">
              <a:ext uri="{FF2B5EF4-FFF2-40B4-BE49-F238E27FC236}">
                <a16:creationId xmlns:a16="http://schemas.microsoft.com/office/drawing/2014/main" id="{E16D1775-C9F2-42FA-AB98-1540EE9065AD}"/>
              </a:ext>
            </a:extLst>
          </p:cNvPr>
          <p:cNvSpPr>
            <a:spLocks xmlns:a="http://schemas.openxmlformats.org/drawingml/2006/main" noGrp="1"/>
          </p:cNvSpPr>
          <p:nvPr/>
        </p:nvSpPr>
        <p:spPr>
          <a:xfrm xmlns:a="http://schemas.openxmlformats.org/drawingml/2006/main">
            <a:off x="609600" y="5715000"/>
            <a:ext cx="25717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9" name="text-128">
            <a:extLst xmlns:a="http://schemas.openxmlformats.org/drawingml/2006/main">
              <a:ext uri="{FF2B5EF4-FFF2-40B4-BE49-F238E27FC236}">
                <a16:creationId xmlns:a16="http://schemas.microsoft.com/office/drawing/2014/main" id="{7E52FC67-E43F-4C35-B7BA-24C19BDB32B0}"/>
              </a:ext>
            </a:extLst>
          </p:cNvPr>
          <p:cNvSpPr>
            <a:spLocks xmlns:a="http://schemas.openxmlformats.org/drawingml/2006/main" noGrp="1"/>
          </p:cNvSpPr>
          <p:nvPr/>
        </p:nvSpPr>
        <p:spPr>
          <a:xfrm xmlns:a="http://schemas.openxmlformats.org/drawingml/2006/main">
            <a:off x="800100" y="5876925"/>
            <a:ext cx="219075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Submit manually</a:t>
            </a:r>
          </a:p>
        </p:txBody>
      </p:sp>
      <p:sp>
        <p:nvSpPr>
          <p:cNvPr id="30" name="text-129">
            <a:extLst xmlns:a="http://schemas.openxmlformats.org/drawingml/2006/main">
              <a:ext uri="{FF2B5EF4-FFF2-40B4-BE49-F238E27FC236}">
                <a16:creationId xmlns:a16="http://schemas.microsoft.com/office/drawing/2014/main" id="{AE079C70-A68D-40A3-A610-4CC77754893B}"/>
              </a:ext>
            </a:extLst>
          </p:cNvPr>
          <p:cNvSpPr>
            <a:spLocks xmlns:a="http://schemas.openxmlformats.org/drawingml/2006/main" noGrp="1"/>
          </p:cNvSpPr>
          <p:nvPr/>
        </p:nvSpPr>
        <p:spPr>
          <a:xfrm xmlns:a="http://schemas.openxmlformats.org/drawingml/2006/main">
            <a:off x="800100" y="6249924"/>
            <a:ext cx="2190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Authorized</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submitter</a:t>
            </a:r>
          </a:p>
        </p:txBody>
      </p:sp>
      <p:cxnSp>
        <p:nvCxnSpPr>
          <p:cNvPr id="31" name="flow-130">
            <a:extLst xmlns:a="http://schemas.openxmlformats.org/drawingml/2006/main">
              <a:ext uri="{FF2B5EF4-FFF2-40B4-BE49-F238E27FC236}">
                <a16:creationId xmlns:a16="http://schemas.microsoft.com/office/drawing/2014/main" id="{049B9C67-71EE-4471-BFC9-4AC6862DB69B}"/>
              </a:ext>
            </a:extLst>
          </p:cNvPr>
          <p:cNvCxnSpPr/>
          <p:nvPr/>
        </p:nvCxnSpPr>
        <p:spPr>
          <a:xfrm xmlns:a="http://schemas.openxmlformats.org/drawingml/2006/main" flipH="0" flipV="0">
            <a:off x="12458700" y="3810000"/>
            <a:ext cx="0" cy="190500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2" name="text-131">
            <a:extLst xmlns:a="http://schemas.openxmlformats.org/drawingml/2006/main">
              <a:ext uri="{FF2B5EF4-FFF2-40B4-BE49-F238E27FC236}">
                <a16:creationId xmlns:a16="http://schemas.microsoft.com/office/drawing/2014/main" id="{407AE19C-2BCD-4565-B970-02C8CD5E1896}"/>
              </a:ext>
            </a:extLst>
          </p:cNvPr>
          <p:cNvSpPr>
            <a:spLocks xmlns:a="http://schemas.openxmlformats.org/drawingml/2006/main" noGrp="1"/>
          </p:cNvSpPr>
          <p:nvPr/>
        </p:nvSpPr>
        <p:spPr>
          <a:xfrm xmlns:a="http://schemas.openxmlformats.org/drawingml/2006/main">
            <a:off x="12620625" y="4476750"/>
            <a:ext cx="17621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Decision ready</a:t>
            </a:r>
          </a:p>
        </p:txBody>
      </p:sp>
      <p:sp>
        <p:nvSpPr>
          <p:cNvPr id="36" name="text-132">
            <a:extLst xmlns:a="http://schemas.openxmlformats.org/drawingml/2006/main">
              <a:ext uri="{FF2B5EF4-FFF2-40B4-BE49-F238E27FC236}">
                <a16:creationId xmlns:a16="http://schemas.microsoft.com/office/drawing/2014/main" id="{9DA9E401-9AD4-49AC-89B2-7A63AD784203}"/>
              </a:ext>
            </a:extLst>
          </p:cNvPr>
          <p:cNvSpPr>
            <a:spLocks xmlns:a="http://schemas.openxmlformats.org/drawingml/2006/main" noGrp="1"/>
          </p:cNvSpPr>
          <p:nvPr/>
        </p:nvSpPr>
        <p:spPr>
          <a:xfrm xmlns:a="http://schemas.openxmlformats.org/drawingml/2006/main">
            <a:off x="10163175" y="5838825"/>
            <a:ext cx="971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stStyle>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Ready for</a:t>
            </a:r>
          </a:p>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signoff</a:t>
            </a:r>
          </a:p>
        </p:txBody>
      </p:sp>
      <p:sp>
        <p:nvSpPr>
          <p:cNvPr id="37" name="text-133">
            <a:extLst xmlns:a="http://schemas.openxmlformats.org/drawingml/2006/main">
              <a:ext uri="{FF2B5EF4-FFF2-40B4-BE49-F238E27FC236}">
                <a16:creationId xmlns:a16="http://schemas.microsoft.com/office/drawing/2014/main" id="{AB036D78-5FB2-47EB-8303-4CF70A022978}"/>
              </a:ext>
            </a:extLst>
          </p:cNvPr>
          <p:cNvSpPr>
            <a:spLocks xmlns:a="http://schemas.openxmlformats.org/drawingml/2006/main" noGrp="1"/>
          </p:cNvSpPr>
          <p:nvPr/>
        </p:nvSpPr>
        <p:spPr>
          <a:xfrm xmlns:a="http://schemas.openxmlformats.org/drawingml/2006/main">
            <a:off x="3190875" y="5876925"/>
            <a:ext cx="933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stStyle>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Verified</a:t>
            </a:r>
          </a:p>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approval</a:t>
            </a:r>
          </a:p>
        </p:txBody>
      </p:sp>
      <p:sp>
        <p:nvSpPr>
          <p:cNvPr id="38" name="text-134">
            <a:extLst xmlns:a="http://schemas.openxmlformats.org/drawingml/2006/main">
              <a:ext uri="{FF2B5EF4-FFF2-40B4-BE49-F238E27FC236}">
                <a16:creationId xmlns:a16="http://schemas.microsoft.com/office/drawing/2014/main" id="{BD177FED-A278-49EE-AB9F-19D73E7498B2}"/>
              </a:ext>
            </a:extLst>
          </p:cNvPr>
          <p:cNvSpPr>
            <a:spLocks xmlns:a="http://schemas.openxmlformats.org/drawingml/2006/main" noGrp="1"/>
          </p:cNvSpPr>
          <p:nvPr/>
        </p:nvSpPr>
        <p:spPr>
          <a:xfrm xmlns:a="http://schemas.openxmlformats.org/drawingml/2006/main">
            <a:off x="9477375" y="1362075"/>
            <a:ext cx="51530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Further preparation: agents research and revise</a:t>
            </a:r>
          </a:p>
        </p:txBody>
      </p:sp>
      <p:sp>
        <p:nvSpPr>
          <p:cNvPr id="39" name="text-135">
            <a:extLst xmlns:a="http://schemas.openxmlformats.org/drawingml/2006/main">
              <a:ext uri="{FF2B5EF4-FFF2-40B4-BE49-F238E27FC236}">
                <a16:creationId xmlns:a16="http://schemas.microsoft.com/office/drawing/2014/main" id="{0C8BBC42-EB9D-4419-9032-DDC4D99C3ECA}"/>
              </a:ext>
            </a:extLst>
          </p:cNvPr>
          <p:cNvSpPr>
            <a:spLocks xmlns:a="http://schemas.openxmlformats.org/drawingml/2006/main" noGrp="1"/>
          </p:cNvSpPr>
          <p:nvPr/>
        </p:nvSpPr>
        <p:spPr>
          <a:xfrm xmlns:a="http://schemas.openxmlformats.org/drawingml/2006/main">
            <a:off x="609600" y="5200650"/>
            <a:ext cx="9544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4A6572"/>
                </a:solidFill>
                <a:latin typeface="Aptos"/>
                <a:ea typeface="Aptos"/>
                <a:cs typeface="Aptos"/>
              </a:defRPr>
            </a:defPPr>
          </a:lstStyle>
          <a:p xmlns:a="http://schemas.openxmlformats.org/drawingml/2006/main">
            <a:pPr algn="l">
              <a:buNone/>
              <a:defRPr sz="1875" b="1">
                <a:solidFill>
                  <a:srgbClr val="4A6572"/>
                </a:solidFill>
                <a:latin typeface="Aptos"/>
                <a:ea typeface="Aptos"/>
                <a:cs typeface="Aptos"/>
              </a:defRPr>
            </a:pPr>
            <a:r>
              <a:rPr sz="1875" b="1">
                <a:solidFill>
                  <a:srgbClr val="4A6572"/>
                </a:solidFill>
                <a:latin typeface="Aptos"/>
                <a:ea typeface="Aptos"/>
                <a:cs typeface="Aptos"/>
              </a:rPr>
              <a:t>Direct-application packet</a:t>
            </a:r>
          </a:p>
        </p:txBody>
      </p:sp>
      <p:sp>
        <p:nvSpPr>
          <p:cNvPr id="40" name="text-136">
            <a:extLst xmlns:a="http://schemas.openxmlformats.org/drawingml/2006/main">
              <a:ext uri="{FF2B5EF4-FFF2-40B4-BE49-F238E27FC236}">
                <a16:creationId xmlns:a16="http://schemas.microsoft.com/office/drawing/2014/main" id="{9925D15F-C41E-4FE0-B915-4A4A89B35D40}"/>
              </a:ext>
            </a:extLst>
          </p:cNvPr>
          <p:cNvSpPr>
            <a:spLocks xmlns:a="http://schemas.openxmlformats.org/drawingml/2006/main" noGrp="1"/>
          </p:cNvSpPr>
          <p:nvPr/>
        </p:nvSpPr>
        <p:spPr>
          <a:xfrm xmlns:a="http://schemas.openxmlformats.org/drawingml/2006/main">
            <a:off x="7334250" y="7334250"/>
            <a:ext cx="2819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Human review adapter planned</a:t>
            </a:r>
          </a:p>
        </p:txBody>
      </p:sp>
      <p:sp>
        <p:nvSpPr>
          <p:cNvPr id="41" name="text-137">
            <a:extLst xmlns:a="http://schemas.openxmlformats.org/drawingml/2006/main">
              <a:ext uri="{FF2B5EF4-FFF2-40B4-BE49-F238E27FC236}">
                <a16:creationId xmlns:a16="http://schemas.microsoft.com/office/drawing/2014/main" id="{15DFB048-0BD5-4557-A211-977566F775CB}"/>
              </a:ext>
            </a:extLst>
          </p:cNvPr>
          <p:cNvSpPr>
            <a:spLocks xmlns:a="http://schemas.openxmlformats.org/drawingml/2006/main" noGrp="1"/>
          </p:cNvSpPr>
          <p:nvPr/>
        </p:nvSpPr>
        <p:spPr>
          <a:xfrm xmlns:a="http://schemas.openxmlformats.org/drawingml/2006/main">
            <a:off x="3190875" y="6572250"/>
            <a:ext cx="933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stStyle>
          <a:p xmlns:a="http://schemas.openxmlformats.org/drawingml/2006/main">
            <a:pPr algn="ctr">
              <a:buNone/>
              <a:defRPr sz="1575" b="0">
                <a:solidFill>
                  <a:srgbClr val="4A6572"/>
                </a:solidFill>
                <a:latin typeface="Aptos"/>
                <a:ea typeface="Aptos"/>
                <a:cs typeface="Aptos"/>
              </a:defRPr>
            </a:pPr>
            <a:r>
              <a:rPr sz="1500" b="0">
                <a:solidFill>
                  <a:srgbClr val="4A6572"/>
                </a:solidFill>
                <a:latin typeface="Aptos"/>
                <a:ea typeface="Aptos"/>
                <a:cs typeface="Aptos"/>
              </a:rPr>
              <a:t>Verifier</a:t>
            </a:r>
          </a:p>
          <a:p xmlns:a="http://schemas.openxmlformats.org/drawingml/2006/main">
            <a:pPr algn="ctr">
              <a:buNone/>
              <a:defRPr sz="1575" b="0">
                <a:solidFill>
                  <a:srgbClr val="4A6572"/>
                </a:solidFill>
                <a:latin typeface="Aptos"/>
                <a:ea typeface="Aptos"/>
                <a:cs typeface="Aptos"/>
              </a:defRPr>
            </a:pPr>
            <a:r>
              <a:rPr sz="1500" b="0">
                <a:solidFill>
                  <a:srgbClr val="4A6572"/>
                </a:solidFill>
                <a:latin typeface="Aptos"/>
                <a:ea typeface="Aptos"/>
                <a:cs typeface="Aptos"/>
              </a:rPr>
              <a:t>pending</a:t>
            </a:r>
          </a:p>
        </p:txBody>
      </p:sp>
      <p:cxnSp>
        <p:nvCxnSpPr>
          <p:cNvPr id="43" name="partner-flow-1">
            <a:extLst xmlns:a="http://schemas.openxmlformats.org/drawingml/2006/main">
              <a:ext uri="{FF2B5EF4-FFF2-40B4-BE49-F238E27FC236}">
                <a16:creationId xmlns:a16="http://schemas.microsoft.com/office/drawing/2014/main" id="{1A38321E-E1EB-4CAF-B356-7BED01AE15A1}"/>
              </a:ext>
            </a:extLst>
          </p:cNvPr>
          <p:cNvCxnSpPr/>
          <p:nvPr/>
        </p:nvCxnSpPr>
        <p:spPr>
          <a:xfrm xmlns:a="http://schemas.openxmlformats.org/drawingml/2006/main" flipH="0" flipV="0">
            <a:off x="14630400" y="6553200"/>
            <a:ext cx="2286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44" name="partner-flow-2">
            <a:extLst xmlns:a="http://schemas.openxmlformats.org/drawingml/2006/main">
              <a:ext uri="{FF2B5EF4-FFF2-40B4-BE49-F238E27FC236}">
                <a16:creationId xmlns:a16="http://schemas.microsoft.com/office/drawing/2014/main" id="{A1120644-599B-423D-A4B6-C56A314D7F8F}"/>
              </a:ext>
            </a:extLst>
          </p:cNvPr>
          <p:cNvCxnSpPr/>
          <p:nvPr/>
        </p:nvCxnSpPr>
        <p:spPr>
          <a:xfrm xmlns:a="http://schemas.openxmlformats.org/drawingml/2006/main" flipH="0" flipV="1">
            <a:off x="14859000" y="1695450"/>
            <a:ext cx="0" cy="4857750"/>
          </a:xfrm>
          <a:prstGeom xmlns:a="http://schemas.openxmlformats.org/drawingml/2006/main" prst="straightConnector1">
            <a:avLst/>
          </a:prstGeom>
          <a:ln xmlns:a="http://schemas.openxmlformats.org/drawingml/2006/main" w="23813">
            <a:solidFill>
              <a:srgbClr val="157D80"/>
            </a:solidFill>
            <a:prstDash val="solid"/>
          </a:ln>
        </p:spPr>
      </p:cxnSp>
      <p:cxnSp>
        <p:nvCxnSpPr>
          <p:cNvPr id="45" name="partner-flow-3">
            <a:extLst xmlns:a="http://schemas.openxmlformats.org/drawingml/2006/main">
              <a:ext uri="{FF2B5EF4-FFF2-40B4-BE49-F238E27FC236}">
                <a16:creationId xmlns:a16="http://schemas.microsoft.com/office/drawing/2014/main" id="{78FF0AD2-FBEC-4A90-9698-F346F30E7C41}"/>
              </a:ext>
            </a:extLst>
          </p:cNvPr>
          <p:cNvCxnSpPr/>
          <p:nvPr/>
        </p:nvCxnSpPr>
        <p:spPr>
          <a:xfrm xmlns:a="http://schemas.openxmlformats.org/drawingml/2006/main" flipH="1" flipV="0">
            <a:off x="6877050" y="1695450"/>
            <a:ext cx="798195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46" name="partner-flow-4">
            <a:extLst xmlns:a="http://schemas.openxmlformats.org/drawingml/2006/main">
              <a:ext uri="{FF2B5EF4-FFF2-40B4-BE49-F238E27FC236}">
                <a16:creationId xmlns:a16="http://schemas.microsoft.com/office/drawing/2014/main" id="{53C0AD1F-EBD7-4788-9359-67A2199371CE}"/>
              </a:ext>
            </a:extLst>
          </p:cNvPr>
          <p:cNvCxnSpPr/>
          <p:nvPr/>
        </p:nvCxnSpPr>
        <p:spPr>
          <a:xfrm xmlns:a="http://schemas.openxmlformats.org/drawingml/2006/main" flipH="0" flipV="0">
            <a:off x="6877050" y="1695450"/>
            <a:ext cx="0" cy="4000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Tree>
    <p:extLst>
      <p:ext uri="{BB962C8B-B14F-4D97-AF65-F5344CB8AC3E}">
        <p14:creationId xmlns:p14="http://schemas.microsoft.com/office/powerpoint/2010/main" val="987652033"/>
      </p:ext>
    </p:extLst>
  </p:cSld>
</p:sld>
</file>

<file path=ppt/slides/slide5.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5" name="">
            <a:extLst xmlns:a="http://schemas.openxmlformats.org/drawingml/2006/main">
              <a:ext uri="{FF2B5EF4-FFF2-40B4-BE49-F238E27FC236}">
                <a16:creationId xmlns:a16="http://schemas.microsoft.com/office/drawing/2014/main" id="{286E0D5B-0D11-4AE2-ABDB-4C813938E4C9}"/>
              </a:ext>
            </a:extLst>
          </p:cNvPr>
          <p:cNvCxnSpPr>
            <a:stCxn xmlns:a="http://schemas.openxmlformats.org/drawingml/2006/main" id="6" idx="2"/>
            <a:endCxn xmlns:a="http://schemas.openxmlformats.org/drawingml/2006/main" id="12" idx="0"/>
          </p:cNvCxnSpPr>
          <p:nvPr/>
        </p:nvCxnSpPr>
        <p:spPr>
          <a:xfrm xmlns:a="http://schemas.openxmlformats.org/drawingml/2006/main">
            <a:off x="3276600" y="3048000"/>
            <a:ext cx="0" cy="95250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45" name="text-138">
            <a:extLst xmlns:a="http://schemas.openxmlformats.org/drawingml/2006/main">
              <a:ext uri="{FF2B5EF4-FFF2-40B4-BE49-F238E27FC236}">
                <a16:creationId xmlns:a16="http://schemas.microsoft.com/office/drawing/2014/main" id="{F29F621C-8FAF-423D-9FC3-16354B35E826}"/>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Member contribution boundary</a:t>
            </a:r>
          </a:p>
        </p:txBody>
      </p:sp>
      <p:sp>
        <p:nvSpPr>
          <p:cNvPr id="2" name="text-139">
            <a:extLst xmlns:a="http://schemas.openxmlformats.org/drawingml/2006/main">
              <a:ext uri="{FF2B5EF4-FFF2-40B4-BE49-F238E27FC236}">
                <a16:creationId xmlns:a16="http://schemas.microsoft.com/office/drawing/2014/main" id="{E747250E-AA79-449D-9677-76DC6CBA6B8E}"/>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5</a:t>
            </a:r>
          </a:p>
        </p:txBody>
      </p:sp>
      <p:sp>
        <p:nvSpPr>
          <p:cNvPr id="3" name="text-140">
            <a:extLst xmlns:a="http://schemas.openxmlformats.org/drawingml/2006/main">
              <a:ext uri="{FF2B5EF4-FFF2-40B4-BE49-F238E27FC236}">
                <a16:creationId xmlns:a16="http://schemas.microsoft.com/office/drawing/2014/main" id="{7A7E4CD1-1F12-49FA-9D87-32E4C440717D}"/>
              </a:ext>
            </a:extLst>
          </p:cNvPr>
          <p:cNvSpPr>
            <a:spLocks xmlns:a="http://schemas.openxmlformats.org/drawingml/2006/main" noGrp="1"/>
          </p:cNvSpPr>
          <p:nvPr/>
        </p:nvSpPr>
        <p:spPr>
          <a:xfrm xmlns:a="http://schemas.openxmlformats.org/drawingml/2006/main">
            <a:off x="609600" y="1524000"/>
            <a:ext cx="5715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Member environment</a:t>
            </a:r>
          </a:p>
        </p:txBody>
      </p:sp>
      <p:sp>
        <p:nvSpPr>
          <p:cNvPr id="4" name="text-141">
            <a:extLst xmlns:a="http://schemas.openxmlformats.org/drawingml/2006/main">
              <a:ext uri="{FF2B5EF4-FFF2-40B4-BE49-F238E27FC236}">
                <a16:creationId xmlns:a16="http://schemas.microsoft.com/office/drawing/2014/main" id="{0A7A6768-D04D-4EB2-B114-8051BB68BCDB}"/>
              </a:ext>
            </a:extLst>
          </p:cNvPr>
          <p:cNvSpPr>
            <a:spLocks xmlns:a="http://schemas.openxmlformats.org/drawingml/2006/main" noGrp="1"/>
          </p:cNvSpPr>
          <p:nvPr/>
        </p:nvSpPr>
        <p:spPr>
          <a:xfrm xmlns:a="http://schemas.openxmlformats.org/drawingml/2006/main">
            <a:off x="8667750" y="1524000"/>
            <a:ext cx="59626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Trusted services</a:t>
            </a:r>
          </a:p>
        </p:txBody>
      </p:sp>
      <p:cxnSp>
        <p:nvCxnSpPr>
          <p:cNvPr id="5" name="flow-142">
            <a:extLst xmlns:a="http://schemas.openxmlformats.org/drawingml/2006/main">
              <a:ext uri="{FF2B5EF4-FFF2-40B4-BE49-F238E27FC236}">
                <a16:creationId xmlns:a16="http://schemas.microsoft.com/office/drawing/2014/main" id="{0DFBB74F-F8C9-42D6-B5DF-20C60B8F9C48}"/>
              </a:ext>
            </a:extLst>
          </p:cNvPr>
          <p:cNvCxnSpPr/>
          <p:nvPr/>
        </p:nvCxnSpPr>
        <p:spPr>
          <a:xfrm xmlns:a="http://schemas.openxmlformats.org/drawingml/2006/main" flipH="0" flipV="0">
            <a:off x="7572375" y="1524000"/>
            <a:ext cx="0" cy="4429125"/>
          </a:xfrm>
          <a:prstGeom xmlns:a="http://schemas.openxmlformats.org/drawingml/2006/main" prst="straightConnector1">
            <a:avLst/>
          </a:prstGeom>
          <a:ln xmlns:a="http://schemas.openxmlformats.org/drawingml/2006/main" w="19050">
            <a:solidFill>
              <a:srgbClr val="B8CACC"/>
            </a:solidFill>
            <a:prstDash val="dash"/>
          </a:ln>
        </p:spPr>
      </p:cxnSp>
      <p:sp>
        <p:nvSpPr>
          <p:cNvPr id="6" name="node-143">
            <a:extLst xmlns:a="http://schemas.openxmlformats.org/drawingml/2006/main">
              <a:ext uri="{FF2B5EF4-FFF2-40B4-BE49-F238E27FC236}">
                <a16:creationId xmlns:a16="http://schemas.microsoft.com/office/drawing/2014/main" id="{670FBB46-2829-4FB0-8A51-6352E0A6A168}"/>
              </a:ext>
            </a:extLst>
          </p:cNvPr>
          <p:cNvSpPr>
            <a:spLocks xmlns:a="http://schemas.openxmlformats.org/drawingml/2006/main" noGrp="1"/>
          </p:cNvSpPr>
          <p:nvPr/>
        </p:nvSpPr>
        <p:spPr>
          <a:xfrm xmlns:a="http://schemas.openxmlformats.org/drawingml/2006/main">
            <a:off x="609600" y="2095500"/>
            <a:ext cx="533400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144">
            <a:extLst xmlns:a="http://schemas.openxmlformats.org/drawingml/2006/main">
              <a:ext uri="{FF2B5EF4-FFF2-40B4-BE49-F238E27FC236}">
                <a16:creationId xmlns:a16="http://schemas.microsoft.com/office/drawing/2014/main" id="{D412DD50-6237-46B2-9297-1826E3FE376F}"/>
              </a:ext>
            </a:extLst>
          </p:cNvPr>
          <p:cNvSpPr>
            <a:spLocks xmlns:a="http://schemas.openxmlformats.org/drawingml/2006/main" noGrp="1"/>
          </p:cNvSpPr>
          <p:nvPr/>
        </p:nvSpPr>
        <p:spPr>
          <a:xfrm xmlns:a="http://schemas.openxmlformats.org/drawingml/2006/main">
            <a:off x="800100" y="2257425"/>
            <a:ext cx="4953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DAO member</a:t>
            </a:r>
          </a:p>
        </p:txBody>
      </p:sp>
      <p:sp>
        <p:nvSpPr>
          <p:cNvPr id="8" name="text-145">
            <a:extLst xmlns:a="http://schemas.openxmlformats.org/drawingml/2006/main">
              <a:ext uri="{FF2B5EF4-FFF2-40B4-BE49-F238E27FC236}">
                <a16:creationId xmlns:a16="http://schemas.microsoft.com/office/drawing/2014/main" id="{97400006-7081-4BD6-A2E3-B028E7CA150F}"/>
              </a:ext>
            </a:extLst>
          </p:cNvPr>
          <p:cNvSpPr>
            <a:spLocks xmlns:a="http://schemas.openxmlformats.org/drawingml/2006/main" noGrp="1"/>
          </p:cNvSpPr>
          <p:nvPr/>
        </p:nvSpPr>
        <p:spPr>
          <a:xfrm xmlns:a="http://schemas.openxmlformats.org/drawingml/2006/main">
            <a:off x="800100" y="2653665"/>
            <a:ext cx="495300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Connects an approved agent</a:t>
            </a:r>
          </a:p>
        </p:txBody>
      </p:sp>
      <p:sp>
        <p:nvSpPr>
          <p:cNvPr id="9" name="node-146">
            <a:extLst xmlns:a="http://schemas.openxmlformats.org/drawingml/2006/main">
              <a:ext uri="{FF2B5EF4-FFF2-40B4-BE49-F238E27FC236}">
                <a16:creationId xmlns:a16="http://schemas.microsoft.com/office/drawing/2014/main" id="{22BC9DDC-08A1-48EB-885B-D525D1EFF4C7}"/>
              </a:ext>
            </a:extLst>
          </p:cNvPr>
          <p:cNvSpPr>
            <a:spLocks xmlns:a="http://schemas.openxmlformats.org/drawingml/2006/main" noGrp="1"/>
          </p:cNvSpPr>
          <p:nvPr/>
        </p:nvSpPr>
        <p:spPr>
          <a:xfrm xmlns:a="http://schemas.openxmlformats.org/drawingml/2006/main">
            <a:off x="8667750" y="2095500"/>
            <a:ext cx="596265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147">
            <a:extLst xmlns:a="http://schemas.openxmlformats.org/drawingml/2006/main">
              <a:ext uri="{FF2B5EF4-FFF2-40B4-BE49-F238E27FC236}">
                <a16:creationId xmlns:a16="http://schemas.microsoft.com/office/drawing/2014/main" id="{5F27C879-6F9D-4D8C-81AB-A2BFF66F6528}"/>
              </a:ext>
            </a:extLst>
          </p:cNvPr>
          <p:cNvSpPr>
            <a:spLocks xmlns:a="http://schemas.openxmlformats.org/drawingml/2006/main" noGrp="1"/>
          </p:cNvSpPr>
          <p:nvPr/>
        </p:nvSpPr>
        <p:spPr>
          <a:xfrm xmlns:a="http://schemas.openxmlformats.org/drawingml/2006/main">
            <a:off x="8858250" y="2257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a:t>
            </a:r>
          </a:p>
        </p:txBody>
      </p:sp>
      <p:sp>
        <p:nvSpPr>
          <p:cNvPr id="11" name="text-148">
            <a:extLst xmlns:a="http://schemas.openxmlformats.org/drawingml/2006/main">
              <a:ext uri="{FF2B5EF4-FFF2-40B4-BE49-F238E27FC236}">
                <a16:creationId xmlns:a16="http://schemas.microsoft.com/office/drawing/2014/main" id="{CA8CF7DA-1641-42C4-80D2-A71D2A1DCC31}"/>
              </a:ext>
            </a:extLst>
          </p:cNvPr>
          <p:cNvSpPr>
            <a:spLocks xmlns:a="http://schemas.openxmlformats.org/drawingml/2006/main" noGrp="1"/>
          </p:cNvSpPr>
          <p:nvPr/>
        </p:nvSpPr>
        <p:spPr>
          <a:xfrm xmlns:a="http://schemas.openxmlformats.org/drawingml/2006/main">
            <a:off x="8858250" y="2653665"/>
            <a:ext cx="558165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Assigns the task and allowed inputs</a:t>
            </a:r>
          </a:p>
        </p:txBody>
      </p:sp>
      <p:sp>
        <p:nvSpPr>
          <p:cNvPr id="12" name="node-149">
            <a:extLst xmlns:a="http://schemas.openxmlformats.org/drawingml/2006/main">
              <a:ext uri="{FF2B5EF4-FFF2-40B4-BE49-F238E27FC236}">
                <a16:creationId xmlns:a16="http://schemas.microsoft.com/office/drawing/2014/main" id="{91738657-1749-4C2F-9707-9F82FCC3EB39}"/>
              </a:ext>
            </a:extLst>
          </p:cNvPr>
          <p:cNvSpPr>
            <a:spLocks xmlns:a="http://schemas.openxmlformats.org/drawingml/2006/main" noGrp="1"/>
          </p:cNvSpPr>
          <p:nvPr/>
        </p:nvSpPr>
        <p:spPr>
          <a:xfrm xmlns:a="http://schemas.openxmlformats.org/drawingml/2006/main">
            <a:off x="609600" y="4000500"/>
            <a:ext cx="5334000" cy="1714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13" name="text-150">
            <a:extLst xmlns:a="http://schemas.openxmlformats.org/drawingml/2006/main">
              <a:ext uri="{FF2B5EF4-FFF2-40B4-BE49-F238E27FC236}">
                <a16:creationId xmlns:a16="http://schemas.microsoft.com/office/drawing/2014/main" id="{D8D22021-32A3-41FC-80BF-ABD2E0863BF6}"/>
              </a:ext>
            </a:extLst>
          </p:cNvPr>
          <p:cNvSpPr>
            <a:spLocks xmlns:a="http://schemas.openxmlformats.org/drawingml/2006/main" noGrp="1"/>
          </p:cNvSpPr>
          <p:nvPr/>
        </p:nvSpPr>
        <p:spPr>
          <a:xfrm xmlns:a="http://schemas.openxmlformats.org/drawingml/2006/main">
            <a:off x="800100" y="4162425"/>
            <a:ext cx="495300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57D80"/>
                </a:solidFill>
                <a:latin typeface="Aptos"/>
                <a:ea typeface="Aptos"/>
                <a:cs typeface="Aptos"/>
              </a:defRPr>
            </a:defPPr>
          </a:lstStyle>
          <a:p xmlns:a="http://schemas.openxmlformats.org/drawingml/2006/main">
            <a:pPr algn="l">
              <a:buNone/>
              <a:defRPr sz="2325" b="1">
                <a:solidFill>
                  <a:srgbClr val="157D80"/>
                </a:solidFill>
                <a:latin typeface="Aptos"/>
                <a:ea typeface="Aptos"/>
                <a:cs typeface="Aptos"/>
              </a:defRPr>
            </a:pPr>
            <a:r>
              <a:rPr sz="2325" b="1">
                <a:solidFill>
                  <a:srgbClr val="157D80"/>
                </a:solidFill>
                <a:latin typeface="Aptos"/>
                <a:ea typeface="Aptos"/>
                <a:cs typeface="Aptos"/>
              </a:rPr>
              <a:t>Member agent runtime</a:t>
            </a:r>
          </a:p>
        </p:txBody>
      </p:sp>
      <p:sp>
        <p:nvSpPr>
          <p:cNvPr id="14" name="text-151">
            <a:extLst xmlns:a="http://schemas.openxmlformats.org/drawingml/2006/main">
              <a:ext uri="{FF2B5EF4-FFF2-40B4-BE49-F238E27FC236}">
                <a16:creationId xmlns:a16="http://schemas.microsoft.com/office/drawing/2014/main" id="{AF6A64F3-128E-4170-A24A-6C9D6DB0251C}"/>
              </a:ext>
            </a:extLst>
          </p:cNvPr>
          <p:cNvSpPr>
            <a:spLocks xmlns:a="http://schemas.openxmlformats.org/drawingml/2006/main" noGrp="1"/>
          </p:cNvSpPr>
          <p:nvPr/>
        </p:nvSpPr>
        <p:spPr>
          <a:xfrm xmlns:a="http://schemas.openxmlformats.org/drawingml/2006/main">
            <a:off x="800100" y="4570286"/>
            <a:ext cx="4953000" cy="66560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Sandbox and isolated worktree</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Task-scoped evidence and tools</a:t>
            </a:r>
          </a:p>
        </p:txBody>
      </p:sp>
      <p:sp>
        <p:nvSpPr>
          <p:cNvPr id="15" name="node-152">
            <a:extLst xmlns:a="http://schemas.openxmlformats.org/drawingml/2006/main">
              <a:ext uri="{FF2B5EF4-FFF2-40B4-BE49-F238E27FC236}">
                <a16:creationId xmlns:a16="http://schemas.microsoft.com/office/drawing/2014/main" id="{D5765F57-CB74-478D-9B28-C7F938AD02C2}"/>
              </a:ext>
            </a:extLst>
          </p:cNvPr>
          <p:cNvSpPr>
            <a:spLocks xmlns:a="http://schemas.openxmlformats.org/drawingml/2006/main" noGrp="1"/>
          </p:cNvSpPr>
          <p:nvPr/>
        </p:nvSpPr>
        <p:spPr>
          <a:xfrm xmlns:a="http://schemas.openxmlformats.org/drawingml/2006/main">
            <a:off x="8667750" y="4000500"/>
            <a:ext cx="5962650" cy="1238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6" name="text-153">
            <a:extLst xmlns:a="http://schemas.openxmlformats.org/drawingml/2006/main">
              <a:ext uri="{FF2B5EF4-FFF2-40B4-BE49-F238E27FC236}">
                <a16:creationId xmlns:a16="http://schemas.microsoft.com/office/drawing/2014/main" id="{25BAE476-D051-4A95-BC6B-956ECA4478E2}"/>
              </a:ext>
            </a:extLst>
          </p:cNvPr>
          <p:cNvSpPr>
            <a:spLocks xmlns:a="http://schemas.openxmlformats.org/drawingml/2006/main" noGrp="1"/>
          </p:cNvSpPr>
          <p:nvPr/>
        </p:nvSpPr>
        <p:spPr>
          <a:xfrm xmlns:a="http://schemas.openxmlformats.org/drawingml/2006/main">
            <a:off x="8858250" y="4162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Server validation</a:t>
            </a:r>
          </a:p>
        </p:txBody>
      </p:sp>
      <p:sp>
        <p:nvSpPr>
          <p:cNvPr id="17" name="text-154">
            <a:extLst xmlns:a="http://schemas.openxmlformats.org/drawingml/2006/main">
              <a:ext uri="{FF2B5EF4-FFF2-40B4-BE49-F238E27FC236}">
                <a16:creationId xmlns:a16="http://schemas.microsoft.com/office/drawing/2014/main" id="{F11BB3A0-ECF0-41B5-B3CD-BC71552C93EB}"/>
              </a:ext>
            </a:extLst>
          </p:cNvPr>
          <p:cNvSpPr>
            <a:spLocks xmlns:a="http://schemas.openxmlformats.org/drawingml/2006/main" noGrp="1"/>
          </p:cNvSpPr>
          <p:nvPr/>
        </p:nvSpPr>
        <p:spPr>
          <a:xfrm xmlns:a="http://schemas.openxmlformats.org/drawingml/2006/main">
            <a:off x="8858250" y="4558665"/>
            <a:ext cx="5581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Identity, task revision and source checks</a:t>
            </a:r>
          </a:p>
        </p:txBody>
      </p:sp>
      <p:sp>
        <p:nvSpPr>
          <p:cNvPr id="18" name="node-155">
            <a:extLst xmlns:a="http://schemas.openxmlformats.org/drawingml/2006/main">
              <a:ext uri="{FF2B5EF4-FFF2-40B4-BE49-F238E27FC236}">
                <a16:creationId xmlns:a16="http://schemas.microsoft.com/office/drawing/2014/main" id="{D21E1D51-8C9A-47B9-B1E4-DB9FC38BEA0C}"/>
              </a:ext>
            </a:extLst>
          </p:cNvPr>
          <p:cNvSpPr>
            <a:spLocks xmlns:a="http://schemas.openxmlformats.org/drawingml/2006/main" noGrp="1"/>
          </p:cNvSpPr>
          <p:nvPr/>
        </p:nvSpPr>
        <p:spPr>
          <a:xfrm xmlns:a="http://schemas.openxmlformats.org/drawingml/2006/main">
            <a:off x="8667750" y="6286500"/>
            <a:ext cx="5962650" cy="1333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19" name="text-156">
            <a:extLst xmlns:a="http://schemas.openxmlformats.org/drawingml/2006/main">
              <a:ext uri="{FF2B5EF4-FFF2-40B4-BE49-F238E27FC236}">
                <a16:creationId xmlns:a16="http://schemas.microsoft.com/office/drawing/2014/main" id="{AFCF249E-1085-4474-8A12-407CBA559FDA}"/>
              </a:ext>
            </a:extLst>
          </p:cNvPr>
          <p:cNvSpPr>
            <a:spLocks xmlns:a="http://schemas.openxmlformats.org/drawingml/2006/main" noGrp="1"/>
          </p:cNvSpPr>
          <p:nvPr/>
        </p:nvSpPr>
        <p:spPr>
          <a:xfrm xmlns:a="http://schemas.openxmlformats.org/drawingml/2006/main">
            <a:off x="8858250" y="6448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Review and acceptance</a:t>
            </a:r>
          </a:p>
        </p:txBody>
      </p:sp>
      <p:sp>
        <p:nvSpPr>
          <p:cNvPr id="20" name="text-157">
            <a:extLst xmlns:a="http://schemas.openxmlformats.org/drawingml/2006/main">
              <a:ext uri="{FF2B5EF4-FFF2-40B4-BE49-F238E27FC236}">
                <a16:creationId xmlns:a16="http://schemas.microsoft.com/office/drawing/2014/main" id="{A480B314-118F-4395-B774-59C14B986408}"/>
              </a:ext>
            </a:extLst>
          </p:cNvPr>
          <p:cNvSpPr>
            <a:spLocks xmlns:a="http://schemas.openxmlformats.org/drawingml/2006/main" noGrp="1"/>
          </p:cNvSpPr>
          <p:nvPr/>
        </p:nvSpPr>
        <p:spPr>
          <a:xfrm xmlns:a="http://schemas.openxmlformats.org/drawingml/2006/main">
            <a:off x="8858250" y="6844665"/>
            <a:ext cx="5581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Authorized task update</a:t>
            </a:r>
          </a:p>
        </p:txBody>
      </p:sp>
      <p:cxnSp>
        <p:nvCxnSpPr>
          <p:cNvPr id="21" name="flow-158">
            <a:extLst xmlns:a="http://schemas.openxmlformats.org/drawingml/2006/main">
              <a:ext uri="{FF2B5EF4-FFF2-40B4-BE49-F238E27FC236}">
                <a16:creationId xmlns:a16="http://schemas.microsoft.com/office/drawing/2014/main" id="{ED8E69CD-E219-4AA4-9C4B-1EB28573B5EB}"/>
              </a:ext>
            </a:extLst>
          </p:cNvPr>
          <p:cNvCxnSpPr/>
          <p:nvPr/>
        </p:nvCxnSpPr>
        <p:spPr>
          <a:xfrm xmlns:a="http://schemas.openxmlformats.org/drawingml/2006/main" flipH="0" flipV="0">
            <a:off x="609600" y="6477000"/>
            <a:ext cx="5334000" cy="0"/>
          </a:xfrm>
          <a:prstGeom xmlns:a="http://schemas.openxmlformats.org/drawingml/2006/main" prst="straightConnector1">
            <a:avLst/>
          </a:prstGeom>
          <a:ln xmlns:a="http://schemas.openxmlformats.org/drawingml/2006/main" w="14288">
            <a:solidFill>
              <a:srgbClr val="B8CACC"/>
            </a:solidFill>
            <a:prstDash val="solid"/>
          </a:ln>
        </p:spPr>
      </p:cxnSp>
      <p:sp>
        <p:nvSpPr>
          <p:cNvPr id="22" name="node-159">
            <a:extLst xmlns:a="http://schemas.openxmlformats.org/drawingml/2006/main">
              <a:ext uri="{FF2B5EF4-FFF2-40B4-BE49-F238E27FC236}">
                <a16:creationId xmlns:a16="http://schemas.microsoft.com/office/drawing/2014/main" id="{3F5888FB-B549-4744-94BD-55682478694E}"/>
              </a:ext>
            </a:extLst>
          </p:cNvPr>
          <p:cNvSpPr>
            <a:spLocks xmlns:a="http://schemas.openxmlformats.org/drawingml/2006/main" noGrp="1"/>
          </p:cNvSpPr>
          <p:nvPr/>
        </p:nvSpPr>
        <p:spPr>
          <a:xfrm xmlns:a="http://schemas.openxmlformats.org/drawingml/2006/main">
            <a:off x="609600" y="6858000"/>
            <a:ext cx="533400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3" name="text-160">
            <a:extLst xmlns:a="http://schemas.openxmlformats.org/drawingml/2006/main">
              <a:ext uri="{FF2B5EF4-FFF2-40B4-BE49-F238E27FC236}">
                <a16:creationId xmlns:a16="http://schemas.microsoft.com/office/drawing/2014/main" id="{3174332F-933D-4987-A5E2-7FD7CE8CCE5B}"/>
              </a:ext>
            </a:extLst>
          </p:cNvPr>
          <p:cNvSpPr>
            <a:spLocks xmlns:a="http://schemas.openxmlformats.org/drawingml/2006/main" noGrp="1"/>
          </p:cNvSpPr>
          <p:nvPr/>
        </p:nvSpPr>
        <p:spPr>
          <a:xfrm xmlns:a="http://schemas.openxmlformats.org/drawingml/2006/main">
            <a:off x="800100" y="7019925"/>
            <a:ext cx="4953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Authorized human reviewer</a:t>
            </a:r>
          </a:p>
        </p:txBody>
      </p:sp>
      <p:sp>
        <p:nvSpPr>
          <p:cNvPr id="24" name="text-161">
            <a:extLst xmlns:a="http://schemas.openxmlformats.org/drawingml/2006/main">
              <a:ext uri="{FF2B5EF4-FFF2-40B4-BE49-F238E27FC236}">
                <a16:creationId xmlns:a16="http://schemas.microsoft.com/office/drawing/2014/main" id="{A8076791-798E-48B1-A2E5-CE4A60DD5732}"/>
              </a:ext>
            </a:extLst>
          </p:cNvPr>
          <p:cNvSpPr>
            <a:spLocks xmlns:a="http://schemas.openxmlformats.org/drawingml/2006/main" noGrp="1"/>
          </p:cNvSpPr>
          <p:nvPr/>
        </p:nvSpPr>
        <p:spPr>
          <a:xfrm xmlns:a="http://schemas.openxmlformats.org/drawingml/2006/main">
            <a:off x="800100" y="7416165"/>
            <a:ext cx="495300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Supplies a decision when required</a:t>
            </a:r>
          </a:p>
        </p:txBody>
      </p:sp>
      <p:sp>
        <p:nvSpPr>
          <p:cNvPr id="26" name="text-162">
            <a:extLst xmlns:a="http://schemas.openxmlformats.org/drawingml/2006/main">
              <a:ext uri="{FF2B5EF4-FFF2-40B4-BE49-F238E27FC236}">
                <a16:creationId xmlns:a16="http://schemas.microsoft.com/office/drawing/2014/main" id="{8FAC1491-4EBE-4CA9-902B-BD9860A34112}"/>
              </a:ext>
            </a:extLst>
          </p:cNvPr>
          <p:cNvSpPr>
            <a:spLocks xmlns:a="http://schemas.openxmlformats.org/drawingml/2006/main" noGrp="1"/>
          </p:cNvSpPr>
          <p:nvPr/>
        </p:nvSpPr>
        <p:spPr>
          <a:xfrm xmlns:a="http://schemas.openxmlformats.org/drawingml/2006/main">
            <a:off x="609600" y="3381375"/>
            <a:ext cx="2286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A6572"/>
                </a:solidFill>
                <a:latin typeface="Aptos"/>
                <a:ea typeface="Aptos"/>
                <a:cs typeface="Aptos"/>
              </a:defRPr>
            </a:defPPr>
          </a:lstStyle>
          <a:p xmlns:a="http://schemas.openxmlformats.org/drawingml/2006/main">
            <a:pPr algn="l">
              <a:buNone/>
              <a:defRPr sz="1650" b="0">
                <a:solidFill>
                  <a:srgbClr val="4A6572"/>
                </a:solidFill>
                <a:latin typeface="Aptos"/>
                <a:ea typeface="Aptos"/>
                <a:cs typeface="Aptos"/>
              </a:defRPr>
            </a:pPr>
            <a:r>
              <a:rPr sz="1650" b="0">
                <a:solidFill>
                  <a:srgbClr val="4A6572"/>
                </a:solidFill>
                <a:latin typeface="Aptos"/>
                <a:ea typeface="Aptos"/>
                <a:cs typeface="Aptos"/>
              </a:rPr>
              <a:t>Operates agent</a:t>
            </a:r>
          </a:p>
        </p:txBody>
      </p:sp>
      <p:cxnSp>
        <p:nvCxnSpPr>
          <p:cNvPr id="27" name="flow-163">
            <a:extLst xmlns:a="http://schemas.openxmlformats.org/drawingml/2006/main">
              <a:ext uri="{FF2B5EF4-FFF2-40B4-BE49-F238E27FC236}">
                <a16:creationId xmlns:a16="http://schemas.microsoft.com/office/drawing/2014/main" id="{07186538-AC0C-4BA2-BD68-836076D97BD2}"/>
              </a:ext>
            </a:extLst>
          </p:cNvPr>
          <p:cNvCxnSpPr/>
          <p:nvPr/>
        </p:nvCxnSpPr>
        <p:spPr>
          <a:xfrm xmlns:a="http://schemas.openxmlformats.org/drawingml/2006/main" flipH="0" flipV="0">
            <a:off x="11649075" y="3048000"/>
            <a:ext cx="0" cy="285750"/>
          </a:xfrm>
          <a:prstGeom xmlns:a="http://schemas.openxmlformats.org/drawingml/2006/main" prst="straightConnector1">
            <a:avLst/>
          </a:prstGeom>
          <a:ln xmlns:a="http://schemas.openxmlformats.org/drawingml/2006/main" w="23813">
            <a:solidFill>
              <a:srgbClr val="157D80"/>
            </a:solidFill>
            <a:prstDash val="dash"/>
          </a:ln>
        </p:spPr>
      </p:cxnSp>
      <p:cxnSp>
        <p:nvCxnSpPr>
          <p:cNvPr id="28" name="flow-164">
            <a:extLst xmlns:a="http://schemas.openxmlformats.org/drawingml/2006/main">
              <a:ext uri="{FF2B5EF4-FFF2-40B4-BE49-F238E27FC236}">
                <a16:creationId xmlns:a16="http://schemas.microsoft.com/office/drawing/2014/main" id="{DF25C412-6D69-4639-993E-711457200F59}"/>
              </a:ext>
            </a:extLst>
          </p:cNvPr>
          <p:cNvCxnSpPr/>
          <p:nvPr/>
        </p:nvCxnSpPr>
        <p:spPr>
          <a:xfrm xmlns:a="http://schemas.openxmlformats.org/drawingml/2006/main" flipH="1" flipV="0">
            <a:off x="5524500" y="3333750"/>
            <a:ext cx="612457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9" name="flow-165">
            <a:extLst xmlns:a="http://schemas.openxmlformats.org/drawingml/2006/main">
              <a:ext uri="{FF2B5EF4-FFF2-40B4-BE49-F238E27FC236}">
                <a16:creationId xmlns:a16="http://schemas.microsoft.com/office/drawing/2014/main" id="{DCD4D9EB-BABB-4E37-BCF8-F349A17CC9EE}"/>
              </a:ext>
            </a:extLst>
          </p:cNvPr>
          <p:cNvCxnSpPr/>
          <p:nvPr/>
        </p:nvCxnSpPr>
        <p:spPr>
          <a:xfrm xmlns:a="http://schemas.openxmlformats.org/drawingml/2006/main" flipH="0" flipV="0">
            <a:off x="5524500" y="3333750"/>
            <a:ext cx="0" cy="66675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0" name="text-166">
            <a:extLst xmlns:a="http://schemas.openxmlformats.org/drawingml/2006/main">
              <a:ext uri="{FF2B5EF4-FFF2-40B4-BE49-F238E27FC236}">
                <a16:creationId xmlns:a16="http://schemas.microsoft.com/office/drawing/2014/main" id="{E6B5B663-D67C-44ED-A170-D1DE7DFCA2FF}"/>
              </a:ext>
            </a:extLst>
          </p:cNvPr>
          <p:cNvSpPr>
            <a:spLocks xmlns:a="http://schemas.openxmlformats.org/drawingml/2006/main" noGrp="1"/>
          </p:cNvSpPr>
          <p:nvPr/>
        </p:nvSpPr>
        <p:spPr>
          <a:xfrm xmlns:a="http://schemas.openxmlformats.org/drawingml/2006/main">
            <a:off x="6810375" y="3486150"/>
            <a:ext cx="4000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Task and scoped inputs</a:t>
            </a:r>
          </a:p>
        </p:txBody>
      </p:sp>
      <p:cxnSp>
        <p:nvCxnSpPr>
          <p:cNvPr id="31" name="flow-167">
            <a:extLst xmlns:a="http://schemas.openxmlformats.org/drawingml/2006/main">
              <a:ext uri="{FF2B5EF4-FFF2-40B4-BE49-F238E27FC236}">
                <a16:creationId xmlns:a16="http://schemas.microsoft.com/office/drawing/2014/main" id="{3385FABC-651D-47EB-AA21-9B353C5E4B77}"/>
              </a:ext>
            </a:extLst>
          </p:cNvPr>
          <p:cNvCxnSpPr/>
          <p:nvPr/>
        </p:nvCxnSpPr>
        <p:spPr>
          <a:xfrm xmlns:a="http://schemas.openxmlformats.org/drawingml/2006/main" flipH="0" flipV="0">
            <a:off x="5943600" y="4619625"/>
            <a:ext cx="27241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2" name="text-168">
            <a:extLst xmlns:a="http://schemas.openxmlformats.org/drawingml/2006/main">
              <a:ext uri="{FF2B5EF4-FFF2-40B4-BE49-F238E27FC236}">
                <a16:creationId xmlns:a16="http://schemas.microsoft.com/office/drawing/2014/main" id="{F84520EC-E863-4A8F-AF40-29B485646290}"/>
              </a:ext>
            </a:extLst>
          </p:cNvPr>
          <p:cNvSpPr>
            <a:spLocks xmlns:a="http://schemas.openxmlformats.org/drawingml/2006/main" noGrp="1"/>
          </p:cNvSpPr>
          <p:nvPr/>
        </p:nvSpPr>
        <p:spPr>
          <a:xfrm xmlns:a="http://schemas.openxmlformats.org/drawingml/2006/main">
            <a:off x="5953125" y="4181475"/>
            <a:ext cx="2714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Draft result</a:t>
            </a:r>
          </a:p>
        </p:txBody>
      </p:sp>
      <p:cxnSp>
        <p:nvCxnSpPr>
          <p:cNvPr id="33" name="flow-169">
            <a:extLst xmlns:a="http://schemas.openxmlformats.org/drawingml/2006/main">
              <a:ext uri="{FF2B5EF4-FFF2-40B4-BE49-F238E27FC236}">
                <a16:creationId xmlns:a16="http://schemas.microsoft.com/office/drawing/2014/main" id="{24D4DF4C-D145-4C8B-A36B-230ED19E3EEC}"/>
              </a:ext>
            </a:extLst>
          </p:cNvPr>
          <p:cNvCxnSpPr/>
          <p:nvPr/>
        </p:nvCxnSpPr>
        <p:spPr>
          <a:xfrm xmlns:a="http://schemas.openxmlformats.org/drawingml/2006/main" flipH="0" flipV="0">
            <a:off x="11649075" y="5238750"/>
            <a:ext cx="0" cy="10477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4" name="text-170">
            <a:extLst xmlns:a="http://schemas.openxmlformats.org/drawingml/2006/main">
              <a:ext uri="{FF2B5EF4-FFF2-40B4-BE49-F238E27FC236}">
                <a16:creationId xmlns:a16="http://schemas.microsoft.com/office/drawing/2014/main" id="{0E6C5580-1AD7-4322-9075-D2C63DF3DD12}"/>
              </a:ext>
            </a:extLst>
          </p:cNvPr>
          <p:cNvSpPr>
            <a:spLocks xmlns:a="http://schemas.openxmlformats.org/drawingml/2006/main" noGrp="1"/>
          </p:cNvSpPr>
          <p:nvPr/>
        </p:nvSpPr>
        <p:spPr>
          <a:xfrm xmlns:a="http://schemas.openxmlformats.org/drawingml/2006/main">
            <a:off x="11811000" y="5562600"/>
            <a:ext cx="261937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Validated evidence</a:t>
            </a:r>
          </a:p>
        </p:txBody>
      </p:sp>
      <p:cxnSp>
        <p:nvCxnSpPr>
          <p:cNvPr id="35" name="flow-171">
            <a:extLst xmlns:a="http://schemas.openxmlformats.org/drawingml/2006/main">
              <a:ext uri="{FF2B5EF4-FFF2-40B4-BE49-F238E27FC236}">
                <a16:creationId xmlns:a16="http://schemas.microsoft.com/office/drawing/2014/main" id="{36CA03A4-9878-41D3-A477-E97F50A5AC3F}"/>
              </a:ext>
            </a:extLst>
          </p:cNvPr>
          <p:cNvCxnSpPr/>
          <p:nvPr/>
        </p:nvCxnSpPr>
        <p:spPr>
          <a:xfrm xmlns:a="http://schemas.openxmlformats.org/drawingml/2006/main" flipH="0" flipV="0">
            <a:off x="5943600" y="7334250"/>
            <a:ext cx="20574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36" name="flow-172">
            <a:extLst xmlns:a="http://schemas.openxmlformats.org/drawingml/2006/main">
              <a:ext uri="{FF2B5EF4-FFF2-40B4-BE49-F238E27FC236}">
                <a16:creationId xmlns:a16="http://schemas.microsoft.com/office/drawing/2014/main" id="{5119A357-8D1A-4815-AC4D-CD7EBF871278}"/>
              </a:ext>
            </a:extLst>
          </p:cNvPr>
          <p:cNvCxnSpPr/>
          <p:nvPr/>
        </p:nvCxnSpPr>
        <p:spPr>
          <a:xfrm xmlns:a="http://schemas.openxmlformats.org/drawingml/2006/main" flipH="0" flipV="1">
            <a:off x="8001000" y="7048500"/>
            <a:ext cx="0" cy="285750"/>
          </a:xfrm>
          <a:prstGeom xmlns:a="http://schemas.openxmlformats.org/drawingml/2006/main" prst="straightConnector1">
            <a:avLst/>
          </a:prstGeom>
          <a:ln xmlns:a="http://schemas.openxmlformats.org/drawingml/2006/main" w="23813">
            <a:solidFill>
              <a:srgbClr val="157D80"/>
            </a:solidFill>
            <a:prstDash val="dash"/>
          </a:ln>
        </p:spPr>
      </p:cxnSp>
      <p:cxnSp>
        <p:nvCxnSpPr>
          <p:cNvPr id="37" name="flow-173">
            <a:extLst xmlns:a="http://schemas.openxmlformats.org/drawingml/2006/main">
              <a:ext uri="{FF2B5EF4-FFF2-40B4-BE49-F238E27FC236}">
                <a16:creationId xmlns:a16="http://schemas.microsoft.com/office/drawing/2014/main" id="{3DD446E9-6528-4799-B2CA-DC935A5E1F63}"/>
              </a:ext>
            </a:extLst>
          </p:cNvPr>
          <p:cNvCxnSpPr/>
          <p:nvPr/>
        </p:nvCxnSpPr>
        <p:spPr>
          <a:xfrm xmlns:a="http://schemas.openxmlformats.org/drawingml/2006/main" flipH="0" flipV="0">
            <a:off x="8001000" y="7048500"/>
            <a:ext cx="6667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8" name="text-174">
            <a:extLst xmlns:a="http://schemas.openxmlformats.org/drawingml/2006/main">
              <a:ext uri="{FF2B5EF4-FFF2-40B4-BE49-F238E27FC236}">
                <a16:creationId xmlns:a16="http://schemas.microsoft.com/office/drawing/2014/main" id="{65185635-6E97-4319-86B5-A25279CD6FF4}"/>
              </a:ext>
            </a:extLst>
          </p:cNvPr>
          <p:cNvSpPr>
            <a:spLocks xmlns:a="http://schemas.openxmlformats.org/drawingml/2006/main" noGrp="1"/>
          </p:cNvSpPr>
          <p:nvPr/>
        </p:nvSpPr>
        <p:spPr>
          <a:xfrm xmlns:a="http://schemas.openxmlformats.org/drawingml/2006/main">
            <a:off x="5962650" y="7486650"/>
            <a:ext cx="2686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Authenticated decision</a:t>
            </a:r>
          </a:p>
        </p:txBody>
      </p:sp>
      <p:cxnSp>
        <p:nvCxnSpPr>
          <p:cNvPr id="39" name="flow-175">
            <a:extLst xmlns:a="http://schemas.openxmlformats.org/drawingml/2006/main">
              <a:ext uri="{FF2B5EF4-FFF2-40B4-BE49-F238E27FC236}">
                <a16:creationId xmlns:a16="http://schemas.microsoft.com/office/drawing/2014/main" id="{52A5DB60-B059-41CF-982C-3C7B29F9A8AD}"/>
              </a:ext>
            </a:extLst>
          </p:cNvPr>
          <p:cNvCxnSpPr/>
          <p:nvPr/>
        </p:nvCxnSpPr>
        <p:spPr>
          <a:xfrm xmlns:a="http://schemas.openxmlformats.org/drawingml/2006/main" flipH="1" flipV="0">
            <a:off x="6953250" y="6572250"/>
            <a:ext cx="17145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40" name="flow-176">
            <a:extLst xmlns:a="http://schemas.openxmlformats.org/drawingml/2006/main">
              <a:ext uri="{FF2B5EF4-FFF2-40B4-BE49-F238E27FC236}">
                <a16:creationId xmlns:a16="http://schemas.microsoft.com/office/drawing/2014/main" id="{E5B99704-AAAF-4468-A8D0-D3F5C71BBC77}"/>
              </a:ext>
            </a:extLst>
          </p:cNvPr>
          <p:cNvCxnSpPr/>
          <p:nvPr/>
        </p:nvCxnSpPr>
        <p:spPr>
          <a:xfrm xmlns:a="http://schemas.openxmlformats.org/drawingml/2006/main" flipH="0" flipV="1">
            <a:off x="6953250" y="6096000"/>
            <a:ext cx="0" cy="476250"/>
          </a:xfrm>
          <a:prstGeom xmlns:a="http://schemas.openxmlformats.org/drawingml/2006/main" prst="straightConnector1">
            <a:avLst/>
          </a:prstGeom>
          <a:ln xmlns:a="http://schemas.openxmlformats.org/drawingml/2006/main" w="23813">
            <a:solidFill>
              <a:srgbClr val="157D80"/>
            </a:solidFill>
            <a:prstDash val="dash"/>
          </a:ln>
        </p:spPr>
      </p:cxnSp>
      <p:cxnSp>
        <p:nvCxnSpPr>
          <p:cNvPr id="41" name="flow-177">
            <a:extLst xmlns:a="http://schemas.openxmlformats.org/drawingml/2006/main">
              <a:ext uri="{FF2B5EF4-FFF2-40B4-BE49-F238E27FC236}">
                <a16:creationId xmlns:a16="http://schemas.microsoft.com/office/drawing/2014/main" id="{2A7C89C5-427A-45CC-8C72-011EB982683A}"/>
              </a:ext>
            </a:extLst>
          </p:cNvPr>
          <p:cNvCxnSpPr/>
          <p:nvPr/>
        </p:nvCxnSpPr>
        <p:spPr>
          <a:xfrm xmlns:a="http://schemas.openxmlformats.org/drawingml/2006/main" flipH="1" flipV="0">
            <a:off x="3276600" y="6096000"/>
            <a:ext cx="367665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42" name="flow-178">
            <a:extLst xmlns:a="http://schemas.openxmlformats.org/drawingml/2006/main">
              <a:ext uri="{FF2B5EF4-FFF2-40B4-BE49-F238E27FC236}">
                <a16:creationId xmlns:a16="http://schemas.microsoft.com/office/drawing/2014/main" id="{1ADF78AC-68EE-490C-A55A-DC2799DA43C6}"/>
              </a:ext>
            </a:extLst>
          </p:cNvPr>
          <p:cNvCxnSpPr/>
          <p:nvPr/>
        </p:nvCxnSpPr>
        <p:spPr>
          <a:xfrm xmlns:a="http://schemas.openxmlformats.org/drawingml/2006/main" flipH="0" flipV="1">
            <a:off x="3276600" y="5715000"/>
            <a:ext cx="0" cy="38100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43" name="text-179">
            <a:extLst xmlns:a="http://schemas.openxmlformats.org/drawingml/2006/main">
              <a:ext uri="{FF2B5EF4-FFF2-40B4-BE49-F238E27FC236}">
                <a16:creationId xmlns:a16="http://schemas.microsoft.com/office/drawing/2014/main" id="{6E205FF5-3FA6-42A6-87B4-6B5E7ADC8FD7}"/>
              </a:ext>
            </a:extLst>
          </p:cNvPr>
          <p:cNvSpPr>
            <a:spLocks xmlns:a="http://schemas.openxmlformats.org/drawingml/2006/main" noGrp="1"/>
          </p:cNvSpPr>
          <p:nvPr/>
        </p:nvSpPr>
        <p:spPr>
          <a:xfrm xmlns:a="http://schemas.openxmlformats.org/drawingml/2006/main">
            <a:off x="3524250" y="5743575"/>
            <a:ext cx="395287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Review outcome and status</a:t>
            </a:r>
          </a:p>
        </p:txBody>
      </p:sp>
      <p:sp>
        <p:nvSpPr>
          <p:cNvPr id="44" name="text-180">
            <a:extLst xmlns:a="http://schemas.openxmlformats.org/drawingml/2006/main">
              <a:ext uri="{FF2B5EF4-FFF2-40B4-BE49-F238E27FC236}">
                <a16:creationId xmlns:a16="http://schemas.microsoft.com/office/drawing/2014/main" id="{1F0AA695-3B38-49A1-8C17-8965F132185A}"/>
              </a:ext>
            </a:extLst>
          </p:cNvPr>
          <p:cNvSpPr>
            <a:spLocks xmlns:a="http://schemas.openxmlformats.org/drawingml/2006/main" noGrp="1"/>
          </p:cNvSpPr>
          <p:nvPr/>
        </p:nvSpPr>
        <p:spPr>
          <a:xfrm xmlns:a="http://schemas.openxmlformats.org/drawingml/2006/main">
            <a:off x="8667750" y="7781925"/>
            <a:ext cx="5962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A6572"/>
                </a:solidFill>
                <a:latin typeface="Aptos"/>
                <a:ea typeface="Aptos"/>
                <a:cs typeface="Aptos"/>
              </a:defRPr>
            </a:defPPr>
          </a:lstStyle>
          <a:p xmlns:a="http://schemas.openxmlformats.org/drawingml/2006/main">
            <a:pPr algn="l">
              <a:buNone/>
              <a:defRPr sz="1650" b="0">
                <a:solidFill>
                  <a:srgbClr val="4A6572"/>
                </a:solidFill>
                <a:latin typeface="Aptos"/>
                <a:ea typeface="Aptos"/>
                <a:cs typeface="Aptos"/>
              </a:defRPr>
            </a:pPr>
            <a:r>
              <a:rPr sz="1650" b="0">
                <a:solidFill>
                  <a:srgbClr val="4A6572"/>
                </a:solidFill>
                <a:latin typeface="Aptos"/>
                <a:ea typeface="Aptos"/>
                <a:cs typeface="Aptos"/>
              </a:rPr>
              <a:t>Database and publisher credentials stay in trusted services</a:t>
            </a:r>
          </a:p>
        </p:txBody>
      </p:sp>
    </p:spTree>
    <p:extLst>
      <p:ext uri="{BB962C8B-B14F-4D97-AF65-F5344CB8AC3E}">
        <p14:creationId xmlns:p14="http://schemas.microsoft.com/office/powerpoint/2010/main" val="102572277"/>
      </p:ext>
    </p:extLst>
  </p:cSld>
</p:sld>
</file>

<file path=ppt/slides/slide6.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26" name="partner-text-5">
            <a:extLst xmlns:a="http://schemas.openxmlformats.org/drawingml/2006/main">
              <a:ext uri="{FF2B5EF4-FFF2-40B4-BE49-F238E27FC236}">
                <a16:creationId xmlns:a16="http://schemas.microsoft.com/office/drawing/2014/main" id="{1067F892-217F-4415-86E4-B916739061EA}"/>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Data ownership and reuse</a:t>
            </a:r>
          </a:p>
        </p:txBody>
      </p:sp>
      <p:sp>
        <p:nvSpPr>
          <p:cNvPr id="2" name="partner-text-6">
            <a:extLst xmlns:a="http://schemas.openxmlformats.org/drawingml/2006/main">
              <a:ext uri="{FF2B5EF4-FFF2-40B4-BE49-F238E27FC236}">
                <a16:creationId xmlns:a16="http://schemas.microsoft.com/office/drawing/2014/main" id="{4C46B285-902D-45A5-8701-BCF159024C48}"/>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6</a:t>
            </a:r>
          </a:p>
        </p:txBody>
      </p:sp>
      <p:sp>
        <p:nvSpPr>
          <p:cNvPr id="3" name="partner-node-7">
            <a:extLst xmlns:a="http://schemas.openxmlformats.org/drawingml/2006/main">
              <a:ext uri="{FF2B5EF4-FFF2-40B4-BE49-F238E27FC236}">
                <a16:creationId xmlns:a16="http://schemas.microsoft.com/office/drawing/2014/main" id="{5B9C0445-710F-469D-BD64-157D96B54070}"/>
              </a:ext>
            </a:extLst>
          </p:cNvPr>
          <p:cNvSpPr>
            <a:spLocks xmlns:a="http://schemas.openxmlformats.org/drawingml/2006/main" noGrp="1"/>
          </p:cNvSpPr>
          <p:nvPr/>
        </p:nvSpPr>
        <p:spPr>
          <a:xfrm xmlns:a="http://schemas.openxmlformats.org/drawingml/2006/main">
            <a:off x="609600" y="2095500"/>
            <a:ext cx="6096000" cy="2952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4" name="partner-text-8">
            <a:extLst xmlns:a="http://schemas.openxmlformats.org/drawingml/2006/main">
              <a:ext uri="{FF2B5EF4-FFF2-40B4-BE49-F238E27FC236}">
                <a16:creationId xmlns:a16="http://schemas.microsoft.com/office/drawing/2014/main" id="{FC2147B6-4013-4CA6-AD65-EF2E73FDB406}"/>
              </a:ext>
            </a:extLst>
          </p:cNvPr>
          <p:cNvSpPr>
            <a:spLocks xmlns:a="http://schemas.openxmlformats.org/drawingml/2006/main" noGrp="1"/>
          </p:cNvSpPr>
          <p:nvPr/>
        </p:nvSpPr>
        <p:spPr>
          <a:xfrm xmlns:a="http://schemas.openxmlformats.org/drawingml/2006/main">
            <a:off x="800100" y="2257425"/>
            <a:ext cx="571500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57D80"/>
                </a:solidFill>
                <a:latin typeface="Aptos"/>
                <a:ea typeface="Aptos"/>
                <a:cs typeface="Aptos"/>
              </a:defRPr>
            </a:defPPr>
          </a:lstStyle>
          <a:p xmlns:a="http://schemas.openxmlformats.org/drawingml/2006/main">
            <a:pPr algn="l">
              <a:buNone/>
              <a:defRPr sz="2550" b="1">
                <a:solidFill>
                  <a:srgbClr val="157D80"/>
                </a:solidFill>
                <a:latin typeface="Aptos"/>
                <a:ea typeface="Aptos"/>
                <a:cs typeface="Aptos"/>
              </a:defRPr>
            </a:pPr>
            <a:r>
              <a:rPr sz="2550" b="1">
                <a:solidFill>
                  <a:srgbClr val="157D80"/>
                </a:solidFill>
                <a:latin typeface="Aptos"/>
                <a:ea typeface="Aptos"/>
                <a:cs typeface="Aptos"/>
              </a:rPr>
              <a:t>Existing DAO PostgreSQL</a:t>
            </a:r>
          </a:p>
        </p:txBody>
      </p:sp>
      <p:sp>
        <p:nvSpPr>
          <p:cNvPr id="5" name="partner-text-9">
            <a:extLst xmlns:a="http://schemas.openxmlformats.org/drawingml/2006/main">
              <a:ext uri="{FF2B5EF4-FFF2-40B4-BE49-F238E27FC236}">
                <a16:creationId xmlns:a16="http://schemas.microsoft.com/office/drawing/2014/main" id="{C1D4A151-31F2-47CC-A4A2-A69DB6BF266E}"/>
              </a:ext>
            </a:extLst>
          </p:cNvPr>
          <p:cNvSpPr>
            <a:spLocks xmlns:a="http://schemas.openxmlformats.org/drawingml/2006/main" noGrp="1"/>
          </p:cNvSpPr>
          <p:nvPr/>
        </p:nvSpPr>
        <p:spPr>
          <a:xfrm xmlns:a="http://schemas.openxmlformats.org/drawingml/2006/main">
            <a:off x="800100" y="2700147"/>
            <a:ext cx="5715000" cy="98888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Meeting and funding records</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Authoritative evidence and history</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Research deltas and transactional outbox</a:t>
            </a:r>
          </a:p>
        </p:txBody>
      </p:sp>
      <p:sp>
        <p:nvSpPr>
          <p:cNvPr id="6" name="partner-text-10">
            <a:extLst xmlns:a="http://schemas.openxmlformats.org/drawingml/2006/main">
              <a:ext uri="{FF2B5EF4-FFF2-40B4-BE49-F238E27FC236}">
                <a16:creationId xmlns:a16="http://schemas.microsoft.com/office/drawing/2014/main" id="{2B3DA934-7754-4803-868E-B601DE404917}"/>
              </a:ext>
            </a:extLst>
          </p:cNvPr>
          <p:cNvSpPr>
            <a:spLocks xmlns:a="http://schemas.openxmlformats.org/drawingml/2006/main" noGrp="1"/>
          </p:cNvSpPr>
          <p:nvPr/>
        </p:nvSpPr>
        <p:spPr>
          <a:xfrm xmlns:a="http://schemas.openxmlformats.org/drawingml/2006/main">
            <a:off x="800100" y="4219575"/>
            <a:ext cx="571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Evidence reuse prepared locally</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Graph implementation underway</a:t>
            </a:r>
          </a:p>
        </p:txBody>
      </p:sp>
      <p:sp>
        <p:nvSpPr>
          <p:cNvPr id="7" name="partner-node-11">
            <a:extLst xmlns:a="http://schemas.openxmlformats.org/drawingml/2006/main">
              <a:ext uri="{FF2B5EF4-FFF2-40B4-BE49-F238E27FC236}">
                <a16:creationId xmlns:a16="http://schemas.microsoft.com/office/drawing/2014/main" id="{2077BE8B-76C5-4B87-9960-9733451C3FB0}"/>
              </a:ext>
            </a:extLst>
          </p:cNvPr>
          <p:cNvSpPr>
            <a:spLocks xmlns:a="http://schemas.openxmlformats.org/drawingml/2006/main" noGrp="1"/>
          </p:cNvSpPr>
          <p:nvPr/>
        </p:nvSpPr>
        <p:spPr>
          <a:xfrm xmlns:a="http://schemas.openxmlformats.org/drawingml/2006/main">
            <a:off x="9810750" y="2095500"/>
            <a:ext cx="4819650" cy="2952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8" name="partner-text-12">
            <a:extLst xmlns:a="http://schemas.openxmlformats.org/drawingml/2006/main">
              <a:ext uri="{FF2B5EF4-FFF2-40B4-BE49-F238E27FC236}">
                <a16:creationId xmlns:a16="http://schemas.microsoft.com/office/drawing/2014/main" id="{8CB56043-F187-4D29-A770-033355FC966F}"/>
              </a:ext>
            </a:extLst>
          </p:cNvPr>
          <p:cNvSpPr>
            <a:spLocks xmlns:a="http://schemas.openxmlformats.org/drawingml/2006/main" noGrp="1"/>
          </p:cNvSpPr>
          <p:nvPr/>
        </p:nvSpPr>
        <p:spPr>
          <a:xfrm xmlns:a="http://schemas.openxmlformats.org/drawingml/2006/main">
            <a:off x="10001250" y="2257425"/>
            <a:ext cx="443865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32E38"/>
                </a:solidFill>
                <a:latin typeface="Aptos"/>
                <a:ea typeface="Aptos"/>
                <a:cs typeface="Aptos"/>
              </a:defRPr>
            </a:defPPr>
          </a:lstStyle>
          <a:p xmlns:a="http://schemas.openxmlformats.org/drawingml/2006/main">
            <a:pPr algn="l">
              <a:buNone/>
              <a:defRPr sz="2550" b="1">
                <a:solidFill>
                  <a:srgbClr val="132E38"/>
                </a:solidFill>
                <a:latin typeface="Aptos"/>
                <a:ea typeface="Aptos"/>
                <a:cs typeface="Aptos"/>
              </a:defRPr>
            </a:pPr>
            <a:r>
              <a:rPr sz="2550" b="1">
                <a:solidFill>
                  <a:srgbClr val="132E38"/>
                </a:solidFill>
                <a:latin typeface="Aptos"/>
                <a:ea typeface="Aptos"/>
                <a:cs typeface="Aptos"/>
              </a:rPr>
              <a:t>Paperclip database</a:t>
            </a:r>
          </a:p>
        </p:txBody>
      </p:sp>
      <p:sp>
        <p:nvSpPr>
          <p:cNvPr id="9" name="partner-text-13">
            <a:extLst xmlns:a="http://schemas.openxmlformats.org/drawingml/2006/main">
              <a:ext uri="{FF2B5EF4-FFF2-40B4-BE49-F238E27FC236}">
                <a16:creationId xmlns:a16="http://schemas.microsoft.com/office/drawing/2014/main" id="{D61F985A-692C-4C66-82E1-CC6E05726C50}"/>
              </a:ext>
            </a:extLst>
          </p:cNvPr>
          <p:cNvSpPr>
            <a:spLocks xmlns:a="http://schemas.openxmlformats.org/drawingml/2006/main" noGrp="1"/>
          </p:cNvSpPr>
          <p:nvPr/>
        </p:nvSpPr>
        <p:spPr>
          <a:xfrm xmlns:a="http://schemas.openxmlformats.org/drawingml/2006/main">
            <a:off x="10001250" y="2700147"/>
            <a:ext cx="4438650" cy="102374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A6572"/>
                </a:solidFill>
                <a:latin typeface="Aptos"/>
                <a:ea typeface="Aptos"/>
                <a:cs typeface="Aptos"/>
              </a:defRPr>
            </a:defPPr>
          </a:lstStyle>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Tasks and agents</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Runs and review decisions</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Bridge transport state</a:t>
            </a:r>
          </a:p>
        </p:txBody>
      </p:sp>
      <p:cxnSp>
        <p:nvCxnSpPr>
          <p:cNvPr id="10" name="partner-flow-14">
            <a:extLst xmlns:a="http://schemas.openxmlformats.org/drawingml/2006/main">
              <a:ext uri="{FF2B5EF4-FFF2-40B4-BE49-F238E27FC236}">
                <a16:creationId xmlns:a16="http://schemas.microsoft.com/office/drawing/2014/main" id="{5300CD4C-3B1B-496E-B251-56F8314EF966}"/>
              </a:ext>
            </a:extLst>
          </p:cNvPr>
          <p:cNvCxnSpPr/>
          <p:nvPr/>
        </p:nvCxnSpPr>
        <p:spPr>
          <a:xfrm xmlns:a="http://schemas.openxmlformats.org/drawingml/2006/main" flipH="0" flipV="0">
            <a:off x="6705600" y="3571875"/>
            <a:ext cx="3105150" cy="0"/>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sp>
        <p:nvSpPr>
          <p:cNvPr id="11" name="partner-text-15">
            <a:extLst xmlns:a="http://schemas.openxmlformats.org/drawingml/2006/main">
              <a:ext uri="{FF2B5EF4-FFF2-40B4-BE49-F238E27FC236}">
                <a16:creationId xmlns:a16="http://schemas.microsoft.com/office/drawing/2014/main" id="{C491AAC4-2C05-425E-8C24-66B765396D23}"/>
              </a:ext>
            </a:extLst>
          </p:cNvPr>
          <p:cNvSpPr>
            <a:spLocks xmlns:a="http://schemas.openxmlformats.org/drawingml/2006/main" noGrp="1"/>
          </p:cNvSpPr>
          <p:nvPr/>
        </p:nvSpPr>
        <p:spPr>
          <a:xfrm xmlns:a="http://schemas.openxmlformats.org/drawingml/2006/main">
            <a:off x="6724650" y="2647950"/>
            <a:ext cx="3067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Service adapters</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Task links and decisions</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Planned</a:t>
            </a:r>
          </a:p>
        </p:txBody>
      </p:sp>
      <p:sp>
        <p:nvSpPr>
          <p:cNvPr id="12" name="partner-node-16">
            <a:extLst xmlns:a="http://schemas.openxmlformats.org/drawingml/2006/main">
              <a:ext uri="{FF2B5EF4-FFF2-40B4-BE49-F238E27FC236}">
                <a16:creationId xmlns:a16="http://schemas.microsoft.com/office/drawing/2014/main" id="{351ADE2D-DFB6-4D38-B172-A87C9EA52074}"/>
              </a:ext>
            </a:extLst>
          </p:cNvPr>
          <p:cNvSpPr>
            <a:spLocks xmlns:a="http://schemas.openxmlformats.org/drawingml/2006/main" noGrp="1"/>
          </p:cNvSpPr>
          <p:nvPr/>
        </p:nvSpPr>
        <p:spPr>
          <a:xfrm xmlns:a="http://schemas.openxmlformats.org/drawingml/2006/main">
            <a:off x="609600" y="6334125"/>
            <a:ext cx="39052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partner-text-17">
            <a:extLst xmlns:a="http://schemas.openxmlformats.org/drawingml/2006/main">
              <a:ext uri="{FF2B5EF4-FFF2-40B4-BE49-F238E27FC236}">
                <a16:creationId xmlns:a16="http://schemas.microsoft.com/office/drawing/2014/main" id="{83E0CD4A-84F4-428A-999E-A3E75AE180FA}"/>
              </a:ext>
            </a:extLst>
          </p:cNvPr>
          <p:cNvSpPr>
            <a:spLocks xmlns:a="http://schemas.openxmlformats.org/drawingml/2006/main" noGrp="1"/>
          </p:cNvSpPr>
          <p:nvPr/>
        </p:nvSpPr>
        <p:spPr>
          <a:xfrm xmlns:a="http://schemas.openxmlformats.org/drawingml/2006/main">
            <a:off x="800100" y="6496050"/>
            <a:ext cx="35242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Domain sources</a:t>
            </a:r>
          </a:p>
        </p:txBody>
      </p:sp>
      <p:sp>
        <p:nvSpPr>
          <p:cNvPr id="14" name="partner-text-18">
            <a:extLst xmlns:a="http://schemas.openxmlformats.org/drawingml/2006/main">
              <a:ext uri="{FF2B5EF4-FFF2-40B4-BE49-F238E27FC236}">
                <a16:creationId xmlns:a16="http://schemas.microsoft.com/office/drawing/2014/main" id="{CECD3974-669C-49A8-8E62-F8664E29BEEB}"/>
              </a:ext>
            </a:extLst>
          </p:cNvPr>
          <p:cNvSpPr>
            <a:spLocks xmlns:a="http://schemas.openxmlformats.org/drawingml/2006/main" noGrp="1"/>
          </p:cNvSpPr>
          <p:nvPr/>
        </p:nvSpPr>
        <p:spPr>
          <a:xfrm xmlns:a="http://schemas.openxmlformats.org/drawingml/2006/main">
            <a:off x="800100" y="6903911"/>
            <a:ext cx="3524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Website, meetings and Y2</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Read-only financial exports</a:t>
            </a:r>
          </a:p>
        </p:txBody>
      </p:sp>
      <p:cxnSp>
        <p:nvCxnSpPr>
          <p:cNvPr id="15" name="partner-flow-19">
            <a:extLst xmlns:a="http://schemas.openxmlformats.org/drawingml/2006/main">
              <a:ext uri="{FF2B5EF4-FFF2-40B4-BE49-F238E27FC236}">
                <a16:creationId xmlns:a16="http://schemas.microsoft.com/office/drawing/2014/main" id="{0C9DE46F-57F3-4A00-B3D1-DAF663DBC8D8}"/>
              </a:ext>
            </a:extLst>
          </p:cNvPr>
          <p:cNvCxnSpPr/>
          <p:nvPr/>
        </p:nvCxnSpPr>
        <p:spPr>
          <a:xfrm xmlns:a="http://schemas.openxmlformats.org/drawingml/2006/main" flipH="0" flipV="1">
            <a:off x="2562225" y="5048250"/>
            <a:ext cx="0" cy="1285875"/>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16" name="partner-text-20">
            <a:extLst xmlns:a="http://schemas.openxmlformats.org/drawingml/2006/main">
              <a:ext uri="{FF2B5EF4-FFF2-40B4-BE49-F238E27FC236}">
                <a16:creationId xmlns:a16="http://schemas.microsoft.com/office/drawing/2014/main" id="{D4AF4276-834B-49C1-8998-2EBDC8092811}"/>
              </a:ext>
            </a:extLst>
          </p:cNvPr>
          <p:cNvSpPr>
            <a:spLocks xmlns:a="http://schemas.openxmlformats.org/drawingml/2006/main" noGrp="1"/>
          </p:cNvSpPr>
          <p:nvPr/>
        </p:nvSpPr>
        <p:spPr>
          <a:xfrm xmlns:a="http://schemas.openxmlformats.org/drawingml/2006/main">
            <a:off x="609600" y="5572125"/>
            <a:ext cx="1809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Adapters pending</a:t>
            </a:r>
          </a:p>
        </p:txBody>
      </p:sp>
      <p:sp>
        <p:nvSpPr>
          <p:cNvPr id="17" name="partner-node-21">
            <a:extLst xmlns:a="http://schemas.openxmlformats.org/drawingml/2006/main">
              <a:ext uri="{FF2B5EF4-FFF2-40B4-BE49-F238E27FC236}">
                <a16:creationId xmlns:a16="http://schemas.microsoft.com/office/drawing/2014/main" id="{B9D80B4C-AC07-4902-93B4-B88A11A647C2}"/>
              </a:ext>
            </a:extLst>
          </p:cNvPr>
          <p:cNvSpPr>
            <a:spLocks xmlns:a="http://schemas.openxmlformats.org/drawingml/2006/main" noGrp="1"/>
          </p:cNvSpPr>
          <p:nvPr/>
        </p:nvSpPr>
        <p:spPr>
          <a:xfrm xmlns:a="http://schemas.openxmlformats.org/drawingml/2006/main">
            <a:off x="9810750" y="6334125"/>
            <a:ext cx="48196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dash"/>
          </a:ln>
        </p:spPr>
      </p:sp>
      <p:sp>
        <p:nvSpPr>
          <p:cNvPr id="18" name="partner-text-22">
            <a:extLst xmlns:a="http://schemas.openxmlformats.org/drawingml/2006/main">
              <a:ext uri="{FF2B5EF4-FFF2-40B4-BE49-F238E27FC236}">
                <a16:creationId xmlns:a16="http://schemas.microsoft.com/office/drawing/2014/main" id="{5A6817F6-D0E2-4D90-9F17-8E6A464ACEFA}"/>
              </a:ext>
            </a:extLst>
          </p:cNvPr>
          <p:cNvSpPr>
            <a:spLocks xmlns:a="http://schemas.openxmlformats.org/drawingml/2006/main" noGrp="1"/>
          </p:cNvSpPr>
          <p:nvPr/>
        </p:nvSpPr>
        <p:spPr>
          <a:xfrm xmlns:a="http://schemas.openxmlformats.org/drawingml/2006/main">
            <a:off x="10001250" y="6496050"/>
            <a:ext cx="44386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Helix partner graph</a:t>
            </a:r>
          </a:p>
        </p:txBody>
      </p:sp>
      <p:sp>
        <p:nvSpPr>
          <p:cNvPr id="19" name="partner-text-23">
            <a:extLst xmlns:a="http://schemas.openxmlformats.org/drawingml/2006/main">
              <a:ext uri="{FF2B5EF4-FFF2-40B4-BE49-F238E27FC236}">
                <a16:creationId xmlns:a16="http://schemas.microsoft.com/office/drawing/2014/main" id="{125E7553-4239-4D03-B7C1-20303550273E}"/>
              </a:ext>
            </a:extLst>
          </p:cNvPr>
          <p:cNvSpPr>
            <a:spLocks xmlns:a="http://schemas.openxmlformats.org/drawingml/2006/main" noGrp="1"/>
          </p:cNvSpPr>
          <p:nvPr/>
        </p:nvSpPr>
        <p:spPr>
          <a:xfrm xmlns:a="http://schemas.openxmlformats.org/drawingml/2006/main">
            <a:off x="10001250" y="6903911"/>
            <a:ext cx="44386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Indexed relationship queries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PG source and access revalidation</a:t>
            </a:r>
          </a:p>
        </p:txBody>
      </p:sp>
      <p:cxnSp>
        <p:nvCxnSpPr>
          <p:cNvPr id="20" name="partner-flow-24">
            <a:extLst xmlns:a="http://schemas.openxmlformats.org/drawingml/2006/main">
              <a:ext uri="{FF2B5EF4-FFF2-40B4-BE49-F238E27FC236}">
                <a16:creationId xmlns:a16="http://schemas.microsoft.com/office/drawing/2014/main" id="{2AE5785C-6AD3-4DBE-B650-0396CAF3AB8D}"/>
              </a:ext>
            </a:extLst>
          </p:cNvPr>
          <p:cNvCxnSpPr/>
          <p:nvPr/>
        </p:nvCxnSpPr>
        <p:spPr>
          <a:xfrm xmlns:a="http://schemas.openxmlformats.org/drawingml/2006/main" flipH="0" flipV="0">
            <a:off x="5715000" y="5048250"/>
            <a:ext cx="0" cy="714375"/>
          </a:xfrm>
          <a:prstGeom xmlns:a="http://schemas.openxmlformats.org/drawingml/2006/main" prst="straightConnector1">
            <a:avLst/>
          </a:prstGeom>
          <a:ln xmlns:a="http://schemas.openxmlformats.org/drawingml/2006/main" w="23813">
            <a:solidFill>
              <a:srgbClr val="157D80"/>
            </a:solidFill>
            <a:prstDash val="dash"/>
          </a:ln>
        </p:spPr>
      </p:cxnSp>
      <p:cxnSp>
        <p:nvCxnSpPr>
          <p:cNvPr id="21" name="partner-flow-25">
            <a:extLst xmlns:a="http://schemas.openxmlformats.org/drawingml/2006/main">
              <a:ext uri="{FF2B5EF4-FFF2-40B4-BE49-F238E27FC236}">
                <a16:creationId xmlns:a16="http://schemas.microsoft.com/office/drawing/2014/main" id="{6C00FA56-CFE8-42B6-AE19-C27787CE15F1}"/>
              </a:ext>
            </a:extLst>
          </p:cNvPr>
          <p:cNvCxnSpPr/>
          <p:nvPr/>
        </p:nvCxnSpPr>
        <p:spPr>
          <a:xfrm xmlns:a="http://schemas.openxmlformats.org/drawingml/2006/main" flipH="0" flipV="0">
            <a:off x="5715000" y="5762625"/>
            <a:ext cx="650557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2" name="partner-flow-26">
            <a:extLst xmlns:a="http://schemas.openxmlformats.org/drawingml/2006/main">
              <a:ext uri="{FF2B5EF4-FFF2-40B4-BE49-F238E27FC236}">
                <a16:creationId xmlns:a16="http://schemas.microsoft.com/office/drawing/2014/main" id="{487C54BA-BF13-478C-A353-5A5964BE385B}"/>
              </a:ext>
            </a:extLst>
          </p:cNvPr>
          <p:cNvCxnSpPr/>
          <p:nvPr/>
        </p:nvCxnSpPr>
        <p:spPr>
          <a:xfrm xmlns:a="http://schemas.openxmlformats.org/drawingml/2006/main" flipH="0" flipV="0">
            <a:off x="12220575" y="5762625"/>
            <a:ext cx="0" cy="57150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23" name="partner-text-27">
            <a:extLst xmlns:a="http://schemas.openxmlformats.org/drawingml/2006/main">
              <a:ext uri="{FF2B5EF4-FFF2-40B4-BE49-F238E27FC236}">
                <a16:creationId xmlns:a16="http://schemas.microsoft.com/office/drawing/2014/main" id="{597B8127-3B37-4AED-BFCE-07B971A0F383}"/>
              </a:ext>
            </a:extLst>
          </p:cNvPr>
          <p:cNvSpPr>
            <a:spLocks xmlns:a="http://schemas.openxmlformats.org/drawingml/2006/main" noGrp="1"/>
          </p:cNvSpPr>
          <p:nvPr/>
        </p:nvSpPr>
        <p:spPr>
          <a:xfrm xmlns:a="http://schemas.openxmlformats.org/drawingml/2006/main">
            <a:off x="7200900" y="5172075"/>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Transactional outbox</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Projection integration next</a:t>
            </a:r>
          </a:p>
        </p:txBody>
      </p:sp>
      <p:sp>
        <p:nvSpPr>
          <p:cNvPr id="24" name="partner-text-28">
            <a:extLst xmlns:a="http://schemas.openxmlformats.org/drawingml/2006/main">
              <a:ext uri="{FF2B5EF4-FFF2-40B4-BE49-F238E27FC236}">
                <a16:creationId xmlns:a16="http://schemas.microsoft.com/office/drawing/2014/main" id="{75011ED0-C4B7-41DF-B653-DB10117B2406}"/>
              </a:ext>
            </a:extLst>
          </p:cNvPr>
          <p:cNvSpPr>
            <a:spLocks xmlns:a="http://schemas.openxmlformats.org/drawingml/2006/main" noGrp="1"/>
          </p:cNvSpPr>
          <p:nvPr/>
        </p:nvSpPr>
        <p:spPr>
          <a:xfrm xmlns:a="http://schemas.openxmlformats.org/drawingml/2006/main">
            <a:off x="4905375" y="6572250"/>
            <a:ext cx="428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0">
                <a:solidFill>
                  <a:srgbClr val="4A6572"/>
                </a:solidFill>
                <a:latin typeface="Aptos"/>
                <a:ea typeface="Aptos"/>
                <a:cs typeface="Aptos"/>
              </a:defRPr>
            </a:defPPr>
          </a:lstStyle>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Broader 990 enrichment and</a:t>
            </a:r>
          </a:p>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optional semantic search</a:t>
            </a:r>
          </a:p>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follow later</a:t>
            </a:r>
          </a:p>
        </p:txBody>
      </p:sp>
      <p:sp>
        <p:nvSpPr>
          <p:cNvPr id="25" name="partner-text-29">
            <a:extLst xmlns:a="http://schemas.openxmlformats.org/drawingml/2006/main">
              <a:ext uri="{FF2B5EF4-FFF2-40B4-BE49-F238E27FC236}">
                <a16:creationId xmlns:a16="http://schemas.microsoft.com/office/drawing/2014/main" id="{C2939154-352F-43C8-BBEC-DB3542370E00}"/>
              </a:ext>
            </a:extLst>
          </p:cNvPr>
          <p:cNvSpPr>
            <a:spLocks xmlns:a="http://schemas.openxmlformats.org/drawingml/2006/main" noGrp="1"/>
          </p:cNvSpPr>
          <p:nvPr/>
        </p:nvSpPr>
        <p:spPr>
          <a:xfrm xmlns:a="http://schemas.openxmlformats.org/drawingml/2006/main">
            <a:off x="9810750" y="7781925"/>
            <a:ext cx="4819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A6572"/>
                </a:solidFill>
                <a:latin typeface="Aptos"/>
                <a:ea typeface="Aptos"/>
                <a:cs typeface="Aptos"/>
              </a:defRPr>
            </a:defPPr>
          </a:lstStyle>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Required core, implementation underway</a:t>
            </a:r>
          </a:p>
        </p:txBody>
      </p:sp>
    </p:spTree>
    <p:extLst>
      <p:ext uri="{BB962C8B-B14F-4D97-AF65-F5344CB8AC3E}">
        <p14:creationId xmlns:p14="http://schemas.microsoft.com/office/powerpoint/2010/main" val="2108005505"/>
      </p:ext>
    </p:extLst>
  </p:cSld>
</p:sld>
</file>

<file path=ppt/slides/slide7.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31" name="partner-text-30">
            <a:extLst xmlns:a="http://schemas.openxmlformats.org/drawingml/2006/main">
              <a:ext uri="{FF2B5EF4-FFF2-40B4-BE49-F238E27FC236}">
                <a16:creationId xmlns:a16="http://schemas.microsoft.com/office/drawing/2014/main" id="{D9F6F098-606C-4753-8F35-53882B59748D}"/>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Partner graph and research reuse</a:t>
            </a:r>
          </a:p>
        </p:txBody>
      </p:sp>
      <p:sp>
        <p:nvSpPr>
          <p:cNvPr id="2" name="partner-text-31">
            <a:extLst xmlns:a="http://schemas.openxmlformats.org/drawingml/2006/main">
              <a:ext uri="{FF2B5EF4-FFF2-40B4-BE49-F238E27FC236}">
                <a16:creationId xmlns:a16="http://schemas.microsoft.com/office/drawing/2014/main" id="{3C2D60C0-D3F6-4417-BBFD-1D96437A9D33}"/>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7</a:t>
            </a:r>
          </a:p>
        </p:txBody>
      </p:sp>
      <p:sp>
        <p:nvSpPr>
          <p:cNvPr id="3" name="partner-text-32">
            <a:extLst xmlns:a="http://schemas.openxmlformats.org/drawingml/2006/main">
              <a:ext uri="{FF2B5EF4-FFF2-40B4-BE49-F238E27FC236}">
                <a16:creationId xmlns:a16="http://schemas.microsoft.com/office/drawing/2014/main" id="{236CDD3D-5A11-42C1-B333-FC684E731BD1}"/>
              </a:ext>
            </a:extLst>
          </p:cNvPr>
          <p:cNvSpPr>
            <a:spLocks xmlns:a="http://schemas.openxmlformats.org/drawingml/2006/main" noGrp="1"/>
          </p:cNvSpPr>
          <p:nvPr/>
        </p:nvSpPr>
        <p:spPr>
          <a:xfrm xmlns:a="http://schemas.openxmlformats.org/drawingml/2006/main">
            <a:off x="609600" y="1381125"/>
            <a:ext cx="14020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Required operational core, implementation underway</a:t>
            </a:r>
          </a:p>
        </p:txBody>
      </p:sp>
      <p:sp>
        <p:nvSpPr>
          <p:cNvPr id="4" name="partner-node-33">
            <a:extLst xmlns:a="http://schemas.openxmlformats.org/drawingml/2006/main">
              <a:ext uri="{FF2B5EF4-FFF2-40B4-BE49-F238E27FC236}">
                <a16:creationId xmlns:a16="http://schemas.microsoft.com/office/drawing/2014/main" id="{9A2E6CB0-9202-4C48-BBE8-BE2D900D5049}"/>
              </a:ext>
            </a:extLst>
          </p:cNvPr>
          <p:cNvSpPr>
            <a:spLocks xmlns:a="http://schemas.openxmlformats.org/drawingml/2006/main" noGrp="1"/>
          </p:cNvSpPr>
          <p:nvPr/>
        </p:nvSpPr>
        <p:spPr>
          <a:xfrm xmlns:a="http://schemas.openxmlformats.org/drawingml/2006/main">
            <a:off x="609600" y="2714625"/>
            <a:ext cx="3276600" cy="16192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5" name="partner-text-34">
            <a:extLst xmlns:a="http://schemas.openxmlformats.org/drawingml/2006/main">
              <a:ext uri="{FF2B5EF4-FFF2-40B4-BE49-F238E27FC236}">
                <a16:creationId xmlns:a16="http://schemas.microsoft.com/office/drawing/2014/main" id="{49CF5225-6E8C-464F-80B5-D2620C4047FA}"/>
              </a:ext>
            </a:extLst>
          </p:cNvPr>
          <p:cNvSpPr>
            <a:spLocks xmlns:a="http://schemas.openxmlformats.org/drawingml/2006/main" noGrp="1"/>
          </p:cNvSpPr>
          <p:nvPr/>
        </p:nvSpPr>
        <p:spPr>
          <a:xfrm xmlns:a="http://schemas.openxmlformats.org/drawingml/2006/main">
            <a:off x="8001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57D80"/>
                </a:solidFill>
                <a:latin typeface="Aptos"/>
                <a:ea typeface="Aptos"/>
                <a:cs typeface="Aptos"/>
              </a:defRPr>
            </a:defPPr>
          </a:lstStyle>
          <a:p xmlns:a="http://schemas.openxmlformats.org/drawingml/2006/main">
            <a:pPr algn="l">
              <a:buNone/>
              <a:defRPr sz="2100" b="1">
                <a:solidFill>
                  <a:srgbClr val="157D80"/>
                </a:solidFill>
                <a:latin typeface="Aptos"/>
                <a:ea typeface="Aptos"/>
                <a:cs typeface="Aptos"/>
              </a:defRPr>
            </a:pPr>
            <a:r>
              <a:rPr sz="2100" b="1">
                <a:solidFill>
                  <a:srgbClr val="157D80"/>
                </a:solidFill>
                <a:latin typeface="Aptos"/>
                <a:ea typeface="Aptos"/>
                <a:cs typeface="Aptos"/>
              </a:rPr>
              <a:t>Query saved context</a:t>
            </a:r>
          </a:p>
        </p:txBody>
      </p:sp>
      <p:sp>
        <p:nvSpPr>
          <p:cNvPr id="6" name="partner-text-35">
            <a:extLst xmlns:a="http://schemas.openxmlformats.org/drawingml/2006/main">
              <a:ext uri="{FF2B5EF4-FFF2-40B4-BE49-F238E27FC236}">
                <a16:creationId xmlns:a16="http://schemas.microsoft.com/office/drawing/2014/main" id="{70DCBAF5-39BD-4A28-9819-D6963985ABB1}"/>
              </a:ext>
            </a:extLst>
          </p:cNvPr>
          <p:cNvSpPr>
            <a:spLocks xmlns:a="http://schemas.openxmlformats.org/drawingml/2006/main" noGrp="1"/>
          </p:cNvSpPr>
          <p:nvPr/>
        </p:nvSpPr>
        <p:spPr>
          <a:xfrm xmlns:a="http://schemas.openxmlformats.org/drawingml/2006/main">
            <a:off x="800100" y="3249549"/>
            <a:ext cx="2895600" cy="8494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A6572"/>
                </a:solidFill>
                <a:latin typeface="Aptos"/>
                <a:ea typeface="Aptos"/>
                <a:cs typeface="Aptos"/>
              </a:defRPr>
            </a:defPPr>
          </a:lstStyle>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PG access/source checks</a:t>
            </a:r>
          </a:p>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Indexed partner queries</a:t>
            </a:r>
          </a:p>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Bounded PG fallback</a:t>
            </a:r>
          </a:p>
        </p:txBody>
      </p:sp>
      <p:sp>
        <p:nvSpPr>
          <p:cNvPr id="7" name="partner-node-36">
            <a:extLst xmlns:a="http://schemas.openxmlformats.org/drawingml/2006/main">
              <a:ext uri="{FF2B5EF4-FFF2-40B4-BE49-F238E27FC236}">
                <a16:creationId xmlns:a16="http://schemas.microsoft.com/office/drawing/2014/main" id="{7EEA0802-5C4F-4EEF-A5C5-DFFC1E0EB808}"/>
              </a:ext>
            </a:extLst>
          </p:cNvPr>
          <p:cNvSpPr>
            <a:spLocks xmlns:a="http://schemas.openxmlformats.org/drawingml/2006/main" noGrp="1"/>
          </p:cNvSpPr>
          <p:nvPr/>
        </p:nvSpPr>
        <p:spPr>
          <a:xfrm xmlns:a="http://schemas.openxmlformats.org/drawingml/2006/main">
            <a:off x="41910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8" name="partner-text-37">
            <a:extLst xmlns:a="http://schemas.openxmlformats.org/drawingml/2006/main">
              <a:ext uri="{FF2B5EF4-FFF2-40B4-BE49-F238E27FC236}">
                <a16:creationId xmlns:a16="http://schemas.microsoft.com/office/drawing/2014/main" id="{E577B525-C5A8-4FCD-930C-B7E12A8A6EF2}"/>
              </a:ext>
            </a:extLst>
          </p:cNvPr>
          <p:cNvSpPr>
            <a:spLocks xmlns:a="http://schemas.openxmlformats.org/drawingml/2006/main" noGrp="1"/>
          </p:cNvSpPr>
          <p:nvPr/>
        </p:nvSpPr>
        <p:spPr>
          <a:xfrm xmlns:a="http://schemas.openxmlformats.org/drawingml/2006/main">
            <a:off x="43815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Research if needed</a:t>
            </a:r>
          </a:p>
        </p:txBody>
      </p:sp>
      <p:sp>
        <p:nvSpPr>
          <p:cNvPr id="9" name="partner-text-38">
            <a:extLst xmlns:a="http://schemas.openxmlformats.org/drawingml/2006/main">
              <a:ext uri="{FF2B5EF4-FFF2-40B4-BE49-F238E27FC236}">
                <a16:creationId xmlns:a16="http://schemas.microsoft.com/office/drawing/2014/main" id="{44B9CCB7-3C35-49B1-8343-092B948E5F01}"/>
              </a:ext>
            </a:extLst>
          </p:cNvPr>
          <p:cNvSpPr>
            <a:spLocks xmlns:a="http://schemas.openxmlformats.org/drawingml/2006/main" noGrp="1"/>
          </p:cNvSpPr>
          <p:nvPr/>
        </p:nvSpPr>
        <p:spPr>
          <a:xfrm xmlns:a="http://schemas.openxmlformats.org/drawingml/2006/main">
            <a:off x="43815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Missing or stale evidence</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Useful discoveries even</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when a grant is rejected</a:t>
            </a:r>
          </a:p>
        </p:txBody>
      </p:sp>
      <p:sp>
        <p:nvSpPr>
          <p:cNvPr id="10" name="partner-node-39">
            <a:extLst xmlns:a="http://schemas.openxmlformats.org/drawingml/2006/main">
              <a:ext uri="{FF2B5EF4-FFF2-40B4-BE49-F238E27FC236}">
                <a16:creationId xmlns:a16="http://schemas.microsoft.com/office/drawing/2014/main" id="{D429AD53-CC8C-45D3-B23A-C737E7F7E7F1}"/>
              </a:ext>
            </a:extLst>
          </p:cNvPr>
          <p:cNvSpPr>
            <a:spLocks xmlns:a="http://schemas.openxmlformats.org/drawingml/2006/main" noGrp="1"/>
          </p:cNvSpPr>
          <p:nvPr/>
        </p:nvSpPr>
        <p:spPr>
          <a:xfrm xmlns:a="http://schemas.openxmlformats.org/drawingml/2006/main">
            <a:off x="77724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1" name="partner-text-40">
            <a:extLst xmlns:a="http://schemas.openxmlformats.org/drawingml/2006/main">
              <a:ext uri="{FF2B5EF4-FFF2-40B4-BE49-F238E27FC236}">
                <a16:creationId xmlns:a16="http://schemas.microsoft.com/office/drawing/2014/main" id="{1D3BA00C-2FEA-4227-B497-BB9471D7ADA0}"/>
              </a:ext>
            </a:extLst>
          </p:cNvPr>
          <p:cNvSpPr>
            <a:spLocks xmlns:a="http://schemas.openxmlformats.org/drawingml/2006/main" noGrp="1"/>
          </p:cNvSpPr>
          <p:nvPr/>
        </p:nvSpPr>
        <p:spPr>
          <a:xfrm xmlns:a="http://schemas.openxmlformats.org/drawingml/2006/main">
            <a:off x="79629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Commit findings</a:t>
            </a:r>
          </a:p>
        </p:txBody>
      </p:sp>
      <p:sp>
        <p:nvSpPr>
          <p:cNvPr id="12" name="partner-text-41">
            <a:extLst xmlns:a="http://schemas.openxmlformats.org/drawingml/2006/main">
              <a:ext uri="{FF2B5EF4-FFF2-40B4-BE49-F238E27FC236}">
                <a16:creationId xmlns:a16="http://schemas.microsoft.com/office/drawing/2014/main" id="{199F4A86-0AB5-4AFC-9256-DA9CB7E27484}"/>
              </a:ext>
            </a:extLst>
          </p:cNvPr>
          <p:cNvSpPr>
            <a:spLocks xmlns:a="http://schemas.openxmlformats.org/drawingml/2006/main" noGrp="1"/>
          </p:cNvSpPr>
          <p:nvPr/>
        </p:nvSpPr>
        <p:spPr>
          <a:xfrm xmlns:a="http://schemas.openxmlformats.org/drawingml/2006/main">
            <a:off x="79629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Answer + knowledge delta</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PG evidence and history</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Transactional outbox</a:t>
            </a:r>
          </a:p>
        </p:txBody>
      </p:sp>
      <p:sp>
        <p:nvSpPr>
          <p:cNvPr id="13" name="partner-node-42">
            <a:extLst xmlns:a="http://schemas.openxmlformats.org/drawingml/2006/main">
              <a:ext uri="{FF2B5EF4-FFF2-40B4-BE49-F238E27FC236}">
                <a16:creationId xmlns:a16="http://schemas.microsoft.com/office/drawing/2014/main" id="{725762E5-9C2F-46E4-9E2C-11BC4A5B8BA5}"/>
              </a:ext>
            </a:extLst>
          </p:cNvPr>
          <p:cNvSpPr>
            <a:spLocks xmlns:a="http://schemas.openxmlformats.org/drawingml/2006/main" noGrp="1"/>
          </p:cNvSpPr>
          <p:nvPr/>
        </p:nvSpPr>
        <p:spPr>
          <a:xfrm xmlns:a="http://schemas.openxmlformats.org/drawingml/2006/main">
            <a:off x="113538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4" name="partner-text-43">
            <a:extLst xmlns:a="http://schemas.openxmlformats.org/drawingml/2006/main">
              <a:ext uri="{FF2B5EF4-FFF2-40B4-BE49-F238E27FC236}">
                <a16:creationId xmlns:a16="http://schemas.microsoft.com/office/drawing/2014/main" id="{FA83D5FD-D167-4295-B601-2EF89F1459D6}"/>
              </a:ext>
            </a:extLst>
          </p:cNvPr>
          <p:cNvSpPr>
            <a:spLocks xmlns:a="http://schemas.openxmlformats.org/drawingml/2006/main" noGrp="1"/>
          </p:cNvSpPr>
          <p:nvPr/>
        </p:nvSpPr>
        <p:spPr>
          <a:xfrm xmlns:a="http://schemas.openxmlformats.org/drawingml/2006/main">
            <a:off x="115443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Refresh Helix</a:t>
            </a:r>
          </a:p>
        </p:txBody>
      </p:sp>
      <p:sp>
        <p:nvSpPr>
          <p:cNvPr id="15" name="partner-text-44">
            <a:extLst xmlns:a="http://schemas.openxmlformats.org/drawingml/2006/main">
              <a:ext uri="{FF2B5EF4-FFF2-40B4-BE49-F238E27FC236}">
                <a16:creationId xmlns:a16="http://schemas.microsoft.com/office/drawing/2014/main" id="{B3C6C51B-A494-4A97-B1DA-4149A0C66C01}"/>
              </a:ext>
            </a:extLst>
          </p:cNvPr>
          <p:cNvSpPr>
            <a:spLocks xmlns:a="http://schemas.openxmlformats.org/drawingml/2006/main" noGrp="1"/>
          </p:cNvSpPr>
          <p:nvPr/>
        </p:nvSpPr>
        <p:spPr>
          <a:xfrm xmlns:a="http://schemas.openxmlformats.org/drawingml/2006/main">
            <a:off x="115443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Idempotent projection</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Versioned graph updates</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Replay and recovery</a:t>
            </a:r>
          </a:p>
        </p:txBody>
      </p:sp>
      <p:cxnSp>
        <p:nvCxnSpPr>
          <p:cNvPr id="16" name="partner-flow-45">
            <a:extLst xmlns:a="http://schemas.openxmlformats.org/drawingml/2006/main">
              <a:ext uri="{FF2B5EF4-FFF2-40B4-BE49-F238E27FC236}">
                <a16:creationId xmlns:a16="http://schemas.microsoft.com/office/drawing/2014/main" id="{077D55D7-8C44-47B6-A7F0-8D24966C3C88}"/>
              </a:ext>
            </a:extLst>
          </p:cNvPr>
          <p:cNvCxnSpPr/>
          <p:nvPr/>
        </p:nvCxnSpPr>
        <p:spPr>
          <a:xfrm xmlns:a="http://schemas.openxmlformats.org/drawingml/2006/main" flipH="0" flipV="0">
            <a:off x="38862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7" name="partner-flow-46">
            <a:extLst xmlns:a="http://schemas.openxmlformats.org/drawingml/2006/main">
              <a:ext uri="{FF2B5EF4-FFF2-40B4-BE49-F238E27FC236}">
                <a16:creationId xmlns:a16="http://schemas.microsoft.com/office/drawing/2014/main" id="{B6F31B79-795E-4754-B829-85408678509A}"/>
              </a:ext>
            </a:extLst>
          </p:cNvPr>
          <p:cNvCxnSpPr/>
          <p:nvPr/>
        </p:nvCxnSpPr>
        <p:spPr>
          <a:xfrm xmlns:a="http://schemas.openxmlformats.org/drawingml/2006/main" flipH="0" flipV="0">
            <a:off x="74676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8" name="partner-flow-47">
            <a:extLst xmlns:a="http://schemas.openxmlformats.org/drawingml/2006/main">
              <a:ext uri="{FF2B5EF4-FFF2-40B4-BE49-F238E27FC236}">
                <a16:creationId xmlns:a16="http://schemas.microsoft.com/office/drawing/2014/main" id="{88C95FEA-A772-44A8-8A60-6C6B76B3CAF8}"/>
              </a:ext>
            </a:extLst>
          </p:cNvPr>
          <p:cNvCxnSpPr/>
          <p:nvPr/>
        </p:nvCxnSpPr>
        <p:spPr>
          <a:xfrm xmlns:a="http://schemas.openxmlformats.org/drawingml/2006/main" flipH="0" flipV="0">
            <a:off x="110490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9" name="partner-flow-48">
            <a:extLst xmlns:a="http://schemas.openxmlformats.org/drawingml/2006/main">
              <a:ext uri="{FF2B5EF4-FFF2-40B4-BE49-F238E27FC236}">
                <a16:creationId xmlns:a16="http://schemas.microsoft.com/office/drawing/2014/main" id="{5CC0505A-ADEB-4B11-9B9F-977AA1D9CEA2}"/>
              </a:ext>
            </a:extLst>
          </p:cNvPr>
          <p:cNvCxnSpPr/>
          <p:nvPr/>
        </p:nvCxnSpPr>
        <p:spPr>
          <a:xfrm xmlns:a="http://schemas.openxmlformats.org/drawingml/2006/main" flipH="0" flipV="1">
            <a:off x="2247900" y="2238375"/>
            <a:ext cx="0" cy="476250"/>
          </a:xfrm>
          <a:prstGeom xmlns:a="http://schemas.openxmlformats.org/drawingml/2006/main" prst="straightConnector1">
            <a:avLst/>
          </a:prstGeom>
          <a:ln xmlns:a="http://schemas.openxmlformats.org/drawingml/2006/main" w="23813">
            <a:solidFill>
              <a:srgbClr val="157D80"/>
            </a:solidFill>
            <a:prstDash val="solid"/>
          </a:ln>
        </p:spPr>
      </p:cxnSp>
      <p:cxnSp>
        <p:nvCxnSpPr>
          <p:cNvPr id="20" name="partner-flow-49">
            <a:extLst xmlns:a="http://schemas.openxmlformats.org/drawingml/2006/main">
              <a:ext uri="{FF2B5EF4-FFF2-40B4-BE49-F238E27FC236}">
                <a16:creationId xmlns:a16="http://schemas.microsoft.com/office/drawing/2014/main" id="{00DF08F0-EA0B-40BA-BC9B-F80F785106E3}"/>
              </a:ext>
            </a:extLst>
          </p:cNvPr>
          <p:cNvCxnSpPr/>
          <p:nvPr/>
        </p:nvCxnSpPr>
        <p:spPr>
          <a:xfrm xmlns:a="http://schemas.openxmlformats.org/drawingml/2006/main" flipH="0" flipV="0">
            <a:off x="2247900" y="2238375"/>
            <a:ext cx="71628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21" name="partner-flow-50">
            <a:extLst xmlns:a="http://schemas.openxmlformats.org/drawingml/2006/main">
              <a:ext uri="{FF2B5EF4-FFF2-40B4-BE49-F238E27FC236}">
                <a16:creationId xmlns:a16="http://schemas.microsoft.com/office/drawing/2014/main" id="{7CECE425-485C-43CA-9018-071BB0AAA583}"/>
              </a:ext>
            </a:extLst>
          </p:cNvPr>
          <p:cNvCxnSpPr/>
          <p:nvPr/>
        </p:nvCxnSpPr>
        <p:spPr>
          <a:xfrm xmlns:a="http://schemas.openxmlformats.org/drawingml/2006/main" flipH="0" flipV="0">
            <a:off x="9410700" y="2238375"/>
            <a:ext cx="0" cy="4762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2" name="partner-text-51">
            <a:extLst xmlns:a="http://schemas.openxmlformats.org/drawingml/2006/main">
              <a:ext uri="{FF2B5EF4-FFF2-40B4-BE49-F238E27FC236}">
                <a16:creationId xmlns:a16="http://schemas.microsoft.com/office/drawing/2014/main" id="{F4E2E950-6D9E-4CB2-AC20-F5C7FC2CFC58}"/>
              </a:ext>
            </a:extLst>
          </p:cNvPr>
          <p:cNvSpPr>
            <a:spLocks xmlns:a="http://schemas.openxmlformats.org/drawingml/2006/main" noGrp="1"/>
          </p:cNvSpPr>
          <p:nvPr/>
        </p:nvSpPr>
        <p:spPr>
          <a:xfrm xmlns:a="http://schemas.openxmlformats.org/drawingml/2006/main">
            <a:off x="2247900" y="1914525"/>
            <a:ext cx="716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Sufficient evidence: answer + no-change receipt</a:t>
            </a:r>
          </a:p>
        </p:txBody>
      </p:sp>
      <p:cxnSp>
        <p:nvCxnSpPr>
          <p:cNvPr id="23" name="partner-flow-52">
            <a:extLst xmlns:a="http://schemas.openxmlformats.org/drawingml/2006/main">
              <a:ext uri="{FF2B5EF4-FFF2-40B4-BE49-F238E27FC236}">
                <a16:creationId xmlns:a16="http://schemas.microsoft.com/office/drawing/2014/main" id="{908746F7-0514-456D-BF58-6643BDA17079}"/>
              </a:ext>
            </a:extLst>
          </p:cNvPr>
          <p:cNvCxnSpPr/>
          <p:nvPr/>
        </p:nvCxnSpPr>
        <p:spPr>
          <a:xfrm xmlns:a="http://schemas.openxmlformats.org/drawingml/2006/main" flipH="0" flipV="0">
            <a:off x="12992100" y="4333875"/>
            <a:ext cx="0" cy="333375"/>
          </a:xfrm>
          <a:prstGeom xmlns:a="http://schemas.openxmlformats.org/drawingml/2006/main" prst="straightConnector1">
            <a:avLst/>
          </a:prstGeom>
          <a:ln xmlns:a="http://schemas.openxmlformats.org/drawingml/2006/main" w="23813">
            <a:solidFill>
              <a:srgbClr val="157D80"/>
            </a:solidFill>
            <a:prstDash val="solid"/>
          </a:ln>
        </p:spPr>
      </p:cxnSp>
      <p:cxnSp>
        <p:nvCxnSpPr>
          <p:cNvPr id="24" name="partner-flow-53">
            <a:extLst xmlns:a="http://schemas.openxmlformats.org/drawingml/2006/main">
              <a:ext uri="{FF2B5EF4-FFF2-40B4-BE49-F238E27FC236}">
                <a16:creationId xmlns:a16="http://schemas.microsoft.com/office/drawing/2014/main" id="{B2869B2A-46B8-45D2-B9C4-22FBB777CD08}"/>
              </a:ext>
            </a:extLst>
          </p:cNvPr>
          <p:cNvCxnSpPr/>
          <p:nvPr/>
        </p:nvCxnSpPr>
        <p:spPr>
          <a:xfrm xmlns:a="http://schemas.openxmlformats.org/drawingml/2006/main" flipH="1" flipV="0">
            <a:off x="2247900" y="4667250"/>
            <a:ext cx="107442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25" name="partner-flow-54">
            <a:extLst xmlns:a="http://schemas.openxmlformats.org/drawingml/2006/main">
              <a:ext uri="{FF2B5EF4-FFF2-40B4-BE49-F238E27FC236}">
                <a16:creationId xmlns:a16="http://schemas.microsoft.com/office/drawing/2014/main" id="{A3EEEA01-AF3F-442A-A0D1-8C0359D97D98}"/>
              </a:ext>
            </a:extLst>
          </p:cNvPr>
          <p:cNvCxnSpPr/>
          <p:nvPr/>
        </p:nvCxnSpPr>
        <p:spPr>
          <a:xfrm xmlns:a="http://schemas.openxmlformats.org/drawingml/2006/main" flipH="0" flipV="1">
            <a:off x="2247900" y="4333875"/>
            <a:ext cx="0" cy="33337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6" name="partner-text-55">
            <a:extLst xmlns:a="http://schemas.openxmlformats.org/drawingml/2006/main">
              <a:ext uri="{FF2B5EF4-FFF2-40B4-BE49-F238E27FC236}">
                <a16:creationId xmlns:a16="http://schemas.microsoft.com/office/drawing/2014/main" id="{F01A2471-98BD-4112-A4C9-A77115890286}"/>
              </a:ext>
            </a:extLst>
          </p:cNvPr>
          <p:cNvSpPr>
            <a:spLocks xmlns:a="http://schemas.openxmlformats.org/drawingml/2006/main" noGrp="1"/>
          </p:cNvSpPr>
          <p:nvPr/>
        </p:nvSpPr>
        <p:spPr>
          <a:xfrm xmlns:a="http://schemas.openxmlformats.org/drawingml/2006/main">
            <a:off x="3333750" y="4848225"/>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0">
                <a:solidFill>
                  <a:srgbClr val="4A6572"/>
                </a:solidFill>
                <a:latin typeface="Aptos"/>
                <a:ea typeface="Aptos"/>
                <a:cs typeface="Aptos"/>
              </a:defRPr>
            </a:defPPr>
          </a:lstStyle>
          <a:p xmlns:a="http://schemas.openxmlformats.org/drawingml/2006/main">
            <a:pPr algn="ctr">
              <a:buNone/>
              <a:defRPr sz="1950" b="0">
                <a:solidFill>
                  <a:srgbClr val="4A6572"/>
                </a:solidFill>
                <a:latin typeface="Aptos"/>
                <a:ea typeface="Aptos"/>
                <a:cs typeface="Aptos"/>
              </a:defRPr>
            </a:pPr>
            <a:r>
              <a:rPr sz="1950" b="0">
                <a:solidFill>
                  <a:srgbClr val="4A6572"/>
                </a:solidFill>
                <a:latin typeface="Aptos"/>
                <a:ea typeface="Aptos"/>
                <a:cs typeface="Aptos"/>
              </a:rPr>
              <a:t>The next task reuses the updated knowledge</a:t>
            </a:r>
          </a:p>
        </p:txBody>
      </p:sp>
      <p:sp>
        <p:nvSpPr>
          <p:cNvPr id="27" name="partner-text-56">
            <a:extLst xmlns:a="http://schemas.openxmlformats.org/drawingml/2006/main">
              <a:ext uri="{FF2B5EF4-FFF2-40B4-BE49-F238E27FC236}">
                <a16:creationId xmlns:a16="http://schemas.microsoft.com/office/drawing/2014/main" id="{A66860AA-21F4-41F0-BFC2-4EC8980DE83F}"/>
              </a:ext>
            </a:extLst>
          </p:cNvPr>
          <p:cNvSpPr>
            <a:spLocks xmlns:a="http://schemas.openxmlformats.org/drawingml/2006/main" noGrp="1"/>
          </p:cNvSpPr>
          <p:nvPr/>
        </p:nvSpPr>
        <p:spPr>
          <a:xfrm xmlns:a="http://schemas.openxmlformats.org/drawingml/2006/main">
            <a:off x="609600" y="5572125"/>
            <a:ext cx="6858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Indexed knowledge</a:t>
            </a:r>
          </a:p>
        </p:txBody>
      </p:sp>
      <p:sp>
        <p:nvSpPr>
          <p:cNvPr id="28" name="partner-text-57">
            <a:extLst xmlns:a="http://schemas.openxmlformats.org/drawingml/2006/main">
              <a:ext uri="{FF2B5EF4-FFF2-40B4-BE49-F238E27FC236}">
                <a16:creationId xmlns:a16="http://schemas.microsoft.com/office/drawing/2014/main" id="{2782D3B6-3527-46B6-8D1E-15A60603C98B}"/>
              </a:ext>
            </a:extLst>
          </p:cNvPr>
          <p:cNvSpPr>
            <a:spLocks xmlns:a="http://schemas.openxmlformats.org/drawingml/2006/main" noGrp="1"/>
          </p:cNvSpPr>
          <p:nvPr/>
        </p:nvSpPr>
        <p:spPr>
          <a:xfrm xmlns:a="http://schemas.openxmlformats.org/drawingml/2006/main">
            <a:off x="609600" y="6143625"/>
            <a:ext cx="7048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Organizations, people and contact roles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Programs, projects, events and work history</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Relationship owners and evidenced introductions</a:t>
            </a:r>
          </a:p>
        </p:txBody>
      </p:sp>
      <p:sp>
        <p:nvSpPr>
          <p:cNvPr id="29" name="partner-text-58">
            <a:extLst xmlns:a="http://schemas.openxmlformats.org/drawingml/2006/main">
              <a:ext uri="{FF2B5EF4-FFF2-40B4-BE49-F238E27FC236}">
                <a16:creationId xmlns:a16="http://schemas.microsoft.com/office/drawing/2014/main" id="{2516167F-50DE-49CA-9378-18DEB01F4A8E}"/>
              </a:ext>
            </a:extLst>
          </p:cNvPr>
          <p:cNvSpPr>
            <a:spLocks xmlns:a="http://schemas.openxmlformats.org/drawingml/2006/main" noGrp="1"/>
          </p:cNvSpPr>
          <p:nvPr/>
        </p:nvSpPr>
        <p:spPr>
          <a:xfrm xmlns:a="http://schemas.openxmlformats.org/drawingml/2006/main">
            <a:off x="8191500" y="6143625"/>
            <a:ext cx="64389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32E38"/>
                </a:solidFill>
                <a:latin typeface="Aptos"/>
                <a:ea typeface="Aptos"/>
                <a:cs typeface="Aptos"/>
              </a:defRPr>
            </a:defPPr>
          </a:lstStyle>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Source, revision, date and audience on every fact</a:t>
            </a:r>
          </a:p>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Prospects and collaborators stay distinct</a:t>
            </a:r>
          </a:p>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Delivery stage: planned, started or completed</a:t>
            </a:r>
          </a:p>
        </p:txBody>
      </p:sp>
      <p:sp>
        <p:nvSpPr>
          <p:cNvPr id="30" name="partner-text-59">
            <a:extLst xmlns:a="http://schemas.openxmlformats.org/drawingml/2006/main">
              <a:ext uri="{FF2B5EF4-FFF2-40B4-BE49-F238E27FC236}">
                <a16:creationId xmlns:a16="http://schemas.microsoft.com/office/drawing/2014/main" id="{B350B102-319D-490B-9097-63C91AD72915}"/>
              </a:ext>
            </a:extLst>
          </p:cNvPr>
          <p:cNvSpPr>
            <a:spLocks xmlns:a="http://schemas.openxmlformats.org/drawingml/2006/main" noGrp="1"/>
          </p:cNvSpPr>
          <p:nvPr/>
        </p:nvSpPr>
        <p:spPr>
          <a:xfrm xmlns:a="http://schemas.openxmlformats.org/drawingml/2006/main">
            <a:off x="609600" y="7543800"/>
            <a:ext cx="1402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Initial inventory: DAO, TechFW’s MADE program, Moonshot, LiquidAcre and HackFW</a:t>
            </a:r>
          </a:p>
        </p:txBody>
      </p:sp>
      <p:sp>
        <p:nvSpPr>
          <p:cNvPr id="32" name="changed-assertions-edge-label">
            <a:extLst xmlns:a="http://schemas.openxmlformats.org/drawingml/2006/main">
              <a:ext uri="{FF2B5EF4-FFF2-40B4-BE49-F238E27FC236}">
                <a16:creationId xmlns:a16="http://schemas.microsoft.com/office/drawing/2014/main" id="{9544F418-1D5F-4E74-9EDB-4DA06BA69141}"/>
              </a:ext>
            </a:extLst>
          </p:cNvPr>
          <p:cNvSpPr>
            <a:spLocks xmlns:a="http://schemas.openxmlformats.org/drawingml/2006/main" noGrp="1"/>
          </p:cNvSpPr>
          <p:nvPr/>
        </p:nvSpPr>
        <p:spPr>
          <a:xfrm xmlns:a="http://schemas.openxmlformats.org/drawingml/2006/main">
            <a:off x="10096500" y="2343150"/>
            <a:ext cx="2209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defRPr sz="1725" b="0">
                <a:solidFill>
                  <a:srgbClr val="4A6572"/>
                </a:solidFill>
                <a:latin typeface="Aptos"/>
                <a:ea typeface="Aptos"/>
                <a:cs typeface="Aptos"/>
              </a:defRPr>
            </a:pPr>
            <a:r>
              <a:rPr sz="1725" b="0">
                <a:solidFill>
                  <a:srgbClr val="4A6572"/>
                </a:solidFill>
                <a:latin typeface="Aptos"/>
                <a:ea typeface="Aptos"/>
                <a:cs typeface="Aptos"/>
              </a:rPr>
              <a:t>Changed assertions</a:t>
            </a:r>
          </a:p>
        </p:txBody>
      </p:sp>
      <p:cxnSp>
        <p:nvCxnSpPr>
          <p:cNvPr id="33" name="changed-assertions-edge-label-leader">
            <a:extLst xmlns:a="http://schemas.openxmlformats.org/drawingml/2006/main">
              <a:ext uri="{FF2B5EF4-FFF2-40B4-BE49-F238E27FC236}">
                <a16:creationId xmlns:a16="http://schemas.microsoft.com/office/drawing/2014/main" id="{C9C8D566-7E3C-4AC0-856F-FBE2DA639772}"/>
              </a:ext>
            </a:extLst>
          </p:cNvPr>
          <p:cNvCxnSpPr/>
          <p:nvPr/>
        </p:nvCxnSpPr>
        <p:spPr>
          <a:xfrm xmlns:a="http://schemas.openxmlformats.org/drawingml/2006/main">
            <a:off x="11201400" y="2647950"/>
            <a:ext cx="0" cy="781050"/>
          </a:xfrm>
          <a:prstGeom xmlns:a="http://schemas.openxmlformats.org/drawingml/2006/main" prst="straightConnector1">
            <a:avLst/>
          </a:prstGeom>
          <a:ln xmlns:a="http://schemas.openxmlformats.org/drawingml/2006/main" w="9525">
            <a:solidFill>
              <a:srgbClr val="4A6572"/>
            </a:solidFill>
            <a:prstDash val="solid"/>
          </a:ln>
        </p:spPr>
      </p:cxnSp>
    </p:spTree>
    <p:extLst>
      <p:ext uri="{BB962C8B-B14F-4D97-AF65-F5344CB8AC3E}">
        <p14:creationId xmlns:p14="http://schemas.microsoft.com/office/powerpoint/2010/main" val="1464909274"/>
      </p:ext>
    </p:extLst>
  </p:cSld>
</p:sld>
</file>

<file path=ppt/slides/slide8.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4" name="text-207">
            <a:extLst xmlns:a="http://schemas.openxmlformats.org/drawingml/2006/main">
              <a:ext uri="{FF2B5EF4-FFF2-40B4-BE49-F238E27FC236}">
                <a16:creationId xmlns:a16="http://schemas.microsoft.com/office/drawing/2014/main" id="{B34BF287-4654-4472-AEAE-43179009F69F}"/>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Integration interfaces</a:t>
            </a:r>
          </a:p>
        </p:txBody>
      </p:sp>
      <p:sp>
        <p:nvSpPr>
          <p:cNvPr id="2" name="text-208">
            <a:extLst xmlns:a="http://schemas.openxmlformats.org/drawingml/2006/main">
              <a:ext uri="{FF2B5EF4-FFF2-40B4-BE49-F238E27FC236}">
                <a16:creationId xmlns:a16="http://schemas.microsoft.com/office/drawing/2014/main" id="{38BB923A-7384-409B-93AE-9C78A3790C0B}"/>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8</a:t>
            </a:r>
          </a:p>
        </p:txBody>
      </p:sp>
      <p:graphicFrame>
        <p:nvGraphicFramePr>
          <p:cNvPr id="5" name="">
            <a:extLst xmlns:a="http://schemas.openxmlformats.org/drawingml/2006/main">
              <a:ext uri="{FF2B5EF4-FFF2-40B4-BE49-F238E27FC236}">
                <a16:creationId xmlns:a16="http://schemas.microsoft.com/office/drawing/2014/main" id="{73BC365C-3DD6-48C6-AB89-388A0C17CCB4}"/>
              </a:ext>
            </a:extLst>
          </p:cNvPr>
          <p:cNvGraphicFramePr/>
          <p:nvPr/>
        </p:nvGraphicFramePr>
        <p:xfrm>
          <a:off xmlns:a="http://schemas.openxmlformats.org/drawingml/2006/main" x="609600" y="1809750"/>
          <a:ext xmlns:a="http://schemas.openxmlformats.org/drawingml/2006/main" cx="14020800" cy="5924550"/>
        </p:xfrm>
        <a:graphic xmlns:a="http://schemas.openxmlformats.org/drawingml/2006/main">
          <a:graphicData uri="http://schemas.openxmlformats.org/drawingml/2006/table">
            <a:tbl>
              <a:tblPr/>
              <a:tblGrid>
                <a:gridCol w="3238500"/>
                <a:gridCol w="5143500"/>
                <a:gridCol w="5638800"/>
              </a:tblGrid>
              <a:tr h="590550">
                <a:tc>
                  <a:txBody>
                    <a:bodyPr lIns="152400" tIns="95250" rIns="152400" bIns="95250">
                      <a:noAutofit/>
                    </a:bodyPr>
                    <a:lstStyle/>
                    <a:p>
                      <a:r>
                        <a:rPr sz="2025" b="1">
                          <a:solidFill>
                            <a:srgbClr val="157D80"/>
                          </a:solidFill>
                          <a:latin typeface="Aptos"/>
                          <a:ea typeface="Aptos"/>
                          <a:cs typeface="Aptos"/>
                        </a:rPr>
                        <a:t>Interface</a:t>
                      </a:r>
                    </a:p>
                  </a:txBody>
                  <a:tcPr marL="91440" marR="91440" marT="45720" marB="45720" anchor="ctr">
                    <a:lnL w="6668">
                      <a:solidFill>
                        <a:srgbClr val="B8CACC"/>
                      </a:solidFill>
                      <a:prstDash val="solid"/>
                    </a:lnL>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c>
                  <a:txBody>
                    <a:bodyPr lIns="152400" tIns="95250" rIns="152400" bIns="95250">
                      <a:noAutofit/>
                    </a:bodyPr>
                    <a:lstStyle/>
                    <a:p>
                      <a:r>
                        <a:rPr sz="2025" b="1">
                          <a:solidFill>
                            <a:srgbClr val="157D80"/>
                          </a:solidFill>
                          <a:latin typeface="Aptos"/>
                          <a:ea typeface="Aptos"/>
                          <a:cs typeface="Aptos"/>
                        </a:rPr>
                        <a:t>Component responsibility</a:t>
                      </a:r>
                    </a:p>
                  </a:txBody>
                  <a:tcPr marL="91440" marR="91440" marT="45720" marB="45720" anchor="ctr">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c>
                  <a:txBody>
                    <a:bodyPr lIns="152400" tIns="95250" rIns="152400" bIns="95250">
                      <a:noAutofit/>
                    </a:bodyPr>
                    <a:lstStyle/>
                    <a:p>
                      <a:r>
                        <a:rPr sz="2025" b="1">
                          <a:solidFill>
                            <a:srgbClr val="157D80"/>
                          </a:solidFill>
                          <a:latin typeface="Aptos"/>
                          <a:ea typeface="Aptos"/>
                          <a:cs typeface="Aptos"/>
                        </a:rPr>
                        <a:t>Next connection</a:t>
                      </a:r>
                    </a:p>
                  </a:txBody>
                  <a:tcPr marL="91440" marR="91440" marT="45720" marB="45720" anchor="ctr">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r>
              <a:tr h="762000">
                <a:tc>
                  <a:txBody>
                    <a:bodyPr lIns="152400" tIns="95250" rIns="152400" bIns="95250">
                      <a:noAutofit/>
                    </a:bodyPr>
                    <a:lstStyle/>
                    <a:p>
                      <a:r>
                        <a:rPr sz="1875" b="1">
                          <a:solidFill>
                            <a:srgbClr val="132E38"/>
                          </a:solidFill>
                          <a:latin typeface="Aptos"/>
                          <a:ea typeface="Aptos"/>
                          <a:cs typeface="Aptos"/>
                        </a:rPr>
                        <a:t>Drive / Roundtable</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Ready sources and source revisions</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Confirm Drive source access</a:t>
                      </a:r>
                    </a:p>
                    <a:p>
                      <a:r>
                        <a:rPr sz="1875" b="0">
                          <a:solidFill>
                            <a:srgbClr val="132E38"/>
                          </a:solidFill>
                          <a:latin typeface="Aptos"/>
                          <a:ea typeface="Aptos"/>
                          <a:cs typeface="Aptos"/>
                        </a:rPr>
                        <a:t>Connect the source job</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Roundtable / website</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Publish, enforce member access, read back</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John integrates the website endpoints</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Buzz / Paperclip</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Paired identity and shared task state</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Pair the relay and members</a:t>
                      </a:r>
                    </a:p>
                    <a:p>
                      <a:r>
                        <a:rPr sz="1875" b="0">
                          <a:solidFill>
                            <a:srgbClr val="132E38"/>
                          </a:solidFill>
                          <a:latin typeface="Aptos"/>
                          <a:ea typeface="Aptos"/>
                          <a:cs typeface="Aptos"/>
                        </a:rPr>
                        <a:t>Verify requests and returned results</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Funding / Vocdoni</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Human decisions and exact packet vote</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Connect the human review adapter</a:t>
                      </a:r>
                    </a:p>
                    <a:p>
                      <a:r>
                        <a:rPr sz="1875" b="0">
                          <a:solidFill>
                            <a:srgbClr val="132E38"/>
                          </a:solidFill>
                          <a:latin typeface="Aptos"/>
                          <a:ea typeface="Aptos"/>
                          <a:cs typeface="Aptos"/>
                        </a:rPr>
                        <a:t>Verify the final vote result</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DAO knowledge / Helix</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Partner graph and research writeback</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Build the projector and scoped queries</a:t>
                      </a:r>
                    </a:p>
                    <a:p>
                      <a:r>
                        <a:rPr sz="1875" b="0">
                          <a:solidFill>
                            <a:srgbClr val="132E38"/>
                          </a:solidFill>
                          <a:latin typeface="Aptos"/>
                          <a:ea typeface="Aptos"/>
                          <a:cs typeface="Aptos"/>
                        </a:rPr>
                        <a:t>Qualify PG, Helix and ongoing refresh</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Y2 / Paperclip</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Relevant updates linked to existing work</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Agree the update and follow-up contract</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Paperclip / member runtime</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Scoped task, isolated execution, result</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Enroll and qualify a second contributor</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bl>
          </a:graphicData>
        </a:graphic>
      </p:graphicFrame>
    </p:spTree>
    <p:extLst>
      <p:ext uri="{BB962C8B-B14F-4D97-AF65-F5344CB8AC3E}">
        <p14:creationId xmlns:p14="http://schemas.microsoft.com/office/powerpoint/2010/main" val="1458554970"/>
      </p:ext>
    </p:extLst>
  </p:cSld>
</p:sld>
</file>

<file path=ppt/slides/slide9.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9" name="text-209">
            <a:extLst xmlns:a="http://schemas.openxmlformats.org/drawingml/2006/main">
              <a:ext uri="{FF2B5EF4-FFF2-40B4-BE49-F238E27FC236}">
                <a16:creationId xmlns:a16="http://schemas.microsoft.com/office/drawing/2014/main" id="{453D1065-A54D-45C7-8930-6D05E6C89ED7}"/>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Roadmap to the connected demo</a:t>
            </a:r>
          </a:p>
        </p:txBody>
      </p:sp>
      <p:sp>
        <p:nvSpPr>
          <p:cNvPr id="2" name="text-210">
            <a:extLst xmlns:a="http://schemas.openxmlformats.org/drawingml/2006/main">
              <a:ext uri="{FF2B5EF4-FFF2-40B4-BE49-F238E27FC236}">
                <a16:creationId xmlns:a16="http://schemas.microsoft.com/office/drawing/2014/main" id="{D28D0B75-16D3-4EFB-9D64-32206A0AAF82}"/>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9</a:t>
            </a:r>
          </a:p>
        </p:txBody>
      </p:sp>
      <p:sp>
        <p:nvSpPr>
          <p:cNvPr id="3" name="text-211">
            <a:extLst xmlns:a="http://schemas.openxmlformats.org/drawingml/2006/main">
              <a:ext uri="{FF2B5EF4-FFF2-40B4-BE49-F238E27FC236}">
                <a16:creationId xmlns:a16="http://schemas.microsoft.com/office/drawing/2014/main" id="{55B38816-67E8-4D3C-8922-E6FA2B4FF766}"/>
              </a:ext>
            </a:extLst>
          </p:cNvPr>
          <p:cNvSpPr>
            <a:spLocks xmlns:a="http://schemas.openxmlformats.org/drawingml/2006/main" noGrp="1"/>
          </p:cNvSpPr>
          <p:nvPr/>
        </p:nvSpPr>
        <p:spPr>
          <a:xfrm xmlns:a="http://schemas.openxmlformats.org/drawingml/2006/main">
            <a:off x="609600" y="2095500"/>
            <a:ext cx="400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Implemented</a:t>
            </a:r>
          </a:p>
        </p:txBody>
      </p:sp>
      <p:sp>
        <p:nvSpPr>
          <p:cNvPr id="4" name="text-212">
            <a:extLst xmlns:a="http://schemas.openxmlformats.org/drawingml/2006/main">
              <a:ext uri="{FF2B5EF4-FFF2-40B4-BE49-F238E27FC236}">
                <a16:creationId xmlns:a16="http://schemas.microsoft.com/office/drawing/2014/main" id="{F89881E5-6DC4-46ED-990B-EA855F60A6D1}"/>
              </a:ext>
            </a:extLst>
          </p:cNvPr>
          <p:cNvSpPr>
            <a:spLocks xmlns:a="http://schemas.openxmlformats.org/drawingml/2006/main" noGrp="1"/>
          </p:cNvSpPr>
          <p:nvPr/>
        </p:nvSpPr>
        <p:spPr>
          <a:xfrm xmlns:a="http://schemas.openxmlformats.org/drawingml/2006/main">
            <a:off x="5524500" y="2095500"/>
            <a:ext cx="400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Prepared changes</a:t>
            </a:r>
          </a:p>
        </p:txBody>
      </p:sp>
      <p:sp>
        <p:nvSpPr>
          <p:cNvPr id="5" name="text-213">
            <a:extLst xmlns:a="http://schemas.openxmlformats.org/drawingml/2006/main">
              <a:ext uri="{FF2B5EF4-FFF2-40B4-BE49-F238E27FC236}">
                <a16:creationId xmlns:a16="http://schemas.microsoft.com/office/drawing/2014/main" id="{92C13F8B-C2CE-4788-A20E-20558D8A5858}"/>
              </a:ext>
            </a:extLst>
          </p:cNvPr>
          <p:cNvSpPr>
            <a:spLocks xmlns:a="http://schemas.openxmlformats.org/drawingml/2006/main" noGrp="1"/>
          </p:cNvSpPr>
          <p:nvPr/>
        </p:nvSpPr>
        <p:spPr>
          <a:xfrm xmlns:a="http://schemas.openxmlformats.org/drawingml/2006/main">
            <a:off x="10439400" y="2095500"/>
            <a:ext cx="4191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Integration and rehearsal</a:t>
            </a:r>
          </a:p>
        </p:txBody>
      </p:sp>
      <p:sp>
        <p:nvSpPr>
          <p:cNvPr id="6" name="text-214">
            <a:extLst xmlns:a="http://schemas.openxmlformats.org/drawingml/2006/main">
              <a:ext uri="{FF2B5EF4-FFF2-40B4-BE49-F238E27FC236}">
                <a16:creationId xmlns:a16="http://schemas.microsoft.com/office/drawing/2014/main" id="{8409ABED-6605-4D91-B8EC-0EB777C9D073}"/>
              </a:ext>
            </a:extLst>
          </p:cNvPr>
          <p:cNvSpPr>
            <a:spLocks xmlns:a="http://schemas.openxmlformats.org/drawingml/2006/main" noGrp="1"/>
          </p:cNvSpPr>
          <p:nvPr/>
        </p:nvSpPr>
        <p:spPr>
          <a:xfrm xmlns:a="http://schemas.openxmlformats.org/drawingml/2006/main">
            <a:off x="609600" y="26670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Merged cores</a:t>
            </a:r>
          </a:p>
        </p:txBody>
      </p:sp>
      <p:sp>
        <p:nvSpPr>
          <p:cNvPr id="7" name="text-215">
            <a:extLst xmlns:a="http://schemas.openxmlformats.org/drawingml/2006/main">
              <a:ext uri="{FF2B5EF4-FFF2-40B4-BE49-F238E27FC236}">
                <a16:creationId xmlns:a16="http://schemas.microsoft.com/office/drawing/2014/main" id="{9315B4A0-0735-4820-A2E2-5F0339E81D54}"/>
              </a:ext>
            </a:extLst>
          </p:cNvPr>
          <p:cNvSpPr>
            <a:spLocks xmlns:a="http://schemas.openxmlformats.org/drawingml/2006/main" noGrp="1"/>
          </p:cNvSpPr>
          <p:nvPr/>
        </p:nvSpPr>
        <p:spPr>
          <a:xfrm xmlns:a="http://schemas.openxmlformats.org/drawingml/2006/main">
            <a:off x="5524500" y="26670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Reviewed, awaiting release</a:t>
            </a:r>
          </a:p>
        </p:txBody>
      </p:sp>
      <p:sp>
        <p:nvSpPr>
          <p:cNvPr id="8" name="text-216">
            <a:extLst xmlns:a="http://schemas.openxmlformats.org/drawingml/2006/main">
              <a:ext uri="{FF2B5EF4-FFF2-40B4-BE49-F238E27FC236}">
                <a16:creationId xmlns:a16="http://schemas.microsoft.com/office/drawing/2014/main" id="{B3E924A4-6621-41E1-9F93-CE058E78C920}"/>
              </a:ext>
            </a:extLst>
          </p:cNvPr>
          <p:cNvSpPr>
            <a:spLocks xmlns:a="http://schemas.openxmlformats.org/drawingml/2006/main" noGrp="1"/>
          </p:cNvSpPr>
          <p:nvPr/>
        </p:nvSpPr>
        <p:spPr>
          <a:xfrm xmlns:a="http://schemas.openxmlformats.org/drawingml/2006/main">
            <a:off x="10439400" y="2667000"/>
            <a:ext cx="419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Required before the demo</a:t>
            </a:r>
          </a:p>
        </p:txBody>
      </p:sp>
      <p:cxnSp>
        <p:nvCxnSpPr>
          <p:cNvPr id="9" name="flow-217">
            <a:extLst xmlns:a="http://schemas.openxmlformats.org/drawingml/2006/main">
              <a:ext uri="{FF2B5EF4-FFF2-40B4-BE49-F238E27FC236}">
                <a16:creationId xmlns:a16="http://schemas.microsoft.com/office/drawing/2014/main" id="{23288824-3A00-4FD8-8BC0-EE3336BC2206}"/>
              </a:ext>
            </a:extLst>
          </p:cNvPr>
          <p:cNvCxnSpPr/>
          <p:nvPr/>
        </p:nvCxnSpPr>
        <p:spPr>
          <a:xfrm xmlns:a="http://schemas.openxmlformats.org/drawingml/2006/main" flipH="0" flipV="0">
            <a:off x="4610100" y="2324100"/>
            <a:ext cx="7048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0" name="flow-218">
            <a:extLst xmlns:a="http://schemas.openxmlformats.org/drawingml/2006/main">
              <a:ext uri="{FF2B5EF4-FFF2-40B4-BE49-F238E27FC236}">
                <a16:creationId xmlns:a16="http://schemas.microsoft.com/office/drawing/2014/main" id="{6FE9D5EA-1DF4-435F-8ECB-757E16333E27}"/>
              </a:ext>
            </a:extLst>
          </p:cNvPr>
          <p:cNvCxnSpPr/>
          <p:nvPr/>
        </p:nvCxnSpPr>
        <p:spPr>
          <a:xfrm xmlns:a="http://schemas.openxmlformats.org/drawingml/2006/main" flipH="0" flipV="0">
            <a:off x="9525000" y="2324100"/>
            <a:ext cx="7048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11" name="text-219">
            <a:extLst xmlns:a="http://schemas.openxmlformats.org/drawingml/2006/main">
              <a:ext uri="{FF2B5EF4-FFF2-40B4-BE49-F238E27FC236}">
                <a16:creationId xmlns:a16="http://schemas.microsoft.com/office/drawing/2014/main" id="{5458D523-F9D2-4AF8-BE72-B5D47AF83BAB}"/>
              </a:ext>
            </a:extLst>
          </p:cNvPr>
          <p:cNvSpPr>
            <a:spLocks xmlns:a="http://schemas.openxmlformats.org/drawingml/2006/main" noGrp="1"/>
          </p:cNvSpPr>
          <p:nvPr/>
        </p:nvSpPr>
        <p:spPr>
          <a:xfrm xmlns:a="http://schemas.openxmlformats.org/drawingml/2006/main">
            <a:off x="609600" y="3381375"/>
            <a:ext cx="4000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Buzz bridge and plugin</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Roundtable core and client</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Grant packet and vote binding</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Funding candidates and route review</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Portable skills</a:t>
            </a:r>
          </a:p>
        </p:txBody>
      </p:sp>
      <p:sp>
        <p:nvSpPr>
          <p:cNvPr id="12" name="text-220">
            <a:extLst xmlns:a="http://schemas.openxmlformats.org/drawingml/2006/main">
              <a:ext uri="{FF2B5EF4-FFF2-40B4-BE49-F238E27FC236}">
                <a16:creationId xmlns:a16="http://schemas.microsoft.com/office/drawing/2014/main" id="{A635FD90-9967-4675-ADA4-96FE6447321B}"/>
              </a:ext>
            </a:extLst>
          </p:cNvPr>
          <p:cNvSpPr>
            <a:spLocks xmlns:a="http://schemas.openxmlformats.org/drawingml/2006/main" noGrp="1"/>
          </p:cNvSpPr>
          <p:nvPr/>
        </p:nvSpPr>
        <p:spPr>
          <a:xfrm xmlns:a="http://schemas.openxmlformats.org/drawingml/2006/main">
            <a:off x="5524500" y="3381375"/>
            <a:ext cx="4000500"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Public drafting and gap review</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Saved partner preparation</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Evidence and SQL reuse</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Sanitized financial contract</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October discovery redesign</a:t>
            </a:r>
          </a:p>
        </p:txBody>
      </p:sp>
      <p:sp>
        <p:nvSpPr>
          <p:cNvPr id="13" name="text-221">
            <a:extLst xmlns:a="http://schemas.openxmlformats.org/drawingml/2006/main">
              <a:ext uri="{FF2B5EF4-FFF2-40B4-BE49-F238E27FC236}">
                <a16:creationId xmlns:a16="http://schemas.microsoft.com/office/drawing/2014/main" id="{5E56A611-E627-4F2C-A7F8-33D44283C721}"/>
              </a:ext>
            </a:extLst>
          </p:cNvPr>
          <p:cNvSpPr>
            <a:spLocks xmlns:a="http://schemas.openxmlformats.org/drawingml/2006/main" noGrp="1"/>
          </p:cNvSpPr>
          <p:nvPr/>
        </p:nvSpPr>
        <p:spPr>
          <a:xfrm xmlns:a="http://schemas.openxmlformats.org/drawingml/2006/main">
            <a:off x="10439400" y="3286125"/>
            <a:ext cx="41910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32E38"/>
                </a:solidFill>
                <a:latin typeface="Aptos"/>
                <a:ea typeface="Aptos"/>
                <a:cs typeface="Aptos"/>
              </a:defRPr>
            </a:defPPr>
          </a:lstStyle>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Publish and qualify local changes</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Fresh October scout</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Helix graph and research writeback</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Drive, website and financial inputs</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Human review and final-vote checks</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Bounty intake and funding links</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Live tools, member agents and Y2</a:t>
            </a:r>
          </a:p>
        </p:txBody>
      </p:sp>
      <p:cxnSp>
        <p:nvCxnSpPr>
          <p:cNvPr id="14" name="flow-222">
            <a:extLst xmlns:a="http://schemas.openxmlformats.org/drawingml/2006/main">
              <a:ext uri="{FF2B5EF4-FFF2-40B4-BE49-F238E27FC236}">
                <a16:creationId xmlns:a16="http://schemas.microsoft.com/office/drawing/2014/main" id="{C3F90B23-18D6-4ABE-ADFE-F8107FC7C79E}"/>
              </a:ext>
            </a:extLst>
          </p:cNvPr>
          <p:cNvCxnSpPr/>
          <p:nvPr/>
        </p:nvCxnSpPr>
        <p:spPr>
          <a:xfrm xmlns:a="http://schemas.openxmlformats.org/drawingml/2006/main" flipH="0" flipV="0">
            <a:off x="609600" y="6000750"/>
            <a:ext cx="14020800" cy="0"/>
          </a:xfrm>
          <a:prstGeom xmlns:a="http://schemas.openxmlformats.org/drawingml/2006/main" prst="straightConnector1">
            <a:avLst/>
          </a:prstGeom>
          <a:ln xmlns:a="http://schemas.openxmlformats.org/drawingml/2006/main" w="14288">
            <a:solidFill>
              <a:srgbClr val="B8CACC"/>
            </a:solidFill>
            <a:prstDash val="solid"/>
          </a:ln>
        </p:spPr>
      </p:cxnSp>
      <p:sp>
        <p:nvSpPr>
          <p:cNvPr id="15" name="text-223">
            <a:extLst xmlns:a="http://schemas.openxmlformats.org/drawingml/2006/main">
              <a:ext uri="{FF2B5EF4-FFF2-40B4-BE49-F238E27FC236}">
                <a16:creationId xmlns:a16="http://schemas.microsoft.com/office/drawing/2014/main" id="{D899334B-4654-4790-8458-AC444D143C2A}"/>
              </a:ext>
            </a:extLst>
          </p:cNvPr>
          <p:cNvSpPr>
            <a:spLocks xmlns:a="http://schemas.openxmlformats.org/drawingml/2006/main" noGrp="1"/>
          </p:cNvSpPr>
          <p:nvPr/>
        </p:nvSpPr>
        <p:spPr>
          <a:xfrm xmlns:a="http://schemas.openxmlformats.org/drawingml/2006/main">
            <a:off x="609600" y="6334125"/>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Connected demo outcomes</a:t>
            </a:r>
          </a:p>
        </p:txBody>
      </p:sp>
      <p:sp>
        <p:nvSpPr>
          <p:cNvPr id="16" name="text-224">
            <a:extLst xmlns:a="http://schemas.openxmlformats.org/drawingml/2006/main">
              <a:ext uri="{FF2B5EF4-FFF2-40B4-BE49-F238E27FC236}">
                <a16:creationId xmlns:a16="http://schemas.microsoft.com/office/drawing/2014/main" id="{D6136617-4C71-4D5F-A308-8D9B3A120D8A}"/>
              </a:ext>
            </a:extLst>
          </p:cNvPr>
          <p:cNvSpPr>
            <a:spLocks xmlns:a="http://schemas.openxmlformats.org/drawingml/2006/main" noGrp="1"/>
          </p:cNvSpPr>
          <p:nvPr/>
        </p:nvSpPr>
        <p:spPr>
          <a:xfrm xmlns:a="http://schemas.openxmlformats.org/drawingml/2006/main">
            <a:off x="609600"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Meeting transcript and notes</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on the member website</a:t>
            </a:r>
          </a:p>
        </p:txBody>
      </p:sp>
      <p:sp>
        <p:nvSpPr>
          <p:cNvPr id="17" name="text-225">
            <a:extLst xmlns:a="http://schemas.openxmlformats.org/drawingml/2006/main">
              <a:ext uri="{FF2B5EF4-FFF2-40B4-BE49-F238E27FC236}">
                <a16:creationId xmlns:a16="http://schemas.microsoft.com/office/drawing/2014/main" id="{13ADBA2A-5AD2-4867-9083-4F0A7F56805E}"/>
              </a:ext>
            </a:extLst>
          </p:cNvPr>
          <p:cNvSpPr>
            <a:spLocks xmlns:a="http://schemas.openxmlformats.org/drawingml/2006/main" noGrp="1"/>
          </p:cNvSpPr>
          <p:nvPr/>
        </p:nvSpPr>
        <p:spPr>
          <a:xfrm xmlns:a="http://schemas.openxmlformats.org/drawingml/2006/main">
            <a:off x="4200525"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Reviewed grant packet</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and final-packet vote</a:t>
            </a:r>
          </a:p>
        </p:txBody>
      </p:sp>
      <p:sp>
        <p:nvSpPr>
          <p:cNvPr id="18" name="text-226">
            <a:extLst xmlns:a="http://schemas.openxmlformats.org/drawingml/2006/main">
              <a:ext uri="{FF2B5EF4-FFF2-40B4-BE49-F238E27FC236}">
                <a16:creationId xmlns:a16="http://schemas.microsoft.com/office/drawing/2014/main" id="{119FA7FD-6420-4A53-B4FE-6BAFF2565CFE}"/>
              </a:ext>
            </a:extLst>
          </p:cNvPr>
          <p:cNvSpPr>
            <a:spLocks xmlns:a="http://schemas.openxmlformats.org/drawingml/2006/main" noGrp="1"/>
          </p:cNvSpPr>
          <p:nvPr/>
        </p:nvSpPr>
        <p:spPr>
          <a:xfrm xmlns:a="http://schemas.openxmlformats.org/drawingml/2006/main">
            <a:off x="11382375" y="7000875"/>
            <a:ext cx="3248025"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A second member agent</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returns accepted work</a:t>
            </a:r>
          </a:p>
        </p:txBody>
      </p:sp>
      <p:sp>
        <p:nvSpPr>
          <p:cNvPr id="20" name="partner-text-60">
            <a:extLst xmlns:a="http://schemas.openxmlformats.org/drawingml/2006/main">
              <a:ext uri="{FF2B5EF4-FFF2-40B4-BE49-F238E27FC236}">
                <a16:creationId xmlns:a16="http://schemas.microsoft.com/office/drawing/2014/main" id="{D9FAAC61-EA37-463A-9156-631276E6DC20}"/>
              </a:ext>
            </a:extLst>
          </p:cNvPr>
          <p:cNvSpPr>
            <a:spLocks xmlns:a="http://schemas.openxmlformats.org/drawingml/2006/main" noGrp="1"/>
          </p:cNvSpPr>
          <p:nvPr/>
        </p:nvSpPr>
        <p:spPr>
          <a:xfrm xmlns:a="http://schemas.openxmlformats.org/drawingml/2006/main">
            <a:off x="7791450"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stStyle>
          <a:p xmlns:a="http://schemas.openxmlformats.org/drawingml/2006/main">
            <a:pPr algn="l">
              <a:buNone/>
              <a:defRPr sz="1950" b="0">
                <a:solidFill>
                  <a:srgbClr val="157D80"/>
                </a:solidFill>
                <a:latin typeface="Aptos"/>
                <a:ea typeface="Aptos"/>
                <a:cs typeface="Aptos"/>
              </a:defRPr>
            </a:pPr>
            <a:r>
              <a:rPr sz="1950" b="0">
                <a:solidFill>
                  <a:srgbClr val="157D80"/>
                </a:solidFill>
                <a:latin typeface="Aptos"/>
                <a:ea typeface="Aptos"/>
                <a:cs typeface="Aptos"/>
              </a:rPr>
              <a:t>Saved partner evidence</a:t>
            </a:r>
          </a:p>
          <a:p xmlns:a="http://schemas.openxmlformats.org/drawingml/2006/main">
            <a:pPr algn="l">
              <a:buNone/>
              <a:defRPr sz="1950" b="0">
                <a:solidFill>
                  <a:srgbClr val="157D80"/>
                </a:solidFill>
                <a:latin typeface="Aptos"/>
                <a:ea typeface="Aptos"/>
                <a:cs typeface="Aptos"/>
              </a:defRPr>
            </a:pPr>
            <a:r>
              <a:rPr sz="1950" b="0">
                <a:solidFill>
                  <a:srgbClr val="157D80"/>
                </a:solidFill>
                <a:latin typeface="Aptos"/>
                <a:ea typeface="Aptos"/>
                <a:cs typeface="Aptos"/>
              </a:rPr>
              <a:t>reused after new research</a:t>
            </a:r>
          </a:p>
        </p:txBody>
      </p:sp>
    </p:spTree>
    <p:extLst>
      <p:ext uri="{BB962C8B-B14F-4D97-AF65-F5344CB8AC3E}">
        <p14:creationId xmlns:p14="http://schemas.microsoft.com/office/powerpoint/2010/main" val="4094746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2026-10-23T21:35:45.2550000Z</dcterms:created>
  <dcterms:modified xsi:type="dcterms:W3CDTF">2026-10-23T21:35:45.2550000Z</dcterms:modified>
</coreProperties>
</file>