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c71ef7acf5147b2" /><Relationship Type="http://schemas.openxmlformats.org/officeDocument/2006/relationships/extended-properties" Target="/docProps/app.xml" Id="Rbeb10f456c534519" /><Relationship Type="http://schemas.openxmlformats.org/officeDocument/2006/relationships/officeDocument" Target="/ppt/presentation.xml" Id="R4149e8c474b64c63" /></Relationships>
</file>

<file path=ppt/presentation.xml><?xml version="1.0" encoding="utf-8"?>
<p:presentation xmlns:p="http://schemas.openxmlformats.org/presentationml/2006/main">
  <p:sldMasterIdLst>
    <p:sldMasterId xmlns:r="http://schemas.openxmlformats.org/officeDocument/2006/relationships" id="2147483648" r:id="R5820929905294263"/>
  </p:sldMasterIdLst>
  <p:notesMasterIdLst>
    <p:notesMasterId xmlns:r="http://schemas.openxmlformats.org/officeDocument/2006/relationships" r:id="R42eefb94822b429c"/>
  </p:notesMasterIdLst>
  <p:sldIdLst>
    <p:sldId xmlns:r="http://schemas.openxmlformats.org/officeDocument/2006/relationships" id="256" r:id="R4bd7ba61c6f34bc5"/>
    <p:sldId xmlns:r="http://schemas.openxmlformats.org/officeDocument/2006/relationships" id="257" r:id="R59625c7e867a4d62"/>
    <p:sldId xmlns:r="http://schemas.openxmlformats.org/officeDocument/2006/relationships" id="258" r:id="R42e76958402d49d5"/>
    <p:sldId xmlns:r="http://schemas.openxmlformats.org/officeDocument/2006/relationships" id="259" r:id="R7bc89066ce8c4daf"/>
    <p:sldId xmlns:r="http://schemas.openxmlformats.org/officeDocument/2006/relationships" id="260" r:id="Rff5d0e4c73c8474e"/>
    <p:sldId xmlns:r="http://schemas.openxmlformats.org/officeDocument/2006/relationships" id="261" r:id="R2f4828dee2fe49d2"/>
    <p:sldId xmlns:r="http://schemas.openxmlformats.org/officeDocument/2006/relationships" id="262" r:id="R36f498ba3e5142bd"/>
    <p:sldId xmlns:r="http://schemas.openxmlformats.org/officeDocument/2006/relationships" id="263" r:id="R8317c050e8804782"/>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524925437c947f9" /><Relationship Type="http://schemas.openxmlformats.org/officeDocument/2006/relationships/slideMaster" Target="/ppt/slideMasters/slideMaster1.xml" Id="R5820929905294263" /><Relationship Type="http://schemas.openxmlformats.org/officeDocument/2006/relationships/notesMaster" Target="/ppt/notesMasters/notesMaster1.xml" Id="R42eefb94822b429c" /><Relationship Type="http://schemas.openxmlformats.org/officeDocument/2006/relationships/presProps" Target="/ppt/presProps.xml" Id="R80f2dc12d0044a74" /><Relationship Type="http://schemas.openxmlformats.org/officeDocument/2006/relationships/tableStyles" Target="/ppt/tableStyles.xml" Id="R4a6e5c598c4644e4" /><Relationship Type="http://schemas.openxmlformats.org/officeDocument/2006/relationships/slide" Target="/ppt/slides/slide1.xml" Id="R4bd7ba61c6f34bc5" /><Relationship Type="http://schemas.openxmlformats.org/officeDocument/2006/relationships/slide" Target="/ppt/slides/slide2.xml" Id="R59625c7e867a4d62" /><Relationship Type="http://schemas.openxmlformats.org/officeDocument/2006/relationships/slide" Target="/ppt/slides/slide3.xml" Id="R42e76958402d49d5" /><Relationship Type="http://schemas.openxmlformats.org/officeDocument/2006/relationships/slide" Target="/ppt/slides/slide4.xml" Id="R7bc89066ce8c4daf" /><Relationship Type="http://schemas.openxmlformats.org/officeDocument/2006/relationships/slide" Target="/ppt/slides/slide5.xml" Id="Rff5d0e4c73c8474e" /><Relationship Type="http://schemas.openxmlformats.org/officeDocument/2006/relationships/slide" Target="/ppt/slides/slide6.xml" Id="R2f4828dee2fe49d2" /><Relationship Type="http://schemas.openxmlformats.org/officeDocument/2006/relationships/slide" Target="/ppt/slides/slide7.xml" Id="R36f498ba3e5142bd" /><Relationship Type="http://schemas.openxmlformats.org/officeDocument/2006/relationships/slide" Target="/ppt/slides/slide8.xml" Id="R8317c050e880478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1d2fed95651461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95b2469675e4e8f" /><Relationship Type="http://schemas.openxmlformats.org/officeDocument/2006/relationships/notesMaster" Target="/ppt/notesMasters/notesMaster1.xml" Id="Rb7edf2adb44d4d04" /></Relationships>
</file>

<file path=ppt/notesSlides/_rels/notesSlide2.xml.rels>&#65279;<?xml version="1.0" encoding="utf-8"?><Relationships xmlns="http://schemas.openxmlformats.org/package/2006/relationships"><Relationship Type="http://schemas.openxmlformats.org/officeDocument/2006/relationships/slide" Target="/ppt/slides/slide2.xml" Id="R585c482bc06e49f2" /><Relationship Type="http://schemas.openxmlformats.org/officeDocument/2006/relationships/notesMaster" Target="/ppt/notesMasters/notesMaster1.xml" Id="Ra11956cacec34525" /></Relationships>
</file>

<file path=ppt/notesSlides/_rels/notesSlide3.xml.rels>&#65279;<?xml version="1.0" encoding="utf-8"?><Relationships xmlns="http://schemas.openxmlformats.org/package/2006/relationships"><Relationship Type="http://schemas.openxmlformats.org/officeDocument/2006/relationships/slide" Target="/ppt/slides/slide3.xml" Id="R277687a693f446d3" /><Relationship Type="http://schemas.openxmlformats.org/officeDocument/2006/relationships/notesMaster" Target="/ppt/notesMasters/notesMaster1.xml" Id="Rc8bb45220e884f74" /></Relationships>
</file>

<file path=ppt/notesSlides/_rels/notesSlide4.xml.rels>&#65279;<?xml version="1.0" encoding="utf-8"?><Relationships xmlns="http://schemas.openxmlformats.org/package/2006/relationships"><Relationship Type="http://schemas.openxmlformats.org/officeDocument/2006/relationships/slide" Target="/ppt/slides/slide4.xml" Id="Rabb9d6f9048e4746" /><Relationship Type="http://schemas.openxmlformats.org/officeDocument/2006/relationships/notesMaster" Target="/ppt/notesMasters/notesMaster1.xml" Id="Rbcf29f83f4864bbc" /></Relationships>
</file>

<file path=ppt/notesSlides/_rels/notesSlide5.xml.rels>&#65279;<?xml version="1.0" encoding="utf-8"?><Relationships xmlns="http://schemas.openxmlformats.org/package/2006/relationships"><Relationship Type="http://schemas.openxmlformats.org/officeDocument/2006/relationships/slide" Target="/ppt/slides/slide5.xml" Id="Rd049e01676fc49c1" /><Relationship Type="http://schemas.openxmlformats.org/officeDocument/2006/relationships/notesMaster" Target="/ppt/notesMasters/notesMaster1.xml" Id="Rde32ef72aa0d4226" /></Relationships>
</file>

<file path=ppt/notesSlides/_rels/notesSlide6.xml.rels>&#65279;<?xml version="1.0" encoding="utf-8"?><Relationships xmlns="http://schemas.openxmlformats.org/package/2006/relationships"><Relationship Type="http://schemas.openxmlformats.org/officeDocument/2006/relationships/slide" Target="/ppt/slides/slide6.xml" Id="Rabb2b96710bc484d" /><Relationship Type="http://schemas.openxmlformats.org/officeDocument/2006/relationships/notesMaster" Target="/ppt/notesMasters/notesMaster1.xml" Id="Ra280cb81e9824497" /></Relationships>
</file>

<file path=ppt/notesSlides/_rels/notesSlide7.xml.rels>&#65279;<?xml version="1.0" encoding="utf-8"?><Relationships xmlns="http://schemas.openxmlformats.org/package/2006/relationships"><Relationship Type="http://schemas.openxmlformats.org/officeDocument/2006/relationships/slide" Target="/ppt/slides/slide7.xml" Id="R3ac7b638d6f04fe0" /><Relationship Type="http://schemas.openxmlformats.org/officeDocument/2006/relationships/notesMaster" Target="/ppt/notesMasters/notesMaster1.xml" Id="R5068edc0f7214415" /></Relationships>
</file>

<file path=ppt/notesSlides/_rels/notesSlide8.xml.rels>&#65279;<?xml version="1.0" encoding="utf-8"?><Relationships xmlns="http://schemas.openxmlformats.org/package/2006/relationships"><Relationship Type="http://schemas.openxmlformats.org/officeDocument/2006/relationships/slide" Target="/ppt/slides/slide8.xml" Id="R833536c6a3cb4362" /><Relationship Type="http://schemas.openxmlformats.org/officeDocument/2006/relationships/notesMaster" Target="/ppt/notesMasters/notesMaster1.xml" Id="Rd4bf6a36baaf47f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Paperclip owns identity/hierarchy, issues, dependencies, assignment, run admission, checkout, workflow decisions, documents, budgets and audit. Buzz uses the same native IDs via signed transport. Trusted domain adapters hold scoped external-write credentials. Paperclip keeps its independent native PostgreSQL database. The target reuses one existing DAO managed PostgreSQL relational database for funding and meeting information alongside organization facts, with isolated domain schemas and least-privilege service roles, subject to provider capability verification. Logical backend ownership does not imply separate database servers. Helix is ultimately a separate, specialized graph/vector projection across funding, 990 and Y2. Projections must be rebuildable, provenance- and version-aware, and access-filtered. Helix is never the authority for facts, transactions, reviews, approvals or governance. Include Helix in a demo only if needed, with no new critical-path dependency. This design update changes no runtime or migrations. Native Paperclip agents run the shared grant skills and CLI/MCP using task-scoped data. Funding persistence retains evidence, proposals, immutable packets and review audit. A trusted decision adapter is planned, not a current MCP capability. A specialist funding UI is optional, not an export prerequisite. Cloudflare hosting/access/transport is optional. Live integration acceptance is pending.</a:t>
            </a:r>
          </a:p>
          <a:p xmlns:a="http://schemas.openxmlformats.org/drawingml/2006/main">
            <a:r>
              <a:t>Documentation baseline 778996e94ce3b79480b5e06a5bb1b6fbe4eb4a60; native grant revision is a local architecture target:</a:t>
            </a:r>
          </a:p>
          <a:p xmlns:a="http://schemas.openxmlformats.org/drawingml/2006/main">
            <a:r>
              <a:t>https://github.com/NetRxn/Inertia/blob/778996e94ce3b79480b5e06a5bb1b6fbe4eb4a60/spec.md</a:t>
            </a:r>
          </a:p>
          <a:p xmlns:a="http://schemas.openxmlformats.org/drawingml/2006/main">
            <a:r>
              <a:t>https://github.com/NetRxn/Inertia/blob/778996e94ce3b79480b5e06a5bb1b6fbe4eb4a60/docs/bridge-state-contract.md</a:t>
            </a:r>
          </a:p>
          <a:p xmlns:a="http://schemas.openxmlformats.org/drawingml/2006/main">
            <a:r>
              <a:t>Local r12 storage contract: docs/development/dao-data-consolidation.md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Configure an existing CEO by native ID with an explicitly assigned bounded intake issue. The shipped heartbeat does not discover arbitrary unassigned work. Choose one native recurring mechanism rather than overlapping heartbeat/routine loops. Each event resolves to one native wake/issue operation. Native checkout is authoritative. Follow-up work retains parent/goal context, reason, acceptance criteria and deduplication key, with budget/depth/rate limits. Live CEO setup and admitted run/delegation evidence remain pending.</a:t>
            </a:r>
          </a:p>
          <a:p xmlns:a="http://schemas.openxmlformats.org/drawingml/2006/main">
            <a:r>
              <a:t>Documentation baseline 778996e94ce3b79480b5e06a5bb1b6fbe4eb4a60; native grant revision is a local architecture target:</a:t>
            </a:r>
          </a:p>
          <a:p xmlns:a="http://schemas.openxmlformats.org/drawingml/2006/main">
            <a:r>
              <a:t>https://github.com/NetRxn/Inertia/blob/778996e94ce3b79480b5e06a5bb1b6fbe4eb4a60/spec.md</a:t>
            </a:r>
          </a:p>
          <a:p xmlns:a="http://schemas.openxmlformats.org/drawingml/2006/main">
            <a:r>
              <a:t>https://github.com/NetRxn/Inertia/blob/778996e94ce3b79480b5e06a5bb1b6fbe4eb4a60/spec.md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PR14 caller is merged and contract-tested with mocked I/O. The proposed website server contract, active-membership enforcement, source readiness and single-owner native job wiring await live admission. Existing Privy login alone does not establish active membership. Source summaries produce notes with missing-transcript status, not invented transcripts. Source originals and uncertainty are retained. The v1.1 clarification preserves roundtable-publication-v1 / extractive-v1 hashes. Metadata-only correction needs a new codec. Routine publication follows the authorized versioned source/audience policy; governance voting is separate. Readback verifies content, URLs, version and audience.</a:t>
            </a:r>
          </a:p>
          <a:p xmlns:a="http://schemas.openxmlformats.org/drawingml/2006/main">
            <a:r>
              <a:t>Documentation baseline 778996e94ce3b79480b5e06a5bb1b6fbe4eb4a60; native grant revision is a local architecture target:</a:t>
            </a:r>
          </a:p>
          <a:p xmlns:a="http://schemas.openxmlformats.org/drawingml/2006/main">
            <a:r>
              <a:t>https://github.com/NetRxn/Inertia/blob/778996e94ce3b79480b5e06a5bb1b6fbe4eb4a60/spec.md</a:t>
            </a:r>
          </a:p>
          <a:p xmlns:a="http://schemas.openxmlformats.org/drawingml/2006/main">
            <a:r>
              <a:t>https://github.com/NetRxn/Inertia/blob/778996e94ce3b79480b5e06a5bb1b6fbe4eb4a60/docs/integrations/dao-website-member-publication-proposal.md</a:t>
            </a:r>
          </a:p>
          <a:p xmlns:a="http://schemas.openxmlformats.org/drawingml/2006/main">
            <a:r>
              <a:t>https://github.com/NetRxn/Inertia/blob/778996e94ce3b79480b5e06a5bb1b6fbe4eb4a60/docs/integrations/dao-website-publication-v1.1-clarifications.md</a:t>
            </a:r>
          </a:p>
          <a:p xmlns:a="http://schemas.openxmlformats.org/drawingml/2006/main">
            <a:r>
              <a:t>Storage target: meeting records remain behind the DAO website backend and member authorization, persisted in isolated domain schemas in the existing DAO PostgreSQL database shared with funding data. Verify provider support for schema and least-privilege role isolation before rollout. This is logical backend ownership, not a separate physical database requirement. Local r12 source: docs/development/dao-data-consolidation.md.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Native-first target: Paperclip owns tasks, documents, questions, assignments, human-only verdict/confirmation cards and run history. Central and member agents share the existing funding skill and CLI/MCP schema, with task-scoped access. request_item_verdicts supplies approve/reject/defer. Proposal verdict approve/reject maps to domain accepted/rejected. Packet role approve/reject maps to approved/changes_requested. Defer performs no domain write. Partner not_applicable is an explicitly labeled separate role action, never inferred from reject or defer. Explicit resolverPolicy human_only and configured addresseeUserId protect human review. Native current-document revision checks reject stale targets. Native document edits regenerate proposals and require new review. Generic verdict cards do not accept corrected_value. The trusted server decision adapter is PLANNED. Existing MCP exposes draft proposals, not review acceptance or packet signoffs. The adapter rechecks authenticated actor, company/applicant scope, configured reviewer role, addressed user, workspace/packet version, artifact hashes and native decision revision. It applies existing funding operations with durable correlation by native interaction ID + item ID for item verdicts, proposal/packet ID + version + action, and the authenticated per-item actor/verdict for partially resolved cards, plus replay reconciliation, not a cross-system transaction. Funding persistence retains evidence, proposals, immutable packets, validation and domain review audit. Separate addressed human-only cards represent required reviewers; direct applications require program, fiscal, legal_compliance, partner and authorized_representative. Only partner may use not_applicable. Funding specialist/admin UI is optional. ReviewedGrantSource is a trusted backend domain adapter, not a mandatory UI export. The existing Inertia freeze/vote core supports direct_application and authorize_manual_submission only, with its existing five-role checks. Other route-specific roles remain funding-domain behavior for the planned adapter, not new Inertia runtime support. The current core freezes exact bytes, version and reviews. The planned adapter must add authenticated native references consistently before vote creation and qualify any serialization change. Vocdoni verifier separately binds network, proposal, action, effective final result and finality to that exact packet. Changed packet/reviews require renewed review and a new vote. Native task completion and board approval do not imply DAO ratification. Manual submission remains an authorized human handoff; record_manual_submission records external completion and never submits to a portal.</a:t>
            </a:r>
          </a:p>
          <a:p xmlns:a="http://schemas.openxmlformats.org/drawingml/2006/main">
            <a:r>
              <a:t>Documentation baseline 778996e94ce3b79480b5e06a5bb1b6fbe4eb4a60; native grant revision is a local architecture target:</a:t>
            </a:r>
          </a:p>
          <a:p xmlns:a="http://schemas.openxmlformats.org/drawingml/2006/main">
            <a:r>
              <a:t>https://github.com/NetRxn/Inertia/blob/778996e94ce3b79480b5e06a5bb1b6fbe4eb4a60/spec.md</a:t>
            </a:r>
          </a:p>
          <a:p xmlns:a="http://schemas.openxmlformats.org/drawingml/2006/main">
            <a:r>
              <a:t>Local r11 source: docs/reference/native-grant-workflow.md</a:t>
            </a:r>
          </a:p>
          <a:p xmlns:a="http://schemas.openxmlformats.org/drawingml/2006/main">
            <a:r>
              <a:t>Local r11 source: docs/development/native-grant-workflow.md</a:t>
            </a:r>
          </a:p>
          <a:p xmlns:a="http://schemas.openxmlformats.org/drawingml/2006/main">
            <a:r>
              <a:t>Pinned source review: DFW-Gov-Fund 859a9f5a7b88bbbdd6eda3cb9c453fb15184a045; Paperclip v2026.1012.0 bba6a45f0d364cfd962ac59b3bdf2426a8222adb.</a:t>
            </a:r>
          </a:p>
          <a:p xmlns:a="http://schemas.openxmlformats.org/drawingml/2006/main">
            <a:r>
              <a:t>https://github.com/NetRxn/DFW-Gov-Fund/blob/859a9f5a7b88bbbdd6eda3cb9c453fb15184a045/government-funding-dfw/src/dfw_incentives/mcp_server.py</a:t>
            </a:r>
          </a:p>
          <a:p xmlns:a="http://schemas.openxmlformats.org/drawingml/2006/main">
            <a:r>
              <a:t>https://github.com/paperclipai/paperclip/blob/bba6a45f0d364cfd962ac59b3bdf2426a8222adb/packages/shared/src/types/issue.ts</a:t>
            </a:r>
          </a:p>
          <a:p xmlns:a="http://schemas.openxmlformats.org/drawingml/2006/main">
            <a:r>
              <a:t>https://github.com/paperclipai/paperclip/blob/bba6a45f0d364cfd962ac59b3bdf2426a8222adb/server/src/services/issue-thread-interaction-resolution.ts</a:t>
            </a:r>
          </a:p>
          <a:p xmlns:a="http://schemas.openxmlformats.org/drawingml/2006/main">
            <a:r>
              <a:t>The funding backend retains evidence, proposals, immutable packets, validation and review audit as logical domain responsibilities. Target placement is an isolated funding schema in the existing DAO PostgreSQL database also used for meetings, behind a least-privilege funding service role. Verify provider capability before rollout. Paperclip remains separate. Helix is a derived access-filtered projection, never a review, approval, transaction or fact authority. No native grant decision adapter, runtime or migration change is implied. Local r12 source: docs/development/dao-data-consolidation.md.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Pair member and agent, verify active membership/capabilities and approved company/project/task scope. Repo permissions do not grant DAO control-plane credentials. Qualify existing execution hardening, credential boundaries, host networking and workspace lifecycle against the selected runner integration before live use. Central agents use authorized DAO sources and scoped funding service access. Member agents receive only explicit evidence subsets in isolated workspaces. Install the same grant skill/tool schema without copying the organization database, reviewer admin token or portal credentials. Proposal writes and human-decision writes require separate permissions. Member artifacts are candidate evidence. Server validates types, size, provenance and authorized transition, accepts one completion per revision and reconciles interrupted or duplicate results. Trusted adapters apply authorized domain decisions and publication. External grant submission remains a separate authorized human handoff, followed by completion recording. Member participation integration and isolation qualification remain pending.</a:t>
            </a:r>
          </a:p>
          <a:p xmlns:a="http://schemas.openxmlformats.org/drawingml/2006/main">
            <a:r>
              <a:t>Documentation baseline 778996e94ce3b79480b5e06a5bb1b6fbe4eb4a60; native grant revision is a local architecture target:</a:t>
            </a:r>
          </a:p>
          <a:p xmlns:a="http://schemas.openxmlformats.org/drawingml/2006/main">
            <a:r>
              <a:t>https://github.com/NetRxn/Inertia/blob/778996e94ce3b79480b5e06a5bb1b6fbe4eb4a60/spec.md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Inbox uniqueness and compare-and-set prevent duplicate native mutation. Current host membership governs human-attributed native actions. Paired agents stay agents. Decision tokens bind company, issue, interaction and rendered digest. Reconcile uncertain comment creation before retry. Native atomic resolution governs accepted decisions. Persist outbound signed bytes before transport and retry stable event IDs with fresh NIP-98 authentication. Source edits/deletes cannot reverse accepted native decisions. PR17 native comment mirroring covers first publication only, default-off per binding, audienceAcknowledged approval and notBefore history cutoff. No edit/delete propagation or retraction. Non-expiring in-flight publication claims require token-matched administrative recovery after all prior workers are proved stopped. General status mirroring remains pending.</a:t>
            </a:r>
          </a:p>
          <a:p xmlns:a="http://schemas.openxmlformats.org/drawingml/2006/main">
            <a:r>
              <a:t>Documentation baseline 778996e94ce3b79480b5e06a5bb1b6fbe4eb4a60; native grant revision is a local architecture target:</a:t>
            </a:r>
          </a:p>
          <a:p xmlns:a="http://schemas.openxmlformats.org/drawingml/2006/main">
            <a:r>
              <a:t>https://github.com/NetRxn/Inertia/blob/778996e94ce3b79480b5e06a5bb1b6fbe4eb4a60/docs/bridge-state-contract.md</a:t>
            </a:r>
          </a:p>
          <a:p xmlns:a="http://schemas.openxmlformats.org/drawingml/2006/main">
            <a:r>
              <a:t>https://github.com/NetRxn/Inertia/blob/778996e94ce3b79480b5e06a5bb1b6fbe4eb4a60/spec.md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reviewed PR17 head 2a90ce24e16a72f446a7402560bd53d22f00ca38 merged into develop as 4841f7ade1510acf93e43ce1dbd16b91ae7bcd88 at 2026-10-23T11:12:50Z with identical source bytes. 248 combined tests in 16 files; typecheck/build/package verification passed. Exact passing runtime archive SHA256 19e67c88a8de52404412e49312cebfd6db42c462de3378cf3397966250add76c, source tree 8039b3e5f54e49c302b4751445f382403381ab91. Unmodified official Paperclip 2026.1012.0 and disposable PostgreSQL18.1 passed six plugin migrations, eight namespace tables, installation, initialization, three disabled-company job RPCs, expected health, actual SQL host binding and company isolation, disable, worker exit and shutdown. Host array-binding regression fixed before passing. Scope is native services, with no new HTTP/UI or live integration qualification. Earlier full HTTP/API receipt applies to its historical artifact. Documentation baseline 778996e9 is distinct from qualified runtime identity.</a:t>
            </a:r>
          </a:p>
          <a:p xmlns:a="http://schemas.openxmlformats.org/drawingml/2006/main">
            <a:r>
              <a:t>Documentation baseline 778996e94ce3b79480b5e06a5bb1b6fbe4eb4a60; native grant revision is a local architecture target:</a:t>
            </a:r>
          </a:p>
          <a:p xmlns:a="http://schemas.openxmlformats.org/drawingml/2006/main">
            <a:r>
              <a:t>https://github.com/NetRxn/Inertia/blob/778996e94ce3b79480b5e06a5bb1b6fbe4eb4a60/docs/qualification/combined-native-services/README.md</a:t>
            </a:r>
          </a:p>
          <a:p xmlns:a="http://schemas.openxmlformats.org/drawingml/2006/main">
            <a:r>
              <a:t>https://github.com/NetRxn/Inertia/blob/778996e94ce3b79480b5e06a5bb1b6fbe4eb4a60/testing.md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host setup, credentials, authorized relay/company/thread pairing and domain admission remain pending. Grant gates: configure reviewer identities and roles, exercise one real native-card packet with a correction cycle, scope member evidence/tools, implement trusted decision adapter and replay handling. Deny agent approval, wrong addressee, cross-applicant access, stale revisions/artifacts, duplicate application and invalid partner N/A. Require exact-packet governance evidence and no submission side effects. Website server changes are a proposal for owner rollout. Qualify newer Paperclip releases through compatibility, clean package install, native and full-host checks plus backup-based database recovery. Target the latest release that passes qualification. Synthetic workflow rehearsal remains available with npm run demo:workflow. Proposed Oct29 rehearsal buffer precedes Oct30 owner submission handoff. Form990 enrichment remains stretch. Helix is the eventual separate graph/vector projection across funding, 990 and Y2. It is optional for the demo only if needed and must not introduce a new critical path. Qualify isolated domain schemas and least-privilege service roles on the existing DAO PostgreSQL provider before the shared funding/meeting placement rolls out. No runtime or migration changes are part of this design revision.</a:t>
            </a:r>
          </a:p>
          <a:p xmlns:a="http://schemas.openxmlformats.org/drawingml/2006/main">
            <a:r>
              <a:t>Documentation baseline 778996e94ce3b79480b5e06a5bb1b6fbe4eb4a60; native grant revision is a local architecture target:</a:t>
            </a:r>
          </a:p>
          <a:p xmlns:a="http://schemas.openxmlformats.org/drawingml/2006/main">
            <a:r>
              <a:t>https://github.com/NetRxn/Inertia/blob/778996e94ce3b79480b5e06a5bb1b6fbe4eb4a60/docs/implementation/live-handoff-checklist.md</a:t>
            </a:r>
          </a:p>
          <a:p xmlns:a="http://schemas.openxmlformats.org/drawingml/2006/main">
            <a:r>
              <a:t>https://github.com/NetRxn/Inertia/blob/778996e94ce3b79480b5e06a5bb1b6fbe4eb4a60/spec.md</a:t>
            </a:r>
          </a:p>
          <a:p xmlns:a="http://schemas.openxmlformats.org/drawingml/2006/main">
            <a:r>
              <a:t>https://github.com/NetRxn/Inertia/blob/778996e94ce3b79480b5e06a5bb1b6fbe4eb4a60/plan.md</a:t>
            </a:r>
          </a:p>
          <a:p xmlns:a="http://schemas.openxmlformats.org/drawingml/2006/main">
            <a:r>
              <a:t>Local r12 source: docs/development/dao-data-consolidation.md.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b62a4894c30453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6226d36b15c448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9343e85b949468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a6a72bec3e044b8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46a74d66b584bf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de78c11001c448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950BFC-217D-4774-A620-BEBEE0ED29B8}"/>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746DF64-0B39-41A7-9E28-4CF2841F3815}"/>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ABE3B87-8148-4C27-8BAF-DC41AB1A03EB}"/>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1EBA59C-8BC5-4719-AAFB-4C721B407E47}"/>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5E92294-CC5F-4B36-AF96-9E55CDE00C5A}"/>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8E5A83E-7693-46A4-A5EE-8535B3A79973}"/>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098BAEE-66F5-488E-8CF8-8CA3CE38EB51}"/>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383F8B2-8DF4-4AE1-B211-52A168DF6CC4}"/>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A57D6E9-88D9-4BB7-9A8A-508C144DC90C}"/>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1A47CAD-E9AD-4DED-96D6-E8055D1321AB}"/>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e102987c7574744" /><Relationship Type="http://schemas.openxmlformats.org/officeDocument/2006/relationships/slideLayout" Target="/ppt/slideLayouts/slideLayout1.xml" Id="R56deac16f57a4173" /><Relationship Type="http://schemas.openxmlformats.org/officeDocument/2006/relationships/slideLayout" Target="/ppt/slideLayouts/slideLayout2.xml" Id="R8c04f9da47b342bd" /><Relationship Type="http://schemas.openxmlformats.org/officeDocument/2006/relationships/slideLayout" Target="/ppt/slideLayouts/slideLayout3.xml" Id="R2f30ff7d5d144da0" /><Relationship Type="http://schemas.openxmlformats.org/officeDocument/2006/relationships/slideLayout" Target="/ppt/slideLayouts/slideLayout4.xml" Id="Reed719580d444c44" /><Relationship Type="http://schemas.openxmlformats.org/officeDocument/2006/relationships/slideLayout" Target="/ppt/slideLayouts/slideLayout5.xml" Id="R34d9b5b1f7ea4238" /><Relationship Type="http://schemas.openxmlformats.org/officeDocument/2006/relationships/slideLayout" Target="/ppt/slideLayouts/slideLayout6.xml" Id="R96ad9b0ea4f2488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6deac16f57a4173"/>
    <p:sldLayoutId xmlns:r="http://schemas.openxmlformats.org/officeDocument/2006/relationships" id="2147483650" r:id="R8c04f9da47b342bd"/>
    <p:sldLayoutId xmlns:r="http://schemas.openxmlformats.org/officeDocument/2006/relationships" id="2147483651" r:id="R2f30ff7d5d144da0"/>
    <p:sldLayoutId xmlns:r="http://schemas.openxmlformats.org/officeDocument/2006/relationships" id="2147483652" r:id="Reed719580d444c44"/>
    <p:sldLayoutId xmlns:r="http://schemas.openxmlformats.org/officeDocument/2006/relationships" id="2147483653" r:id="R34d9b5b1f7ea4238"/>
    <p:sldLayoutId xmlns:r="http://schemas.openxmlformats.org/officeDocument/2006/relationships" id="2147483654" r:id="R96ad9b0ea4f2488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dc0417f6f654303" /><Relationship Type="http://schemas.openxmlformats.org/officeDocument/2006/relationships/notesSlide" Target="/ppt/notesSlides/notesSlide1.xml" Id="R19fe7f00d5e4423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7ea10107c654689" /><Relationship Type="http://schemas.openxmlformats.org/officeDocument/2006/relationships/notesSlide" Target="/ppt/notesSlides/notesSlide2.xml" Id="R4c38da185068491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26c9d4bb2e24009" /><Relationship Type="http://schemas.openxmlformats.org/officeDocument/2006/relationships/notesSlide" Target="/ppt/notesSlides/notesSlide3.xml" Id="Ra3b7a8f631aa437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346a73d570e4eb0" /><Relationship Type="http://schemas.openxmlformats.org/officeDocument/2006/relationships/notesSlide" Target="/ppt/notesSlides/notesSlide4.xml" Id="Rc04bb46ad0304e9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20b92231a3c486b" /><Relationship Type="http://schemas.openxmlformats.org/officeDocument/2006/relationships/notesSlide" Target="/ppt/notesSlides/notesSlide5.xml" Id="Rc3844cc276b84f2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967e756ded642bf" /><Relationship Type="http://schemas.openxmlformats.org/officeDocument/2006/relationships/notesSlide" Target="/ppt/notesSlides/notesSlide6.xml" Id="Rb46dc8cb1f76427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59d861e098d4aa7" /><Relationship Type="http://schemas.openxmlformats.org/officeDocument/2006/relationships/notesSlide" Target="/ppt/notesSlides/notesSlide7.xml" Id="R138fbd66b2cd4de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750b16582d048c4" /><Relationship Type="http://schemas.openxmlformats.org/officeDocument/2006/relationships/notesSlide" Target="/ppt/notesSlides/notesSlide8.xml" Id="Rb934b37a390e48ff" /></Relationships>
</file>

<file path=ppt/slides/slide1.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8" name="">
            <a:extLst xmlns:a="http://schemas.openxmlformats.org/drawingml/2006/main">
              <a:ext uri="{FF2B5EF4-FFF2-40B4-BE49-F238E27FC236}">
                <a16:creationId xmlns:a16="http://schemas.microsoft.com/office/drawing/2014/main" id="{40A686DD-7253-4C85-B711-E46E1E9716C2}"/>
              </a:ext>
            </a:extLst>
          </p:cNvPr>
          <p:cNvCxnSpPr>
            <a:stCxn xmlns:a="http://schemas.openxmlformats.org/drawingml/2006/main" id="12" idx="2"/>
            <a:endCxn xmlns:a="http://schemas.openxmlformats.org/drawingml/2006/main" id="17" idx="0"/>
          </p:cNvCxnSpPr>
          <p:nvPr/>
        </p:nvCxnSpPr>
        <p:spPr>
          <a:xfrm xmlns:a="http://schemas.openxmlformats.org/drawingml/2006/main" flipH="1">
            <a:off x="2371725" y="3657600"/>
            <a:ext cx="9439275" cy="1524000"/>
          </a:xfrm>
          <a:prstGeom xmlns:a="http://schemas.openxmlformats.org/drawingml/2006/main" prst="bentConnector4">
            <a:avLst>
              <a:gd name="adj1" fmla="val 0"/>
              <a:gd name="adj2" fmla="val 15000"/>
            </a:avLst>
          </a:prstGeom>
          <a:ln xmlns:a="http://schemas.openxmlformats.org/drawingml/2006/main" w="23813">
            <a:solidFill>
              <a:srgbClr val="157D80"/>
            </a:solidFill>
            <a:prstDash val="solid"/>
            <a:tailEnd type="triangle" w="med" len="med"/>
          </a:ln>
        </p:spPr>
      </p:cxnSp>
      <p:cxnSp>
        <p:nvCxnSpPr>
          <p:cNvPr id="27" name="">
            <a:extLst xmlns:a="http://schemas.openxmlformats.org/drawingml/2006/main">
              <a:ext uri="{FF2B5EF4-FFF2-40B4-BE49-F238E27FC236}">
                <a16:creationId xmlns:a16="http://schemas.microsoft.com/office/drawing/2014/main" id="{8745630D-5214-40ED-91DB-D6F0736009C1}"/>
              </a:ext>
            </a:extLst>
          </p:cNvPr>
          <p:cNvCxnSpPr>
            <a:stCxn xmlns:a="http://schemas.openxmlformats.org/drawingml/2006/main" id="20" idx="3"/>
            <a:endCxn xmlns:a="http://schemas.openxmlformats.org/drawingml/2006/main" id="23" idx="1"/>
          </p:cNvCxnSpPr>
          <p:nvPr/>
        </p:nvCxnSpPr>
        <p:spPr>
          <a:xfrm xmlns:a="http://schemas.openxmlformats.org/drawingml/2006/main">
            <a:off x="9944100" y="5810250"/>
            <a:ext cx="95250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cxnSp>
        <p:nvCxnSpPr>
          <p:cNvPr id="26" name="">
            <a:extLst xmlns:a="http://schemas.openxmlformats.org/drawingml/2006/main">
              <a:ext uri="{FF2B5EF4-FFF2-40B4-BE49-F238E27FC236}">
                <a16:creationId xmlns:a16="http://schemas.microsoft.com/office/drawing/2014/main" id="{51D59A5D-797E-479B-A2EE-4C57729CA61C}"/>
              </a:ext>
            </a:extLst>
          </p:cNvPr>
          <p:cNvCxnSpPr>
            <a:stCxn xmlns:a="http://schemas.openxmlformats.org/drawingml/2006/main" id="17" idx="3"/>
            <a:endCxn xmlns:a="http://schemas.openxmlformats.org/drawingml/2006/main" id="20" idx="1"/>
          </p:cNvCxnSpPr>
          <p:nvPr/>
        </p:nvCxnSpPr>
        <p:spPr>
          <a:xfrm xmlns:a="http://schemas.openxmlformats.org/drawingml/2006/main">
            <a:off x="4133850" y="5810250"/>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6" name="">
            <a:extLst xmlns:a="http://schemas.openxmlformats.org/drawingml/2006/main">
              <a:ext uri="{FF2B5EF4-FFF2-40B4-BE49-F238E27FC236}">
                <a16:creationId xmlns:a16="http://schemas.microsoft.com/office/drawing/2014/main" id="{2A3622E6-210C-4849-BC84-950579D417BD}"/>
              </a:ext>
            </a:extLst>
          </p:cNvPr>
          <p:cNvCxnSpPr>
            <a:stCxn xmlns:a="http://schemas.openxmlformats.org/drawingml/2006/main" id="9" idx="3"/>
            <a:endCxn xmlns:a="http://schemas.openxmlformats.org/drawingml/2006/main" id="12" idx="1"/>
          </p:cNvCxnSpPr>
          <p:nvPr/>
        </p:nvCxnSpPr>
        <p:spPr>
          <a:xfrm xmlns:a="http://schemas.openxmlformats.org/drawingml/2006/main">
            <a:off x="8039100" y="3028950"/>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5" name="">
            <a:extLst xmlns:a="http://schemas.openxmlformats.org/drawingml/2006/main">
              <a:ext uri="{FF2B5EF4-FFF2-40B4-BE49-F238E27FC236}">
                <a16:creationId xmlns:a16="http://schemas.microsoft.com/office/drawing/2014/main" id="{3BB65394-A0C7-4ABE-B311-AB5230F70540}"/>
              </a:ext>
            </a:extLst>
          </p:cNvPr>
          <p:cNvCxnSpPr>
            <a:stCxn xmlns:a="http://schemas.openxmlformats.org/drawingml/2006/main" id="6" idx="3"/>
            <a:endCxn xmlns:a="http://schemas.openxmlformats.org/drawingml/2006/main" id="9" idx="1"/>
          </p:cNvCxnSpPr>
          <p:nvPr/>
        </p:nvCxnSpPr>
        <p:spPr>
          <a:xfrm xmlns:a="http://schemas.openxmlformats.org/drawingml/2006/main">
            <a:off x="3657600" y="3028950"/>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4" name="revised-text-0">
            <a:extLst xmlns:a="http://schemas.openxmlformats.org/drawingml/2006/main">
              <a:ext uri="{FF2B5EF4-FFF2-40B4-BE49-F238E27FC236}">
                <a16:creationId xmlns:a16="http://schemas.microsoft.com/office/drawing/2014/main" id="{451A6B52-AC17-4636-99CF-D42CE0E6E65C}"/>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defRPr sz="3600" b="1">
                <a:solidFill>
                  <a:srgbClr val="132E38"/>
                </a:solidFill>
                <a:latin typeface="Aptos"/>
                <a:ea typeface="Aptos"/>
                <a:cs typeface="Aptos"/>
              </a:defRPr>
            </a:pPr>
            <a:r>
              <a:rPr sz="3600" b="1">
                <a:solidFill>
                  <a:srgbClr val="132E38"/>
                </a:solidFill>
                <a:latin typeface="Aptos"/>
                <a:ea typeface="Aptos"/>
                <a:cs typeface="Aptos"/>
              </a:rPr>
              <a:t>Inertia system architecture</a:t>
            </a:r>
          </a:p>
        </p:txBody>
      </p:sp>
      <p:sp>
        <p:nvSpPr>
          <p:cNvPr id="2" name="revised-text-1">
            <a:extLst xmlns:a="http://schemas.openxmlformats.org/drawingml/2006/main">
              <a:ext uri="{FF2B5EF4-FFF2-40B4-BE49-F238E27FC236}">
                <a16:creationId xmlns:a16="http://schemas.microsoft.com/office/drawing/2014/main" id="{601278BC-DD09-40A8-8C55-A3A40D0BB76D}"/>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defRPr sz="2025" b="0">
                <a:solidFill>
                  <a:srgbClr val="49616A"/>
                </a:solidFill>
                <a:latin typeface="Aptos"/>
                <a:ea typeface="Aptos"/>
                <a:cs typeface="Aptos"/>
              </a:defRPr>
            </a:pPr>
            <a:r>
              <a:rPr sz="2025" b="0">
                <a:solidFill>
                  <a:srgbClr val="49616A"/>
                </a:solidFill>
                <a:latin typeface="Aptos"/>
                <a:ea typeface="Aptos"/>
                <a:cs typeface="Aptos"/>
              </a:rPr>
              <a:t>Storage target · shared DAO data, independent Paperclip database</a:t>
            </a:r>
          </a:p>
        </p:txBody>
      </p:sp>
      <p:sp>
        <p:nvSpPr>
          <p:cNvPr id="3" name="">
            <a:extLst xmlns:a="http://schemas.openxmlformats.org/drawingml/2006/main">
              <a:ext uri="{FF2B5EF4-FFF2-40B4-BE49-F238E27FC236}">
                <a16:creationId xmlns:a16="http://schemas.microsoft.com/office/drawing/2014/main" id="{D0A68C2B-F3FF-47B1-9257-9F48EA299097}"/>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revised-text-2">
            <a:extLst xmlns:a="http://schemas.openxmlformats.org/drawingml/2006/main">
              <a:ext uri="{FF2B5EF4-FFF2-40B4-BE49-F238E27FC236}">
                <a16:creationId xmlns:a16="http://schemas.microsoft.com/office/drawing/2014/main" id="{D1464888-C311-4DB3-9C18-9E30A9E6CC7D}"/>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defRPr sz="1350" b="0">
                <a:solidFill>
                  <a:srgbClr val="49616A"/>
                </a:solidFill>
                <a:latin typeface="Aptos"/>
                <a:ea typeface="Aptos"/>
                <a:cs typeface="Aptos"/>
              </a:defRPr>
            </a:pPr>
            <a:r>
              <a:rPr sz="1350" b="0">
                <a:solidFill>
                  <a:srgbClr val="49616A"/>
                </a:solidFill>
                <a:latin typeface="Aptos"/>
                <a:ea typeface="Aptos"/>
                <a:cs typeface="Aptos"/>
              </a:rPr>
              <a:t>Inertia architecture · r12 · 23 October 2026</a:t>
            </a:r>
          </a:p>
        </p:txBody>
      </p:sp>
      <p:sp>
        <p:nvSpPr>
          <p:cNvPr id="5" name="revised-text-3">
            <a:extLst xmlns:a="http://schemas.openxmlformats.org/drawingml/2006/main">
              <a:ext uri="{FF2B5EF4-FFF2-40B4-BE49-F238E27FC236}">
                <a16:creationId xmlns:a16="http://schemas.microsoft.com/office/drawing/2014/main" id="{419EEE86-A4C1-4878-87E7-5BFCD1F5190B}"/>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defRPr sz="1650" b="1">
                <a:solidFill>
                  <a:srgbClr val="157D80"/>
                </a:solidFill>
                <a:latin typeface="Aptos"/>
                <a:ea typeface="Aptos"/>
                <a:cs typeface="Aptos"/>
              </a:defRPr>
            </a:pPr>
            <a:r>
              <a:rPr sz="1650" b="1">
                <a:solidFill>
                  <a:srgbClr val="157D80"/>
                </a:solidFill>
                <a:latin typeface="Aptos"/>
                <a:ea typeface="Aptos"/>
                <a:cs typeface="Aptos"/>
              </a:rPr>
              <a:t>1</a:t>
            </a:r>
          </a:p>
        </p:txBody>
      </p:sp>
      <p:sp>
        <p:nvSpPr>
          <p:cNvPr id="6" name="revised-node-4">
            <a:extLst xmlns:a="http://schemas.openxmlformats.org/drawingml/2006/main">
              <a:ext uri="{FF2B5EF4-FFF2-40B4-BE49-F238E27FC236}">
                <a16:creationId xmlns:a16="http://schemas.microsoft.com/office/drawing/2014/main" id="{1282C594-EE68-45A0-8A9D-C320038639B6}"/>
              </a:ext>
            </a:extLst>
          </p:cNvPr>
          <p:cNvSpPr>
            <a:spLocks xmlns:a="http://schemas.openxmlformats.org/drawingml/2006/main" noGrp="1"/>
          </p:cNvSpPr>
          <p:nvPr/>
        </p:nvSpPr>
        <p:spPr>
          <a:xfrm xmlns:a="http://schemas.openxmlformats.org/drawingml/2006/main">
            <a:off x="609600" y="2400300"/>
            <a:ext cx="3048000" cy="12573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revised-text-5">
            <a:extLst xmlns:a="http://schemas.openxmlformats.org/drawingml/2006/main">
              <a:ext uri="{FF2B5EF4-FFF2-40B4-BE49-F238E27FC236}">
                <a16:creationId xmlns:a16="http://schemas.microsoft.com/office/drawing/2014/main" id="{2D43F8BE-9AA7-4CE2-BB2D-086F2B34AD44}"/>
              </a:ext>
            </a:extLst>
          </p:cNvPr>
          <p:cNvSpPr>
            <a:spLocks xmlns:a="http://schemas.openxmlformats.org/drawingml/2006/main" noGrp="1"/>
          </p:cNvSpPr>
          <p:nvPr/>
        </p:nvSpPr>
        <p:spPr>
          <a:xfrm xmlns:a="http://schemas.openxmlformats.org/drawingml/2006/main">
            <a:off x="800100" y="257175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Buzz</a:t>
            </a:r>
          </a:p>
        </p:txBody>
      </p:sp>
      <p:sp>
        <p:nvSpPr>
          <p:cNvPr id="8" name="revised-text-6">
            <a:extLst xmlns:a="http://schemas.openxmlformats.org/drawingml/2006/main">
              <a:ext uri="{FF2B5EF4-FFF2-40B4-BE49-F238E27FC236}">
                <a16:creationId xmlns:a16="http://schemas.microsoft.com/office/drawing/2014/main" id="{9349FA75-6DA3-4D6C-8458-C74CB8CE6AF0}"/>
              </a:ext>
            </a:extLst>
          </p:cNvPr>
          <p:cNvSpPr>
            <a:spLocks xmlns:a="http://schemas.openxmlformats.org/drawingml/2006/main" noGrp="1"/>
          </p:cNvSpPr>
          <p:nvPr/>
        </p:nvSpPr>
        <p:spPr>
          <a:xfrm xmlns:a="http://schemas.openxmlformats.org/drawingml/2006/main">
            <a:off x="800100" y="3009900"/>
            <a:ext cx="2667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Signed conversation</a:t>
            </a:r>
          </a:p>
        </p:txBody>
      </p:sp>
      <p:sp>
        <p:nvSpPr>
          <p:cNvPr id="9" name="revised-node-7">
            <a:extLst xmlns:a="http://schemas.openxmlformats.org/drawingml/2006/main">
              <a:ext uri="{FF2B5EF4-FFF2-40B4-BE49-F238E27FC236}">
                <a16:creationId xmlns:a16="http://schemas.microsoft.com/office/drawing/2014/main" id="{3369E68E-CE07-492A-96BF-908C06950821}"/>
              </a:ext>
            </a:extLst>
          </p:cNvPr>
          <p:cNvSpPr>
            <a:spLocks xmlns:a="http://schemas.openxmlformats.org/drawingml/2006/main" noGrp="1"/>
          </p:cNvSpPr>
          <p:nvPr/>
        </p:nvSpPr>
        <p:spPr>
          <a:xfrm xmlns:a="http://schemas.openxmlformats.org/drawingml/2006/main">
            <a:off x="4610100" y="2400300"/>
            <a:ext cx="3429000" cy="12573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0" name="revised-text-8">
            <a:extLst xmlns:a="http://schemas.openxmlformats.org/drawingml/2006/main">
              <a:ext uri="{FF2B5EF4-FFF2-40B4-BE49-F238E27FC236}">
                <a16:creationId xmlns:a16="http://schemas.microsoft.com/office/drawing/2014/main" id="{88384E24-B42E-4F41-9B08-B14618BB23DF}"/>
              </a:ext>
            </a:extLst>
          </p:cNvPr>
          <p:cNvSpPr>
            <a:spLocks xmlns:a="http://schemas.openxmlformats.org/drawingml/2006/main" noGrp="1"/>
          </p:cNvSpPr>
          <p:nvPr/>
        </p:nvSpPr>
        <p:spPr>
          <a:xfrm xmlns:a="http://schemas.openxmlformats.org/drawingml/2006/main">
            <a:off x="4800600" y="25717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Inertia bridge</a:t>
            </a:r>
          </a:p>
        </p:txBody>
      </p:sp>
      <p:sp>
        <p:nvSpPr>
          <p:cNvPr id="11" name="revised-text-9">
            <a:extLst xmlns:a="http://schemas.openxmlformats.org/drawingml/2006/main">
              <a:ext uri="{FF2B5EF4-FFF2-40B4-BE49-F238E27FC236}">
                <a16:creationId xmlns:a16="http://schemas.microsoft.com/office/drawing/2014/main" id="{0E152F7C-C020-46FF-B842-E881FAE88EF6}"/>
              </a:ext>
            </a:extLst>
          </p:cNvPr>
          <p:cNvSpPr>
            <a:spLocks xmlns:a="http://schemas.openxmlformats.org/drawingml/2006/main" noGrp="1"/>
          </p:cNvSpPr>
          <p:nvPr/>
        </p:nvSpPr>
        <p:spPr>
          <a:xfrm xmlns:a="http://schemas.openxmlformats.org/drawingml/2006/main">
            <a:off x="4800600" y="3009900"/>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Identity + native IDs</a:t>
            </a:r>
          </a:p>
        </p:txBody>
      </p:sp>
      <p:sp>
        <p:nvSpPr>
          <p:cNvPr id="12" name="revised-node-10">
            <a:extLst xmlns:a="http://schemas.openxmlformats.org/drawingml/2006/main">
              <a:ext uri="{FF2B5EF4-FFF2-40B4-BE49-F238E27FC236}">
                <a16:creationId xmlns:a16="http://schemas.microsoft.com/office/drawing/2014/main" id="{15AE83C7-DF5C-4763-AE31-BA9932A8C242}"/>
              </a:ext>
            </a:extLst>
          </p:cNvPr>
          <p:cNvSpPr>
            <a:spLocks xmlns:a="http://schemas.openxmlformats.org/drawingml/2006/main" noGrp="1"/>
          </p:cNvSpPr>
          <p:nvPr/>
        </p:nvSpPr>
        <p:spPr>
          <a:xfrm xmlns:a="http://schemas.openxmlformats.org/drawingml/2006/main">
            <a:off x="8991600" y="2400300"/>
            <a:ext cx="5638800" cy="12573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3" name="revised-text-11">
            <a:extLst xmlns:a="http://schemas.openxmlformats.org/drawingml/2006/main">
              <a:ext uri="{FF2B5EF4-FFF2-40B4-BE49-F238E27FC236}">
                <a16:creationId xmlns:a16="http://schemas.microsoft.com/office/drawing/2014/main" id="{59D338F1-72F2-442F-9493-EFD5F20CBA79}"/>
              </a:ext>
            </a:extLst>
          </p:cNvPr>
          <p:cNvSpPr>
            <a:spLocks xmlns:a="http://schemas.openxmlformats.org/drawingml/2006/main" noGrp="1"/>
          </p:cNvSpPr>
          <p:nvPr/>
        </p:nvSpPr>
        <p:spPr>
          <a:xfrm xmlns:a="http://schemas.openxmlformats.org/drawingml/2006/main">
            <a:off x="9182100" y="2571750"/>
            <a:ext cx="5257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Paperclip</a:t>
            </a:r>
          </a:p>
        </p:txBody>
      </p:sp>
      <p:sp>
        <p:nvSpPr>
          <p:cNvPr id="14" name="revised-text-12">
            <a:extLst xmlns:a="http://schemas.openxmlformats.org/drawingml/2006/main">
              <a:ext uri="{FF2B5EF4-FFF2-40B4-BE49-F238E27FC236}">
                <a16:creationId xmlns:a16="http://schemas.microsoft.com/office/drawing/2014/main" id="{FDDF2989-E5D2-42DB-8CA9-240B07A1165E}"/>
              </a:ext>
            </a:extLst>
          </p:cNvPr>
          <p:cNvSpPr>
            <a:spLocks xmlns:a="http://schemas.openxmlformats.org/drawingml/2006/main" noGrp="1"/>
          </p:cNvSpPr>
          <p:nvPr/>
        </p:nvSpPr>
        <p:spPr>
          <a:xfrm xmlns:a="http://schemas.openxmlformats.org/drawingml/2006/main">
            <a:off x="9182100" y="3009900"/>
            <a:ext cx="5257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Native work + independent DB</a:t>
            </a:r>
          </a:p>
        </p:txBody>
      </p:sp>
      <p:sp>
        <p:nvSpPr>
          <p:cNvPr id="17" name="revised-node-13">
            <a:extLst xmlns:a="http://schemas.openxmlformats.org/drawingml/2006/main">
              <a:ext uri="{FF2B5EF4-FFF2-40B4-BE49-F238E27FC236}">
                <a16:creationId xmlns:a16="http://schemas.microsoft.com/office/drawing/2014/main" id="{50194603-9019-4EDD-9848-E65EBF1288F2}"/>
              </a:ext>
            </a:extLst>
          </p:cNvPr>
          <p:cNvSpPr>
            <a:spLocks xmlns:a="http://schemas.openxmlformats.org/drawingml/2006/main" noGrp="1"/>
          </p:cNvSpPr>
          <p:nvPr/>
        </p:nvSpPr>
        <p:spPr>
          <a:xfrm xmlns:a="http://schemas.openxmlformats.org/drawingml/2006/main">
            <a:off x="609600" y="5181600"/>
            <a:ext cx="3524250" cy="12573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8" name="revised-text-14">
            <a:extLst xmlns:a="http://schemas.openxmlformats.org/drawingml/2006/main">
              <a:ext uri="{FF2B5EF4-FFF2-40B4-BE49-F238E27FC236}">
                <a16:creationId xmlns:a16="http://schemas.microsoft.com/office/drawing/2014/main" id="{46314449-F06E-489F-885E-56E66BD1D7F7}"/>
              </a:ext>
            </a:extLst>
          </p:cNvPr>
          <p:cNvSpPr>
            <a:spLocks xmlns:a="http://schemas.openxmlformats.org/drawingml/2006/main" noGrp="1"/>
          </p:cNvSpPr>
          <p:nvPr/>
        </p:nvSpPr>
        <p:spPr>
          <a:xfrm xmlns:a="http://schemas.openxmlformats.org/drawingml/2006/main">
            <a:off x="800100" y="5353050"/>
            <a:ext cx="3143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DAO backends</a:t>
            </a:r>
          </a:p>
        </p:txBody>
      </p:sp>
      <p:sp>
        <p:nvSpPr>
          <p:cNvPr id="19" name="revised-text-15">
            <a:extLst xmlns:a="http://schemas.openxmlformats.org/drawingml/2006/main">
              <a:ext uri="{FF2B5EF4-FFF2-40B4-BE49-F238E27FC236}">
                <a16:creationId xmlns:a16="http://schemas.microsoft.com/office/drawing/2014/main" id="{8A3A3403-C79A-40F2-A606-2F26BDBD889C}"/>
              </a:ext>
            </a:extLst>
          </p:cNvPr>
          <p:cNvSpPr>
            <a:spLocks xmlns:a="http://schemas.openxmlformats.org/drawingml/2006/main" noGrp="1"/>
          </p:cNvSpPr>
          <p:nvPr/>
        </p:nvSpPr>
        <p:spPr>
          <a:xfrm xmlns:a="http://schemas.openxmlformats.org/drawingml/2006/main">
            <a:off x="800100" y="5791200"/>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Funding + meetings</a:t>
            </a:r>
          </a:p>
        </p:txBody>
      </p:sp>
      <p:sp>
        <p:nvSpPr>
          <p:cNvPr id="20" name="revised-node-16">
            <a:extLst xmlns:a="http://schemas.openxmlformats.org/drawingml/2006/main">
              <a:ext uri="{FF2B5EF4-FFF2-40B4-BE49-F238E27FC236}">
                <a16:creationId xmlns:a16="http://schemas.microsoft.com/office/drawing/2014/main" id="{DA5642D2-0DA3-49A7-B836-CED795D58472}"/>
              </a:ext>
            </a:extLst>
          </p:cNvPr>
          <p:cNvSpPr>
            <a:spLocks xmlns:a="http://schemas.openxmlformats.org/drawingml/2006/main" noGrp="1"/>
          </p:cNvSpPr>
          <p:nvPr/>
        </p:nvSpPr>
        <p:spPr>
          <a:xfrm xmlns:a="http://schemas.openxmlformats.org/drawingml/2006/main">
            <a:off x="5086350" y="5181600"/>
            <a:ext cx="4857750" cy="12573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21" name="revised-text-17">
            <a:extLst xmlns:a="http://schemas.openxmlformats.org/drawingml/2006/main">
              <a:ext uri="{FF2B5EF4-FFF2-40B4-BE49-F238E27FC236}">
                <a16:creationId xmlns:a16="http://schemas.microsoft.com/office/drawing/2014/main" id="{F12C52C4-7210-4568-B314-CAED6ABF0C71}"/>
              </a:ext>
            </a:extLst>
          </p:cNvPr>
          <p:cNvSpPr>
            <a:spLocks xmlns:a="http://schemas.openxmlformats.org/drawingml/2006/main" noGrp="1"/>
          </p:cNvSpPr>
          <p:nvPr/>
        </p:nvSpPr>
        <p:spPr>
          <a:xfrm xmlns:a="http://schemas.openxmlformats.org/drawingml/2006/main">
            <a:off x="5276850" y="535305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Existing DAO PostgreSQL</a:t>
            </a:r>
          </a:p>
        </p:txBody>
      </p:sp>
      <p:sp>
        <p:nvSpPr>
          <p:cNvPr id="22" name="revised-text-18">
            <a:extLst xmlns:a="http://schemas.openxmlformats.org/drawingml/2006/main">
              <a:ext uri="{FF2B5EF4-FFF2-40B4-BE49-F238E27FC236}">
                <a16:creationId xmlns:a16="http://schemas.microsoft.com/office/drawing/2014/main" id="{E4906A4F-0FBE-4CD5-B187-CFE192A29C6D}"/>
              </a:ext>
            </a:extLst>
          </p:cNvPr>
          <p:cNvSpPr>
            <a:spLocks xmlns:a="http://schemas.openxmlformats.org/drawingml/2006/main" noGrp="1"/>
          </p:cNvSpPr>
          <p:nvPr/>
        </p:nvSpPr>
        <p:spPr>
          <a:xfrm xmlns:a="http://schemas.openxmlformats.org/drawingml/2006/main">
            <a:off x="5276850" y="5791200"/>
            <a:ext cx="4476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Isolated schemas + scoped roles</a:t>
            </a:r>
          </a:p>
        </p:txBody>
      </p:sp>
      <p:sp>
        <p:nvSpPr>
          <p:cNvPr id="23" name="revised-node-19">
            <a:extLst xmlns:a="http://schemas.openxmlformats.org/drawingml/2006/main">
              <a:ext uri="{FF2B5EF4-FFF2-40B4-BE49-F238E27FC236}">
                <a16:creationId xmlns:a16="http://schemas.microsoft.com/office/drawing/2014/main" id="{B8DE59ED-0601-43B1-80AB-18A768C9A3CA}"/>
              </a:ext>
            </a:extLst>
          </p:cNvPr>
          <p:cNvSpPr>
            <a:spLocks xmlns:a="http://schemas.openxmlformats.org/drawingml/2006/main" noGrp="1"/>
          </p:cNvSpPr>
          <p:nvPr/>
        </p:nvSpPr>
        <p:spPr>
          <a:xfrm xmlns:a="http://schemas.openxmlformats.org/drawingml/2006/main">
            <a:off x="10896600" y="5181600"/>
            <a:ext cx="3733800" cy="12573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4" name="revised-text-20">
            <a:extLst xmlns:a="http://schemas.openxmlformats.org/drawingml/2006/main">
              <a:ext uri="{FF2B5EF4-FFF2-40B4-BE49-F238E27FC236}">
                <a16:creationId xmlns:a16="http://schemas.microsoft.com/office/drawing/2014/main" id="{E4CD66CA-A769-4D18-AFB6-182604305961}"/>
              </a:ext>
            </a:extLst>
          </p:cNvPr>
          <p:cNvSpPr>
            <a:spLocks xmlns:a="http://schemas.openxmlformats.org/drawingml/2006/main" noGrp="1"/>
          </p:cNvSpPr>
          <p:nvPr/>
        </p:nvSpPr>
        <p:spPr>
          <a:xfrm xmlns:a="http://schemas.openxmlformats.org/drawingml/2006/main">
            <a:off x="11087100" y="5353050"/>
            <a:ext cx="335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Helix · planned</a:t>
            </a:r>
          </a:p>
        </p:txBody>
      </p:sp>
      <p:sp>
        <p:nvSpPr>
          <p:cNvPr id="25" name="revised-text-21">
            <a:extLst xmlns:a="http://schemas.openxmlformats.org/drawingml/2006/main">
              <a:ext uri="{FF2B5EF4-FFF2-40B4-BE49-F238E27FC236}">
                <a16:creationId xmlns:a16="http://schemas.microsoft.com/office/drawing/2014/main" id="{A359C726-4F89-4E5B-8386-BF5A0158D67A}"/>
              </a:ext>
            </a:extLst>
          </p:cNvPr>
          <p:cNvSpPr>
            <a:spLocks xmlns:a="http://schemas.openxmlformats.org/drawingml/2006/main" noGrp="1"/>
          </p:cNvSpPr>
          <p:nvPr/>
        </p:nvSpPr>
        <p:spPr>
          <a:xfrm xmlns:a="http://schemas.openxmlformats.org/drawingml/2006/main">
            <a:off x="11087100" y="5791200"/>
            <a:ext cx="33528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Graph / vector projection</a:t>
            </a:r>
          </a:p>
        </p:txBody>
      </p:sp>
      <p:sp>
        <p:nvSpPr>
          <p:cNvPr id="29" name="revised-text-22">
            <a:extLst xmlns:a="http://schemas.openxmlformats.org/drawingml/2006/main">
              <a:ext uri="{FF2B5EF4-FFF2-40B4-BE49-F238E27FC236}">
                <a16:creationId xmlns:a16="http://schemas.microsoft.com/office/drawing/2014/main" id="{BAAD6C4B-4045-4D0B-8CBF-343783D884A7}"/>
              </a:ext>
            </a:extLst>
          </p:cNvPr>
          <p:cNvSpPr>
            <a:spLocks xmlns:a="http://schemas.openxmlformats.org/drawingml/2006/main" noGrp="1"/>
          </p:cNvSpPr>
          <p:nvPr/>
        </p:nvSpPr>
        <p:spPr>
          <a:xfrm xmlns:a="http://schemas.openxmlformats.org/drawingml/2006/main">
            <a:off x="5086350" y="4467225"/>
            <a:ext cx="666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Trusted adapters · scoped service access</a:t>
            </a:r>
          </a:p>
        </p:txBody>
      </p:sp>
      <p:sp>
        <p:nvSpPr>
          <p:cNvPr id="30" name="revised-text-23">
            <a:extLst xmlns:a="http://schemas.openxmlformats.org/drawingml/2006/main">
              <a:ext uri="{FF2B5EF4-FFF2-40B4-BE49-F238E27FC236}">
                <a16:creationId xmlns:a16="http://schemas.microsoft.com/office/drawing/2014/main" id="{35EC8245-B221-4F2C-BECD-363B393832AA}"/>
              </a:ext>
            </a:extLst>
          </p:cNvPr>
          <p:cNvSpPr>
            <a:spLocks xmlns:a="http://schemas.openxmlformats.org/drawingml/2006/main" noGrp="1"/>
          </p:cNvSpPr>
          <p:nvPr/>
        </p:nvSpPr>
        <p:spPr>
          <a:xfrm xmlns:a="http://schemas.openxmlformats.org/drawingml/2006/main">
            <a:off x="609600" y="6629400"/>
            <a:ext cx="4095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Logical ownership</a:t>
            </a:r>
          </a:p>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No separate DB servers implied</a:t>
            </a:r>
          </a:p>
        </p:txBody>
      </p:sp>
      <p:sp>
        <p:nvSpPr>
          <p:cNvPr id="31" name="revised-text-24">
            <a:extLst xmlns:a="http://schemas.openxmlformats.org/drawingml/2006/main">
              <a:ext uri="{FF2B5EF4-FFF2-40B4-BE49-F238E27FC236}">
                <a16:creationId xmlns:a16="http://schemas.microsoft.com/office/drawing/2014/main" id="{C578EEF8-D73B-469E-8DE6-325FA4AFCB3D}"/>
              </a:ext>
            </a:extLst>
          </p:cNvPr>
          <p:cNvSpPr>
            <a:spLocks xmlns:a="http://schemas.openxmlformats.org/drawingml/2006/main" noGrp="1"/>
          </p:cNvSpPr>
          <p:nvPr/>
        </p:nvSpPr>
        <p:spPr>
          <a:xfrm xmlns:a="http://schemas.openxmlformats.org/drawingml/2006/main">
            <a:off x="5086350" y="6629400"/>
            <a:ext cx="4857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Provider capabilities: verify</a:t>
            </a:r>
          </a:p>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Funding + meeting domain schemas</a:t>
            </a:r>
          </a:p>
        </p:txBody>
      </p:sp>
      <p:sp>
        <p:nvSpPr>
          <p:cNvPr id="32" name="revised-text-25">
            <a:extLst xmlns:a="http://schemas.openxmlformats.org/drawingml/2006/main">
              <a:ext uri="{FF2B5EF4-FFF2-40B4-BE49-F238E27FC236}">
                <a16:creationId xmlns:a16="http://schemas.microsoft.com/office/drawing/2014/main" id="{C1889348-5DED-4CBE-AD66-010223BD8730}"/>
              </a:ext>
            </a:extLst>
          </p:cNvPr>
          <p:cNvSpPr>
            <a:spLocks xmlns:a="http://schemas.openxmlformats.org/drawingml/2006/main" noGrp="1"/>
          </p:cNvSpPr>
          <p:nvPr/>
        </p:nvSpPr>
        <p:spPr>
          <a:xfrm xmlns:a="http://schemas.openxmlformats.org/drawingml/2006/main">
            <a:off x="10896600" y="6629400"/>
            <a:ext cx="3733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0">
                <a:solidFill>
                  <a:srgbClr val="49616A"/>
                </a:solidFill>
                <a:latin typeface="Aptos"/>
                <a:ea typeface="Aptos"/>
                <a:cs typeface="Aptos"/>
              </a:defRPr>
            </a:defPPr>
          </a:lstStyle>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Funding / 990 / Y2</a:t>
            </a:r>
          </a:p>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Provenance + version + access filters</a:t>
            </a:r>
          </a:p>
        </p:txBody>
      </p:sp>
      <p:sp>
        <p:nvSpPr>
          <p:cNvPr id="33" name="revised-text-26">
            <a:extLst xmlns:a="http://schemas.openxmlformats.org/drawingml/2006/main">
              <a:ext uri="{FF2B5EF4-FFF2-40B4-BE49-F238E27FC236}">
                <a16:creationId xmlns:a16="http://schemas.microsoft.com/office/drawing/2014/main" id="{DC17FBDE-4347-494A-8CD6-C92D761F6CCE}"/>
              </a:ext>
            </a:extLst>
          </p:cNvPr>
          <p:cNvSpPr>
            <a:spLocks xmlns:a="http://schemas.openxmlformats.org/drawingml/2006/main" noGrp="1"/>
          </p:cNvSpPr>
          <p:nvPr/>
        </p:nvSpPr>
        <p:spPr>
          <a:xfrm xmlns:a="http://schemas.openxmlformats.org/drawingml/2006/main">
            <a:off x="609600" y="7429500"/>
            <a:ext cx="14020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916011"/>
                </a:solidFill>
                <a:latin typeface="Aptos"/>
                <a:ea typeface="Aptos"/>
                <a:cs typeface="Aptos"/>
              </a:defRPr>
            </a:defPPr>
          </a:lstStyle>
          <a:p xmlns:a="http://schemas.openxmlformats.org/drawingml/2006/main">
            <a:pPr>
              <a:defRPr sz="1875" b="0">
                <a:solidFill>
                  <a:srgbClr val="916011"/>
                </a:solidFill>
                <a:latin typeface="Aptos"/>
                <a:ea typeface="Aptos"/>
                <a:cs typeface="Aptos"/>
              </a:defRPr>
            </a:pPr>
            <a:r>
              <a:rPr sz="1875" b="0">
                <a:solidFill>
                  <a:srgbClr val="916011"/>
                </a:solidFill>
                <a:latin typeface="Aptos"/>
                <a:ea typeface="Aptos"/>
                <a:cs typeface="Aptos"/>
              </a:rPr>
              <a:t>Helix: optional demo projection. No fact, transaction, review or approval authority.</a:t>
            </a:r>
          </a:p>
        </p:txBody>
      </p:sp>
    </p:spTree>
    <p:extLst>
      <p:ext uri="{BB962C8B-B14F-4D97-AF65-F5344CB8AC3E}">
        <p14:creationId xmlns:p14="http://schemas.microsoft.com/office/powerpoint/2010/main" val="687993816"/>
      </p:ext>
    </p:extLst>
  </p:cSld>
</p:sld>
</file>

<file path=ppt/slides/slide2.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7" name="">
            <a:extLst xmlns:a="http://schemas.openxmlformats.org/drawingml/2006/main">
              <a:ext uri="{FF2B5EF4-FFF2-40B4-BE49-F238E27FC236}">
                <a16:creationId xmlns:a16="http://schemas.microsoft.com/office/drawing/2014/main" id="{AA8149D6-9A98-4F8D-9D85-F3E85878F169}"/>
              </a:ext>
            </a:extLst>
          </p:cNvPr>
          <p:cNvCxnSpPr>
            <a:stCxn xmlns:a="http://schemas.openxmlformats.org/drawingml/2006/main" id="15" idx="2"/>
            <a:endCxn xmlns:a="http://schemas.openxmlformats.org/drawingml/2006/main" id="24" idx="0"/>
          </p:cNvCxnSpPr>
          <p:nvPr/>
        </p:nvCxnSpPr>
        <p:spPr>
          <a:xfrm xmlns:a="http://schemas.openxmlformats.org/drawingml/2006/main" flipH="1">
            <a:off x="12630150" y="4381500"/>
            <a:ext cx="895350" cy="1905000"/>
          </a:xfrm>
          <a:prstGeom xmlns:a="http://schemas.openxmlformats.org/drawingml/2006/main" prst="bentConnector4">
            <a:avLst>
              <a:gd name="adj1" fmla="val 0"/>
              <a:gd name="adj2" fmla="val 50000"/>
            </a:avLst>
          </a:prstGeom>
          <a:ln xmlns:a="http://schemas.openxmlformats.org/drawingml/2006/main" w="23813">
            <a:solidFill>
              <a:srgbClr val="157D80"/>
            </a:solidFill>
            <a:prstDash val="solid"/>
            <a:tailEnd type="triangle" w="med" len="med"/>
          </a:ln>
        </p:spPr>
      </p:cxnSp>
      <p:cxnSp>
        <p:nvCxnSpPr>
          <p:cNvPr id="20" name="">
            <a:extLst xmlns:a="http://schemas.openxmlformats.org/drawingml/2006/main">
              <a:ext uri="{FF2B5EF4-FFF2-40B4-BE49-F238E27FC236}">
                <a16:creationId xmlns:a16="http://schemas.microsoft.com/office/drawing/2014/main" id="{CFB76F86-BCF3-4EA0-846F-EB58412E3FB1}"/>
              </a:ext>
            </a:extLst>
          </p:cNvPr>
          <p:cNvCxnSpPr>
            <a:stCxn xmlns:a="http://schemas.openxmlformats.org/drawingml/2006/main" id="12" idx="3"/>
            <a:endCxn xmlns:a="http://schemas.openxmlformats.org/drawingml/2006/main" id="15" idx="1"/>
          </p:cNvCxnSpPr>
          <p:nvPr/>
        </p:nvCxnSpPr>
        <p:spPr>
          <a:xfrm xmlns:a="http://schemas.openxmlformats.org/drawingml/2006/main">
            <a:off x="11468100" y="3619500"/>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9" name="">
            <a:extLst xmlns:a="http://schemas.openxmlformats.org/drawingml/2006/main">
              <a:ext uri="{FF2B5EF4-FFF2-40B4-BE49-F238E27FC236}">
                <a16:creationId xmlns:a16="http://schemas.microsoft.com/office/drawing/2014/main" id="{C9098413-75B9-4401-9612-5E08783A547C}"/>
              </a:ext>
            </a:extLst>
          </p:cNvPr>
          <p:cNvCxnSpPr>
            <a:stCxn xmlns:a="http://schemas.openxmlformats.org/drawingml/2006/main" id="9" idx="3"/>
            <a:endCxn xmlns:a="http://schemas.openxmlformats.org/drawingml/2006/main" id="12" idx="1"/>
          </p:cNvCxnSpPr>
          <p:nvPr/>
        </p:nvCxnSpPr>
        <p:spPr>
          <a:xfrm xmlns:a="http://schemas.openxmlformats.org/drawingml/2006/main">
            <a:off x="7658100" y="3619500"/>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8" name="">
            <a:extLst xmlns:a="http://schemas.openxmlformats.org/drawingml/2006/main">
              <a:ext uri="{FF2B5EF4-FFF2-40B4-BE49-F238E27FC236}">
                <a16:creationId xmlns:a16="http://schemas.microsoft.com/office/drawing/2014/main" id="{CD516075-31D1-4F76-8E46-E88B21BF1D7D}"/>
              </a:ext>
            </a:extLst>
          </p:cNvPr>
          <p:cNvCxnSpPr>
            <a:stCxn xmlns:a="http://schemas.openxmlformats.org/drawingml/2006/main" id="6" idx="3"/>
            <a:endCxn xmlns:a="http://schemas.openxmlformats.org/drawingml/2006/main" id="9" idx="1"/>
          </p:cNvCxnSpPr>
          <p:nvPr/>
        </p:nvCxnSpPr>
        <p:spPr>
          <a:xfrm xmlns:a="http://schemas.openxmlformats.org/drawingml/2006/main">
            <a:off x="3657600" y="3619500"/>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9" name="text-24">
            <a:extLst xmlns:a="http://schemas.openxmlformats.org/drawingml/2006/main">
              <a:ext uri="{FF2B5EF4-FFF2-40B4-BE49-F238E27FC236}">
                <a16:creationId xmlns:a16="http://schemas.microsoft.com/office/drawing/2014/main" id="{031715C4-310B-43A2-ABC4-520E6631B5AC}"/>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defRPr sz="3600" b="1">
                <a:solidFill>
                  <a:srgbClr val="132E38"/>
                </a:solidFill>
                <a:latin typeface="Aptos"/>
                <a:ea typeface="Aptos"/>
                <a:cs typeface="Aptos"/>
              </a:defRPr>
            </a:pPr>
            <a:r>
              <a:rPr sz="3600" b="1">
                <a:solidFill>
                  <a:srgbClr val="132E38"/>
                </a:solidFill>
                <a:latin typeface="Aptos"/>
                <a:ea typeface="Aptos"/>
                <a:cs typeface="Aptos"/>
              </a:rPr>
              <a:t>Native work acquisition</a:t>
            </a:r>
          </a:p>
        </p:txBody>
      </p:sp>
      <p:sp>
        <p:nvSpPr>
          <p:cNvPr id="2" name="text-25">
            <a:extLst xmlns:a="http://schemas.openxmlformats.org/drawingml/2006/main">
              <a:ext uri="{FF2B5EF4-FFF2-40B4-BE49-F238E27FC236}">
                <a16:creationId xmlns:a16="http://schemas.microsoft.com/office/drawing/2014/main" id="{5BD1DE2B-516C-4740-B356-5A7414C6922B}"/>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defRPr sz="2025" b="0">
                <a:solidFill>
                  <a:srgbClr val="49616A"/>
                </a:solidFill>
                <a:latin typeface="Aptos"/>
                <a:ea typeface="Aptos"/>
                <a:cs typeface="Aptos"/>
              </a:defRPr>
            </a:pPr>
            <a:r>
              <a:rPr sz="2025" b="0">
                <a:solidFill>
                  <a:srgbClr val="49616A"/>
                </a:solidFill>
                <a:latin typeface="Aptos"/>
                <a:ea typeface="Aptos"/>
                <a:cs typeface="Aptos"/>
              </a:rPr>
              <a:t>CEO intake and execution ownership</a:t>
            </a:r>
          </a:p>
        </p:txBody>
      </p:sp>
      <p:sp>
        <p:nvSpPr>
          <p:cNvPr id="3" name="">
            <a:extLst xmlns:a="http://schemas.openxmlformats.org/drawingml/2006/main">
              <a:ext uri="{FF2B5EF4-FFF2-40B4-BE49-F238E27FC236}">
                <a16:creationId xmlns:a16="http://schemas.microsoft.com/office/drawing/2014/main" id="{94167C7C-EA15-4CF3-99E5-9EC876516A4E}"/>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26">
            <a:extLst xmlns:a="http://schemas.openxmlformats.org/drawingml/2006/main">
              <a:ext uri="{FF2B5EF4-FFF2-40B4-BE49-F238E27FC236}">
                <a16:creationId xmlns:a16="http://schemas.microsoft.com/office/drawing/2014/main" id="{18AE9D48-3F72-427F-85BC-25090B4EA7D0}"/>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defRPr sz="1350" b="0">
                <a:solidFill>
                  <a:srgbClr val="49616A"/>
                </a:solidFill>
                <a:latin typeface="Aptos"/>
                <a:ea typeface="Aptos"/>
                <a:cs typeface="Aptos"/>
              </a:defRPr>
            </a:pPr>
            <a:r>
              <a:rPr sz="1350" b="0">
                <a:solidFill>
                  <a:srgbClr val="49616A"/>
                </a:solidFill>
                <a:latin typeface="Aptos"/>
                <a:ea typeface="Aptos"/>
                <a:cs typeface="Aptos"/>
              </a:rPr>
              <a:t>Inertia architecture · r12 · 23 October 2026</a:t>
            </a:r>
          </a:p>
        </p:txBody>
      </p:sp>
      <p:sp>
        <p:nvSpPr>
          <p:cNvPr id="5" name="text-27">
            <a:extLst xmlns:a="http://schemas.openxmlformats.org/drawingml/2006/main">
              <a:ext uri="{FF2B5EF4-FFF2-40B4-BE49-F238E27FC236}">
                <a16:creationId xmlns:a16="http://schemas.microsoft.com/office/drawing/2014/main" id="{BD8DF84C-0B9E-426E-B734-96E80A40D74C}"/>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defRPr sz="1650" b="1">
                <a:solidFill>
                  <a:srgbClr val="157D80"/>
                </a:solidFill>
                <a:latin typeface="Aptos"/>
                <a:ea typeface="Aptos"/>
                <a:cs typeface="Aptos"/>
              </a:defRPr>
            </a:pPr>
            <a:r>
              <a:rPr sz="1650" b="1">
                <a:solidFill>
                  <a:srgbClr val="157D80"/>
                </a:solidFill>
                <a:latin typeface="Aptos"/>
                <a:ea typeface="Aptos"/>
                <a:cs typeface="Aptos"/>
              </a:rPr>
              <a:t>2</a:t>
            </a:r>
          </a:p>
        </p:txBody>
      </p:sp>
      <p:sp>
        <p:nvSpPr>
          <p:cNvPr id="6" name="node-28">
            <a:extLst xmlns:a="http://schemas.openxmlformats.org/drawingml/2006/main">
              <a:ext uri="{FF2B5EF4-FFF2-40B4-BE49-F238E27FC236}">
                <a16:creationId xmlns:a16="http://schemas.microsoft.com/office/drawing/2014/main" id="{0D27A117-109A-45CC-8D29-23EC7CB91968}"/>
              </a:ext>
            </a:extLst>
          </p:cNvPr>
          <p:cNvSpPr>
            <a:spLocks xmlns:a="http://schemas.openxmlformats.org/drawingml/2006/main" noGrp="1"/>
          </p:cNvSpPr>
          <p:nvPr/>
        </p:nvSpPr>
        <p:spPr>
          <a:xfrm xmlns:a="http://schemas.openxmlformats.org/drawingml/2006/main">
            <a:off x="609600" y="2857500"/>
            <a:ext cx="3048000" cy="15240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text-29">
            <a:extLst xmlns:a="http://schemas.openxmlformats.org/drawingml/2006/main">
              <a:ext uri="{FF2B5EF4-FFF2-40B4-BE49-F238E27FC236}">
                <a16:creationId xmlns:a16="http://schemas.microsoft.com/office/drawing/2014/main" id="{AD84327E-8ED7-4288-A2E5-8FBB556D84E2}"/>
              </a:ext>
            </a:extLst>
          </p:cNvPr>
          <p:cNvSpPr>
            <a:spLocks xmlns:a="http://schemas.openxmlformats.org/drawingml/2006/main" noGrp="1"/>
          </p:cNvSpPr>
          <p:nvPr/>
        </p:nvSpPr>
        <p:spPr>
          <a:xfrm xmlns:a="http://schemas.openxmlformats.org/drawingml/2006/main">
            <a:off x="800100" y="302895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Assigned intake</a:t>
            </a:r>
          </a:p>
        </p:txBody>
      </p:sp>
      <p:sp>
        <p:nvSpPr>
          <p:cNvPr id="8" name="text-30">
            <a:extLst xmlns:a="http://schemas.openxmlformats.org/drawingml/2006/main">
              <a:ext uri="{FF2B5EF4-FFF2-40B4-BE49-F238E27FC236}">
                <a16:creationId xmlns:a16="http://schemas.microsoft.com/office/drawing/2014/main" id="{110001D9-59F8-4255-9D43-07DF3BC6156A}"/>
              </a:ext>
            </a:extLst>
          </p:cNvPr>
          <p:cNvSpPr>
            <a:spLocks xmlns:a="http://schemas.openxmlformats.org/drawingml/2006/main" noGrp="1"/>
          </p:cNvSpPr>
          <p:nvPr/>
        </p:nvSpPr>
        <p:spPr>
          <a:xfrm xmlns:a="http://schemas.openxmlformats.org/drawingml/2006/main">
            <a:off x="800100" y="3467100"/>
            <a:ext cx="2667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Scope + acceptance criteria</a:t>
            </a:r>
          </a:p>
        </p:txBody>
      </p:sp>
      <p:sp>
        <p:nvSpPr>
          <p:cNvPr id="9" name="node-31">
            <a:extLst xmlns:a="http://schemas.openxmlformats.org/drawingml/2006/main">
              <a:ext uri="{FF2B5EF4-FFF2-40B4-BE49-F238E27FC236}">
                <a16:creationId xmlns:a16="http://schemas.microsoft.com/office/drawing/2014/main" id="{1A486AF6-A309-4E65-818E-02F77268C180}"/>
              </a:ext>
            </a:extLst>
          </p:cNvPr>
          <p:cNvSpPr>
            <a:spLocks xmlns:a="http://schemas.openxmlformats.org/drawingml/2006/main" noGrp="1"/>
          </p:cNvSpPr>
          <p:nvPr/>
        </p:nvSpPr>
        <p:spPr>
          <a:xfrm xmlns:a="http://schemas.openxmlformats.org/drawingml/2006/main">
            <a:off x="4610100" y="2857500"/>
            <a:ext cx="3048000" cy="15240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0" name="text-32">
            <a:extLst xmlns:a="http://schemas.openxmlformats.org/drawingml/2006/main">
              <a:ext uri="{FF2B5EF4-FFF2-40B4-BE49-F238E27FC236}">
                <a16:creationId xmlns:a16="http://schemas.microsoft.com/office/drawing/2014/main" id="{41D29C1D-C282-4E43-B3E9-BD3827FB1A94}"/>
              </a:ext>
            </a:extLst>
          </p:cNvPr>
          <p:cNvSpPr>
            <a:spLocks xmlns:a="http://schemas.openxmlformats.org/drawingml/2006/main" noGrp="1"/>
          </p:cNvSpPr>
          <p:nvPr/>
        </p:nvSpPr>
        <p:spPr>
          <a:xfrm xmlns:a="http://schemas.openxmlformats.org/drawingml/2006/main">
            <a:off x="4800600" y="3028950"/>
            <a:ext cx="266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Native CEO</a:t>
            </a:r>
          </a:p>
        </p:txBody>
      </p:sp>
      <p:sp>
        <p:nvSpPr>
          <p:cNvPr id="11" name="text-33">
            <a:extLst xmlns:a="http://schemas.openxmlformats.org/drawingml/2006/main">
              <a:ext uri="{FF2B5EF4-FFF2-40B4-BE49-F238E27FC236}">
                <a16:creationId xmlns:a16="http://schemas.microsoft.com/office/drawing/2014/main" id="{4F7C0925-14E9-4668-A368-1AC0113A3800}"/>
              </a:ext>
            </a:extLst>
          </p:cNvPr>
          <p:cNvSpPr>
            <a:spLocks xmlns:a="http://schemas.openxmlformats.org/drawingml/2006/main" noGrp="1"/>
          </p:cNvSpPr>
          <p:nvPr/>
        </p:nvSpPr>
        <p:spPr>
          <a:xfrm xmlns:a="http://schemas.openxmlformats.org/drawingml/2006/main">
            <a:off x="4800600" y="3467100"/>
            <a:ext cx="2667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Heartbeat + delegation</a:t>
            </a:r>
          </a:p>
        </p:txBody>
      </p:sp>
      <p:sp>
        <p:nvSpPr>
          <p:cNvPr id="12" name="node-34">
            <a:extLst xmlns:a="http://schemas.openxmlformats.org/drawingml/2006/main">
              <a:ext uri="{FF2B5EF4-FFF2-40B4-BE49-F238E27FC236}">
                <a16:creationId xmlns:a16="http://schemas.microsoft.com/office/drawing/2014/main" id="{150A9051-2C60-449F-9B48-FAB97B3B1781}"/>
              </a:ext>
            </a:extLst>
          </p:cNvPr>
          <p:cNvSpPr>
            <a:spLocks xmlns:a="http://schemas.openxmlformats.org/drawingml/2006/main" noGrp="1"/>
          </p:cNvSpPr>
          <p:nvPr/>
        </p:nvSpPr>
        <p:spPr>
          <a:xfrm xmlns:a="http://schemas.openxmlformats.org/drawingml/2006/main">
            <a:off x="8610600" y="2857500"/>
            <a:ext cx="2857500" cy="15240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3" name="text-35">
            <a:extLst xmlns:a="http://schemas.openxmlformats.org/drawingml/2006/main">
              <a:ext uri="{FF2B5EF4-FFF2-40B4-BE49-F238E27FC236}">
                <a16:creationId xmlns:a16="http://schemas.microsoft.com/office/drawing/2014/main" id="{14A70CF5-0EAE-426D-9A8B-2BA50BF98323}"/>
              </a:ext>
            </a:extLst>
          </p:cNvPr>
          <p:cNvSpPr>
            <a:spLocks xmlns:a="http://schemas.openxmlformats.org/drawingml/2006/main" noGrp="1"/>
          </p:cNvSpPr>
          <p:nvPr/>
        </p:nvSpPr>
        <p:spPr>
          <a:xfrm xmlns:a="http://schemas.openxmlformats.org/drawingml/2006/main">
            <a:off x="8801100" y="3028950"/>
            <a:ext cx="247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Eligible issue</a:t>
            </a:r>
          </a:p>
        </p:txBody>
      </p:sp>
      <p:sp>
        <p:nvSpPr>
          <p:cNvPr id="14" name="text-36">
            <a:extLst xmlns:a="http://schemas.openxmlformats.org/drawingml/2006/main">
              <a:ext uri="{FF2B5EF4-FFF2-40B4-BE49-F238E27FC236}">
                <a16:creationId xmlns:a16="http://schemas.microsoft.com/office/drawing/2014/main" id="{9DC691D9-7CDA-4858-A53F-A98B16B4F77F}"/>
              </a:ext>
            </a:extLst>
          </p:cNvPr>
          <p:cNvSpPr>
            <a:spLocks xmlns:a="http://schemas.openxmlformats.org/drawingml/2006/main" noGrp="1"/>
          </p:cNvSpPr>
          <p:nvPr/>
        </p:nvSpPr>
        <p:spPr>
          <a:xfrm xmlns:a="http://schemas.openxmlformats.org/drawingml/2006/main">
            <a:off x="8801100" y="3467100"/>
            <a:ext cx="24765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Policy + dependencies</a:t>
            </a:r>
          </a:p>
        </p:txBody>
      </p:sp>
      <p:sp>
        <p:nvSpPr>
          <p:cNvPr id="15" name="node-37">
            <a:extLst xmlns:a="http://schemas.openxmlformats.org/drawingml/2006/main">
              <a:ext uri="{FF2B5EF4-FFF2-40B4-BE49-F238E27FC236}">
                <a16:creationId xmlns:a16="http://schemas.microsoft.com/office/drawing/2014/main" id="{118667B4-1C1B-4163-860D-B4EC1CB5C5D8}"/>
              </a:ext>
            </a:extLst>
          </p:cNvPr>
          <p:cNvSpPr>
            <a:spLocks xmlns:a="http://schemas.openxmlformats.org/drawingml/2006/main" noGrp="1"/>
          </p:cNvSpPr>
          <p:nvPr/>
        </p:nvSpPr>
        <p:spPr>
          <a:xfrm xmlns:a="http://schemas.openxmlformats.org/drawingml/2006/main">
            <a:off x="12420600" y="2857500"/>
            <a:ext cx="2209800" cy="15240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6" name="text-38">
            <a:extLst xmlns:a="http://schemas.openxmlformats.org/drawingml/2006/main">
              <a:ext uri="{FF2B5EF4-FFF2-40B4-BE49-F238E27FC236}">
                <a16:creationId xmlns:a16="http://schemas.microsoft.com/office/drawing/2014/main" id="{035B0429-9C4F-4F0D-9892-E89FB0E99143}"/>
              </a:ext>
            </a:extLst>
          </p:cNvPr>
          <p:cNvSpPr>
            <a:spLocks xmlns:a="http://schemas.openxmlformats.org/drawingml/2006/main" noGrp="1"/>
          </p:cNvSpPr>
          <p:nvPr/>
        </p:nvSpPr>
        <p:spPr>
          <a:xfrm xmlns:a="http://schemas.openxmlformats.org/drawingml/2006/main">
            <a:off x="12611100" y="3028950"/>
            <a:ext cx="1828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Checkout</a:t>
            </a:r>
          </a:p>
        </p:txBody>
      </p:sp>
      <p:sp>
        <p:nvSpPr>
          <p:cNvPr id="17" name="text-39">
            <a:extLst xmlns:a="http://schemas.openxmlformats.org/drawingml/2006/main">
              <a:ext uri="{FF2B5EF4-FFF2-40B4-BE49-F238E27FC236}">
                <a16:creationId xmlns:a16="http://schemas.microsoft.com/office/drawing/2014/main" id="{494A4F31-B10F-4C0D-A0CD-B0F4452093BD}"/>
              </a:ext>
            </a:extLst>
          </p:cNvPr>
          <p:cNvSpPr>
            <a:spLocks xmlns:a="http://schemas.openxmlformats.org/drawingml/2006/main" noGrp="1"/>
          </p:cNvSpPr>
          <p:nvPr/>
        </p:nvSpPr>
        <p:spPr>
          <a:xfrm xmlns:a="http://schemas.openxmlformats.org/drawingml/2006/main">
            <a:off x="12611100" y="3467100"/>
            <a:ext cx="1828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Atomic owner</a:t>
            </a:r>
          </a:p>
        </p:txBody>
      </p:sp>
      <p:sp>
        <p:nvSpPr>
          <p:cNvPr id="21" name="text-40">
            <a:extLst xmlns:a="http://schemas.openxmlformats.org/drawingml/2006/main">
              <a:ext uri="{FF2B5EF4-FFF2-40B4-BE49-F238E27FC236}">
                <a16:creationId xmlns:a16="http://schemas.microsoft.com/office/drawing/2014/main" id="{35A66521-7189-4A0B-8C93-4E07156B6540}"/>
              </a:ext>
            </a:extLst>
          </p:cNvPr>
          <p:cNvSpPr>
            <a:spLocks xmlns:a="http://schemas.openxmlformats.org/drawingml/2006/main" noGrp="1"/>
          </p:cNvSpPr>
          <p:nvPr/>
        </p:nvSpPr>
        <p:spPr>
          <a:xfrm xmlns:a="http://schemas.openxmlformats.org/drawingml/2006/main">
            <a:off x="609600" y="4629150"/>
            <a:ext cx="304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Assigned mandate</a:t>
            </a:r>
          </a:p>
        </p:txBody>
      </p:sp>
      <p:sp>
        <p:nvSpPr>
          <p:cNvPr id="22" name="text-41">
            <a:extLst xmlns:a="http://schemas.openxmlformats.org/drawingml/2006/main">
              <a:ext uri="{FF2B5EF4-FFF2-40B4-BE49-F238E27FC236}">
                <a16:creationId xmlns:a16="http://schemas.microsoft.com/office/drawing/2014/main" id="{0566A836-5351-4C46-86C9-915BE28D7B10}"/>
              </a:ext>
            </a:extLst>
          </p:cNvPr>
          <p:cNvSpPr>
            <a:spLocks xmlns:a="http://schemas.openxmlformats.org/drawingml/2006/main" noGrp="1"/>
          </p:cNvSpPr>
          <p:nvPr/>
        </p:nvSpPr>
        <p:spPr>
          <a:xfrm xmlns:a="http://schemas.openxmlformats.org/drawingml/2006/main">
            <a:off x="4610100" y="4629150"/>
            <a:ext cx="304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Hiring and budget policy</a:t>
            </a:r>
          </a:p>
        </p:txBody>
      </p:sp>
      <p:sp>
        <p:nvSpPr>
          <p:cNvPr id="23" name="text-42">
            <a:extLst xmlns:a="http://schemas.openxmlformats.org/drawingml/2006/main">
              <a:ext uri="{FF2B5EF4-FFF2-40B4-BE49-F238E27FC236}">
                <a16:creationId xmlns:a16="http://schemas.microsoft.com/office/drawing/2014/main" id="{8284BC1A-F871-4C06-B2B6-66FB2B2C0DFF}"/>
              </a:ext>
            </a:extLst>
          </p:cNvPr>
          <p:cNvSpPr>
            <a:spLocks xmlns:a="http://schemas.openxmlformats.org/drawingml/2006/main" noGrp="1"/>
          </p:cNvSpPr>
          <p:nvPr/>
        </p:nvSpPr>
        <p:spPr>
          <a:xfrm xmlns:a="http://schemas.openxmlformats.org/drawingml/2006/main">
            <a:off x="8610600" y="4629150"/>
            <a:ext cx="2857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Authority + capabilities</a:t>
            </a:r>
          </a:p>
        </p:txBody>
      </p:sp>
      <p:sp>
        <p:nvSpPr>
          <p:cNvPr id="24" name="node-43">
            <a:extLst xmlns:a="http://schemas.openxmlformats.org/drawingml/2006/main">
              <a:ext uri="{FF2B5EF4-FFF2-40B4-BE49-F238E27FC236}">
                <a16:creationId xmlns:a16="http://schemas.microsoft.com/office/drawing/2014/main" id="{39139377-A218-4FC7-A04B-698A24959712}"/>
              </a:ext>
            </a:extLst>
          </p:cNvPr>
          <p:cNvSpPr>
            <a:spLocks xmlns:a="http://schemas.openxmlformats.org/drawingml/2006/main" noGrp="1"/>
          </p:cNvSpPr>
          <p:nvPr/>
        </p:nvSpPr>
        <p:spPr>
          <a:xfrm xmlns:a="http://schemas.openxmlformats.org/drawingml/2006/main">
            <a:off x="10629900" y="6286500"/>
            <a:ext cx="4000500" cy="12001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5" name="text-44">
            <a:extLst xmlns:a="http://schemas.openxmlformats.org/drawingml/2006/main">
              <a:ext uri="{FF2B5EF4-FFF2-40B4-BE49-F238E27FC236}">
                <a16:creationId xmlns:a16="http://schemas.microsoft.com/office/drawing/2014/main" id="{11818C51-1CB2-4564-B9AB-BA1DCEAEA719}"/>
              </a:ext>
            </a:extLst>
          </p:cNvPr>
          <p:cNvSpPr>
            <a:spLocks xmlns:a="http://schemas.openxmlformats.org/drawingml/2006/main" noGrp="1"/>
          </p:cNvSpPr>
          <p:nvPr/>
        </p:nvSpPr>
        <p:spPr>
          <a:xfrm xmlns:a="http://schemas.openxmlformats.org/drawingml/2006/main">
            <a:off x="10820400" y="6457950"/>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Native run</a:t>
            </a:r>
          </a:p>
        </p:txBody>
      </p:sp>
      <p:sp>
        <p:nvSpPr>
          <p:cNvPr id="26" name="text-45">
            <a:extLst xmlns:a="http://schemas.openxmlformats.org/drawingml/2006/main">
              <a:ext uri="{FF2B5EF4-FFF2-40B4-BE49-F238E27FC236}">
                <a16:creationId xmlns:a16="http://schemas.microsoft.com/office/drawing/2014/main" id="{AD72DE32-FD19-43B2-8A32-BFD795B3FDA4}"/>
              </a:ext>
            </a:extLst>
          </p:cNvPr>
          <p:cNvSpPr>
            <a:spLocks xmlns:a="http://schemas.openxmlformats.org/drawingml/2006/main" noGrp="1"/>
          </p:cNvSpPr>
          <p:nvPr/>
        </p:nvSpPr>
        <p:spPr>
          <a:xfrm xmlns:a="http://schemas.openxmlformats.org/drawingml/2006/main">
            <a:off x="10820400" y="6896100"/>
            <a:ext cx="361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Bounded tools + runtime</a:t>
            </a:r>
          </a:p>
        </p:txBody>
      </p:sp>
      <p:sp>
        <p:nvSpPr>
          <p:cNvPr id="28" name="text-46">
            <a:extLst xmlns:a="http://schemas.openxmlformats.org/drawingml/2006/main">
              <a:ext uri="{FF2B5EF4-FFF2-40B4-BE49-F238E27FC236}">
                <a16:creationId xmlns:a16="http://schemas.microsoft.com/office/drawing/2014/main" id="{4240063C-F413-40FF-8783-D5BF21005744}"/>
              </a:ext>
            </a:extLst>
          </p:cNvPr>
          <p:cNvSpPr>
            <a:spLocks xmlns:a="http://schemas.openxmlformats.org/drawingml/2006/main" noGrp="1"/>
          </p:cNvSpPr>
          <p:nvPr/>
        </p:nvSpPr>
        <p:spPr>
          <a:xfrm xmlns:a="http://schemas.openxmlformats.org/drawingml/2006/main">
            <a:off x="609600" y="6372225"/>
            <a:ext cx="923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400" b="1">
                <a:solidFill>
                  <a:srgbClr val="157D80"/>
                </a:solidFill>
                <a:latin typeface="Aptos"/>
                <a:ea typeface="Aptos"/>
                <a:cs typeface="Aptos"/>
              </a:defRPr>
            </a:defPPr>
          </a:lstStyle>
          <a:p xmlns:a="http://schemas.openxmlformats.org/drawingml/2006/main">
            <a:pPr>
              <a:defRPr sz="2400" b="1">
                <a:solidFill>
                  <a:srgbClr val="157D80"/>
                </a:solidFill>
                <a:latin typeface="Aptos"/>
                <a:ea typeface="Aptos"/>
                <a:cs typeface="Aptos"/>
              </a:defRPr>
            </a:pPr>
            <a:r>
              <a:rPr sz="2400" b="1">
                <a:solidFill>
                  <a:srgbClr val="157D80"/>
                </a:solidFill>
                <a:latin typeface="Aptos"/>
                <a:ea typeface="Aptos"/>
                <a:cs typeface="Aptos"/>
              </a:rPr>
              <a:t>One native scheduler / checkout owner per job</a:t>
            </a:r>
          </a:p>
        </p:txBody>
      </p:sp>
    </p:spTree>
    <p:extLst>
      <p:ext uri="{BB962C8B-B14F-4D97-AF65-F5344CB8AC3E}">
        <p14:creationId xmlns:p14="http://schemas.microsoft.com/office/powerpoint/2010/main" val="497893197"/>
      </p:ext>
    </p:extLst>
  </p:cSld>
</p:sld>
</file>

<file path=ppt/slides/slide3.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8" name="">
            <a:extLst xmlns:a="http://schemas.openxmlformats.org/drawingml/2006/main">
              <a:ext uri="{FF2B5EF4-FFF2-40B4-BE49-F238E27FC236}">
                <a16:creationId xmlns:a16="http://schemas.microsoft.com/office/drawing/2014/main" id="{980C90E1-8F7E-455E-BD51-05BEA4449865}"/>
              </a:ext>
            </a:extLst>
          </p:cNvPr>
          <p:cNvCxnSpPr>
            <a:stCxn xmlns:a="http://schemas.openxmlformats.org/drawingml/2006/main" id="20" idx="1"/>
            <a:endCxn xmlns:a="http://schemas.openxmlformats.org/drawingml/2006/main" id="23" idx="3"/>
          </p:cNvCxnSpPr>
          <p:nvPr/>
        </p:nvCxnSpPr>
        <p:spPr>
          <a:xfrm xmlns:a="http://schemas.openxmlformats.org/drawingml/2006/main" flipH="1">
            <a:off x="3848100" y="6248400"/>
            <a:ext cx="10477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7" name="">
            <a:extLst xmlns:a="http://schemas.openxmlformats.org/drawingml/2006/main">
              <a:ext uri="{FF2B5EF4-FFF2-40B4-BE49-F238E27FC236}">
                <a16:creationId xmlns:a16="http://schemas.microsoft.com/office/drawing/2014/main" id="{782470C3-5B53-4B8D-999B-8D757B543B4C}"/>
              </a:ext>
            </a:extLst>
          </p:cNvPr>
          <p:cNvCxnSpPr>
            <a:stCxn xmlns:a="http://schemas.openxmlformats.org/drawingml/2006/main" id="17" idx="1"/>
            <a:endCxn xmlns:a="http://schemas.openxmlformats.org/drawingml/2006/main" id="20" idx="3"/>
          </p:cNvCxnSpPr>
          <p:nvPr/>
        </p:nvCxnSpPr>
        <p:spPr>
          <a:xfrm xmlns:a="http://schemas.openxmlformats.org/drawingml/2006/main" flipH="1">
            <a:off x="8991600" y="6248400"/>
            <a:ext cx="10477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6" name="">
            <a:extLst xmlns:a="http://schemas.openxmlformats.org/drawingml/2006/main">
              <a:ext uri="{FF2B5EF4-FFF2-40B4-BE49-F238E27FC236}">
                <a16:creationId xmlns:a16="http://schemas.microsoft.com/office/drawing/2014/main" id="{3CA08E8E-F0D5-425C-8EEC-3F2BB471DF49}"/>
              </a:ext>
            </a:extLst>
          </p:cNvPr>
          <p:cNvCxnSpPr>
            <a:stCxn xmlns:a="http://schemas.openxmlformats.org/drawingml/2006/main" id="12" idx="2"/>
            <a:endCxn xmlns:a="http://schemas.openxmlformats.org/drawingml/2006/main" id="17" idx="0"/>
          </p:cNvCxnSpPr>
          <p:nvPr/>
        </p:nvCxnSpPr>
        <p:spPr>
          <a:xfrm xmlns:a="http://schemas.openxmlformats.org/drawingml/2006/main">
            <a:off x="12334875" y="3810000"/>
            <a:ext cx="0" cy="17716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6" name="">
            <a:extLst xmlns:a="http://schemas.openxmlformats.org/drawingml/2006/main">
              <a:ext uri="{FF2B5EF4-FFF2-40B4-BE49-F238E27FC236}">
                <a16:creationId xmlns:a16="http://schemas.microsoft.com/office/drawing/2014/main" id="{34B34925-812D-46B5-A647-E619D3AAE082}"/>
              </a:ext>
            </a:extLst>
          </p:cNvPr>
          <p:cNvCxnSpPr>
            <a:stCxn xmlns:a="http://schemas.openxmlformats.org/drawingml/2006/main" id="9" idx="3"/>
            <a:endCxn xmlns:a="http://schemas.openxmlformats.org/drawingml/2006/main" id="12" idx="1"/>
          </p:cNvCxnSpPr>
          <p:nvPr/>
        </p:nvCxnSpPr>
        <p:spPr>
          <a:xfrm xmlns:a="http://schemas.openxmlformats.org/drawingml/2006/main">
            <a:off x="8991600" y="3143250"/>
            <a:ext cx="10477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5" name="">
            <a:extLst xmlns:a="http://schemas.openxmlformats.org/drawingml/2006/main">
              <a:ext uri="{FF2B5EF4-FFF2-40B4-BE49-F238E27FC236}">
                <a16:creationId xmlns:a16="http://schemas.microsoft.com/office/drawing/2014/main" id="{8ED717A1-C84A-4660-861B-1FD5EC9657E6}"/>
              </a:ext>
            </a:extLst>
          </p:cNvPr>
          <p:cNvCxnSpPr>
            <a:stCxn xmlns:a="http://schemas.openxmlformats.org/drawingml/2006/main" id="6" idx="3"/>
            <a:endCxn xmlns:a="http://schemas.openxmlformats.org/drawingml/2006/main" id="9" idx="1"/>
          </p:cNvCxnSpPr>
          <p:nvPr/>
        </p:nvCxnSpPr>
        <p:spPr>
          <a:xfrm xmlns:a="http://schemas.openxmlformats.org/drawingml/2006/main">
            <a:off x="3848100" y="3143250"/>
            <a:ext cx="10477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0" name="text-47">
            <a:extLst xmlns:a="http://schemas.openxmlformats.org/drawingml/2006/main">
              <a:ext uri="{FF2B5EF4-FFF2-40B4-BE49-F238E27FC236}">
                <a16:creationId xmlns:a16="http://schemas.microsoft.com/office/drawing/2014/main" id="{1E16C47E-F678-4494-A04C-7815EC13DA7F}"/>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buNone/>
              <a:defRPr sz="3600" b="1">
                <a:solidFill>
                  <a:srgbClr val="132E38"/>
                </a:solidFill>
                <a:latin typeface="Aptos"/>
                <a:ea typeface="Aptos"/>
                <a:cs typeface="Aptos"/>
              </a:defRPr>
            </a:pPr>
            <a:r>
              <a:rPr sz="3600" b="1">
                <a:solidFill>
                  <a:srgbClr val="132E38"/>
                </a:solidFill>
                <a:latin typeface="Aptos"/>
                <a:ea typeface="Aptos"/>
                <a:cs typeface="Aptos"/>
              </a:rPr>
              <a:t>Roundtable publication</a:t>
            </a:r>
          </a:p>
        </p:txBody>
      </p:sp>
      <p:sp>
        <p:nvSpPr>
          <p:cNvPr id="2" name="text-48">
            <a:extLst xmlns:a="http://schemas.openxmlformats.org/drawingml/2006/main">
              <a:ext uri="{FF2B5EF4-FFF2-40B4-BE49-F238E27FC236}">
                <a16:creationId xmlns:a16="http://schemas.microsoft.com/office/drawing/2014/main" id="{715E3622-8F7D-4246-B4E9-B806DAD3078B}"/>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buNone/>
              <a:defRPr sz="2025" b="0">
                <a:solidFill>
                  <a:srgbClr val="49616A"/>
                </a:solidFill>
                <a:latin typeface="Aptos"/>
                <a:ea typeface="Aptos"/>
                <a:cs typeface="Aptos"/>
              </a:defRPr>
            </a:pPr>
            <a:r>
              <a:rPr sz="2025" b="0">
                <a:solidFill>
                  <a:srgbClr val="49616A"/>
                </a:solidFill>
                <a:latin typeface="Aptos"/>
                <a:ea typeface="Aptos"/>
                <a:cs typeface="Aptos"/>
              </a:rPr>
              <a:t>Target flow · existing DAO PostgreSQL / meeting schema</a:t>
            </a:r>
          </a:p>
        </p:txBody>
      </p:sp>
      <p:sp>
        <p:nvSpPr>
          <p:cNvPr id="3" name="">
            <a:extLst xmlns:a="http://schemas.openxmlformats.org/drawingml/2006/main">
              <a:ext uri="{FF2B5EF4-FFF2-40B4-BE49-F238E27FC236}">
                <a16:creationId xmlns:a16="http://schemas.microsoft.com/office/drawing/2014/main" id="{C2095DA1-D08C-4A6B-B150-D70FB16709B3}"/>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49">
            <a:extLst xmlns:a="http://schemas.openxmlformats.org/drawingml/2006/main">
              <a:ext uri="{FF2B5EF4-FFF2-40B4-BE49-F238E27FC236}">
                <a16:creationId xmlns:a16="http://schemas.microsoft.com/office/drawing/2014/main" id="{49EE3DF6-FCFA-4362-BB6B-99A79E9AAFB0}"/>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buNone/>
              <a:defRPr sz="1350" b="0">
                <a:solidFill>
                  <a:srgbClr val="49616A"/>
                </a:solidFill>
                <a:latin typeface="Aptos"/>
                <a:ea typeface="Aptos"/>
                <a:cs typeface="Aptos"/>
              </a:defRPr>
            </a:pPr>
            <a:r>
              <a:rPr sz="1350" b="0">
                <a:solidFill>
                  <a:srgbClr val="49616A"/>
                </a:solidFill>
                <a:latin typeface="Aptos"/>
                <a:ea typeface="Aptos"/>
                <a:cs typeface="Aptos"/>
              </a:rPr>
              <a:t>Inertia architecture · r12 · 23 October 2026</a:t>
            </a:r>
          </a:p>
        </p:txBody>
      </p:sp>
      <p:sp>
        <p:nvSpPr>
          <p:cNvPr id="5" name="text-50">
            <a:extLst xmlns:a="http://schemas.openxmlformats.org/drawingml/2006/main">
              <a:ext uri="{FF2B5EF4-FFF2-40B4-BE49-F238E27FC236}">
                <a16:creationId xmlns:a16="http://schemas.microsoft.com/office/drawing/2014/main" id="{804E42DC-0A92-4841-8879-DB855313BB16}"/>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buNone/>
              <a:defRPr sz="1650" b="1">
                <a:solidFill>
                  <a:srgbClr val="157D80"/>
                </a:solidFill>
                <a:latin typeface="Aptos"/>
                <a:ea typeface="Aptos"/>
                <a:cs typeface="Aptos"/>
              </a:defRPr>
            </a:pPr>
            <a:r>
              <a:rPr sz="1650" b="1">
                <a:solidFill>
                  <a:srgbClr val="157D80"/>
                </a:solidFill>
                <a:latin typeface="Aptos"/>
                <a:ea typeface="Aptos"/>
                <a:cs typeface="Aptos"/>
              </a:rPr>
              <a:t>3</a:t>
            </a:r>
          </a:p>
        </p:txBody>
      </p:sp>
      <p:sp>
        <p:nvSpPr>
          <p:cNvPr id="6" name="node-51">
            <a:extLst xmlns:a="http://schemas.openxmlformats.org/drawingml/2006/main">
              <a:ext uri="{FF2B5EF4-FFF2-40B4-BE49-F238E27FC236}">
                <a16:creationId xmlns:a16="http://schemas.microsoft.com/office/drawing/2014/main" id="{E92048C6-9D90-4E34-91B2-4ED1CE3F33C8}"/>
              </a:ext>
            </a:extLst>
          </p:cNvPr>
          <p:cNvSpPr>
            <a:spLocks xmlns:a="http://schemas.openxmlformats.org/drawingml/2006/main" noGrp="1"/>
          </p:cNvSpPr>
          <p:nvPr/>
        </p:nvSpPr>
        <p:spPr>
          <a:xfrm xmlns:a="http://schemas.openxmlformats.org/drawingml/2006/main">
            <a:off x="609600" y="2476500"/>
            <a:ext cx="3238500" cy="13335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text-52">
            <a:extLst xmlns:a="http://schemas.openxmlformats.org/drawingml/2006/main">
              <a:ext uri="{FF2B5EF4-FFF2-40B4-BE49-F238E27FC236}">
                <a16:creationId xmlns:a16="http://schemas.microsoft.com/office/drawing/2014/main" id="{8E83B178-D956-4A7A-B8BE-479628F4DF46}"/>
              </a:ext>
            </a:extLst>
          </p:cNvPr>
          <p:cNvSpPr>
            <a:spLocks xmlns:a="http://schemas.openxmlformats.org/drawingml/2006/main" noGrp="1"/>
          </p:cNvSpPr>
          <p:nvPr/>
        </p:nvSpPr>
        <p:spPr>
          <a:xfrm xmlns:a="http://schemas.openxmlformats.org/drawingml/2006/main">
            <a:off x="800100" y="264795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Meet / Gemini</a:t>
            </a:r>
          </a:p>
        </p:txBody>
      </p:sp>
      <p:sp>
        <p:nvSpPr>
          <p:cNvPr id="8" name="text-53">
            <a:extLst xmlns:a="http://schemas.openxmlformats.org/drawingml/2006/main">
              <a:ext uri="{FF2B5EF4-FFF2-40B4-BE49-F238E27FC236}">
                <a16:creationId xmlns:a16="http://schemas.microsoft.com/office/drawing/2014/main" id="{032CA22C-B959-4CBF-B773-5E777931EEE5}"/>
              </a:ext>
            </a:extLst>
          </p:cNvPr>
          <p:cNvSpPr>
            <a:spLocks xmlns:a="http://schemas.openxmlformats.org/drawingml/2006/main" noGrp="1"/>
          </p:cNvSpPr>
          <p:nvPr/>
        </p:nvSpPr>
        <p:spPr>
          <a:xfrm xmlns:a="http://schemas.openxmlformats.org/drawingml/2006/main">
            <a:off x="800100" y="3086100"/>
            <a:ext cx="285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Authorized Drive output</a:t>
            </a:r>
          </a:p>
        </p:txBody>
      </p:sp>
      <p:sp>
        <p:nvSpPr>
          <p:cNvPr id="9" name="node-54">
            <a:extLst xmlns:a="http://schemas.openxmlformats.org/drawingml/2006/main">
              <a:ext uri="{FF2B5EF4-FFF2-40B4-BE49-F238E27FC236}">
                <a16:creationId xmlns:a16="http://schemas.microsoft.com/office/drawing/2014/main" id="{9F00F7A1-259F-4AC6-8931-411CC2550677}"/>
              </a:ext>
            </a:extLst>
          </p:cNvPr>
          <p:cNvSpPr>
            <a:spLocks xmlns:a="http://schemas.openxmlformats.org/drawingml/2006/main" noGrp="1"/>
          </p:cNvSpPr>
          <p:nvPr/>
        </p:nvSpPr>
        <p:spPr>
          <a:xfrm xmlns:a="http://schemas.openxmlformats.org/drawingml/2006/main">
            <a:off x="4895850" y="2476500"/>
            <a:ext cx="4095750" cy="13335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0" name="text-55">
            <a:extLst xmlns:a="http://schemas.openxmlformats.org/drawingml/2006/main">
              <a:ext uri="{FF2B5EF4-FFF2-40B4-BE49-F238E27FC236}">
                <a16:creationId xmlns:a16="http://schemas.microsoft.com/office/drawing/2014/main" id="{83ABB4F9-D3B5-4D01-9358-D5AF5C7F7FBA}"/>
              </a:ext>
            </a:extLst>
          </p:cNvPr>
          <p:cNvSpPr>
            <a:spLocks xmlns:a="http://schemas.openxmlformats.org/drawingml/2006/main" noGrp="1"/>
          </p:cNvSpPr>
          <p:nvPr/>
        </p:nvSpPr>
        <p:spPr>
          <a:xfrm xmlns:a="http://schemas.openxmlformats.org/drawingml/2006/main">
            <a:off x="5086350" y="2647950"/>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buNone/>
              <a:defRPr sz="2250" b="1">
                <a:solidFill>
                  <a:srgbClr val="157D80"/>
                </a:solidFill>
                <a:latin typeface="Aptos"/>
                <a:ea typeface="Aptos"/>
                <a:cs typeface="Aptos"/>
              </a:defRPr>
            </a:pPr>
            <a:r>
              <a:rPr sz="2250" b="1">
                <a:solidFill>
                  <a:srgbClr val="157D80"/>
                </a:solidFill>
                <a:latin typeface="Aptos"/>
                <a:ea typeface="Aptos"/>
                <a:cs typeface="Aptos"/>
              </a:rPr>
              <a:t>Roundtable core</a:t>
            </a:r>
          </a:p>
        </p:txBody>
      </p:sp>
      <p:sp>
        <p:nvSpPr>
          <p:cNvPr id="11" name="text-56">
            <a:extLst xmlns:a="http://schemas.openxmlformats.org/drawingml/2006/main">
              <a:ext uri="{FF2B5EF4-FFF2-40B4-BE49-F238E27FC236}">
                <a16:creationId xmlns:a16="http://schemas.microsoft.com/office/drawing/2014/main" id="{A08A28E4-4DB1-47AF-A159-0D81FD9D6A87}"/>
              </a:ext>
            </a:extLst>
          </p:cNvPr>
          <p:cNvSpPr>
            <a:spLocks xmlns:a="http://schemas.openxmlformats.org/drawingml/2006/main" noGrp="1"/>
          </p:cNvSpPr>
          <p:nvPr/>
        </p:nvSpPr>
        <p:spPr>
          <a:xfrm xmlns:a="http://schemas.openxmlformats.org/drawingml/2006/main">
            <a:off x="5086350" y="3086100"/>
            <a:ext cx="3714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Source revision + hash</a:t>
            </a:r>
          </a:p>
        </p:txBody>
      </p:sp>
      <p:sp>
        <p:nvSpPr>
          <p:cNvPr id="12" name="node-57">
            <a:extLst xmlns:a="http://schemas.openxmlformats.org/drawingml/2006/main">
              <a:ext uri="{FF2B5EF4-FFF2-40B4-BE49-F238E27FC236}">
                <a16:creationId xmlns:a16="http://schemas.microsoft.com/office/drawing/2014/main" id="{50953A62-DDE2-4ACF-98E9-39786512220F}"/>
              </a:ext>
            </a:extLst>
          </p:cNvPr>
          <p:cNvSpPr>
            <a:spLocks xmlns:a="http://schemas.openxmlformats.org/drawingml/2006/main" noGrp="1"/>
          </p:cNvSpPr>
          <p:nvPr/>
        </p:nvSpPr>
        <p:spPr>
          <a:xfrm xmlns:a="http://schemas.openxmlformats.org/drawingml/2006/main">
            <a:off x="10039350" y="2476500"/>
            <a:ext cx="4591050" cy="13335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3" name="text-58">
            <a:extLst xmlns:a="http://schemas.openxmlformats.org/drawingml/2006/main">
              <a:ext uri="{FF2B5EF4-FFF2-40B4-BE49-F238E27FC236}">
                <a16:creationId xmlns:a16="http://schemas.microsoft.com/office/drawing/2014/main" id="{F8370245-CBF6-4A84-81AE-A2B75D197511}"/>
              </a:ext>
            </a:extLst>
          </p:cNvPr>
          <p:cNvSpPr>
            <a:spLocks xmlns:a="http://schemas.openxmlformats.org/drawingml/2006/main" noGrp="1"/>
          </p:cNvSpPr>
          <p:nvPr/>
        </p:nvSpPr>
        <p:spPr>
          <a:xfrm xmlns:a="http://schemas.openxmlformats.org/drawingml/2006/main">
            <a:off x="10229850" y="2647950"/>
            <a:ext cx="421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Candidate output</a:t>
            </a:r>
          </a:p>
        </p:txBody>
      </p:sp>
      <p:sp>
        <p:nvSpPr>
          <p:cNvPr id="14" name="text-59">
            <a:extLst xmlns:a="http://schemas.openxmlformats.org/drawingml/2006/main">
              <a:ext uri="{FF2B5EF4-FFF2-40B4-BE49-F238E27FC236}">
                <a16:creationId xmlns:a16="http://schemas.microsoft.com/office/drawing/2014/main" id="{BBDCD0B2-8790-48DB-83F2-C044C30CBB75}"/>
              </a:ext>
            </a:extLst>
          </p:cNvPr>
          <p:cNvSpPr>
            <a:spLocks xmlns:a="http://schemas.openxmlformats.org/drawingml/2006/main" noGrp="1"/>
          </p:cNvSpPr>
          <p:nvPr/>
        </p:nvSpPr>
        <p:spPr>
          <a:xfrm xmlns:a="http://schemas.openxmlformats.org/drawingml/2006/main">
            <a:off x="10229850" y="3086100"/>
            <a:ext cx="4210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Transcript + separate notes</a:t>
            </a:r>
          </a:p>
        </p:txBody>
      </p:sp>
      <p:sp>
        <p:nvSpPr>
          <p:cNvPr id="17" name="node-60">
            <a:extLst xmlns:a="http://schemas.openxmlformats.org/drawingml/2006/main">
              <a:ext uri="{FF2B5EF4-FFF2-40B4-BE49-F238E27FC236}">
                <a16:creationId xmlns:a16="http://schemas.microsoft.com/office/drawing/2014/main" id="{E67B36C4-F9E6-46C4-B07A-BAD000B584B9}"/>
              </a:ext>
            </a:extLst>
          </p:cNvPr>
          <p:cNvSpPr>
            <a:spLocks xmlns:a="http://schemas.openxmlformats.org/drawingml/2006/main" noGrp="1"/>
          </p:cNvSpPr>
          <p:nvPr/>
        </p:nvSpPr>
        <p:spPr>
          <a:xfrm xmlns:a="http://schemas.openxmlformats.org/drawingml/2006/main">
            <a:off x="10039350" y="5581650"/>
            <a:ext cx="4591050" cy="13335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8" name="text-61">
            <a:extLst xmlns:a="http://schemas.openxmlformats.org/drawingml/2006/main">
              <a:ext uri="{FF2B5EF4-FFF2-40B4-BE49-F238E27FC236}">
                <a16:creationId xmlns:a16="http://schemas.microsoft.com/office/drawing/2014/main" id="{5E3127CF-D9B6-4646-BA50-D6EF2B7FA22E}"/>
              </a:ext>
            </a:extLst>
          </p:cNvPr>
          <p:cNvSpPr>
            <a:spLocks xmlns:a="http://schemas.openxmlformats.org/drawingml/2006/main" noGrp="1"/>
          </p:cNvSpPr>
          <p:nvPr/>
        </p:nvSpPr>
        <p:spPr>
          <a:xfrm xmlns:a="http://schemas.openxmlformats.org/drawingml/2006/main">
            <a:off x="10229850" y="5753100"/>
            <a:ext cx="4210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buNone/>
              <a:defRPr sz="2250" b="1">
                <a:solidFill>
                  <a:srgbClr val="157D80"/>
                </a:solidFill>
                <a:latin typeface="Aptos"/>
                <a:ea typeface="Aptos"/>
                <a:cs typeface="Aptos"/>
              </a:defRPr>
            </a:pPr>
            <a:r>
              <a:rPr sz="2250" b="1">
                <a:solidFill>
                  <a:srgbClr val="157D80"/>
                </a:solidFill>
                <a:latin typeface="Aptos"/>
                <a:ea typeface="Aptos"/>
                <a:cs typeface="Aptos"/>
              </a:rPr>
              <a:t>Trusted publisher</a:t>
            </a:r>
          </a:p>
        </p:txBody>
      </p:sp>
      <p:sp>
        <p:nvSpPr>
          <p:cNvPr id="19" name="text-62">
            <a:extLst xmlns:a="http://schemas.openxmlformats.org/drawingml/2006/main">
              <a:ext uri="{FF2B5EF4-FFF2-40B4-BE49-F238E27FC236}">
                <a16:creationId xmlns:a16="http://schemas.microsoft.com/office/drawing/2014/main" id="{EFCCFBD2-A21E-4F2F-9BF9-22E80A2AC3A2}"/>
              </a:ext>
            </a:extLst>
          </p:cNvPr>
          <p:cNvSpPr>
            <a:spLocks xmlns:a="http://schemas.openxmlformats.org/drawingml/2006/main" noGrp="1"/>
          </p:cNvSpPr>
          <p:nvPr/>
        </p:nvSpPr>
        <p:spPr>
          <a:xfrm xmlns:a="http://schemas.openxmlformats.org/drawingml/2006/main">
            <a:off x="10229850" y="6191250"/>
            <a:ext cx="42100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Persist exact request bytes</a:t>
            </a:r>
          </a:p>
        </p:txBody>
      </p:sp>
      <p:sp>
        <p:nvSpPr>
          <p:cNvPr id="20" name="node-63">
            <a:extLst xmlns:a="http://schemas.openxmlformats.org/drawingml/2006/main">
              <a:ext uri="{FF2B5EF4-FFF2-40B4-BE49-F238E27FC236}">
                <a16:creationId xmlns:a16="http://schemas.microsoft.com/office/drawing/2014/main" id="{A5F6BF47-B2AF-4876-8100-F62D7915229C}"/>
              </a:ext>
            </a:extLst>
          </p:cNvPr>
          <p:cNvSpPr>
            <a:spLocks xmlns:a="http://schemas.openxmlformats.org/drawingml/2006/main" noGrp="1"/>
          </p:cNvSpPr>
          <p:nvPr/>
        </p:nvSpPr>
        <p:spPr>
          <a:xfrm xmlns:a="http://schemas.openxmlformats.org/drawingml/2006/main">
            <a:off x="4895850" y="5581650"/>
            <a:ext cx="4095750" cy="13335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1" name="text-64">
            <a:extLst xmlns:a="http://schemas.openxmlformats.org/drawingml/2006/main">
              <a:ext uri="{FF2B5EF4-FFF2-40B4-BE49-F238E27FC236}">
                <a16:creationId xmlns:a16="http://schemas.microsoft.com/office/drawing/2014/main" id="{1B08B043-99E0-4DC9-A457-829132B02BC1}"/>
              </a:ext>
            </a:extLst>
          </p:cNvPr>
          <p:cNvSpPr>
            <a:spLocks xmlns:a="http://schemas.openxmlformats.org/drawingml/2006/main" noGrp="1"/>
          </p:cNvSpPr>
          <p:nvPr/>
        </p:nvSpPr>
        <p:spPr>
          <a:xfrm xmlns:a="http://schemas.openxmlformats.org/drawingml/2006/main">
            <a:off x="5086350" y="5753100"/>
            <a:ext cx="371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Members-only portal</a:t>
            </a:r>
          </a:p>
        </p:txBody>
      </p:sp>
      <p:sp>
        <p:nvSpPr>
          <p:cNvPr id="22" name="text-65">
            <a:extLst xmlns:a="http://schemas.openxmlformats.org/drawingml/2006/main">
              <a:ext uri="{FF2B5EF4-FFF2-40B4-BE49-F238E27FC236}">
                <a16:creationId xmlns:a16="http://schemas.microsoft.com/office/drawing/2014/main" id="{1F96B2CE-1CEA-4B57-8471-9E11877450D6}"/>
              </a:ext>
            </a:extLst>
          </p:cNvPr>
          <p:cNvSpPr>
            <a:spLocks xmlns:a="http://schemas.openxmlformats.org/drawingml/2006/main" noGrp="1"/>
          </p:cNvSpPr>
          <p:nvPr/>
        </p:nvSpPr>
        <p:spPr>
          <a:xfrm xmlns:a="http://schemas.openxmlformats.org/drawingml/2006/main">
            <a:off x="5086350" y="6191250"/>
            <a:ext cx="3714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Member ACL + meeting schema target</a:t>
            </a:r>
          </a:p>
        </p:txBody>
      </p:sp>
      <p:sp>
        <p:nvSpPr>
          <p:cNvPr id="23" name="node-66">
            <a:extLst xmlns:a="http://schemas.openxmlformats.org/drawingml/2006/main">
              <a:ext uri="{FF2B5EF4-FFF2-40B4-BE49-F238E27FC236}">
                <a16:creationId xmlns:a16="http://schemas.microsoft.com/office/drawing/2014/main" id="{2D7ABAAC-3F1C-4628-8CD8-37ECF763AE3A}"/>
              </a:ext>
            </a:extLst>
          </p:cNvPr>
          <p:cNvSpPr>
            <a:spLocks xmlns:a="http://schemas.openxmlformats.org/drawingml/2006/main" noGrp="1"/>
          </p:cNvSpPr>
          <p:nvPr/>
        </p:nvSpPr>
        <p:spPr>
          <a:xfrm xmlns:a="http://schemas.openxmlformats.org/drawingml/2006/main">
            <a:off x="609600" y="5581650"/>
            <a:ext cx="3238500" cy="13335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4" name="text-67">
            <a:extLst xmlns:a="http://schemas.openxmlformats.org/drawingml/2006/main">
              <a:ext uri="{FF2B5EF4-FFF2-40B4-BE49-F238E27FC236}">
                <a16:creationId xmlns:a16="http://schemas.microsoft.com/office/drawing/2014/main" id="{7936EEF2-B06A-41A9-9E71-C05B6252A932}"/>
              </a:ext>
            </a:extLst>
          </p:cNvPr>
          <p:cNvSpPr>
            <a:spLocks xmlns:a="http://schemas.openxmlformats.org/drawingml/2006/main" noGrp="1"/>
          </p:cNvSpPr>
          <p:nvPr/>
        </p:nvSpPr>
        <p:spPr>
          <a:xfrm xmlns:a="http://schemas.openxmlformats.org/drawingml/2006/main">
            <a:off x="800100" y="57531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Verified receipt</a:t>
            </a:r>
          </a:p>
        </p:txBody>
      </p:sp>
      <p:sp>
        <p:nvSpPr>
          <p:cNvPr id="25" name="text-68">
            <a:extLst xmlns:a="http://schemas.openxmlformats.org/drawingml/2006/main">
              <a:ext uri="{FF2B5EF4-FFF2-40B4-BE49-F238E27FC236}">
                <a16:creationId xmlns:a16="http://schemas.microsoft.com/office/drawing/2014/main" id="{4BB1071A-BB1E-4E2E-92ED-1E05E25AC4AC}"/>
              </a:ext>
            </a:extLst>
          </p:cNvPr>
          <p:cNvSpPr>
            <a:spLocks xmlns:a="http://schemas.openxmlformats.org/drawingml/2006/main" noGrp="1"/>
          </p:cNvSpPr>
          <p:nvPr/>
        </p:nvSpPr>
        <p:spPr>
          <a:xfrm xmlns:a="http://schemas.openxmlformats.org/drawingml/2006/main">
            <a:off x="800100" y="6191250"/>
            <a:ext cx="2857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URLs + hash + audience</a:t>
            </a:r>
          </a:p>
        </p:txBody>
      </p:sp>
      <p:sp>
        <p:nvSpPr>
          <p:cNvPr id="29" name="text-69">
            <a:extLst xmlns:a="http://schemas.openxmlformats.org/drawingml/2006/main">
              <a:ext uri="{FF2B5EF4-FFF2-40B4-BE49-F238E27FC236}">
                <a16:creationId xmlns:a16="http://schemas.microsoft.com/office/drawing/2014/main" id="{F32D6399-523B-4170-BDA3-19BB1BD94AB3}"/>
              </a:ext>
            </a:extLst>
          </p:cNvPr>
          <p:cNvSpPr>
            <a:spLocks xmlns:a="http://schemas.openxmlformats.org/drawingml/2006/main" noGrp="1"/>
          </p:cNvSpPr>
          <p:nvPr/>
        </p:nvSpPr>
        <p:spPr>
          <a:xfrm xmlns:a="http://schemas.openxmlformats.org/drawingml/2006/main">
            <a:off x="4895850" y="4067175"/>
            <a:ext cx="619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buNone/>
              <a:defRPr sz="1725" b="0">
                <a:solidFill>
                  <a:srgbClr val="49616A"/>
                </a:solidFill>
                <a:latin typeface="Aptos"/>
                <a:ea typeface="Aptos"/>
                <a:cs typeface="Aptos"/>
              </a:defRPr>
            </a:pPr>
            <a:r>
              <a:rPr sz="1725" b="0">
                <a:solidFill>
                  <a:srgbClr val="49616A"/>
                </a:solidFill>
                <a:latin typeface="Aptos"/>
                <a:ea typeface="Aptos"/>
                <a:cs typeface="Aptos"/>
              </a:rPr>
              <a:t>Source-grounded quotes and action references</a:t>
            </a:r>
          </a:p>
        </p:txBody>
      </p:sp>
    </p:spTree>
    <p:extLst>
      <p:ext uri="{BB962C8B-B14F-4D97-AF65-F5344CB8AC3E}">
        <p14:creationId xmlns:p14="http://schemas.microsoft.com/office/powerpoint/2010/main" val="1180322789"/>
      </p:ext>
    </p:extLst>
  </p:cSld>
</p:sld>
</file>

<file path=ppt/slides/slide4.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1" name="">
            <a:extLst xmlns:a="http://schemas.openxmlformats.org/drawingml/2006/main">
              <a:ext uri="{FF2B5EF4-FFF2-40B4-BE49-F238E27FC236}">
                <a16:creationId xmlns:a16="http://schemas.microsoft.com/office/drawing/2014/main" id="{E04CA699-12DE-4EB3-A909-FB245B95BDD5}"/>
              </a:ext>
            </a:extLst>
          </p:cNvPr>
          <p:cNvCxnSpPr>
            <a:stCxn xmlns:a="http://schemas.openxmlformats.org/drawingml/2006/main" id="23" idx="1"/>
            <a:endCxn xmlns:a="http://schemas.openxmlformats.org/drawingml/2006/main" id="26" idx="3"/>
          </p:cNvCxnSpPr>
          <p:nvPr/>
        </p:nvCxnSpPr>
        <p:spPr>
          <a:xfrm xmlns:a="http://schemas.openxmlformats.org/drawingml/2006/main" flipH="1">
            <a:off x="4724400" y="6143625"/>
            <a:ext cx="8382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30" name="">
            <a:extLst xmlns:a="http://schemas.openxmlformats.org/drawingml/2006/main">
              <a:ext uri="{FF2B5EF4-FFF2-40B4-BE49-F238E27FC236}">
                <a16:creationId xmlns:a16="http://schemas.microsoft.com/office/drawing/2014/main" id="{5394FC92-4FC0-4564-BAED-A2B6274A82DA}"/>
              </a:ext>
            </a:extLst>
          </p:cNvPr>
          <p:cNvCxnSpPr>
            <a:stCxn xmlns:a="http://schemas.openxmlformats.org/drawingml/2006/main" id="20" idx="1"/>
            <a:endCxn xmlns:a="http://schemas.openxmlformats.org/drawingml/2006/main" id="23" idx="3"/>
          </p:cNvCxnSpPr>
          <p:nvPr/>
        </p:nvCxnSpPr>
        <p:spPr>
          <a:xfrm xmlns:a="http://schemas.openxmlformats.org/drawingml/2006/main" flipH="1">
            <a:off x="9677400" y="6143625"/>
            <a:ext cx="8382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9" name="">
            <a:extLst xmlns:a="http://schemas.openxmlformats.org/drawingml/2006/main">
              <a:ext uri="{FF2B5EF4-FFF2-40B4-BE49-F238E27FC236}">
                <a16:creationId xmlns:a16="http://schemas.microsoft.com/office/drawing/2014/main" id="{8C7059F8-1D98-4019-A990-C648261D160F}"/>
              </a:ext>
            </a:extLst>
          </p:cNvPr>
          <p:cNvCxnSpPr>
            <a:stCxn xmlns:a="http://schemas.openxmlformats.org/drawingml/2006/main" id="12" idx="2"/>
            <a:endCxn xmlns:a="http://schemas.openxmlformats.org/drawingml/2006/main" id="20" idx="0"/>
          </p:cNvCxnSpPr>
          <p:nvPr/>
        </p:nvCxnSpPr>
        <p:spPr>
          <a:xfrm xmlns:a="http://schemas.openxmlformats.org/drawingml/2006/main">
            <a:off x="12573000" y="3952875"/>
            <a:ext cx="0" cy="147637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6" name="">
            <a:extLst xmlns:a="http://schemas.openxmlformats.org/drawingml/2006/main">
              <a:ext uri="{FF2B5EF4-FFF2-40B4-BE49-F238E27FC236}">
                <a16:creationId xmlns:a16="http://schemas.microsoft.com/office/drawing/2014/main" id="{DD07D8A8-748F-4F3B-8965-2AE6FAA170A0}"/>
              </a:ext>
            </a:extLst>
          </p:cNvPr>
          <p:cNvCxnSpPr>
            <a:stCxn xmlns:a="http://schemas.openxmlformats.org/drawingml/2006/main" id="9" idx="3"/>
            <a:endCxn xmlns:a="http://schemas.openxmlformats.org/drawingml/2006/main" id="12" idx="1"/>
          </p:cNvCxnSpPr>
          <p:nvPr/>
        </p:nvCxnSpPr>
        <p:spPr>
          <a:xfrm xmlns:a="http://schemas.openxmlformats.org/drawingml/2006/main">
            <a:off x="9677400" y="3190875"/>
            <a:ext cx="8382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5" name="">
            <a:extLst xmlns:a="http://schemas.openxmlformats.org/drawingml/2006/main">
              <a:ext uri="{FF2B5EF4-FFF2-40B4-BE49-F238E27FC236}">
                <a16:creationId xmlns:a16="http://schemas.microsoft.com/office/drawing/2014/main" id="{1ED811AC-047E-4D52-B3B5-AD7369AB142B}"/>
              </a:ext>
            </a:extLst>
          </p:cNvPr>
          <p:cNvCxnSpPr>
            <a:stCxn xmlns:a="http://schemas.openxmlformats.org/drawingml/2006/main" id="6" idx="3"/>
            <a:endCxn xmlns:a="http://schemas.openxmlformats.org/drawingml/2006/main" id="9" idx="1"/>
          </p:cNvCxnSpPr>
          <p:nvPr/>
        </p:nvCxnSpPr>
        <p:spPr>
          <a:xfrm xmlns:a="http://schemas.openxmlformats.org/drawingml/2006/main">
            <a:off x="4724400" y="3190875"/>
            <a:ext cx="8382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3" name="text-70">
            <a:extLst xmlns:a="http://schemas.openxmlformats.org/drawingml/2006/main">
              <a:ext uri="{FF2B5EF4-FFF2-40B4-BE49-F238E27FC236}">
                <a16:creationId xmlns:a16="http://schemas.microsoft.com/office/drawing/2014/main" id="{EF874B21-4124-4778-AF33-25124F2FA292}"/>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buNone/>
              <a:defRPr sz="3600" b="1">
                <a:solidFill>
                  <a:srgbClr val="132E38"/>
                </a:solidFill>
                <a:latin typeface="Aptos"/>
                <a:ea typeface="Aptos"/>
                <a:cs typeface="Aptos"/>
              </a:defRPr>
            </a:pPr>
            <a:r>
              <a:rPr sz="3600" b="1">
                <a:solidFill>
                  <a:srgbClr val="132E38"/>
                </a:solidFill>
                <a:latin typeface="Aptos"/>
                <a:ea typeface="Aptos"/>
                <a:cs typeface="Aptos"/>
              </a:rPr>
              <a:t>Native grant review and governance</a:t>
            </a:r>
          </a:p>
        </p:txBody>
      </p:sp>
      <p:sp>
        <p:nvSpPr>
          <p:cNvPr id="2" name="text-71">
            <a:extLst xmlns:a="http://schemas.openxmlformats.org/drawingml/2006/main">
              <a:ext uri="{FF2B5EF4-FFF2-40B4-BE49-F238E27FC236}">
                <a16:creationId xmlns:a16="http://schemas.microsoft.com/office/drawing/2014/main" id="{5FF08E44-AAA8-47EE-94A2-3831C16F2963}"/>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buNone/>
              <a:defRPr sz="2025" b="0">
                <a:solidFill>
                  <a:srgbClr val="49616A"/>
                </a:solidFill>
                <a:latin typeface="Aptos"/>
                <a:ea typeface="Aptos"/>
                <a:cs typeface="Aptos"/>
              </a:defRPr>
            </a:pPr>
            <a:r>
              <a:rPr sz="2025" b="0">
                <a:solidFill>
                  <a:srgbClr val="49616A"/>
                </a:solidFill>
                <a:latin typeface="Aptos"/>
                <a:ea typeface="Aptos"/>
                <a:cs typeface="Aptos"/>
              </a:rPr>
              <a:t>Native workflow target · trusted decision adapter planned</a:t>
            </a:r>
          </a:p>
        </p:txBody>
      </p:sp>
      <p:sp>
        <p:nvSpPr>
          <p:cNvPr id="3" name="">
            <a:extLst xmlns:a="http://schemas.openxmlformats.org/drawingml/2006/main">
              <a:ext uri="{FF2B5EF4-FFF2-40B4-BE49-F238E27FC236}">
                <a16:creationId xmlns:a16="http://schemas.microsoft.com/office/drawing/2014/main" id="{B0AB77A2-52BD-470B-8CDD-C3F8A37B3102}"/>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72">
            <a:extLst xmlns:a="http://schemas.openxmlformats.org/drawingml/2006/main">
              <a:ext uri="{FF2B5EF4-FFF2-40B4-BE49-F238E27FC236}">
                <a16:creationId xmlns:a16="http://schemas.microsoft.com/office/drawing/2014/main" id="{89CC6151-B97C-4514-BA56-88C25FE52779}"/>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buNone/>
              <a:defRPr sz="1350" b="0">
                <a:solidFill>
                  <a:srgbClr val="49616A"/>
                </a:solidFill>
                <a:latin typeface="Aptos"/>
                <a:ea typeface="Aptos"/>
                <a:cs typeface="Aptos"/>
              </a:defRPr>
            </a:pPr>
            <a:r>
              <a:rPr sz="1350" b="0">
                <a:solidFill>
                  <a:srgbClr val="49616A"/>
                </a:solidFill>
                <a:latin typeface="Aptos"/>
                <a:ea typeface="Aptos"/>
                <a:cs typeface="Aptos"/>
              </a:rPr>
              <a:t>Inertia architecture · r12 · 23 October 2026</a:t>
            </a:r>
          </a:p>
        </p:txBody>
      </p:sp>
      <p:sp>
        <p:nvSpPr>
          <p:cNvPr id="5" name="text-73">
            <a:extLst xmlns:a="http://schemas.openxmlformats.org/drawingml/2006/main">
              <a:ext uri="{FF2B5EF4-FFF2-40B4-BE49-F238E27FC236}">
                <a16:creationId xmlns:a16="http://schemas.microsoft.com/office/drawing/2014/main" id="{3E6A0EA5-501E-42B7-B203-FCC0B4B7E56C}"/>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buNone/>
              <a:defRPr sz="1650" b="1">
                <a:solidFill>
                  <a:srgbClr val="157D80"/>
                </a:solidFill>
                <a:latin typeface="Aptos"/>
                <a:ea typeface="Aptos"/>
                <a:cs typeface="Aptos"/>
              </a:defRPr>
            </a:pPr>
            <a:r>
              <a:rPr sz="1650" b="1">
                <a:solidFill>
                  <a:srgbClr val="157D80"/>
                </a:solidFill>
                <a:latin typeface="Aptos"/>
                <a:ea typeface="Aptos"/>
                <a:cs typeface="Aptos"/>
              </a:rPr>
              <a:t>4</a:t>
            </a:r>
          </a:p>
        </p:txBody>
      </p:sp>
      <p:sp>
        <p:nvSpPr>
          <p:cNvPr id="6" name="node-74">
            <a:extLst xmlns:a="http://schemas.openxmlformats.org/drawingml/2006/main">
              <a:ext uri="{FF2B5EF4-FFF2-40B4-BE49-F238E27FC236}">
                <a16:creationId xmlns:a16="http://schemas.microsoft.com/office/drawing/2014/main" id="{54E8C8F5-0D53-4856-9375-12D444649FFC}"/>
              </a:ext>
            </a:extLst>
          </p:cNvPr>
          <p:cNvSpPr>
            <a:spLocks xmlns:a="http://schemas.openxmlformats.org/drawingml/2006/main" noGrp="1"/>
          </p:cNvSpPr>
          <p:nvPr/>
        </p:nvSpPr>
        <p:spPr>
          <a:xfrm xmlns:a="http://schemas.openxmlformats.org/drawingml/2006/main">
            <a:off x="609600" y="2428875"/>
            <a:ext cx="4114800" cy="15240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text-75">
            <a:extLst xmlns:a="http://schemas.openxmlformats.org/drawingml/2006/main">
              <a:ext uri="{FF2B5EF4-FFF2-40B4-BE49-F238E27FC236}">
                <a16:creationId xmlns:a16="http://schemas.microsoft.com/office/drawing/2014/main" id="{1216B158-D5A6-4DA8-81E8-151CD8B54B7C}"/>
              </a:ext>
            </a:extLst>
          </p:cNvPr>
          <p:cNvSpPr>
            <a:spLocks xmlns:a="http://schemas.openxmlformats.org/drawingml/2006/main" noGrp="1"/>
          </p:cNvSpPr>
          <p:nvPr/>
        </p:nvSpPr>
        <p:spPr>
          <a:xfrm xmlns:a="http://schemas.openxmlformats.org/drawingml/2006/main">
            <a:off x="800100" y="2600325"/>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Shared grant harness</a:t>
            </a:r>
          </a:p>
        </p:txBody>
      </p:sp>
      <p:sp>
        <p:nvSpPr>
          <p:cNvPr id="8" name="text-76">
            <a:extLst xmlns:a="http://schemas.openxmlformats.org/drawingml/2006/main">
              <a:ext uri="{FF2B5EF4-FFF2-40B4-BE49-F238E27FC236}">
                <a16:creationId xmlns:a16="http://schemas.microsoft.com/office/drawing/2014/main" id="{7B56ECEF-417C-40C8-833D-7DAB8DAFD1CE}"/>
              </a:ext>
            </a:extLst>
          </p:cNvPr>
          <p:cNvSpPr>
            <a:spLocks xmlns:a="http://schemas.openxmlformats.org/drawingml/2006/main" noGrp="1"/>
          </p:cNvSpPr>
          <p:nvPr/>
        </p:nvSpPr>
        <p:spPr>
          <a:xfrm xmlns:a="http://schemas.openxmlformats.org/drawingml/2006/main">
            <a:off x="800100" y="3038475"/>
            <a:ext cx="3733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Scout + draft · central / member</a:t>
            </a:r>
          </a:p>
        </p:txBody>
      </p:sp>
      <p:sp>
        <p:nvSpPr>
          <p:cNvPr id="9" name="node-77">
            <a:extLst xmlns:a="http://schemas.openxmlformats.org/drawingml/2006/main">
              <a:ext uri="{FF2B5EF4-FFF2-40B4-BE49-F238E27FC236}">
                <a16:creationId xmlns:a16="http://schemas.microsoft.com/office/drawing/2014/main" id="{F51C7282-8916-41C5-A27B-9751927645BF}"/>
              </a:ext>
            </a:extLst>
          </p:cNvPr>
          <p:cNvSpPr>
            <a:spLocks xmlns:a="http://schemas.openxmlformats.org/drawingml/2006/main" noGrp="1"/>
          </p:cNvSpPr>
          <p:nvPr/>
        </p:nvSpPr>
        <p:spPr>
          <a:xfrm xmlns:a="http://schemas.openxmlformats.org/drawingml/2006/main">
            <a:off x="5562600" y="2428875"/>
            <a:ext cx="4114800" cy="15240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0" name="text-78">
            <a:extLst xmlns:a="http://schemas.openxmlformats.org/drawingml/2006/main">
              <a:ext uri="{FF2B5EF4-FFF2-40B4-BE49-F238E27FC236}">
                <a16:creationId xmlns:a16="http://schemas.microsoft.com/office/drawing/2014/main" id="{3B4519D0-0804-41AB-ADF2-DBACE7849900}"/>
              </a:ext>
            </a:extLst>
          </p:cNvPr>
          <p:cNvSpPr>
            <a:spLocks xmlns:a="http://schemas.openxmlformats.org/drawingml/2006/main" noGrp="1"/>
          </p:cNvSpPr>
          <p:nvPr/>
        </p:nvSpPr>
        <p:spPr>
          <a:xfrm xmlns:a="http://schemas.openxmlformats.org/drawingml/2006/main">
            <a:off x="5753100" y="2600325"/>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buNone/>
              <a:defRPr sz="2250" b="1">
                <a:solidFill>
                  <a:srgbClr val="157D80"/>
                </a:solidFill>
                <a:latin typeface="Aptos"/>
                <a:ea typeface="Aptos"/>
                <a:cs typeface="Aptos"/>
              </a:defRPr>
            </a:pPr>
            <a:r>
              <a:rPr sz="2250" b="1">
                <a:solidFill>
                  <a:srgbClr val="157D80"/>
                </a:solidFill>
                <a:latin typeface="Aptos"/>
                <a:ea typeface="Aptos"/>
                <a:cs typeface="Aptos"/>
              </a:rPr>
              <a:t>Native human review</a:t>
            </a:r>
          </a:p>
        </p:txBody>
      </p:sp>
      <p:sp>
        <p:nvSpPr>
          <p:cNvPr id="11" name="text-79">
            <a:extLst xmlns:a="http://schemas.openxmlformats.org/drawingml/2006/main">
              <a:ext uri="{FF2B5EF4-FFF2-40B4-BE49-F238E27FC236}">
                <a16:creationId xmlns:a16="http://schemas.microsoft.com/office/drawing/2014/main" id="{B1A591D2-0E13-41C9-A078-573FA770A579}"/>
              </a:ext>
            </a:extLst>
          </p:cNvPr>
          <p:cNvSpPr>
            <a:spLocks xmlns:a="http://schemas.openxmlformats.org/drawingml/2006/main" noGrp="1"/>
          </p:cNvSpPr>
          <p:nvPr/>
        </p:nvSpPr>
        <p:spPr>
          <a:xfrm xmlns:a="http://schemas.openxmlformats.org/drawingml/2006/main">
            <a:off x="5753100" y="3038475"/>
            <a:ext cx="3733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Human-only cards · five roles</a:t>
            </a:r>
          </a:p>
        </p:txBody>
      </p:sp>
      <p:sp>
        <p:nvSpPr>
          <p:cNvPr id="12" name="node-80">
            <a:extLst xmlns:a="http://schemas.openxmlformats.org/drawingml/2006/main">
              <a:ext uri="{FF2B5EF4-FFF2-40B4-BE49-F238E27FC236}">
                <a16:creationId xmlns:a16="http://schemas.microsoft.com/office/drawing/2014/main" id="{BC08D4BF-17B0-4436-BD64-1DE85921EECE}"/>
              </a:ext>
            </a:extLst>
          </p:cNvPr>
          <p:cNvSpPr>
            <a:spLocks xmlns:a="http://schemas.openxmlformats.org/drawingml/2006/main" noGrp="1"/>
          </p:cNvSpPr>
          <p:nvPr/>
        </p:nvSpPr>
        <p:spPr>
          <a:xfrm xmlns:a="http://schemas.openxmlformats.org/drawingml/2006/main">
            <a:off x="10515600" y="2428875"/>
            <a:ext cx="4114800" cy="15240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3" name="text-81">
            <a:extLst xmlns:a="http://schemas.openxmlformats.org/drawingml/2006/main">
              <a:ext uri="{FF2B5EF4-FFF2-40B4-BE49-F238E27FC236}">
                <a16:creationId xmlns:a16="http://schemas.microsoft.com/office/drawing/2014/main" id="{3CCA0780-19BD-4B04-A5AB-36A7CF843993}"/>
              </a:ext>
            </a:extLst>
          </p:cNvPr>
          <p:cNvSpPr>
            <a:spLocks xmlns:a="http://schemas.openxmlformats.org/drawingml/2006/main" noGrp="1"/>
          </p:cNvSpPr>
          <p:nvPr/>
        </p:nvSpPr>
        <p:spPr>
          <a:xfrm xmlns:a="http://schemas.openxmlformats.org/drawingml/2006/main">
            <a:off x="10706100" y="2600325"/>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Decision adapter · P</a:t>
            </a:r>
          </a:p>
        </p:txBody>
      </p:sp>
      <p:sp>
        <p:nvSpPr>
          <p:cNvPr id="14" name="text-82">
            <a:extLst xmlns:a="http://schemas.openxmlformats.org/drawingml/2006/main">
              <a:ext uri="{FF2B5EF4-FFF2-40B4-BE49-F238E27FC236}">
                <a16:creationId xmlns:a16="http://schemas.microsoft.com/office/drawing/2014/main" id="{5E93B732-A0DF-44BE-8870-12182B420126}"/>
              </a:ext>
            </a:extLst>
          </p:cNvPr>
          <p:cNvSpPr>
            <a:spLocks xmlns:a="http://schemas.openxmlformats.org/drawingml/2006/main" noGrp="1"/>
          </p:cNvSpPr>
          <p:nvPr/>
        </p:nvSpPr>
        <p:spPr>
          <a:xfrm xmlns:a="http://schemas.openxmlformats.org/drawingml/2006/main">
            <a:off x="10706100" y="3038475"/>
            <a:ext cx="3733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Actor + role + revision checks</a:t>
            </a:r>
          </a:p>
        </p:txBody>
      </p:sp>
      <p:sp>
        <p:nvSpPr>
          <p:cNvPr id="17" name="text-83">
            <a:extLst xmlns:a="http://schemas.openxmlformats.org/drawingml/2006/main">
              <a:ext uri="{FF2B5EF4-FFF2-40B4-BE49-F238E27FC236}">
                <a16:creationId xmlns:a16="http://schemas.microsoft.com/office/drawing/2014/main" id="{C9A6151C-D787-4A41-870D-E412F0721B31}"/>
              </a:ext>
            </a:extLst>
          </p:cNvPr>
          <p:cNvSpPr>
            <a:spLocks xmlns:a="http://schemas.openxmlformats.org/drawingml/2006/main" noGrp="1"/>
          </p:cNvSpPr>
          <p:nvPr/>
        </p:nvSpPr>
        <p:spPr>
          <a:xfrm xmlns:a="http://schemas.openxmlformats.org/drawingml/2006/main">
            <a:off x="609600" y="4238625"/>
            <a:ext cx="4114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buNone/>
              <a:defRPr sz="1725" b="0">
                <a:solidFill>
                  <a:srgbClr val="49616A"/>
                </a:solidFill>
                <a:latin typeface="Aptos"/>
                <a:ea typeface="Aptos"/>
                <a:cs typeface="Aptos"/>
              </a:defRPr>
            </a:pPr>
            <a:r>
              <a:rPr sz="1725" b="0">
                <a:solidFill>
                  <a:srgbClr val="49616A"/>
                </a:solidFill>
                <a:latin typeface="Aptos"/>
                <a:ea typeface="Aptos"/>
                <a:cs typeface="Aptos"/>
              </a:rPr>
              <a:t>Skills + CLI / MCP</a:t>
            </a:r>
          </a:p>
        </p:txBody>
      </p:sp>
      <p:sp>
        <p:nvSpPr>
          <p:cNvPr id="18" name="text-84">
            <a:extLst xmlns:a="http://schemas.openxmlformats.org/drawingml/2006/main">
              <a:ext uri="{FF2B5EF4-FFF2-40B4-BE49-F238E27FC236}">
                <a16:creationId xmlns:a16="http://schemas.microsoft.com/office/drawing/2014/main" id="{207162E4-EF7A-489E-8DE1-17D155336F2C}"/>
              </a:ext>
            </a:extLst>
          </p:cNvPr>
          <p:cNvSpPr>
            <a:spLocks xmlns:a="http://schemas.openxmlformats.org/drawingml/2006/main" noGrp="1"/>
          </p:cNvSpPr>
          <p:nvPr/>
        </p:nvSpPr>
        <p:spPr>
          <a:xfrm xmlns:a="http://schemas.openxmlformats.org/drawingml/2006/main">
            <a:off x="5562600" y="4238625"/>
            <a:ext cx="4114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buNone/>
              <a:defRPr sz="1725" b="0">
                <a:solidFill>
                  <a:srgbClr val="49616A"/>
                </a:solidFill>
                <a:latin typeface="Aptos"/>
                <a:ea typeface="Aptos"/>
                <a:cs typeface="Aptos"/>
              </a:defRPr>
            </a:pPr>
            <a:r>
              <a:rPr sz="1725" b="0">
                <a:solidFill>
                  <a:srgbClr val="49616A"/>
                </a:solidFill>
                <a:latin typeface="Aptos"/>
                <a:ea typeface="Aptos"/>
                <a:cs typeface="Aptos"/>
              </a:rPr>
              <a:t>Proposal verdicts + role signoffs</a:t>
            </a:r>
          </a:p>
        </p:txBody>
      </p:sp>
      <p:sp>
        <p:nvSpPr>
          <p:cNvPr id="19" name="text-85">
            <a:extLst xmlns:a="http://schemas.openxmlformats.org/drawingml/2006/main">
              <a:ext uri="{FF2B5EF4-FFF2-40B4-BE49-F238E27FC236}">
                <a16:creationId xmlns:a16="http://schemas.microsoft.com/office/drawing/2014/main" id="{8405C809-1F5B-4B2A-9C95-77B9D7E89A68}"/>
              </a:ext>
            </a:extLst>
          </p:cNvPr>
          <p:cNvSpPr>
            <a:spLocks xmlns:a="http://schemas.openxmlformats.org/drawingml/2006/main" noGrp="1"/>
          </p:cNvSpPr>
          <p:nvPr/>
        </p:nvSpPr>
        <p:spPr>
          <a:xfrm xmlns:a="http://schemas.openxmlformats.org/drawingml/2006/main">
            <a:off x="10515600" y="4238625"/>
            <a:ext cx="1809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buNone/>
              <a:defRPr sz="1725" b="0">
                <a:solidFill>
                  <a:srgbClr val="49616A"/>
                </a:solidFill>
                <a:latin typeface="Aptos"/>
                <a:ea typeface="Aptos"/>
                <a:cs typeface="Aptos"/>
              </a:defRPr>
            </a:pPr>
            <a:r>
              <a:rPr sz="1725" b="0">
                <a:solidFill>
                  <a:srgbClr val="49616A"/>
                </a:solidFill>
                <a:latin typeface="Aptos"/>
                <a:ea typeface="Aptos"/>
                <a:cs typeface="Aptos"/>
              </a:rPr>
              <a:t>Scoped writes</a:t>
            </a:r>
          </a:p>
          <a:p xmlns:a="http://schemas.openxmlformats.org/drawingml/2006/main">
            <a:pPr>
              <a:buNone/>
              <a:defRPr sz="1725" b="0">
                <a:solidFill>
                  <a:srgbClr val="49616A"/>
                </a:solidFill>
                <a:latin typeface="Aptos"/>
                <a:ea typeface="Aptos"/>
                <a:cs typeface="Aptos"/>
              </a:defRPr>
            </a:pPr>
            <a:r>
              <a:rPr sz="1725" b="0">
                <a:solidFill>
                  <a:srgbClr val="49616A"/>
                </a:solidFill>
                <a:latin typeface="Aptos"/>
                <a:ea typeface="Aptos"/>
                <a:cs typeface="Aptos"/>
              </a:rPr>
              <a:t>Replay recovery</a:t>
            </a:r>
          </a:p>
        </p:txBody>
      </p:sp>
      <p:sp>
        <p:nvSpPr>
          <p:cNvPr id="20" name="node-86">
            <a:extLst xmlns:a="http://schemas.openxmlformats.org/drawingml/2006/main">
              <a:ext uri="{FF2B5EF4-FFF2-40B4-BE49-F238E27FC236}">
                <a16:creationId xmlns:a16="http://schemas.microsoft.com/office/drawing/2014/main" id="{22AFA95B-EB20-4E97-9051-6117C245131F}"/>
              </a:ext>
            </a:extLst>
          </p:cNvPr>
          <p:cNvSpPr>
            <a:spLocks xmlns:a="http://schemas.openxmlformats.org/drawingml/2006/main" noGrp="1"/>
          </p:cNvSpPr>
          <p:nvPr/>
        </p:nvSpPr>
        <p:spPr>
          <a:xfrm xmlns:a="http://schemas.openxmlformats.org/drawingml/2006/main">
            <a:off x="10515600" y="5429250"/>
            <a:ext cx="41148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1" name="text-87">
            <a:extLst xmlns:a="http://schemas.openxmlformats.org/drawingml/2006/main">
              <a:ext uri="{FF2B5EF4-FFF2-40B4-BE49-F238E27FC236}">
                <a16:creationId xmlns:a16="http://schemas.microsoft.com/office/drawing/2014/main" id="{CAE819DD-925E-4E2B-BA28-A046E3485D89}"/>
              </a:ext>
            </a:extLst>
          </p:cNvPr>
          <p:cNvSpPr>
            <a:spLocks xmlns:a="http://schemas.openxmlformats.org/drawingml/2006/main" noGrp="1"/>
          </p:cNvSpPr>
          <p:nvPr/>
        </p:nvSpPr>
        <p:spPr>
          <a:xfrm xmlns:a="http://schemas.openxmlformats.org/drawingml/2006/main">
            <a:off x="10706100" y="5600700"/>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Funding backend</a:t>
            </a:r>
          </a:p>
        </p:txBody>
      </p:sp>
      <p:sp>
        <p:nvSpPr>
          <p:cNvPr id="22" name="text-88">
            <a:extLst xmlns:a="http://schemas.openxmlformats.org/drawingml/2006/main">
              <a:ext uri="{FF2B5EF4-FFF2-40B4-BE49-F238E27FC236}">
                <a16:creationId xmlns:a16="http://schemas.microsoft.com/office/drawing/2014/main" id="{C6596A92-1C5F-408E-A5FA-B464A0E80300}"/>
              </a:ext>
            </a:extLst>
          </p:cNvPr>
          <p:cNvSpPr>
            <a:spLocks xmlns:a="http://schemas.openxmlformats.org/drawingml/2006/main" noGrp="1"/>
          </p:cNvSpPr>
          <p:nvPr/>
        </p:nvSpPr>
        <p:spPr>
          <a:xfrm xmlns:a="http://schemas.openxmlformats.org/drawingml/2006/main">
            <a:off x="10706100" y="6038850"/>
            <a:ext cx="3733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DAO funding schema · target</a:t>
            </a:r>
          </a:p>
        </p:txBody>
      </p:sp>
      <p:sp>
        <p:nvSpPr>
          <p:cNvPr id="23" name="node-89">
            <a:extLst xmlns:a="http://schemas.openxmlformats.org/drawingml/2006/main">
              <a:ext uri="{FF2B5EF4-FFF2-40B4-BE49-F238E27FC236}">
                <a16:creationId xmlns:a16="http://schemas.microsoft.com/office/drawing/2014/main" id="{E3EED3A2-FBC0-4E14-8605-370AC32609C2}"/>
              </a:ext>
            </a:extLst>
          </p:cNvPr>
          <p:cNvSpPr>
            <a:spLocks xmlns:a="http://schemas.openxmlformats.org/drawingml/2006/main" noGrp="1"/>
          </p:cNvSpPr>
          <p:nvPr/>
        </p:nvSpPr>
        <p:spPr>
          <a:xfrm xmlns:a="http://schemas.openxmlformats.org/drawingml/2006/main">
            <a:off x="5562600" y="5429250"/>
            <a:ext cx="4114800" cy="142875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24" name="text-90">
            <a:extLst xmlns:a="http://schemas.openxmlformats.org/drawingml/2006/main">
              <a:ext uri="{FF2B5EF4-FFF2-40B4-BE49-F238E27FC236}">
                <a16:creationId xmlns:a16="http://schemas.microsoft.com/office/drawing/2014/main" id="{6AB16463-E94A-456A-84BA-3FA47AB47F52}"/>
              </a:ext>
            </a:extLst>
          </p:cNvPr>
          <p:cNvSpPr>
            <a:spLocks xmlns:a="http://schemas.openxmlformats.org/drawingml/2006/main" noGrp="1"/>
          </p:cNvSpPr>
          <p:nvPr/>
        </p:nvSpPr>
        <p:spPr>
          <a:xfrm xmlns:a="http://schemas.openxmlformats.org/drawingml/2006/main">
            <a:off x="5753100" y="5600700"/>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buNone/>
              <a:defRPr sz="2250" b="1">
                <a:solidFill>
                  <a:srgbClr val="157D80"/>
                </a:solidFill>
                <a:latin typeface="Aptos"/>
                <a:ea typeface="Aptos"/>
                <a:cs typeface="Aptos"/>
              </a:defRPr>
            </a:pPr>
            <a:r>
              <a:rPr sz="2250" b="1">
                <a:solidFill>
                  <a:srgbClr val="157D80"/>
                </a:solidFill>
                <a:latin typeface="Aptos"/>
                <a:ea typeface="Aptos"/>
                <a:cs typeface="Aptos"/>
              </a:rPr>
              <a:t>Frozen packet</a:t>
            </a:r>
          </a:p>
        </p:txBody>
      </p:sp>
      <p:sp>
        <p:nvSpPr>
          <p:cNvPr id="25" name="text-91">
            <a:extLst xmlns:a="http://schemas.openxmlformats.org/drawingml/2006/main">
              <a:ext uri="{FF2B5EF4-FFF2-40B4-BE49-F238E27FC236}">
                <a16:creationId xmlns:a16="http://schemas.microsoft.com/office/drawing/2014/main" id="{91703194-670F-4AA7-933C-720952350671}"/>
              </a:ext>
            </a:extLst>
          </p:cNvPr>
          <p:cNvSpPr>
            <a:spLocks xmlns:a="http://schemas.openxmlformats.org/drawingml/2006/main" noGrp="1"/>
          </p:cNvSpPr>
          <p:nvPr/>
        </p:nvSpPr>
        <p:spPr>
          <a:xfrm xmlns:a="http://schemas.openxmlformats.org/drawingml/2006/main">
            <a:off x="5753100" y="6038850"/>
            <a:ext cx="3733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Direct application</a:t>
            </a:r>
          </a:p>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Exact bytes + review references</a:t>
            </a:r>
          </a:p>
        </p:txBody>
      </p:sp>
      <p:sp>
        <p:nvSpPr>
          <p:cNvPr id="26" name="node-92">
            <a:extLst xmlns:a="http://schemas.openxmlformats.org/drawingml/2006/main">
              <a:ext uri="{FF2B5EF4-FFF2-40B4-BE49-F238E27FC236}">
                <a16:creationId xmlns:a16="http://schemas.microsoft.com/office/drawing/2014/main" id="{AD2DF990-115A-4FCF-9696-E2A6C3824C11}"/>
              </a:ext>
            </a:extLst>
          </p:cNvPr>
          <p:cNvSpPr>
            <a:spLocks xmlns:a="http://schemas.openxmlformats.org/drawingml/2006/main" noGrp="1"/>
          </p:cNvSpPr>
          <p:nvPr/>
        </p:nvSpPr>
        <p:spPr>
          <a:xfrm xmlns:a="http://schemas.openxmlformats.org/drawingml/2006/main">
            <a:off x="609600" y="5429250"/>
            <a:ext cx="4114800" cy="142875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27" name="text-93">
            <a:extLst xmlns:a="http://schemas.openxmlformats.org/drawingml/2006/main">
              <a:ext uri="{FF2B5EF4-FFF2-40B4-BE49-F238E27FC236}">
                <a16:creationId xmlns:a16="http://schemas.microsoft.com/office/drawing/2014/main" id="{B7FA40FA-F3AE-4D99-B646-468917B730AE}"/>
              </a:ext>
            </a:extLst>
          </p:cNvPr>
          <p:cNvSpPr>
            <a:spLocks xmlns:a="http://schemas.openxmlformats.org/drawingml/2006/main" noGrp="1"/>
          </p:cNvSpPr>
          <p:nvPr/>
        </p:nvSpPr>
        <p:spPr>
          <a:xfrm xmlns:a="http://schemas.openxmlformats.org/drawingml/2006/main">
            <a:off x="800100" y="5600700"/>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buNone/>
              <a:defRPr sz="2250" b="1">
                <a:solidFill>
                  <a:srgbClr val="157D80"/>
                </a:solidFill>
                <a:latin typeface="Aptos"/>
                <a:ea typeface="Aptos"/>
                <a:cs typeface="Aptos"/>
              </a:defRPr>
            </a:pPr>
            <a:r>
              <a:rPr sz="2250" b="1">
                <a:solidFill>
                  <a:srgbClr val="157D80"/>
                </a:solidFill>
                <a:latin typeface="Aptos"/>
                <a:ea typeface="Aptos"/>
                <a:cs typeface="Aptos"/>
              </a:rPr>
              <a:t>Vocdoni ratification</a:t>
            </a:r>
          </a:p>
        </p:txBody>
      </p:sp>
      <p:sp>
        <p:nvSpPr>
          <p:cNvPr id="28" name="text-94">
            <a:extLst xmlns:a="http://schemas.openxmlformats.org/drawingml/2006/main">
              <a:ext uri="{FF2B5EF4-FFF2-40B4-BE49-F238E27FC236}">
                <a16:creationId xmlns:a16="http://schemas.microsoft.com/office/drawing/2014/main" id="{0B18DC30-D386-4911-BC5A-48E643EF9ACF}"/>
              </a:ext>
            </a:extLst>
          </p:cNvPr>
          <p:cNvSpPr>
            <a:spLocks xmlns:a="http://schemas.openxmlformats.org/drawingml/2006/main" noGrp="1"/>
          </p:cNvSpPr>
          <p:nvPr/>
        </p:nvSpPr>
        <p:spPr>
          <a:xfrm xmlns:a="http://schemas.openxmlformats.org/drawingml/2006/main">
            <a:off x="800100" y="6038850"/>
            <a:ext cx="3733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Separate packet-bound authority</a:t>
            </a:r>
          </a:p>
        </p:txBody>
      </p:sp>
      <p:sp>
        <p:nvSpPr>
          <p:cNvPr id="32" name="text-95">
            <a:extLst xmlns:a="http://schemas.openxmlformats.org/drawingml/2006/main">
              <a:ext uri="{FF2B5EF4-FFF2-40B4-BE49-F238E27FC236}">
                <a16:creationId xmlns:a16="http://schemas.microsoft.com/office/drawing/2014/main" id="{E2590031-BA48-40B5-B2F4-D9F39EA1A41D}"/>
              </a:ext>
            </a:extLst>
          </p:cNvPr>
          <p:cNvSpPr>
            <a:spLocks xmlns:a="http://schemas.openxmlformats.org/drawingml/2006/main" noGrp="1"/>
          </p:cNvSpPr>
          <p:nvPr/>
        </p:nvSpPr>
        <p:spPr>
          <a:xfrm xmlns:a="http://schemas.openxmlformats.org/drawingml/2006/main">
            <a:off x="609600" y="7191375"/>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916011"/>
                </a:solidFill>
                <a:latin typeface="Aptos"/>
                <a:ea typeface="Aptos"/>
                <a:cs typeface="Aptos"/>
              </a:defRPr>
            </a:defPPr>
          </a:lstStyle>
          <a:p xmlns:a="http://schemas.openxmlformats.org/drawingml/2006/main">
            <a:pPr>
              <a:buNone/>
              <a:defRPr sz="2025" b="0">
                <a:solidFill>
                  <a:srgbClr val="916011"/>
                </a:solidFill>
                <a:latin typeface="Aptos"/>
                <a:ea typeface="Aptos"/>
                <a:cs typeface="Aptos"/>
              </a:defRPr>
            </a:pPr>
            <a:r>
              <a:rPr sz="2025" b="0">
                <a:solidFill>
                  <a:srgbClr val="916011"/>
                </a:solidFill>
                <a:latin typeface="Aptos"/>
                <a:ea typeface="Aptos"/>
                <a:cs typeface="Aptos"/>
              </a:rPr>
              <a:t>Existing MCP has no proposal acceptance or packet signoff tools</a:t>
            </a:r>
          </a:p>
        </p:txBody>
      </p:sp>
    </p:spTree>
    <p:extLst>
      <p:ext uri="{BB962C8B-B14F-4D97-AF65-F5344CB8AC3E}">
        <p14:creationId xmlns:p14="http://schemas.microsoft.com/office/powerpoint/2010/main" val="987652033"/>
      </p:ext>
    </p:extLst>
  </p:cSld>
</p:sld>
</file>

<file path=ppt/slides/slide5.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5" name="">
            <a:extLst xmlns:a="http://schemas.openxmlformats.org/drawingml/2006/main">
              <a:ext uri="{FF2B5EF4-FFF2-40B4-BE49-F238E27FC236}">
                <a16:creationId xmlns:a16="http://schemas.microsoft.com/office/drawing/2014/main" id="{4B8B4585-2F6E-4855-A69B-D27CAA9F98FD}"/>
              </a:ext>
            </a:extLst>
          </p:cNvPr>
          <p:cNvCxnSpPr>
            <a:stCxn xmlns:a="http://schemas.openxmlformats.org/drawingml/2006/main" id="18" idx="0"/>
            <a:endCxn xmlns:a="http://schemas.openxmlformats.org/drawingml/2006/main" id="22" idx="2"/>
          </p:cNvCxnSpPr>
          <p:nvPr/>
        </p:nvCxnSpPr>
        <p:spPr>
          <a:xfrm xmlns:a="http://schemas.openxmlformats.org/drawingml/2006/main" flipV="1">
            <a:off x="12630150" y="3810000"/>
            <a:ext cx="0" cy="16192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1" name="">
            <a:extLst xmlns:a="http://schemas.openxmlformats.org/drawingml/2006/main">
              <a:ext uri="{FF2B5EF4-FFF2-40B4-BE49-F238E27FC236}">
                <a16:creationId xmlns:a16="http://schemas.microsoft.com/office/drawing/2014/main" id="{B729C1BC-9387-4AF1-99BA-0FDF0E4D8F33}"/>
              </a:ext>
            </a:extLst>
          </p:cNvPr>
          <p:cNvCxnSpPr>
            <a:stCxn xmlns:a="http://schemas.openxmlformats.org/drawingml/2006/main" id="14" idx="3"/>
            <a:endCxn xmlns:a="http://schemas.openxmlformats.org/drawingml/2006/main" id="18" idx="1"/>
          </p:cNvCxnSpPr>
          <p:nvPr/>
        </p:nvCxnSpPr>
        <p:spPr>
          <a:xfrm xmlns:a="http://schemas.openxmlformats.org/drawingml/2006/main">
            <a:off x="9372600" y="6119813"/>
            <a:ext cx="12573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7" name="">
            <a:extLst xmlns:a="http://schemas.openxmlformats.org/drawingml/2006/main">
              <a:ext uri="{FF2B5EF4-FFF2-40B4-BE49-F238E27FC236}">
                <a16:creationId xmlns:a16="http://schemas.microsoft.com/office/drawing/2014/main" id="{8310D359-34ED-43DC-AD9B-133B591B7EFE}"/>
              </a:ext>
            </a:extLst>
          </p:cNvPr>
          <p:cNvCxnSpPr>
            <a:stCxn xmlns:a="http://schemas.openxmlformats.org/drawingml/2006/main" id="9" idx="3"/>
            <a:endCxn xmlns:a="http://schemas.openxmlformats.org/drawingml/2006/main" id="14" idx="1"/>
          </p:cNvCxnSpPr>
          <p:nvPr/>
        </p:nvCxnSpPr>
        <p:spPr>
          <a:xfrm xmlns:a="http://schemas.openxmlformats.org/drawingml/2006/main">
            <a:off x="4610100" y="6119813"/>
            <a:ext cx="1333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2" name="">
            <a:extLst xmlns:a="http://schemas.openxmlformats.org/drawingml/2006/main">
              <a:ext uri="{FF2B5EF4-FFF2-40B4-BE49-F238E27FC236}">
                <a16:creationId xmlns:a16="http://schemas.microsoft.com/office/drawing/2014/main" id="{C49351CB-3194-4D46-8A5B-CFA13B24FCE6}"/>
              </a:ext>
            </a:extLst>
          </p:cNvPr>
          <p:cNvCxnSpPr>
            <a:stCxn xmlns:a="http://schemas.openxmlformats.org/drawingml/2006/main" id="6" idx="2"/>
            <a:endCxn xmlns:a="http://schemas.openxmlformats.org/drawingml/2006/main" id="9" idx="0"/>
          </p:cNvCxnSpPr>
          <p:nvPr/>
        </p:nvCxnSpPr>
        <p:spPr>
          <a:xfrm xmlns:a="http://schemas.openxmlformats.org/drawingml/2006/main">
            <a:off x="2609850" y="3810000"/>
            <a:ext cx="0" cy="16192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8" name="text-96">
            <a:extLst xmlns:a="http://schemas.openxmlformats.org/drawingml/2006/main">
              <a:ext uri="{FF2B5EF4-FFF2-40B4-BE49-F238E27FC236}">
                <a16:creationId xmlns:a16="http://schemas.microsoft.com/office/drawing/2014/main" id="{4EF88238-193F-40EE-9EF3-482517B0D187}"/>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defRPr sz="3600" b="1">
                <a:solidFill>
                  <a:srgbClr val="132E38"/>
                </a:solidFill>
                <a:latin typeface="Aptos"/>
                <a:ea typeface="Aptos"/>
                <a:cs typeface="Aptos"/>
              </a:defRPr>
            </a:pPr>
            <a:r>
              <a:rPr sz="3600" b="1">
                <a:solidFill>
                  <a:srgbClr val="132E38"/>
                </a:solidFill>
                <a:latin typeface="Aptos"/>
                <a:ea typeface="Aptos"/>
                <a:cs typeface="Aptos"/>
              </a:rPr>
              <a:t>Shared grant harness, scoped execution</a:t>
            </a:r>
          </a:p>
        </p:txBody>
      </p:sp>
      <p:sp>
        <p:nvSpPr>
          <p:cNvPr id="2" name="text-97">
            <a:extLst xmlns:a="http://schemas.openxmlformats.org/drawingml/2006/main">
              <a:ext uri="{FF2B5EF4-FFF2-40B4-BE49-F238E27FC236}">
                <a16:creationId xmlns:a16="http://schemas.microsoft.com/office/drawing/2014/main" id="{0D07ECC8-851F-44FC-BA63-762285298B81}"/>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defRPr sz="2025" b="0">
                <a:solidFill>
                  <a:srgbClr val="49616A"/>
                </a:solidFill>
                <a:latin typeface="Aptos"/>
                <a:ea typeface="Aptos"/>
                <a:cs typeface="Aptos"/>
              </a:defRPr>
            </a:pPr>
            <a:r>
              <a:rPr sz="2025" b="0">
                <a:solidFill>
                  <a:srgbClr val="49616A"/>
                </a:solidFill>
                <a:latin typeface="Aptos"/>
                <a:ea typeface="Aptos"/>
                <a:cs typeface="Aptos"/>
              </a:rPr>
              <a:t>Same skills and tool schema · separate permissions</a:t>
            </a:r>
          </a:p>
        </p:txBody>
      </p:sp>
      <p:sp>
        <p:nvSpPr>
          <p:cNvPr id="3" name="">
            <a:extLst xmlns:a="http://schemas.openxmlformats.org/drawingml/2006/main">
              <a:ext uri="{FF2B5EF4-FFF2-40B4-BE49-F238E27FC236}">
                <a16:creationId xmlns:a16="http://schemas.microsoft.com/office/drawing/2014/main" id="{9457D7D5-50E7-4EBA-9EED-64F02328ABAA}"/>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98">
            <a:extLst xmlns:a="http://schemas.openxmlformats.org/drawingml/2006/main">
              <a:ext uri="{FF2B5EF4-FFF2-40B4-BE49-F238E27FC236}">
                <a16:creationId xmlns:a16="http://schemas.microsoft.com/office/drawing/2014/main" id="{A37C1828-532E-4912-A7D0-41AC28AA0932}"/>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defRPr sz="1350" b="0">
                <a:solidFill>
                  <a:srgbClr val="49616A"/>
                </a:solidFill>
                <a:latin typeface="Aptos"/>
                <a:ea typeface="Aptos"/>
                <a:cs typeface="Aptos"/>
              </a:defRPr>
            </a:pPr>
            <a:r>
              <a:rPr sz="1350" b="0">
                <a:solidFill>
                  <a:srgbClr val="49616A"/>
                </a:solidFill>
                <a:latin typeface="Aptos"/>
                <a:ea typeface="Aptos"/>
                <a:cs typeface="Aptos"/>
              </a:rPr>
              <a:t>Inertia architecture · r12 · 23 October 2026</a:t>
            </a:r>
          </a:p>
        </p:txBody>
      </p:sp>
      <p:sp>
        <p:nvSpPr>
          <p:cNvPr id="5" name="text-99">
            <a:extLst xmlns:a="http://schemas.openxmlformats.org/drawingml/2006/main">
              <a:ext uri="{FF2B5EF4-FFF2-40B4-BE49-F238E27FC236}">
                <a16:creationId xmlns:a16="http://schemas.microsoft.com/office/drawing/2014/main" id="{87EBE463-E034-4D77-ABA0-42BD44E3803B}"/>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defRPr sz="1650" b="1">
                <a:solidFill>
                  <a:srgbClr val="157D80"/>
                </a:solidFill>
                <a:latin typeface="Aptos"/>
                <a:ea typeface="Aptos"/>
                <a:cs typeface="Aptos"/>
              </a:defRPr>
            </a:pPr>
            <a:r>
              <a:rPr sz="1650" b="1">
                <a:solidFill>
                  <a:srgbClr val="157D80"/>
                </a:solidFill>
                <a:latin typeface="Aptos"/>
                <a:ea typeface="Aptos"/>
                <a:cs typeface="Aptos"/>
              </a:rPr>
              <a:t>5</a:t>
            </a:r>
          </a:p>
        </p:txBody>
      </p:sp>
      <p:sp>
        <p:nvSpPr>
          <p:cNvPr id="6" name="node-100">
            <a:extLst xmlns:a="http://schemas.openxmlformats.org/drawingml/2006/main">
              <a:ext uri="{FF2B5EF4-FFF2-40B4-BE49-F238E27FC236}">
                <a16:creationId xmlns:a16="http://schemas.microsoft.com/office/drawing/2014/main" id="{DC81D0D4-7988-45C4-B5F4-7FAC120C4E3D}"/>
              </a:ext>
            </a:extLst>
          </p:cNvPr>
          <p:cNvSpPr>
            <a:spLocks xmlns:a="http://schemas.openxmlformats.org/drawingml/2006/main" noGrp="1"/>
          </p:cNvSpPr>
          <p:nvPr/>
        </p:nvSpPr>
        <p:spPr>
          <a:xfrm xmlns:a="http://schemas.openxmlformats.org/drawingml/2006/main">
            <a:off x="609600" y="2428875"/>
            <a:ext cx="4000500" cy="1381125"/>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7" name="text-101">
            <a:extLst xmlns:a="http://schemas.openxmlformats.org/drawingml/2006/main">
              <a:ext uri="{FF2B5EF4-FFF2-40B4-BE49-F238E27FC236}">
                <a16:creationId xmlns:a16="http://schemas.microsoft.com/office/drawing/2014/main" id="{0EF0A096-4DFF-466B-8C30-4E20750905F2}"/>
              </a:ext>
            </a:extLst>
          </p:cNvPr>
          <p:cNvSpPr>
            <a:spLocks xmlns:a="http://schemas.openxmlformats.org/drawingml/2006/main" noGrp="1"/>
          </p:cNvSpPr>
          <p:nvPr/>
        </p:nvSpPr>
        <p:spPr>
          <a:xfrm xmlns:a="http://schemas.openxmlformats.org/drawingml/2006/main">
            <a:off x="800100" y="2600325"/>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Paperclip</a:t>
            </a:r>
          </a:p>
        </p:txBody>
      </p:sp>
      <p:sp>
        <p:nvSpPr>
          <p:cNvPr id="8" name="text-102">
            <a:extLst xmlns:a="http://schemas.openxmlformats.org/drawingml/2006/main">
              <a:ext uri="{FF2B5EF4-FFF2-40B4-BE49-F238E27FC236}">
                <a16:creationId xmlns:a16="http://schemas.microsoft.com/office/drawing/2014/main" id="{4BE43D78-2D0B-4C14-BEBA-3C7A5E1E7905}"/>
              </a:ext>
            </a:extLst>
          </p:cNvPr>
          <p:cNvSpPr>
            <a:spLocks xmlns:a="http://schemas.openxmlformats.org/drawingml/2006/main" noGrp="1"/>
          </p:cNvSpPr>
          <p:nvPr/>
        </p:nvSpPr>
        <p:spPr>
          <a:xfrm xmlns:a="http://schemas.openxmlformats.org/drawingml/2006/main">
            <a:off x="800100" y="3038475"/>
            <a:ext cx="36195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Task + applicant + evidence scope</a:t>
            </a:r>
          </a:p>
        </p:txBody>
      </p:sp>
      <p:sp>
        <p:nvSpPr>
          <p:cNvPr id="9" name="node-103">
            <a:extLst xmlns:a="http://schemas.openxmlformats.org/drawingml/2006/main">
              <a:ext uri="{FF2B5EF4-FFF2-40B4-BE49-F238E27FC236}">
                <a16:creationId xmlns:a16="http://schemas.microsoft.com/office/drawing/2014/main" id="{140415C6-55B3-4085-9B71-59B70A6EB2B5}"/>
              </a:ext>
            </a:extLst>
          </p:cNvPr>
          <p:cNvSpPr>
            <a:spLocks xmlns:a="http://schemas.openxmlformats.org/drawingml/2006/main" noGrp="1"/>
          </p:cNvSpPr>
          <p:nvPr/>
        </p:nvSpPr>
        <p:spPr>
          <a:xfrm xmlns:a="http://schemas.openxmlformats.org/drawingml/2006/main">
            <a:off x="609600" y="5429250"/>
            <a:ext cx="4000500" cy="1381125"/>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0" name="text-104">
            <a:extLst xmlns:a="http://schemas.openxmlformats.org/drawingml/2006/main">
              <a:ext uri="{FF2B5EF4-FFF2-40B4-BE49-F238E27FC236}">
                <a16:creationId xmlns:a16="http://schemas.microsoft.com/office/drawing/2014/main" id="{9DE8A24D-6E6B-45F9-800E-8095ECB51ACB}"/>
              </a:ext>
            </a:extLst>
          </p:cNvPr>
          <p:cNvSpPr>
            <a:spLocks xmlns:a="http://schemas.openxmlformats.org/drawingml/2006/main" noGrp="1"/>
          </p:cNvSpPr>
          <p:nvPr/>
        </p:nvSpPr>
        <p:spPr>
          <a:xfrm xmlns:a="http://schemas.openxmlformats.org/drawingml/2006/main">
            <a:off x="800100" y="5600700"/>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Central / member agent</a:t>
            </a:r>
          </a:p>
        </p:txBody>
      </p:sp>
      <p:sp>
        <p:nvSpPr>
          <p:cNvPr id="11" name="text-105">
            <a:extLst xmlns:a="http://schemas.openxmlformats.org/drawingml/2006/main">
              <a:ext uri="{FF2B5EF4-FFF2-40B4-BE49-F238E27FC236}">
                <a16:creationId xmlns:a16="http://schemas.microsoft.com/office/drawing/2014/main" id="{7860889B-F989-4F16-9ABD-D2767FCCAEAC}"/>
              </a:ext>
            </a:extLst>
          </p:cNvPr>
          <p:cNvSpPr>
            <a:spLocks xmlns:a="http://schemas.openxmlformats.org/drawingml/2006/main" noGrp="1"/>
          </p:cNvSpPr>
          <p:nvPr/>
        </p:nvSpPr>
        <p:spPr>
          <a:xfrm xmlns:a="http://schemas.openxmlformats.org/drawingml/2006/main">
            <a:off x="800100" y="6038850"/>
            <a:ext cx="36195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Grant skills + scoped tools</a:t>
            </a:r>
          </a:p>
        </p:txBody>
      </p:sp>
      <p:sp>
        <p:nvSpPr>
          <p:cNvPr id="13" name="text-106">
            <a:extLst xmlns:a="http://schemas.openxmlformats.org/drawingml/2006/main">
              <a:ext uri="{FF2B5EF4-FFF2-40B4-BE49-F238E27FC236}">
                <a16:creationId xmlns:a16="http://schemas.microsoft.com/office/drawing/2014/main" id="{4252187F-BF9A-4779-B345-882A4CBB2414}"/>
              </a:ext>
            </a:extLst>
          </p:cNvPr>
          <p:cNvSpPr>
            <a:spLocks xmlns:a="http://schemas.openxmlformats.org/drawingml/2006/main" noGrp="1"/>
          </p:cNvSpPr>
          <p:nvPr/>
        </p:nvSpPr>
        <p:spPr>
          <a:xfrm xmlns:a="http://schemas.openxmlformats.org/drawingml/2006/main">
            <a:off x="800100" y="4152900"/>
            <a:ext cx="1619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Authorized</a:t>
            </a:r>
          </a:p>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inputs</a:t>
            </a:r>
          </a:p>
        </p:txBody>
      </p:sp>
      <p:sp>
        <p:nvSpPr>
          <p:cNvPr id="14" name="node-107">
            <a:extLst xmlns:a="http://schemas.openxmlformats.org/drawingml/2006/main">
              <a:ext uri="{FF2B5EF4-FFF2-40B4-BE49-F238E27FC236}">
                <a16:creationId xmlns:a16="http://schemas.microsoft.com/office/drawing/2014/main" id="{BEAD2607-8B12-44BB-8C22-D62929B077C8}"/>
              </a:ext>
            </a:extLst>
          </p:cNvPr>
          <p:cNvSpPr>
            <a:spLocks xmlns:a="http://schemas.openxmlformats.org/drawingml/2006/main" noGrp="1"/>
          </p:cNvSpPr>
          <p:nvPr/>
        </p:nvSpPr>
        <p:spPr>
          <a:xfrm xmlns:a="http://schemas.openxmlformats.org/drawingml/2006/main">
            <a:off x="5943600" y="5429250"/>
            <a:ext cx="3429000" cy="1381125"/>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5" name="text-108">
            <a:extLst xmlns:a="http://schemas.openxmlformats.org/drawingml/2006/main">
              <a:ext uri="{FF2B5EF4-FFF2-40B4-BE49-F238E27FC236}">
                <a16:creationId xmlns:a16="http://schemas.microsoft.com/office/drawing/2014/main" id="{837650FC-9B08-4492-86C0-9E3BBB335964}"/>
              </a:ext>
            </a:extLst>
          </p:cNvPr>
          <p:cNvSpPr>
            <a:spLocks xmlns:a="http://schemas.openxmlformats.org/drawingml/2006/main" noGrp="1"/>
          </p:cNvSpPr>
          <p:nvPr/>
        </p:nvSpPr>
        <p:spPr>
          <a:xfrm xmlns:a="http://schemas.openxmlformats.org/drawingml/2006/main">
            <a:off x="6134100" y="560070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Draft proposal</a:t>
            </a:r>
          </a:p>
        </p:txBody>
      </p:sp>
      <p:sp>
        <p:nvSpPr>
          <p:cNvPr id="16" name="text-109">
            <a:extLst xmlns:a="http://schemas.openxmlformats.org/drawingml/2006/main">
              <a:ext uri="{FF2B5EF4-FFF2-40B4-BE49-F238E27FC236}">
                <a16:creationId xmlns:a16="http://schemas.microsoft.com/office/drawing/2014/main" id="{DDB9E331-A617-4AF6-91AD-EEB20B04D4E3}"/>
              </a:ext>
            </a:extLst>
          </p:cNvPr>
          <p:cNvSpPr>
            <a:spLocks xmlns:a="http://schemas.openxmlformats.org/drawingml/2006/main" noGrp="1"/>
          </p:cNvSpPr>
          <p:nvPr/>
        </p:nvSpPr>
        <p:spPr>
          <a:xfrm xmlns:a="http://schemas.openxmlformats.org/drawingml/2006/main">
            <a:off x="6134100" y="6038850"/>
            <a:ext cx="30480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Workspace hash + evidence IDs</a:t>
            </a:r>
          </a:p>
        </p:txBody>
      </p:sp>
      <p:sp>
        <p:nvSpPr>
          <p:cNvPr id="18" name="node-110">
            <a:extLst xmlns:a="http://schemas.openxmlformats.org/drawingml/2006/main">
              <a:ext uri="{FF2B5EF4-FFF2-40B4-BE49-F238E27FC236}">
                <a16:creationId xmlns:a16="http://schemas.microsoft.com/office/drawing/2014/main" id="{E09596E0-3AD1-4178-B3D2-819DECC87B76}"/>
              </a:ext>
            </a:extLst>
          </p:cNvPr>
          <p:cNvSpPr>
            <a:spLocks xmlns:a="http://schemas.openxmlformats.org/drawingml/2006/main" noGrp="1"/>
          </p:cNvSpPr>
          <p:nvPr/>
        </p:nvSpPr>
        <p:spPr>
          <a:xfrm xmlns:a="http://schemas.openxmlformats.org/drawingml/2006/main">
            <a:off x="10629900" y="5429250"/>
            <a:ext cx="4000500" cy="1381125"/>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9" name="text-111">
            <a:extLst xmlns:a="http://schemas.openxmlformats.org/drawingml/2006/main">
              <a:ext uri="{FF2B5EF4-FFF2-40B4-BE49-F238E27FC236}">
                <a16:creationId xmlns:a16="http://schemas.microsoft.com/office/drawing/2014/main" id="{484C5701-7388-4751-8B6F-8D52FD7BA2D9}"/>
              </a:ext>
            </a:extLst>
          </p:cNvPr>
          <p:cNvSpPr>
            <a:spLocks xmlns:a="http://schemas.openxmlformats.org/drawingml/2006/main" noGrp="1"/>
          </p:cNvSpPr>
          <p:nvPr/>
        </p:nvSpPr>
        <p:spPr>
          <a:xfrm xmlns:a="http://schemas.openxmlformats.org/drawingml/2006/main">
            <a:off x="10820400" y="5600700"/>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Server validation</a:t>
            </a:r>
          </a:p>
        </p:txBody>
      </p:sp>
      <p:sp>
        <p:nvSpPr>
          <p:cNvPr id="20" name="text-112">
            <a:extLst xmlns:a="http://schemas.openxmlformats.org/drawingml/2006/main">
              <a:ext uri="{FF2B5EF4-FFF2-40B4-BE49-F238E27FC236}">
                <a16:creationId xmlns:a16="http://schemas.microsoft.com/office/drawing/2014/main" id="{43F3AA0B-FF10-4C8A-9310-88F5835FC8B0}"/>
              </a:ext>
            </a:extLst>
          </p:cNvPr>
          <p:cNvSpPr>
            <a:spLocks xmlns:a="http://schemas.openxmlformats.org/drawingml/2006/main" noGrp="1"/>
          </p:cNvSpPr>
          <p:nvPr/>
        </p:nvSpPr>
        <p:spPr>
          <a:xfrm xmlns:a="http://schemas.openxmlformats.org/drawingml/2006/main">
            <a:off x="10820400" y="6038850"/>
            <a:ext cx="36195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Identity + revision + evidence</a:t>
            </a:r>
          </a:p>
        </p:txBody>
      </p:sp>
      <p:sp>
        <p:nvSpPr>
          <p:cNvPr id="22" name="node-113">
            <a:extLst xmlns:a="http://schemas.openxmlformats.org/drawingml/2006/main">
              <a:ext uri="{FF2B5EF4-FFF2-40B4-BE49-F238E27FC236}">
                <a16:creationId xmlns:a16="http://schemas.microsoft.com/office/drawing/2014/main" id="{2FB8E0C5-D353-4729-A6DD-60E845C3F40C}"/>
              </a:ext>
            </a:extLst>
          </p:cNvPr>
          <p:cNvSpPr>
            <a:spLocks xmlns:a="http://schemas.openxmlformats.org/drawingml/2006/main" noGrp="1"/>
          </p:cNvSpPr>
          <p:nvPr/>
        </p:nvSpPr>
        <p:spPr>
          <a:xfrm xmlns:a="http://schemas.openxmlformats.org/drawingml/2006/main">
            <a:off x="10629900" y="2428875"/>
            <a:ext cx="4000500" cy="1381125"/>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23" name="text-114">
            <a:extLst xmlns:a="http://schemas.openxmlformats.org/drawingml/2006/main">
              <a:ext uri="{FF2B5EF4-FFF2-40B4-BE49-F238E27FC236}">
                <a16:creationId xmlns:a16="http://schemas.microsoft.com/office/drawing/2014/main" id="{5A52FC17-0E7F-40BA-85C9-AEEABE4C467A}"/>
              </a:ext>
            </a:extLst>
          </p:cNvPr>
          <p:cNvSpPr>
            <a:spLocks xmlns:a="http://schemas.openxmlformats.org/drawingml/2006/main" noGrp="1"/>
          </p:cNvSpPr>
          <p:nvPr/>
        </p:nvSpPr>
        <p:spPr>
          <a:xfrm xmlns:a="http://schemas.openxmlformats.org/drawingml/2006/main">
            <a:off x="10820400" y="2600325"/>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Trusted adapter · P</a:t>
            </a:r>
          </a:p>
        </p:txBody>
      </p:sp>
      <p:sp>
        <p:nvSpPr>
          <p:cNvPr id="24" name="text-115">
            <a:extLst xmlns:a="http://schemas.openxmlformats.org/drawingml/2006/main">
              <a:ext uri="{FF2B5EF4-FFF2-40B4-BE49-F238E27FC236}">
                <a16:creationId xmlns:a16="http://schemas.microsoft.com/office/drawing/2014/main" id="{1A904BC4-6FB1-4BDE-ADBB-C4B2F32C8FE3}"/>
              </a:ext>
            </a:extLst>
          </p:cNvPr>
          <p:cNvSpPr>
            <a:spLocks xmlns:a="http://schemas.openxmlformats.org/drawingml/2006/main" noGrp="1"/>
          </p:cNvSpPr>
          <p:nvPr/>
        </p:nvSpPr>
        <p:spPr>
          <a:xfrm xmlns:a="http://schemas.openxmlformats.org/drawingml/2006/main">
            <a:off x="10820400" y="3038475"/>
            <a:ext cx="36195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Authenticated human decisions</a:t>
            </a:r>
          </a:p>
        </p:txBody>
      </p:sp>
      <p:sp>
        <p:nvSpPr>
          <p:cNvPr id="26" name="text-116">
            <a:extLst xmlns:a="http://schemas.openxmlformats.org/drawingml/2006/main">
              <a:ext uri="{FF2B5EF4-FFF2-40B4-BE49-F238E27FC236}">
                <a16:creationId xmlns:a16="http://schemas.microsoft.com/office/drawing/2014/main" id="{05AAF88D-56EF-435F-8A72-CE83FD7D431F}"/>
              </a:ext>
            </a:extLst>
          </p:cNvPr>
          <p:cNvSpPr>
            <a:spLocks xmlns:a="http://schemas.openxmlformats.org/drawingml/2006/main" noGrp="1"/>
          </p:cNvSpPr>
          <p:nvPr/>
        </p:nvSpPr>
        <p:spPr>
          <a:xfrm xmlns:a="http://schemas.openxmlformats.org/drawingml/2006/main">
            <a:off x="609600" y="7115175"/>
            <a:ext cx="1000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Member: no shared database, admin token or portal credentials</a:t>
            </a:r>
          </a:p>
        </p:txBody>
      </p:sp>
      <p:sp>
        <p:nvSpPr>
          <p:cNvPr id="27" name="text-117">
            <a:extLst xmlns:a="http://schemas.openxmlformats.org/drawingml/2006/main">
              <a:ext uri="{FF2B5EF4-FFF2-40B4-BE49-F238E27FC236}">
                <a16:creationId xmlns:a16="http://schemas.microsoft.com/office/drawing/2014/main" id="{3EF92858-A7DE-44AA-9B20-139761D8A4D6}"/>
              </a:ext>
            </a:extLst>
          </p:cNvPr>
          <p:cNvSpPr>
            <a:spLocks xmlns:a="http://schemas.openxmlformats.org/drawingml/2006/main" noGrp="1"/>
          </p:cNvSpPr>
          <p:nvPr/>
        </p:nvSpPr>
        <p:spPr>
          <a:xfrm xmlns:a="http://schemas.openxmlformats.org/drawingml/2006/main">
            <a:off x="10629900" y="4114800"/>
            <a:ext cx="4000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Human-only review</a:t>
            </a:r>
          </a:p>
        </p:txBody>
      </p:sp>
    </p:spTree>
    <p:extLst>
      <p:ext uri="{BB962C8B-B14F-4D97-AF65-F5344CB8AC3E}">
        <p14:creationId xmlns:p14="http://schemas.microsoft.com/office/powerpoint/2010/main" val="102572277"/>
      </p:ext>
    </p:extLst>
  </p:cSld>
</p:sld>
</file>

<file path=ppt/slides/slide6.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8" name="">
            <a:extLst xmlns:a="http://schemas.openxmlformats.org/drawingml/2006/main">
              <a:ext uri="{FF2B5EF4-FFF2-40B4-BE49-F238E27FC236}">
                <a16:creationId xmlns:a16="http://schemas.microsoft.com/office/drawing/2014/main" id="{782EE023-ABED-4892-A3FE-06C8D1CACC9C}"/>
              </a:ext>
            </a:extLst>
          </p:cNvPr>
          <p:cNvCxnSpPr>
            <a:stCxn xmlns:a="http://schemas.openxmlformats.org/drawingml/2006/main" id="20" idx="1"/>
            <a:endCxn xmlns:a="http://schemas.openxmlformats.org/drawingml/2006/main" id="23" idx="3"/>
          </p:cNvCxnSpPr>
          <p:nvPr/>
        </p:nvCxnSpPr>
        <p:spPr>
          <a:xfrm xmlns:a="http://schemas.openxmlformats.org/drawingml/2006/main" flipH="1">
            <a:off x="4038600" y="6262688"/>
            <a:ext cx="11430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7" name="">
            <a:extLst xmlns:a="http://schemas.openxmlformats.org/drawingml/2006/main">
              <a:ext uri="{FF2B5EF4-FFF2-40B4-BE49-F238E27FC236}">
                <a16:creationId xmlns:a16="http://schemas.microsoft.com/office/drawing/2014/main" id="{E30B5DA4-256C-4E4A-B7B1-6F285081F86F}"/>
              </a:ext>
            </a:extLst>
          </p:cNvPr>
          <p:cNvCxnSpPr>
            <a:stCxn xmlns:a="http://schemas.openxmlformats.org/drawingml/2006/main" id="17" idx="1"/>
            <a:endCxn xmlns:a="http://schemas.openxmlformats.org/drawingml/2006/main" id="20" idx="3"/>
          </p:cNvCxnSpPr>
          <p:nvPr/>
        </p:nvCxnSpPr>
        <p:spPr>
          <a:xfrm xmlns:a="http://schemas.openxmlformats.org/drawingml/2006/main" flipH="1">
            <a:off x="9182100" y="6262688"/>
            <a:ext cx="11430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6" name="">
            <a:extLst xmlns:a="http://schemas.openxmlformats.org/drawingml/2006/main">
              <a:ext uri="{FF2B5EF4-FFF2-40B4-BE49-F238E27FC236}">
                <a16:creationId xmlns:a16="http://schemas.microsoft.com/office/drawing/2014/main" id="{91C4CD49-8DB2-4056-8A3F-1A518E170F90}"/>
              </a:ext>
            </a:extLst>
          </p:cNvPr>
          <p:cNvCxnSpPr>
            <a:stCxn xmlns:a="http://schemas.openxmlformats.org/drawingml/2006/main" id="12" idx="2"/>
            <a:endCxn xmlns:a="http://schemas.openxmlformats.org/drawingml/2006/main" id="17" idx="0"/>
          </p:cNvCxnSpPr>
          <p:nvPr/>
        </p:nvCxnSpPr>
        <p:spPr>
          <a:xfrm xmlns:a="http://schemas.openxmlformats.org/drawingml/2006/main">
            <a:off x="12477750" y="3952875"/>
            <a:ext cx="0" cy="16192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6" name="">
            <a:extLst xmlns:a="http://schemas.openxmlformats.org/drawingml/2006/main">
              <a:ext uri="{FF2B5EF4-FFF2-40B4-BE49-F238E27FC236}">
                <a16:creationId xmlns:a16="http://schemas.microsoft.com/office/drawing/2014/main" id="{4E2FBA98-19F1-4625-8824-77CC0B452BD9}"/>
              </a:ext>
            </a:extLst>
          </p:cNvPr>
          <p:cNvCxnSpPr>
            <a:stCxn xmlns:a="http://schemas.openxmlformats.org/drawingml/2006/main" id="9" idx="3"/>
            <a:endCxn xmlns:a="http://schemas.openxmlformats.org/drawingml/2006/main" id="12" idx="1"/>
          </p:cNvCxnSpPr>
          <p:nvPr/>
        </p:nvCxnSpPr>
        <p:spPr>
          <a:xfrm xmlns:a="http://schemas.openxmlformats.org/drawingml/2006/main">
            <a:off x="9182100" y="3238500"/>
            <a:ext cx="11430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5" name="">
            <a:extLst xmlns:a="http://schemas.openxmlformats.org/drawingml/2006/main">
              <a:ext uri="{FF2B5EF4-FFF2-40B4-BE49-F238E27FC236}">
                <a16:creationId xmlns:a16="http://schemas.microsoft.com/office/drawing/2014/main" id="{3276B4F3-CC64-485E-BC7F-15651A79B605}"/>
              </a:ext>
            </a:extLst>
          </p:cNvPr>
          <p:cNvCxnSpPr>
            <a:stCxn xmlns:a="http://schemas.openxmlformats.org/drawingml/2006/main" id="6" idx="3"/>
            <a:endCxn xmlns:a="http://schemas.openxmlformats.org/drawingml/2006/main" id="9" idx="1"/>
          </p:cNvCxnSpPr>
          <p:nvPr/>
        </p:nvCxnSpPr>
        <p:spPr>
          <a:xfrm xmlns:a="http://schemas.openxmlformats.org/drawingml/2006/main">
            <a:off x="4038600" y="3238500"/>
            <a:ext cx="11430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0" name="text-118">
            <a:extLst xmlns:a="http://schemas.openxmlformats.org/drawingml/2006/main">
              <a:ext uri="{FF2B5EF4-FFF2-40B4-BE49-F238E27FC236}">
                <a16:creationId xmlns:a16="http://schemas.microsoft.com/office/drawing/2014/main" id="{105D9F5D-8113-45B1-BDC9-77D22E6CDCDE}"/>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defRPr sz="3600" b="1">
                <a:solidFill>
                  <a:srgbClr val="132E38"/>
                </a:solidFill>
                <a:latin typeface="Aptos"/>
                <a:ea typeface="Aptos"/>
                <a:cs typeface="Aptos"/>
              </a:defRPr>
            </a:pPr>
            <a:r>
              <a:rPr sz="3600" b="1">
                <a:solidFill>
                  <a:srgbClr val="132E38"/>
                </a:solidFill>
                <a:latin typeface="Aptos"/>
                <a:ea typeface="Aptos"/>
                <a:cs typeface="Aptos"/>
              </a:rPr>
              <a:t>Bridge persistence and recovery</a:t>
            </a:r>
          </a:p>
        </p:txBody>
      </p:sp>
      <p:sp>
        <p:nvSpPr>
          <p:cNvPr id="2" name="text-119">
            <a:extLst xmlns:a="http://schemas.openxmlformats.org/drawingml/2006/main">
              <a:ext uri="{FF2B5EF4-FFF2-40B4-BE49-F238E27FC236}">
                <a16:creationId xmlns:a16="http://schemas.microsoft.com/office/drawing/2014/main" id="{FA95C64D-BE23-433C-A168-4257D7AB0F73}"/>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defRPr sz="2025" b="0">
                <a:solidFill>
                  <a:srgbClr val="49616A"/>
                </a:solidFill>
                <a:latin typeface="Aptos"/>
                <a:ea typeface="Aptos"/>
                <a:cs typeface="Aptos"/>
              </a:defRPr>
            </a:pPr>
            <a:r>
              <a:rPr sz="2025" b="0">
                <a:solidFill>
                  <a:srgbClr val="49616A"/>
                </a:solidFill>
                <a:latin typeface="Aptos"/>
                <a:ea typeface="Aptos"/>
                <a:cs typeface="Aptos"/>
              </a:rPr>
              <a:t>Signed transport with native authority</a:t>
            </a:r>
          </a:p>
        </p:txBody>
      </p:sp>
      <p:sp>
        <p:nvSpPr>
          <p:cNvPr id="3" name="">
            <a:extLst xmlns:a="http://schemas.openxmlformats.org/drawingml/2006/main">
              <a:ext uri="{FF2B5EF4-FFF2-40B4-BE49-F238E27FC236}">
                <a16:creationId xmlns:a16="http://schemas.microsoft.com/office/drawing/2014/main" id="{B19C1350-E880-44D4-9E9C-764FD0958523}"/>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120">
            <a:extLst xmlns:a="http://schemas.openxmlformats.org/drawingml/2006/main">
              <a:ext uri="{FF2B5EF4-FFF2-40B4-BE49-F238E27FC236}">
                <a16:creationId xmlns:a16="http://schemas.microsoft.com/office/drawing/2014/main" id="{171C1295-AB77-4FA2-8CED-400C9350E14D}"/>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defRPr sz="1350" b="0">
                <a:solidFill>
                  <a:srgbClr val="49616A"/>
                </a:solidFill>
                <a:latin typeface="Aptos"/>
                <a:ea typeface="Aptos"/>
                <a:cs typeface="Aptos"/>
              </a:defRPr>
            </a:pPr>
            <a:r>
              <a:rPr sz="1350" b="0">
                <a:solidFill>
                  <a:srgbClr val="49616A"/>
                </a:solidFill>
                <a:latin typeface="Aptos"/>
                <a:ea typeface="Aptos"/>
                <a:cs typeface="Aptos"/>
              </a:rPr>
              <a:t>Inertia architecture · r12 · 23 October 2026</a:t>
            </a:r>
          </a:p>
        </p:txBody>
      </p:sp>
      <p:sp>
        <p:nvSpPr>
          <p:cNvPr id="5" name="text-121">
            <a:extLst xmlns:a="http://schemas.openxmlformats.org/drawingml/2006/main">
              <a:ext uri="{FF2B5EF4-FFF2-40B4-BE49-F238E27FC236}">
                <a16:creationId xmlns:a16="http://schemas.microsoft.com/office/drawing/2014/main" id="{2DA7D2DF-1794-4753-B1DC-A896C0ED2755}"/>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defRPr sz="1650" b="1">
                <a:solidFill>
                  <a:srgbClr val="157D80"/>
                </a:solidFill>
                <a:latin typeface="Aptos"/>
                <a:ea typeface="Aptos"/>
                <a:cs typeface="Aptos"/>
              </a:defRPr>
            </a:pPr>
            <a:r>
              <a:rPr sz="1650" b="1">
                <a:solidFill>
                  <a:srgbClr val="157D80"/>
                </a:solidFill>
                <a:latin typeface="Aptos"/>
                <a:ea typeface="Aptos"/>
                <a:cs typeface="Aptos"/>
              </a:rPr>
              <a:t>6</a:t>
            </a:r>
          </a:p>
        </p:txBody>
      </p:sp>
      <p:sp>
        <p:nvSpPr>
          <p:cNvPr id="6" name="node-122">
            <a:extLst xmlns:a="http://schemas.openxmlformats.org/drawingml/2006/main">
              <a:ext uri="{FF2B5EF4-FFF2-40B4-BE49-F238E27FC236}">
                <a16:creationId xmlns:a16="http://schemas.microsoft.com/office/drawing/2014/main" id="{9C4CEF3B-267A-4C4E-B628-71B666FE6489}"/>
              </a:ext>
            </a:extLst>
          </p:cNvPr>
          <p:cNvSpPr>
            <a:spLocks xmlns:a="http://schemas.openxmlformats.org/drawingml/2006/main" noGrp="1"/>
          </p:cNvSpPr>
          <p:nvPr/>
        </p:nvSpPr>
        <p:spPr>
          <a:xfrm xmlns:a="http://schemas.openxmlformats.org/drawingml/2006/main">
            <a:off x="609600" y="2524125"/>
            <a:ext cx="34290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text-123">
            <a:extLst xmlns:a="http://schemas.openxmlformats.org/drawingml/2006/main">
              <a:ext uri="{FF2B5EF4-FFF2-40B4-BE49-F238E27FC236}">
                <a16:creationId xmlns:a16="http://schemas.microsoft.com/office/drawing/2014/main" id="{94BE920D-4F3D-4A6D-A5BC-E54563BD2033}"/>
              </a:ext>
            </a:extLst>
          </p:cNvPr>
          <p:cNvSpPr>
            <a:spLocks xmlns:a="http://schemas.openxmlformats.org/drawingml/2006/main" noGrp="1"/>
          </p:cNvSpPr>
          <p:nvPr/>
        </p:nvSpPr>
        <p:spPr>
          <a:xfrm xmlns:a="http://schemas.openxmlformats.org/drawingml/2006/main">
            <a:off x="800100" y="2695575"/>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Signed Buzz event</a:t>
            </a:r>
          </a:p>
        </p:txBody>
      </p:sp>
      <p:sp>
        <p:nvSpPr>
          <p:cNvPr id="8" name="text-124">
            <a:extLst xmlns:a="http://schemas.openxmlformats.org/drawingml/2006/main">
              <a:ext uri="{FF2B5EF4-FFF2-40B4-BE49-F238E27FC236}">
                <a16:creationId xmlns:a16="http://schemas.microsoft.com/office/drawing/2014/main" id="{58D1746B-B8B0-4EA9-A9D7-49D2D2532703}"/>
              </a:ext>
            </a:extLst>
          </p:cNvPr>
          <p:cNvSpPr>
            <a:spLocks xmlns:a="http://schemas.openxmlformats.org/drawingml/2006/main" noGrp="1"/>
          </p:cNvSpPr>
          <p:nvPr/>
        </p:nvSpPr>
        <p:spPr>
          <a:xfrm xmlns:a="http://schemas.openxmlformats.org/drawingml/2006/main">
            <a:off x="800100" y="3133725"/>
            <a:ext cx="3048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Verified key + thread binding</a:t>
            </a:r>
          </a:p>
        </p:txBody>
      </p:sp>
      <p:sp>
        <p:nvSpPr>
          <p:cNvPr id="9" name="node-125">
            <a:extLst xmlns:a="http://schemas.openxmlformats.org/drawingml/2006/main">
              <a:ext uri="{FF2B5EF4-FFF2-40B4-BE49-F238E27FC236}">
                <a16:creationId xmlns:a16="http://schemas.microsoft.com/office/drawing/2014/main" id="{249A8822-3C51-47CE-90A3-72C9D4BE843B}"/>
              </a:ext>
            </a:extLst>
          </p:cNvPr>
          <p:cNvSpPr>
            <a:spLocks xmlns:a="http://schemas.openxmlformats.org/drawingml/2006/main" noGrp="1"/>
          </p:cNvSpPr>
          <p:nvPr/>
        </p:nvSpPr>
        <p:spPr>
          <a:xfrm xmlns:a="http://schemas.openxmlformats.org/drawingml/2006/main">
            <a:off x="5181600" y="2524125"/>
            <a:ext cx="4000500" cy="142875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0" name="text-126">
            <a:extLst xmlns:a="http://schemas.openxmlformats.org/drawingml/2006/main">
              <a:ext uri="{FF2B5EF4-FFF2-40B4-BE49-F238E27FC236}">
                <a16:creationId xmlns:a16="http://schemas.microsoft.com/office/drawing/2014/main" id="{8D908868-B2C8-4BD6-A41C-E2B611B6FC05}"/>
              </a:ext>
            </a:extLst>
          </p:cNvPr>
          <p:cNvSpPr>
            <a:spLocks xmlns:a="http://schemas.openxmlformats.org/drawingml/2006/main" noGrp="1"/>
          </p:cNvSpPr>
          <p:nvPr/>
        </p:nvSpPr>
        <p:spPr>
          <a:xfrm xmlns:a="http://schemas.openxmlformats.org/drawingml/2006/main">
            <a:off x="5372100" y="2695575"/>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Durable inbox</a:t>
            </a:r>
          </a:p>
        </p:txBody>
      </p:sp>
      <p:sp>
        <p:nvSpPr>
          <p:cNvPr id="11" name="text-127">
            <a:extLst xmlns:a="http://schemas.openxmlformats.org/drawingml/2006/main">
              <a:ext uri="{FF2B5EF4-FFF2-40B4-BE49-F238E27FC236}">
                <a16:creationId xmlns:a16="http://schemas.microsoft.com/office/drawing/2014/main" id="{7DCFE50F-9BD0-4F0A-A223-8721CA6BA3E7}"/>
              </a:ext>
            </a:extLst>
          </p:cNvPr>
          <p:cNvSpPr>
            <a:spLocks xmlns:a="http://schemas.openxmlformats.org/drawingml/2006/main" noGrp="1"/>
          </p:cNvSpPr>
          <p:nvPr/>
        </p:nvSpPr>
        <p:spPr>
          <a:xfrm xmlns:a="http://schemas.openxmlformats.org/drawingml/2006/main">
            <a:off x="5372100" y="3133725"/>
            <a:ext cx="3619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Event ID + atomic claim</a:t>
            </a:r>
          </a:p>
        </p:txBody>
      </p:sp>
      <p:sp>
        <p:nvSpPr>
          <p:cNvPr id="12" name="node-128">
            <a:extLst xmlns:a="http://schemas.openxmlformats.org/drawingml/2006/main">
              <a:ext uri="{FF2B5EF4-FFF2-40B4-BE49-F238E27FC236}">
                <a16:creationId xmlns:a16="http://schemas.microsoft.com/office/drawing/2014/main" id="{9C3DFC4D-31C0-48CC-9E10-E4460D30F4BC}"/>
              </a:ext>
            </a:extLst>
          </p:cNvPr>
          <p:cNvSpPr>
            <a:spLocks xmlns:a="http://schemas.openxmlformats.org/drawingml/2006/main" noGrp="1"/>
          </p:cNvSpPr>
          <p:nvPr/>
        </p:nvSpPr>
        <p:spPr>
          <a:xfrm xmlns:a="http://schemas.openxmlformats.org/drawingml/2006/main">
            <a:off x="10325100" y="2524125"/>
            <a:ext cx="43053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3" name="text-129">
            <a:extLst xmlns:a="http://schemas.openxmlformats.org/drawingml/2006/main">
              <a:ext uri="{FF2B5EF4-FFF2-40B4-BE49-F238E27FC236}">
                <a16:creationId xmlns:a16="http://schemas.microsoft.com/office/drawing/2014/main" id="{C031B189-E273-431A-A37F-F2B37B34CBA0}"/>
              </a:ext>
            </a:extLst>
          </p:cNvPr>
          <p:cNvSpPr>
            <a:spLocks xmlns:a="http://schemas.openxmlformats.org/drawingml/2006/main" noGrp="1"/>
          </p:cNvSpPr>
          <p:nvPr/>
        </p:nvSpPr>
        <p:spPr>
          <a:xfrm xmlns:a="http://schemas.openxmlformats.org/drawingml/2006/main">
            <a:off x="10515600" y="2695575"/>
            <a:ext cx="3924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Native action</a:t>
            </a:r>
          </a:p>
        </p:txBody>
      </p:sp>
      <p:sp>
        <p:nvSpPr>
          <p:cNvPr id="14" name="text-130">
            <a:extLst xmlns:a="http://schemas.openxmlformats.org/drawingml/2006/main">
              <a:ext uri="{FF2B5EF4-FFF2-40B4-BE49-F238E27FC236}">
                <a16:creationId xmlns:a16="http://schemas.microsoft.com/office/drawing/2014/main" id="{0C34C7CD-8D1B-4D6C-A4FF-6B2815F97D25}"/>
              </a:ext>
            </a:extLst>
          </p:cNvPr>
          <p:cNvSpPr>
            <a:spLocks xmlns:a="http://schemas.openxmlformats.org/drawingml/2006/main" noGrp="1"/>
          </p:cNvSpPr>
          <p:nvPr/>
        </p:nvSpPr>
        <p:spPr>
          <a:xfrm xmlns:a="http://schemas.openxmlformats.org/drawingml/2006/main">
            <a:off x="10515600" y="3133725"/>
            <a:ext cx="39243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Current authorization</a:t>
            </a:r>
          </a:p>
        </p:txBody>
      </p:sp>
      <p:sp>
        <p:nvSpPr>
          <p:cNvPr id="17" name="node-131">
            <a:extLst xmlns:a="http://schemas.openxmlformats.org/drawingml/2006/main">
              <a:ext uri="{FF2B5EF4-FFF2-40B4-BE49-F238E27FC236}">
                <a16:creationId xmlns:a16="http://schemas.microsoft.com/office/drawing/2014/main" id="{1AF8AAAE-2775-49E7-9535-18B1602E50B1}"/>
              </a:ext>
            </a:extLst>
          </p:cNvPr>
          <p:cNvSpPr>
            <a:spLocks xmlns:a="http://schemas.openxmlformats.org/drawingml/2006/main" noGrp="1"/>
          </p:cNvSpPr>
          <p:nvPr/>
        </p:nvSpPr>
        <p:spPr>
          <a:xfrm xmlns:a="http://schemas.openxmlformats.org/drawingml/2006/main">
            <a:off x="10325100" y="5572125"/>
            <a:ext cx="4305300" cy="1381125"/>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8" name="text-132">
            <a:extLst xmlns:a="http://schemas.openxmlformats.org/drawingml/2006/main">
              <a:ext uri="{FF2B5EF4-FFF2-40B4-BE49-F238E27FC236}">
                <a16:creationId xmlns:a16="http://schemas.microsoft.com/office/drawing/2014/main" id="{8D1B1650-DC6F-4209-8325-14ACDBEED68F}"/>
              </a:ext>
            </a:extLst>
          </p:cNvPr>
          <p:cNvSpPr>
            <a:spLocks xmlns:a="http://schemas.openxmlformats.org/drawingml/2006/main" noGrp="1"/>
          </p:cNvSpPr>
          <p:nvPr/>
        </p:nvSpPr>
        <p:spPr>
          <a:xfrm xmlns:a="http://schemas.openxmlformats.org/drawingml/2006/main">
            <a:off x="10515600" y="5743575"/>
            <a:ext cx="3924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Reconciliation</a:t>
            </a:r>
          </a:p>
        </p:txBody>
      </p:sp>
      <p:sp>
        <p:nvSpPr>
          <p:cNvPr id="19" name="text-133">
            <a:extLst xmlns:a="http://schemas.openxmlformats.org/drawingml/2006/main">
              <a:ext uri="{FF2B5EF4-FFF2-40B4-BE49-F238E27FC236}">
                <a16:creationId xmlns:a16="http://schemas.microsoft.com/office/drawing/2014/main" id="{CEDAA3FD-60D7-47DF-B524-400313B70AF5}"/>
              </a:ext>
            </a:extLst>
          </p:cNvPr>
          <p:cNvSpPr>
            <a:spLocks xmlns:a="http://schemas.openxmlformats.org/drawingml/2006/main" noGrp="1"/>
          </p:cNvSpPr>
          <p:nvPr/>
        </p:nvSpPr>
        <p:spPr>
          <a:xfrm xmlns:a="http://schemas.openxmlformats.org/drawingml/2006/main">
            <a:off x="10515600" y="6181725"/>
            <a:ext cx="39243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Read native state first</a:t>
            </a:r>
          </a:p>
        </p:txBody>
      </p:sp>
      <p:sp>
        <p:nvSpPr>
          <p:cNvPr id="20" name="node-134">
            <a:extLst xmlns:a="http://schemas.openxmlformats.org/drawingml/2006/main">
              <a:ext uri="{FF2B5EF4-FFF2-40B4-BE49-F238E27FC236}">
                <a16:creationId xmlns:a16="http://schemas.microsoft.com/office/drawing/2014/main" id="{340DBC15-C154-4CD7-8546-B58D6403F90A}"/>
              </a:ext>
            </a:extLst>
          </p:cNvPr>
          <p:cNvSpPr>
            <a:spLocks xmlns:a="http://schemas.openxmlformats.org/drawingml/2006/main" noGrp="1"/>
          </p:cNvSpPr>
          <p:nvPr/>
        </p:nvSpPr>
        <p:spPr>
          <a:xfrm xmlns:a="http://schemas.openxmlformats.org/drawingml/2006/main">
            <a:off x="5181600" y="5572125"/>
            <a:ext cx="4000500" cy="1381125"/>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1" name="text-135">
            <a:extLst xmlns:a="http://schemas.openxmlformats.org/drawingml/2006/main">
              <a:ext uri="{FF2B5EF4-FFF2-40B4-BE49-F238E27FC236}">
                <a16:creationId xmlns:a16="http://schemas.microsoft.com/office/drawing/2014/main" id="{15C40515-7909-4CF3-A9EE-BF733AD580F9}"/>
              </a:ext>
            </a:extLst>
          </p:cNvPr>
          <p:cNvSpPr>
            <a:spLocks xmlns:a="http://schemas.openxmlformats.org/drawingml/2006/main" noGrp="1"/>
          </p:cNvSpPr>
          <p:nvPr/>
        </p:nvSpPr>
        <p:spPr>
          <a:xfrm xmlns:a="http://schemas.openxmlformats.org/drawingml/2006/main">
            <a:off x="5372100" y="5743575"/>
            <a:ext cx="361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Durable outbox</a:t>
            </a:r>
          </a:p>
        </p:txBody>
      </p:sp>
      <p:sp>
        <p:nvSpPr>
          <p:cNvPr id="22" name="text-136">
            <a:extLst xmlns:a="http://schemas.openxmlformats.org/drawingml/2006/main">
              <a:ext uri="{FF2B5EF4-FFF2-40B4-BE49-F238E27FC236}">
                <a16:creationId xmlns:a16="http://schemas.microsoft.com/office/drawing/2014/main" id="{55B3F708-4277-43DC-89F1-92B145464839}"/>
              </a:ext>
            </a:extLst>
          </p:cNvPr>
          <p:cNvSpPr>
            <a:spLocks xmlns:a="http://schemas.openxmlformats.org/drawingml/2006/main" noGrp="1"/>
          </p:cNvSpPr>
          <p:nvPr/>
        </p:nvSpPr>
        <p:spPr>
          <a:xfrm xmlns:a="http://schemas.openxmlformats.org/drawingml/2006/main">
            <a:off x="5372100" y="6181725"/>
            <a:ext cx="36195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Persist signed event</a:t>
            </a:r>
          </a:p>
        </p:txBody>
      </p:sp>
      <p:sp>
        <p:nvSpPr>
          <p:cNvPr id="23" name="node-137">
            <a:extLst xmlns:a="http://schemas.openxmlformats.org/drawingml/2006/main">
              <a:ext uri="{FF2B5EF4-FFF2-40B4-BE49-F238E27FC236}">
                <a16:creationId xmlns:a16="http://schemas.microsoft.com/office/drawing/2014/main" id="{9B0D3C1F-E8FA-4A42-B2C1-C7843726982C}"/>
              </a:ext>
            </a:extLst>
          </p:cNvPr>
          <p:cNvSpPr>
            <a:spLocks xmlns:a="http://schemas.openxmlformats.org/drawingml/2006/main" noGrp="1"/>
          </p:cNvSpPr>
          <p:nvPr/>
        </p:nvSpPr>
        <p:spPr>
          <a:xfrm xmlns:a="http://schemas.openxmlformats.org/drawingml/2006/main">
            <a:off x="609600" y="5572125"/>
            <a:ext cx="3429000" cy="1381125"/>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24" name="text-138">
            <a:extLst xmlns:a="http://schemas.openxmlformats.org/drawingml/2006/main">
              <a:ext uri="{FF2B5EF4-FFF2-40B4-BE49-F238E27FC236}">
                <a16:creationId xmlns:a16="http://schemas.microsoft.com/office/drawing/2014/main" id="{6779D114-9594-42BB-A417-629B814886A0}"/>
              </a:ext>
            </a:extLst>
          </p:cNvPr>
          <p:cNvSpPr>
            <a:spLocks xmlns:a="http://schemas.openxmlformats.org/drawingml/2006/main" noGrp="1"/>
          </p:cNvSpPr>
          <p:nvPr/>
        </p:nvSpPr>
        <p:spPr>
          <a:xfrm xmlns:a="http://schemas.openxmlformats.org/drawingml/2006/main">
            <a:off x="800100" y="5743575"/>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Buzz receipt</a:t>
            </a:r>
          </a:p>
        </p:txBody>
      </p:sp>
      <p:sp>
        <p:nvSpPr>
          <p:cNvPr id="25" name="text-139">
            <a:extLst xmlns:a="http://schemas.openxmlformats.org/drawingml/2006/main">
              <a:ext uri="{FF2B5EF4-FFF2-40B4-BE49-F238E27FC236}">
                <a16:creationId xmlns:a16="http://schemas.microsoft.com/office/drawing/2014/main" id="{77DB2BDA-8557-4775-B081-358951428913}"/>
              </a:ext>
            </a:extLst>
          </p:cNvPr>
          <p:cNvSpPr>
            <a:spLocks xmlns:a="http://schemas.openxmlformats.org/drawingml/2006/main" noGrp="1"/>
          </p:cNvSpPr>
          <p:nvPr/>
        </p:nvSpPr>
        <p:spPr>
          <a:xfrm xmlns:a="http://schemas.openxmlformats.org/drawingml/2006/main">
            <a:off x="800100" y="6181725"/>
            <a:ext cx="3048000" cy="657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Retry same event ID</a:t>
            </a:r>
          </a:p>
        </p:txBody>
      </p:sp>
      <p:sp>
        <p:nvSpPr>
          <p:cNvPr id="29" name="text-140">
            <a:extLst xmlns:a="http://schemas.openxmlformats.org/drawingml/2006/main">
              <a:ext uri="{FF2B5EF4-FFF2-40B4-BE49-F238E27FC236}">
                <a16:creationId xmlns:a16="http://schemas.microsoft.com/office/drawing/2014/main" id="{7CAE9758-F3D7-49A0-B775-EB40E2081C83}"/>
              </a:ext>
            </a:extLst>
          </p:cNvPr>
          <p:cNvSpPr>
            <a:spLocks xmlns:a="http://schemas.openxmlformats.org/drawingml/2006/main" noGrp="1"/>
          </p:cNvSpPr>
          <p:nvPr/>
        </p:nvSpPr>
        <p:spPr>
          <a:xfrm xmlns:a="http://schemas.openxmlformats.org/drawingml/2006/main">
            <a:off x="10668000" y="4314825"/>
            <a:ext cx="3619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Uncertain write</a:t>
            </a:r>
          </a:p>
        </p:txBody>
      </p:sp>
    </p:spTree>
    <p:extLst>
      <p:ext uri="{BB962C8B-B14F-4D97-AF65-F5344CB8AC3E}">
        <p14:creationId xmlns:p14="http://schemas.microsoft.com/office/powerpoint/2010/main" val="2108005505"/>
      </p:ext>
    </p:extLst>
  </p:cSld>
</p:sld>
</file>

<file path=ppt/slides/slide7.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16" name="">
            <a:extLst xmlns:a="http://schemas.openxmlformats.org/drawingml/2006/main">
              <a:ext uri="{FF2B5EF4-FFF2-40B4-BE49-F238E27FC236}">
                <a16:creationId xmlns:a16="http://schemas.microsoft.com/office/drawing/2014/main" id="{2CAEBAB0-D9AD-4B40-BF62-1D3D33AFCC59}"/>
              </a:ext>
            </a:extLst>
          </p:cNvPr>
          <p:cNvCxnSpPr>
            <a:stCxn xmlns:a="http://schemas.openxmlformats.org/drawingml/2006/main" id="9" idx="3"/>
            <a:endCxn xmlns:a="http://schemas.openxmlformats.org/drawingml/2006/main" id="12" idx="1"/>
          </p:cNvCxnSpPr>
          <p:nvPr/>
        </p:nvCxnSpPr>
        <p:spPr>
          <a:xfrm xmlns:a="http://schemas.openxmlformats.org/drawingml/2006/main">
            <a:off x="9563100" y="3476625"/>
            <a:ext cx="1333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5" name="">
            <a:extLst xmlns:a="http://schemas.openxmlformats.org/drawingml/2006/main">
              <a:ext uri="{FF2B5EF4-FFF2-40B4-BE49-F238E27FC236}">
                <a16:creationId xmlns:a16="http://schemas.microsoft.com/office/drawing/2014/main" id="{F67B4887-083D-4A0B-AA53-8696D73925B9}"/>
              </a:ext>
            </a:extLst>
          </p:cNvPr>
          <p:cNvCxnSpPr>
            <a:stCxn xmlns:a="http://schemas.openxmlformats.org/drawingml/2006/main" id="6" idx="3"/>
            <a:endCxn xmlns:a="http://schemas.openxmlformats.org/drawingml/2006/main" id="9" idx="1"/>
          </p:cNvCxnSpPr>
          <p:nvPr/>
        </p:nvCxnSpPr>
        <p:spPr>
          <a:xfrm xmlns:a="http://schemas.openxmlformats.org/drawingml/2006/main">
            <a:off x="4419600" y="3476625"/>
            <a:ext cx="1333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6" name="text-141">
            <a:extLst xmlns:a="http://schemas.openxmlformats.org/drawingml/2006/main">
              <a:ext uri="{FF2B5EF4-FFF2-40B4-BE49-F238E27FC236}">
                <a16:creationId xmlns:a16="http://schemas.microsoft.com/office/drawing/2014/main" id="{D73E5E5A-97A8-4B09-AF01-CEB94DB197DF}"/>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defRPr sz="3600" b="1">
                <a:solidFill>
                  <a:srgbClr val="132E38"/>
                </a:solidFill>
                <a:latin typeface="Aptos"/>
                <a:ea typeface="Aptos"/>
                <a:cs typeface="Aptos"/>
              </a:defRPr>
            </a:pPr>
            <a:r>
              <a:rPr sz="3600" b="1">
                <a:solidFill>
                  <a:srgbClr val="132E38"/>
                </a:solidFill>
                <a:latin typeface="Aptos"/>
                <a:ea typeface="Aptos"/>
                <a:cs typeface="Aptos"/>
              </a:rPr>
              <a:t>Qualification evidence</a:t>
            </a:r>
          </a:p>
        </p:txBody>
      </p:sp>
      <p:sp>
        <p:nvSpPr>
          <p:cNvPr id="2" name="text-142">
            <a:extLst xmlns:a="http://schemas.openxmlformats.org/drawingml/2006/main">
              <a:ext uri="{FF2B5EF4-FFF2-40B4-BE49-F238E27FC236}">
                <a16:creationId xmlns:a16="http://schemas.microsoft.com/office/drawing/2014/main" id="{287027BB-A7D2-48D4-8C2C-5D84CEBD5BD6}"/>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defRPr sz="2025" b="0">
                <a:solidFill>
                  <a:srgbClr val="49616A"/>
                </a:solidFill>
                <a:latin typeface="Aptos"/>
                <a:ea typeface="Aptos"/>
                <a:cs typeface="Aptos"/>
              </a:defRPr>
            </a:pPr>
            <a:r>
              <a:rPr sz="2025" b="0">
                <a:solidFill>
                  <a:srgbClr val="49616A"/>
                </a:solidFill>
                <a:latin typeface="Aptos"/>
                <a:ea typeface="Aptos"/>
                <a:cs typeface="Aptos"/>
              </a:rPr>
              <a:t>Recorded results · 23 October 2026</a:t>
            </a:r>
          </a:p>
        </p:txBody>
      </p:sp>
      <p:sp>
        <p:nvSpPr>
          <p:cNvPr id="3" name="">
            <a:extLst xmlns:a="http://schemas.openxmlformats.org/drawingml/2006/main">
              <a:ext uri="{FF2B5EF4-FFF2-40B4-BE49-F238E27FC236}">
                <a16:creationId xmlns:a16="http://schemas.microsoft.com/office/drawing/2014/main" id="{97F78B89-322E-4CD8-8D6C-1A73356442F6}"/>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143">
            <a:extLst xmlns:a="http://schemas.openxmlformats.org/drawingml/2006/main">
              <a:ext uri="{FF2B5EF4-FFF2-40B4-BE49-F238E27FC236}">
                <a16:creationId xmlns:a16="http://schemas.microsoft.com/office/drawing/2014/main" id="{37292D19-B469-4843-99DA-B1F9B59B5A3A}"/>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defRPr sz="1350" b="0">
                <a:solidFill>
                  <a:srgbClr val="49616A"/>
                </a:solidFill>
                <a:latin typeface="Aptos"/>
                <a:ea typeface="Aptos"/>
                <a:cs typeface="Aptos"/>
              </a:defRPr>
            </a:pPr>
            <a:r>
              <a:rPr sz="1350" b="0">
                <a:solidFill>
                  <a:srgbClr val="49616A"/>
                </a:solidFill>
                <a:latin typeface="Aptos"/>
                <a:ea typeface="Aptos"/>
                <a:cs typeface="Aptos"/>
              </a:rPr>
              <a:t>Inertia architecture · r12 · 23 October 2026</a:t>
            </a:r>
          </a:p>
        </p:txBody>
      </p:sp>
      <p:sp>
        <p:nvSpPr>
          <p:cNvPr id="5" name="text-144">
            <a:extLst xmlns:a="http://schemas.openxmlformats.org/drawingml/2006/main">
              <a:ext uri="{FF2B5EF4-FFF2-40B4-BE49-F238E27FC236}">
                <a16:creationId xmlns:a16="http://schemas.microsoft.com/office/drawing/2014/main" id="{3E6D8539-F46E-41E4-AF85-87EEB4B7430E}"/>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defRPr sz="1650" b="1">
                <a:solidFill>
                  <a:srgbClr val="157D80"/>
                </a:solidFill>
                <a:latin typeface="Aptos"/>
                <a:ea typeface="Aptos"/>
                <a:cs typeface="Aptos"/>
              </a:defRPr>
            </a:pPr>
            <a:r>
              <a:rPr sz="1650" b="1">
                <a:solidFill>
                  <a:srgbClr val="157D80"/>
                </a:solidFill>
                <a:latin typeface="Aptos"/>
                <a:ea typeface="Aptos"/>
                <a:cs typeface="Aptos"/>
              </a:rPr>
              <a:t>7</a:t>
            </a:r>
          </a:p>
        </p:txBody>
      </p:sp>
      <p:sp>
        <p:nvSpPr>
          <p:cNvPr id="6" name="node-145">
            <a:extLst xmlns:a="http://schemas.openxmlformats.org/drawingml/2006/main">
              <a:ext uri="{FF2B5EF4-FFF2-40B4-BE49-F238E27FC236}">
                <a16:creationId xmlns:a16="http://schemas.microsoft.com/office/drawing/2014/main" id="{2EE92F9B-36A4-4E29-8D1D-EF23D921AA5B}"/>
              </a:ext>
            </a:extLst>
          </p:cNvPr>
          <p:cNvSpPr>
            <a:spLocks xmlns:a="http://schemas.openxmlformats.org/drawingml/2006/main" noGrp="1"/>
          </p:cNvSpPr>
          <p:nvPr/>
        </p:nvSpPr>
        <p:spPr>
          <a:xfrm xmlns:a="http://schemas.openxmlformats.org/drawingml/2006/main">
            <a:off x="609600" y="2714625"/>
            <a:ext cx="3810000" cy="15240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text-146">
            <a:extLst xmlns:a="http://schemas.openxmlformats.org/drawingml/2006/main">
              <a:ext uri="{FF2B5EF4-FFF2-40B4-BE49-F238E27FC236}">
                <a16:creationId xmlns:a16="http://schemas.microsoft.com/office/drawing/2014/main" id="{49513A53-1BDF-41D7-BA52-958EB76B90C8}"/>
              </a:ext>
            </a:extLst>
          </p:cNvPr>
          <p:cNvSpPr>
            <a:spLocks xmlns:a="http://schemas.openxmlformats.org/drawingml/2006/main" noGrp="1"/>
          </p:cNvSpPr>
          <p:nvPr/>
        </p:nvSpPr>
        <p:spPr>
          <a:xfrm xmlns:a="http://schemas.openxmlformats.org/drawingml/2006/main">
            <a:off x="800100" y="2886075"/>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Reviewed source</a:t>
            </a:r>
          </a:p>
        </p:txBody>
      </p:sp>
      <p:sp>
        <p:nvSpPr>
          <p:cNvPr id="8" name="text-147">
            <a:extLst xmlns:a="http://schemas.openxmlformats.org/drawingml/2006/main">
              <a:ext uri="{FF2B5EF4-FFF2-40B4-BE49-F238E27FC236}">
                <a16:creationId xmlns:a16="http://schemas.microsoft.com/office/drawing/2014/main" id="{7E1031F5-B3FC-4CC8-AC93-A64B753782DA}"/>
              </a:ext>
            </a:extLst>
          </p:cNvPr>
          <p:cNvSpPr>
            <a:spLocks xmlns:a="http://schemas.openxmlformats.org/drawingml/2006/main" noGrp="1"/>
          </p:cNvSpPr>
          <p:nvPr/>
        </p:nvSpPr>
        <p:spPr>
          <a:xfrm xmlns:a="http://schemas.openxmlformats.org/drawingml/2006/main">
            <a:off x="800100" y="3324225"/>
            <a:ext cx="3429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248 combined tests</a:t>
            </a:r>
          </a:p>
        </p:txBody>
      </p:sp>
      <p:sp>
        <p:nvSpPr>
          <p:cNvPr id="9" name="node-148">
            <a:extLst xmlns:a="http://schemas.openxmlformats.org/drawingml/2006/main">
              <a:ext uri="{FF2B5EF4-FFF2-40B4-BE49-F238E27FC236}">
                <a16:creationId xmlns:a16="http://schemas.microsoft.com/office/drawing/2014/main" id="{A3883F19-F976-48E0-97B8-B4227AFEF159}"/>
              </a:ext>
            </a:extLst>
          </p:cNvPr>
          <p:cNvSpPr>
            <a:spLocks xmlns:a="http://schemas.openxmlformats.org/drawingml/2006/main" noGrp="1"/>
          </p:cNvSpPr>
          <p:nvPr/>
        </p:nvSpPr>
        <p:spPr>
          <a:xfrm xmlns:a="http://schemas.openxmlformats.org/drawingml/2006/main">
            <a:off x="5753100" y="2714625"/>
            <a:ext cx="3810000" cy="1524000"/>
          </a:xfrm>
          <a:prstGeom xmlns:a="http://schemas.openxmlformats.org/drawingml/2006/main" prst="rect">
            <a:avLst/>
          </a:prstGeom>
          <a:solidFill xmlns:a="http://schemas.openxmlformats.org/drawingml/2006/main">
            <a:srgbClr val="E7F1ED"/>
          </a:solidFill>
          <a:ln xmlns:a="http://schemas.openxmlformats.org/drawingml/2006/main" w="19050">
            <a:solidFill>
              <a:srgbClr val="157D80"/>
            </a:solidFill>
            <a:prstDash val="solid"/>
          </a:ln>
        </p:spPr>
      </p:sp>
      <p:sp>
        <p:nvSpPr>
          <p:cNvPr id="10" name="text-149">
            <a:extLst xmlns:a="http://schemas.openxmlformats.org/drawingml/2006/main">
              <a:ext uri="{FF2B5EF4-FFF2-40B4-BE49-F238E27FC236}">
                <a16:creationId xmlns:a16="http://schemas.microsoft.com/office/drawing/2014/main" id="{7875F8DE-24D3-4834-B422-0D553EE9061F}"/>
              </a:ext>
            </a:extLst>
          </p:cNvPr>
          <p:cNvSpPr>
            <a:spLocks xmlns:a="http://schemas.openxmlformats.org/drawingml/2006/main" noGrp="1"/>
          </p:cNvSpPr>
          <p:nvPr/>
        </p:nvSpPr>
        <p:spPr>
          <a:xfrm xmlns:a="http://schemas.openxmlformats.org/drawingml/2006/main">
            <a:off x="5943600" y="2886075"/>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57D80"/>
                </a:solidFill>
                <a:latin typeface="Aptos"/>
                <a:ea typeface="Aptos"/>
                <a:cs typeface="Aptos"/>
              </a:defRPr>
            </a:defPPr>
          </a:lstStyle>
          <a:p xmlns:a="http://schemas.openxmlformats.org/drawingml/2006/main">
            <a:pPr>
              <a:defRPr sz="2250" b="1">
                <a:solidFill>
                  <a:srgbClr val="157D80"/>
                </a:solidFill>
                <a:latin typeface="Aptos"/>
                <a:ea typeface="Aptos"/>
                <a:cs typeface="Aptos"/>
              </a:defRPr>
            </a:pPr>
            <a:r>
              <a:rPr sz="2250" b="1">
                <a:solidFill>
                  <a:srgbClr val="157D80"/>
                </a:solidFill>
                <a:latin typeface="Aptos"/>
                <a:ea typeface="Aptos"/>
                <a:cs typeface="Aptos"/>
              </a:rPr>
              <a:t>Exact runtime archive</a:t>
            </a:r>
          </a:p>
        </p:txBody>
      </p:sp>
      <p:sp>
        <p:nvSpPr>
          <p:cNvPr id="11" name="text-150">
            <a:extLst xmlns:a="http://schemas.openxmlformats.org/drawingml/2006/main">
              <a:ext uri="{FF2B5EF4-FFF2-40B4-BE49-F238E27FC236}">
                <a16:creationId xmlns:a16="http://schemas.microsoft.com/office/drawing/2014/main" id="{2049E307-7F20-4D00-831D-E0C4D015627F}"/>
              </a:ext>
            </a:extLst>
          </p:cNvPr>
          <p:cNvSpPr>
            <a:spLocks xmlns:a="http://schemas.openxmlformats.org/drawingml/2006/main" noGrp="1"/>
          </p:cNvSpPr>
          <p:nvPr/>
        </p:nvSpPr>
        <p:spPr>
          <a:xfrm xmlns:a="http://schemas.openxmlformats.org/drawingml/2006/main">
            <a:off x="5943600" y="3324225"/>
            <a:ext cx="3429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SHA-256 pinned in receipt</a:t>
            </a:r>
          </a:p>
        </p:txBody>
      </p:sp>
      <p:sp>
        <p:nvSpPr>
          <p:cNvPr id="12" name="node-151">
            <a:extLst xmlns:a="http://schemas.openxmlformats.org/drawingml/2006/main">
              <a:ext uri="{FF2B5EF4-FFF2-40B4-BE49-F238E27FC236}">
                <a16:creationId xmlns:a16="http://schemas.microsoft.com/office/drawing/2014/main" id="{9805A863-D3DC-4C4F-A656-C74515ED35A5}"/>
              </a:ext>
            </a:extLst>
          </p:cNvPr>
          <p:cNvSpPr>
            <a:spLocks xmlns:a="http://schemas.openxmlformats.org/drawingml/2006/main" noGrp="1"/>
          </p:cNvSpPr>
          <p:nvPr/>
        </p:nvSpPr>
        <p:spPr>
          <a:xfrm xmlns:a="http://schemas.openxmlformats.org/drawingml/2006/main">
            <a:off x="10896600" y="2714625"/>
            <a:ext cx="3733800" cy="152400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3" name="text-152">
            <a:extLst xmlns:a="http://schemas.openxmlformats.org/drawingml/2006/main">
              <a:ext uri="{FF2B5EF4-FFF2-40B4-BE49-F238E27FC236}">
                <a16:creationId xmlns:a16="http://schemas.microsoft.com/office/drawing/2014/main" id="{84450827-DD79-45C0-803A-727E58BA2B16}"/>
              </a:ext>
            </a:extLst>
          </p:cNvPr>
          <p:cNvSpPr>
            <a:spLocks xmlns:a="http://schemas.openxmlformats.org/drawingml/2006/main" noGrp="1"/>
          </p:cNvSpPr>
          <p:nvPr/>
        </p:nvSpPr>
        <p:spPr>
          <a:xfrm xmlns:a="http://schemas.openxmlformats.org/drawingml/2006/main">
            <a:off x="11087100" y="2886075"/>
            <a:ext cx="3352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defRPr sz="2250" b="1">
                <a:solidFill>
                  <a:srgbClr val="132E38"/>
                </a:solidFill>
                <a:latin typeface="Aptos"/>
                <a:ea typeface="Aptos"/>
                <a:cs typeface="Aptos"/>
              </a:defRPr>
            </a:pPr>
            <a:r>
              <a:rPr sz="2250" b="1">
                <a:solidFill>
                  <a:srgbClr val="132E38"/>
                </a:solidFill>
                <a:latin typeface="Aptos"/>
                <a:ea typeface="Aptos"/>
                <a:cs typeface="Aptos"/>
              </a:rPr>
              <a:t>Native services</a:t>
            </a:r>
          </a:p>
        </p:txBody>
      </p:sp>
      <p:sp>
        <p:nvSpPr>
          <p:cNvPr id="14" name="text-153">
            <a:extLst xmlns:a="http://schemas.openxmlformats.org/drawingml/2006/main">
              <a:ext uri="{FF2B5EF4-FFF2-40B4-BE49-F238E27FC236}">
                <a16:creationId xmlns:a16="http://schemas.microsoft.com/office/drawing/2014/main" id="{FEA79EDF-5F14-4C4D-9A2E-BEB92E76587F}"/>
              </a:ext>
            </a:extLst>
          </p:cNvPr>
          <p:cNvSpPr>
            <a:spLocks xmlns:a="http://schemas.openxmlformats.org/drawingml/2006/main" noGrp="1"/>
          </p:cNvSpPr>
          <p:nvPr/>
        </p:nvSpPr>
        <p:spPr>
          <a:xfrm xmlns:a="http://schemas.openxmlformats.org/drawingml/2006/main">
            <a:off x="11087100" y="3324225"/>
            <a:ext cx="33528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defRPr sz="1875" b="0">
                <a:solidFill>
                  <a:srgbClr val="49616A"/>
                </a:solidFill>
                <a:latin typeface="Aptos"/>
                <a:ea typeface="Aptos"/>
                <a:cs typeface="Aptos"/>
              </a:defRPr>
            </a:pPr>
            <a:r>
              <a:rPr sz="1875" b="0">
                <a:solidFill>
                  <a:srgbClr val="49616A"/>
                </a:solidFill>
                <a:latin typeface="Aptos"/>
                <a:ea typeface="Aptos"/>
                <a:cs typeface="Aptos"/>
              </a:rPr>
              <a:t>Paperclip 2026.1012.0</a:t>
            </a:r>
          </a:p>
        </p:txBody>
      </p:sp>
      <p:sp>
        <p:nvSpPr>
          <p:cNvPr id="17" name="text-154">
            <a:extLst xmlns:a="http://schemas.openxmlformats.org/drawingml/2006/main">
              <a:ext uri="{FF2B5EF4-FFF2-40B4-BE49-F238E27FC236}">
                <a16:creationId xmlns:a16="http://schemas.microsoft.com/office/drawing/2014/main" id="{53CBCC93-129C-4C88-9E6C-179D9FD3DBA1}"/>
              </a:ext>
            </a:extLst>
          </p:cNvPr>
          <p:cNvSpPr>
            <a:spLocks xmlns:a="http://schemas.openxmlformats.org/drawingml/2006/main" noGrp="1"/>
          </p:cNvSpPr>
          <p:nvPr/>
        </p:nvSpPr>
        <p:spPr>
          <a:xfrm xmlns:a="http://schemas.openxmlformats.org/drawingml/2006/main">
            <a:off x="609600" y="4495800"/>
            <a:ext cx="3810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Typecheck + build</a:t>
            </a:r>
          </a:p>
        </p:txBody>
      </p:sp>
      <p:sp>
        <p:nvSpPr>
          <p:cNvPr id="18" name="text-155">
            <a:extLst xmlns:a="http://schemas.openxmlformats.org/drawingml/2006/main">
              <a:ext uri="{FF2B5EF4-FFF2-40B4-BE49-F238E27FC236}">
                <a16:creationId xmlns:a16="http://schemas.microsoft.com/office/drawing/2014/main" id="{28848EE1-3A98-47FE-A570-A02493471010}"/>
              </a:ext>
            </a:extLst>
          </p:cNvPr>
          <p:cNvSpPr>
            <a:spLocks xmlns:a="http://schemas.openxmlformats.org/drawingml/2006/main" noGrp="1"/>
          </p:cNvSpPr>
          <p:nvPr/>
        </p:nvSpPr>
        <p:spPr>
          <a:xfrm xmlns:a="http://schemas.openxmlformats.org/drawingml/2006/main">
            <a:off x="5753100" y="4495800"/>
            <a:ext cx="3810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Package verification</a:t>
            </a:r>
          </a:p>
        </p:txBody>
      </p:sp>
      <p:sp>
        <p:nvSpPr>
          <p:cNvPr id="19" name="text-156">
            <a:extLst xmlns:a="http://schemas.openxmlformats.org/drawingml/2006/main">
              <a:ext uri="{FF2B5EF4-FFF2-40B4-BE49-F238E27FC236}">
                <a16:creationId xmlns:a16="http://schemas.microsoft.com/office/drawing/2014/main" id="{5334603D-20F1-4C58-8D70-63E75F9761CA}"/>
              </a:ext>
            </a:extLst>
          </p:cNvPr>
          <p:cNvSpPr>
            <a:spLocks xmlns:a="http://schemas.openxmlformats.org/drawingml/2006/main" noGrp="1"/>
          </p:cNvSpPr>
          <p:nvPr/>
        </p:nvSpPr>
        <p:spPr>
          <a:xfrm xmlns:a="http://schemas.openxmlformats.org/drawingml/2006/main">
            <a:off x="10896600" y="4495800"/>
            <a:ext cx="3733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725" b="0">
                <a:solidFill>
                  <a:srgbClr val="49616A"/>
                </a:solidFill>
                <a:latin typeface="Aptos"/>
                <a:ea typeface="Aptos"/>
                <a:cs typeface="Aptos"/>
              </a:defRPr>
            </a:defPPr>
          </a:lstStyle>
          <a:p xmlns:a="http://schemas.openxmlformats.org/drawingml/2006/main">
            <a:pPr>
              <a:defRPr sz="1725" b="0">
                <a:solidFill>
                  <a:srgbClr val="49616A"/>
                </a:solidFill>
                <a:latin typeface="Aptos"/>
                <a:ea typeface="Aptos"/>
                <a:cs typeface="Aptos"/>
              </a:defRPr>
            </a:pPr>
            <a:r>
              <a:rPr sz="1725" b="0">
                <a:solidFill>
                  <a:srgbClr val="49616A"/>
                </a:solidFill>
                <a:latin typeface="Aptos"/>
                <a:ea typeface="Aptos"/>
                <a:cs typeface="Aptos"/>
              </a:rPr>
              <a:t>PostgreSQL 18.1</a:t>
            </a:r>
          </a:p>
        </p:txBody>
      </p:sp>
      <p:sp>
        <p:nvSpPr>
          <p:cNvPr id="20" name="">
            <a:extLst xmlns:a="http://schemas.openxmlformats.org/drawingml/2006/main">
              <a:ext uri="{FF2B5EF4-FFF2-40B4-BE49-F238E27FC236}">
                <a16:creationId xmlns:a16="http://schemas.microsoft.com/office/drawing/2014/main" id="{58B48192-85DE-4A01-87A8-FD919A9FF409}"/>
              </a:ext>
            </a:extLst>
          </p:cNvPr>
          <p:cNvSpPr>
            <a:spLocks xmlns:a="http://schemas.openxmlformats.org/drawingml/2006/main" noGrp="1"/>
          </p:cNvSpPr>
          <p:nvPr/>
        </p:nvSpPr>
        <p:spPr>
          <a:xfrm xmlns:a="http://schemas.openxmlformats.org/drawingml/2006/main">
            <a:off x="609600" y="5562600"/>
            <a:ext cx="14020800" cy="0"/>
          </a:xfrm>
          <a:prstGeom xmlns:a="http://schemas.openxmlformats.org/drawingml/2006/main" prst="line">
            <a:avLst/>
          </a:prstGeom>
          <a:ln xmlns:a="http://schemas.openxmlformats.org/drawingml/2006/main" w="9525">
            <a:solidFill>
              <a:srgbClr val="B9C9C7"/>
            </a:solidFill>
            <a:prstDash val="solid"/>
          </a:ln>
        </p:spPr>
      </p:sp>
      <p:sp>
        <p:nvSpPr>
          <p:cNvPr id="21" name="text-157">
            <a:extLst xmlns:a="http://schemas.openxmlformats.org/drawingml/2006/main">
              <a:ext uri="{FF2B5EF4-FFF2-40B4-BE49-F238E27FC236}">
                <a16:creationId xmlns:a16="http://schemas.microsoft.com/office/drawing/2014/main" id="{B3C3DC7B-1E98-4D74-A4AF-852CEC9C1B43}"/>
              </a:ext>
            </a:extLst>
          </p:cNvPr>
          <p:cNvSpPr>
            <a:spLocks xmlns:a="http://schemas.openxmlformats.org/drawingml/2006/main" noGrp="1"/>
          </p:cNvSpPr>
          <p:nvPr/>
        </p:nvSpPr>
        <p:spPr>
          <a:xfrm xmlns:a="http://schemas.openxmlformats.org/drawingml/2006/main">
            <a:off x="609600" y="5981700"/>
            <a:ext cx="3810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850" b="1">
                <a:solidFill>
                  <a:srgbClr val="157D80"/>
                </a:solidFill>
                <a:latin typeface="Aptos"/>
                <a:ea typeface="Aptos"/>
                <a:cs typeface="Aptos"/>
              </a:defRPr>
            </a:defPPr>
          </a:lstStyle>
          <a:p xmlns:a="http://schemas.openxmlformats.org/drawingml/2006/main">
            <a:pPr>
              <a:defRPr sz="2850" b="1">
                <a:solidFill>
                  <a:srgbClr val="157D80"/>
                </a:solidFill>
                <a:latin typeface="Aptos"/>
                <a:ea typeface="Aptos"/>
                <a:cs typeface="Aptos"/>
              </a:defRPr>
            </a:pPr>
            <a:r>
              <a:rPr sz="2850" b="1">
                <a:solidFill>
                  <a:srgbClr val="157D80"/>
                </a:solidFill>
                <a:latin typeface="Aptos"/>
                <a:ea typeface="Aptos"/>
                <a:cs typeface="Aptos"/>
              </a:rPr>
              <a:t>6 migrations</a:t>
            </a:r>
          </a:p>
        </p:txBody>
      </p:sp>
      <p:sp>
        <p:nvSpPr>
          <p:cNvPr id="22" name="text-158">
            <a:extLst xmlns:a="http://schemas.openxmlformats.org/drawingml/2006/main">
              <a:ext uri="{FF2B5EF4-FFF2-40B4-BE49-F238E27FC236}">
                <a16:creationId xmlns:a16="http://schemas.microsoft.com/office/drawing/2014/main" id="{1F0525BB-A3E7-4384-AB6B-3DEB67344930}"/>
              </a:ext>
            </a:extLst>
          </p:cNvPr>
          <p:cNvSpPr>
            <a:spLocks xmlns:a="http://schemas.openxmlformats.org/drawingml/2006/main" noGrp="1"/>
          </p:cNvSpPr>
          <p:nvPr/>
        </p:nvSpPr>
        <p:spPr>
          <a:xfrm xmlns:a="http://schemas.openxmlformats.org/drawingml/2006/main">
            <a:off x="5753100" y="5981700"/>
            <a:ext cx="4286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850" b="1">
                <a:solidFill>
                  <a:srgbClr val="157D80"/>
                </a:solidFill>
                <a:latin typeface="Aptos"/>
                <a:ea typeface="Aptos"/>
                <a:cs typeface="Aptos"/>
              </a:defRPr>
            </a:defPPr>
          </a:lstStyle>
          <a:p xmlns:a="http://schemas.openxmlformats.org/drawingml/2006/main">
            <a:pPr>
              <a:defRPr sz="2850" b="1">
                <a:solidFill>
                  <a:srgbClr val="157D80"/>
                </a:solidFill>
                <a:latin typeface="Aptos"/>
                <a:ea typeface="Aptos"/>
                <a:cs typeface="Aptos"/>
              </a:defRPr>
            </a:pPr>
            <a:r>
              <a:rPr sz="2850" b="1">
                <a:solidFill>
                  <a:srgbClr val="157D80"/>
                </a:solidFill>
                <a:latin typeface="Aptos"/>
                <a:ea typeface="Aptos"/>
                <a:cs typeface="Aptos"/>
              </a:rPr>
              <a:t>8 namespace tables</a:t>
            </a:r>
          </a:p>
        </p:txBody>
      </p:sp>
      <p:sp>
        <p:nvSpPr>
          <p:cNvPr id="23" name="text-159">
            <a:extLst xmlns:a="http://schemas.openxmlformats.org/drawingml/2006/main">
              <a:ext uri="{FF2B5EF4-FFF2-40B4-BE49-F238E27FC236}">
                <a16:creationId xmlns:a16="http://schemas.microsoft.com/office/drawing/2014/main" id="{A66C0ABE-D382-47E7-BEB7-92CAFA73B6DE}"/>
              </a:ext>
            </a:extLst>
          </p:cNvPr>
          <p:cNvSpPr>
            <a:spLocks xmlns:a="http://schemas.openxmlformats.org/drawingml/2006/main" noGrp="1"/>
          </p:cNvSpPr>
          <p:nvPr/>
        </p:nvSpPr>
        <p:spPr>
          <a:xfrm xmlns:a="http://schemas.openxmlformats.org/drawingml/2006/main">
            <a:off x="10896600" y="5981700"/>
            <a:ext cx="3905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850" b="1">
                <a:solidFill>
                  <a:srgbClr val="157D80"/>
                </a:solidFill>
                <a:latin typeface="Aptos"/>
                <a:ea typeface="Aptos"/>
                <a:cs typeface="Aptos"/>
              </a:defRPr>
            </a:defPPr>
          </a:lstStyle>
          <a:p xmlns:a="http://schemas.openxmlformats.org/drawingml/2006/main">
            <a:pPr>
              <a:defRPr sz="2850" b="1">
                <a:solidFill>
                  <a:srgbClr val="157D80"/>
                </a:solidFill>
                <a:latin typeface="Aptos"/>
                <a:ea typeface="Aptos"/>
                <a:cs typeface="Aptos"/>
              </a:defRPr>
            </a:pPr>
            <a:r>
              <a:rPr sz="2850" b="1">
                <a:solidFill>
                  <a:srgbClr val="157D80"/>
                </a:solidFill>
                <a:latin typeface="Aptos"/>
                <a:ea typeface="Aptos"/>
                <a:cs typeface="Aptos"/>
              </a:rPr>
              <a:t>3 disabled job RPCs</a:t>
            </a:r>
          </a:p>
        </p:txBody>
      </p:sp>
      <p:sp>
        <p:nvSpPr>
          <p:cNvPr id="24" name="text-160">
            <a:extLst xmlns:a="http://schemas.openxmlformats.org/drawingml/2006/main">
              <a:ext uri="{FF2B5EF4-FFF2-40B4-BE49-F238E27FC236}">
                <a16:creationId xmlns:a16="http://schemas.microsoft.com/office/drawing/2014/main" id="{E92F1929-A4DD-4963-9D3E-A41CE2A916A1}"/>
              </a:ext>
            </a:extLst>
          </p:cNvPr>
          <p:cNvSpPr>
            <a:spLocks xmlns:a="http://schemas.openxmlformats.org/drawingml/2006/main" noGrp="1"/>
          </p:cNvSpPr>
          <p:nvPr/>
        </p:nvSpPr>
        <p:spPr>
          <a:xfrm xmlns:a="http://schemas.openxmlformats.org/drawingml/2006/main">
            <a:off x="609600" y="7029450"/>
            <a:ext cx="6572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defRPr sz="2025" b="0">
                <a:solidFill>
                  <a:srgbClr val="49616A"/>
                </a:solidFill>
                <a:latin typeface="Aptos"/>
                <a:ea typeface="Aptos"/>
                <a:cs typeface="Aptos"/>
              </a:defRPr>
            </a:pPr>
            <a:r>
              <a:rPr sz="2025" b="0">
                <a:solidFill>
                  <a:srgbClr val="49616A"/>
                </a:solidFill>
                <a:latin typeface="Aptos"/>
                <a:ea typeface="Aptos"/>
                <a:cs typeface="Aptos"/>
              </a:rPr>
              <a:t>HTTP/API: historical baseline</a:t>
            </a:r>
          </a:p>
        </p:txBody>
      </p:sp>
      <p:sp>
        <p:nvSpPr>
          <p:cNvPr id="25" name="text-161">
            <a:extLst xmlns:a="http://schemas.openxmlformats.org/drawingml/2006/main">
              <a:ext uri="{FF2B5EF4-FFF2-40B4-BE49-F238E27FC236}">
                <a16:creationId xmlns:a16="http://schemas.microsoft.com/office/drawing/2014/main" id="{3417AE02-8896-430B-86DA-538B3DD57DBA}"/>
              </a:ext>
            </a:extLst>
          </p:cNvPr>
          <p:cNvSpPr>
            <a:spLocks xmlns:a="http://schemas.openxmlformats.org/drawingml/2006/main" noGrp="1"/>
          </p:cNvSpPr>
          <p:nvPr/>
        </p:nvSpPr>
        <p:spPr>
          <a:xfrm xmlns:a="http://schemas.openxmlformats.org/drawingml/2006/main">
            <a:off x="8039100" y="7029450"/>
            <a:ext cx="65913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916011"/>
                </a:solidFill>
                <a:latin typeface="Aptos"/>
                <a:ea typeface="Aptos"/>
                <a:cs typeface="Aptos"/>
              </a:defRPr>
            </a:defPPr>
          </a:lstStyle>
          <a:p xmlns:a="http://schemas.openxmlformats.org/drawingml/2006/main">
            <a:pPr>
              <a:defRPr sz="2025" b="0">
                <a:solidFill>
                  <a:srgbClr val="916011"/>
                </a:solidFill>
                <a:latin typeface="Aptos"/>
                <a:ea typeface="Aptos"/>
                <a:cs typeface="Aptos"/>
              </a:defRPr>
            </a:pPr>
            <a:r>
              <a:rPr sz="2025" b="0">
                <a:solidFill>
                  <a:srgbClr val="916011"/>
                </a:solidFill>
                <a:latin typeface="Aptos"/>
                <a:ea typeface="Aptos"/>
                <a:cs typeface="Aptos"/>
              </a:rPr>
              <a:t>Live integration admission: pending</a:t>
            </a:r>
          </a:p>
        </p:txBody>
      </p:sp>
    </p:spTree>
    <p:extLst>
      <p:ext uri="{BB962C8B-B14F-4D97-AF65-F5344CB8AC3E}">
        <p14:creationId xmlns:p14="http://schemas.microsoft.com/office/powerpoint/2010/main" val="1458554970"/>
      </p:ext>
    </p:extLst>
  </p:cSld>
</p:sld>
</file>

<file path=ppt/slides/slide8.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16" name="">
            <a:extLst xmlns:a="http://schemas.openxmlformats.org/drawingml/2006/main">
              <a:ext uri="{FF2B5EF4-FFF2-40B4-BE49-F238E27FC236}">
                <a16:creationId xmlns:a16="http://schemas.microsoft.com/office/drawing/2014/main" id="{AADE179F-57CD-456F-993E-74C07E53BE47}"/>
              </a:ext>
            </a:extLst>
          </p:cNvPr>
          <p:cNvCxnSpPr>
            <a:stCxn xmlns:a="http://schemas.openxmlformats.org/drawingml/2006/main" id="9" idx="3"/>
            <a:endCxn xmlns:a="http://schemas.openxmlformats.org/drawingml/2006/main" id="12" idx="1"/>
          </p:cNvCxnSpPr>
          <p:nvPr/>
        </p:nvCxnSpPr>
        <p:spPr>
          <a:xfrm xmlns:a="http://schemas.openxmlformats.org/drawingml/2006/main">
            <a:off x="9677400" y="3143250"/>
            <a:ext cx="8382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5" name="">
            <a:extLst xmlns:a="http://schemas.openxmlformats.org/drawingml/2006/main">
              <a:ext uri="{FF2B5EF4-FFF2-40B4-BE49-F238E27FC236}">
                <a16:creationId xmlns:a16="http://schemas.microsoft.com/office/drawing/2014/main" id="{78841D45-5CB9-4501-B161-7E58798E405D}"/>
              </a:ext>
            </a:extLst>
          </p:cNvPr>
          <p:cNvCxnSpPr>
            <a:stCxn xmlns:a="http://schemas.openxmlformats.org/drawingml/2006/main" id="6" idx="3"/>
            <a:endCxn xmlns:a="http://schemas.openxmlformats.org/drawingml/2006/main" id="9" idx="1"/>
          </p:cNvCxnSpPr>
          <p:nvPr/>
        </p:nvCxnSpPr>
        <p:spPr>
          <a:xfrm xmlns:a="http://schemas.openxmlformats.org/drawingml/2006/main">
            <a:off x="4724400" y="3143250"/>
            <a:ext cx="8382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8" name="text-162">
            <a:extLst xmlns:a="http://schemas.openxmlformats.org/drawingml/2006/main">
              <a:ext uri="{FF2B5EF4-FFF2-40B4-BE49-F238E27FC236}">
                <a16:creationId xmlns:a16="http://schemas.microsoft.com/office/drawing/2014/main" id="{15D35880-4436-4FD4-9E4D-5607DC62E8EE}"/>
              </a:ext>
            </a:extLst>
          </p:cNvPr>
          <p:cNvSpPr>
            <a:spLocks xmlns:a="http://schemas.openxmlformats.org/drawingml/2006/main" noGrp="1"/>
          </p:cNvSpPr>
          <p:nvPr/>
        </p:nvSpPr>
        <p:spPr>
          <a:xfrm xmlns:a="http://schemas.openxmlformats.org/drawingml/2006/main">
            <a:off x="609600" y="542925"/>
            <a:ext cx="14020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3600" b="1">
                <a:solidFill>
                  <a:srgbClr val="132E38"/>
                </a:solidFill>
                <a:latin typeface="Aptos"/>
                <a:ea typeface="Aptos"/>
                <a:cs typeface="Aptos"/>
              </a:defRPr>
            </a:defPPr>
          </a:lstStyle>
          <a:p xmlns:a="http://schemas.openxmlformats.org/drawingml/2006/main">
            <a:pPr>
              <a:buNone/>
              <a:defRPr sz="3600" b="1">
                <a:solidFill>
                  <a:srgbClr val="132E38"/>
                </a:solidFill>
                <a:latin typeface="Aptos"/>
                <a:ea typeface="Aptos"/>
                <a:cs typeface="Aptos"/>
              </a:defRPr>
            </a:pPr>
            <a:r>
              <a:rPr sz="3600" b="1">
                <a:solidFill>
                  <a:srgbClr val="132E38"/>
                </a:solidFill>
                <a:latin typeface="Aptos"/>
                <a:ea typeface="Aptos"/>
                <a:cs typeface="Aptos"/>
              </a:rPr>
              <a:t>Live integration sequence</a:t>
            </a:r>
          </a:p>
        </p:txBody>
      </p:sp>
      <p:sp>
        <p:nvSpPr>
          <p:cNvPr id="2" name="text-163">
            <a:extLst xmlns:a="http://schemas.openxmlformats.org/drawingml/2006/main">
              <a:ext uri="{FF2B5EF4-FFF2-40B4-BE49-F238E27FC236}">
                <a16:creationId xmlns:a16="http://schemas.microsoft.com/office/drawing/2014/main" id="{E65B2AE2-CA17-480C-A085-11DDE46B66AF}"/>
              </a:ext>
            </a:extLst>
          </p:cNvPr>
          <p:cNvSpPr>
            <a:spLocks xmlns:a="http://schemas.openxmlformats.org/drawingml/2006/main" noGrp="1"/>
          </p:cNvSpPr>
          <p:nvPr/>
        </p:nvSpPr>
        <p:spPr>
          <a:xfrm xmlns:a="http://schemas.openxmlformats.org/drawingml/2006/main">
            <a:off x="609600" y="1333500"/>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49616A"/>
                </a:solidFill>
                <a:latin typeface="Aptos"/>
                <a:ea typeface="Aptos"/>
                <a:cs typeface="Aptos"/>
              </a:defRPr>
            </a:defPPr>
          </a:lstStyle>
          <a:p xmlns:a="http://schemas.openxmlformats.org/drawingml/2006/main">
            <a:pPr>
              <a:buNone/>
              <a:defRPr sz="2025" b="0">
                <a:solidFill>
                  <a:srgbClr val="49616A"/>
                </a:solidFill>
                <a:latin typeface="Aptos"/>
                <a:ea typeface="Aptos"/>
                <a:cs typeface="Aptos"/>
              </a:defRPr>
            </a:pPr>
            <a:r>
              <a:rPr sz="2025" b="0">
                <a:solidFill>
                  <a:srgbClr val="49616A"/>
                </a:solidFill>
                <a:latin typeface="Aptos"/>
                <a:ea typeface="Aptos"/>
                <a:cs typeface="Aptos"/>
              </a:rPr>
              <a:t>Pending acceptance · Helix remains optional</a:t>
            </a:r>
          </a:p>
        </p:txBody>
      </p:sp>
      <p:sp>
        <p:nvSpPr>
          <p:cNvPr id="3" name="">
            <a:extLst xmlns:a="http://schemas.openxmlformats.org/drawingml/2006/main">
              <a:ext uri="{FF2B5EF4-FFF2-40B4-BE49-F238E27FC236}">
                <a16:creationId xmlns:a16="http://schemas.microsoft.com/office/drawing/2014/main" id="{5ED78011-BFF7-49FB-A465-448B26C6A2FE}"/>
              </a:ext>
            </a:extLst>
          </p:cNvPr>
          <p:cNvSpPr>
            <a:spLocks xmlns:a="http://schemas.openxmlformats.org/drawingml/2006/main" noGrp="1"/>
          </p:cNvSpPr>
          <p:nvPr/>
        </p:nvSpPr>
        <p:spPr>
          <a:xfrm xmlns:a="http://schemas.openxmlformats.org/drawingml/2006/main">
            <a:off x="609600" y="7905750"/>
            <a:ext cx="14020800" cy="0"/>
          </a:xfrm>
          <a:prstGeom xmlns:a="http://schemas.openxmlformats.org/drawingml/2006/main" prst="line">
            <a:avLst/>
          </a:prstGeom>
          <a:ln xmlns:a="http://schemas.openxmlformats.org/drawingml/2006/main" w="9525">
            <a:solidFill>
              <a:srgbClr val="B9C9C7"/>
            </a:solidFill>
            <a:prstDash val="solid"/>
          </a:ln>
        </p:spPr>
      </p:sp>
      <p:sp>
        <p:nvSpPr>
          <p:cNvPr id="4" name="text-164">
            <a:extLst xmlns:a="http://schemas.openxmlformats.org/drawingml/2006/main">
              <a:ext uri="{FF2B5EF4-FFF2-40B4-BE49-F238E27FC236}">
                <a16:creationId xmlns:a16="http://schemas.microsoft.com/office/drawing/2014/main" id="{444E5F80-1583-4775-A1DC-40A9BFCB7221}"/>
              </a:ext>
            </a:extLst>
          </p:cNvPr>
          <p:cNvSpPr>
            <a:spLocks xmlns:a="http://schemas.openxmlformats.org/drawingml/2006/main" noGrp="1"/>
          </p:cNvSpPr>
          <p:nvPr/>
        </p:nvSpPr>
        <p:spPr>
          <a:xfrm xmlns:a="http://schemas.openxmlformats.org/drawingml/2006/main">
            <a:off x="609600" y="808672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350" b="0">
                <a:solidFill>
                  <a:srgbClr val="49616A"/>
                </a:solidFill>
                <a:latin typeface="Aptos"/>
                <a:ea typeface="Aptos"/>
                <a:cs typeface="Aptos"/>
              </a:defRPr>
            </a:defPPr>
          </a:lstStyle>
          <a:p xmlns:a="http://schemas.openxmlformats.org/drawingml/2006/main">
            <a:pPr>
              <a:buNone/>
              <a:defRPr sz="1350" b="0">
                <a:solidFill>
                  <a:srgbClr val="49616A"/>
                </a:solidFill>
                <a:latin typeface="Aptos"/>
                <a:ea typeface="Aptos"/>
                <a:cs typeface="Aptos"/>
              </a:defRPr>
            </a:pPr>
            <a:r>
              <a:rPr sz="1350" b="0">
                <a:solidFill>
                  <a:srgbClr val="49616A"/>
                </a:solidFill>
                <a:latin typeface="Aptos"/>
                <a:ea typeface="Aptos"/>
                <a:cs typeface="Aptos"/>
              </a:rPr>
              <a:t>Inertia architecture · r12 · 23 October 2026</a:t>
            </a:r>
          </a:p>
        </p:txBody>
      </p:sp>
      <p:sp>
        <p:nvSpPr>
          <p:cNvPr id="5" name="text-165">
            <a:extLst xmlns:a="http://schemas.openxmlformats.org/drawingml/2006/main">
              <a:ext uri="{FF2B5EF4-FFF2-40B4-BE49-F238E27FC236}">
                <a16:creationId xmlns:a16="http://schemas.microsoft.com/office/drawing/2014/main" id="{0B1B1476-B75B-4E1F-9479-30C79C499F45}"/>
              </a:ext>
            </a:extLst>
          </p:cNvPr>
          <p:cNvSpPr>
            <a:spLocks xmlns:a="http://schemas.openxmlformats.org/drawingml/2006/main" noGrp="1"/>
          </p:cNvSpPr>
          <p:nvPr/>
        </p:nvSpPr>
        <p:spPr>
          <a:xfrm xmlns:a="http://schemas.openxmlformats.org/drawingml/2006/main">
            <a:off x="14097000" y="8058150"/>
            <a:ext cx="533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650" b="1">
                <a:solidFill>
                  <a:srgbClr val="157D80"/>
                </a:solidFill>
                <a:latin typeface="Aptos"/>
                <a:ea typeface="Aptos"/>
                <a:cs typeface="Aptos"/>
              </a:defRPr>
            </a:defPPr>
          </a:lstStyle>
          <a:p xmlns:a="http://schemas.openxmlformats.org/drawingml/2006/main">
            <a:pPr>
              <a:buNone/>
              <a:defRPr sz="1650" b="1">
                <a:solidFill>
                  <a:srgbClr val="157D80"/>
                </a:solidFill>
                <a:latin typeface="Aptos"/>
                <a:ea typeface="Aptos"/>
                <a:cs typeface="Aptos"/>
              </a:defRPr>
            </a:pPr>
            <a:r>
              <a:rPr sz="1650" b="1">
                <a:solidFill>
                  <a:srgbClr val="157D80"/>
                </a:solidFill>
                <a:latin typeface="Aptos"/>
                <a:ea typeface="Aptos"/>
                <a:cs typeface="Aptos"/>
              </a:rPr>
              <a:t>8</a:t>
            </a:r>
          </a:p>
        </p:txBody>
      </p:sp>
      <p:sp>
        <p:nvSpPr>
          <p:cNvPr id="6" name="node-166">
            <a:extLst xmlns:a="http://schemas.openxmlformats.org/drawingml/2006/main">
              <a:ext uri="{FF2B5EF4-FFF2-40B4-BE49-F238E27FC236}">
                <a16:creationId xmlns:a16="http://schemas.microsoft.com/office/drawing/2014/main" id="{6AF1A4B4-2E6D-4379-91F5-C5B0F86A258E}"/>
              </a:ext>
            </a:extLst>
          </p:cNvPr>
          <p:cNvSpPr>
            <a:spLocks xmlns:a="http://schemas.openxmlformats.org/drawingml/2006/main" noGrp="1"/>
          </p:cNvSpPr>
          <p:nvPr/>
        </p:nvSpPr>
        <p:spPr>
          <a:xfrm xmlns:a="http://schemas.openxmlformats.org/drawingml/2006/main">
            <a:off x="609600" y="2428875"/>
            <a:ext cx="41148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7" name="text-167">
            <a:extLst xmlns:a="http://schemas.openxmlformats.org/drawingml/2006/main">
              <a:ext uri="{FF2B5EF4-FFF2-40B4-BE49-F238E27FC236}">
                <a16:creationId xmlns:a16="http://schemas.microsoft.com/office/drawing/2014/main" id="{DDDDC2C2-2FE3-47CD-90D7-0454CAF52D44}"/>
              </a:ext>
            </a:extLst>
          </p:cNvPr>
          <p:cNvSpPr>
            <a:spLocks xmlns:a="http://schemas.openxmlformats.org/drawingml/2006/main" noGrp="1"/>
          </p:cNvSpPr>
          <p:nvPr/>
        </p:nvSpPr>
        <p:spPr>
          <a:xfrm xmlns:a="http://schemas.openxmlformats.org/drawingml/2006/main">
            <a:off x="800100" y="2600325"/>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Private host</a:t>
            </a:r>
          </a:p>
        </p:txBody>
      </p:sp>
      <p:sp>
        <p:nvSpPr>
          <p:cNvPr id="8" name="text-168">
            <a:extLst xmlns:a="http://schemas.openxmlformats.org/drawingml/2006/main">
              <a:ext uri="{FF2B5EF4-FFF2-40B4-BE49-F238E27FC236}">
                <a16:creationId xmlns:a16="http://schemas.microsoft.com/office/drawing/2014/main" id="{3118AF43-8A82-4870-AD57-2814FA0D4E84}"/>
              </a:ext>
            </a:extLst>
          </p:cNvPr>
          <p:cNvSpPr>
            <a:spLocks xmlns:a="http://schemas.openxmlformats.org/drawingml/2006/main" noGrp="1"/>
          </p:cNvSpPr>
          <p:nvPr/>
        </p:nvSpPr>
        <p:spPr>
          <a:xfrm xmlns:a="http://schemas.openxmlformats.org/drawingml/2006/main">
            <a:off x="800100" y="3038475"/>
            <a:ext cx="3733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Paperclip DB + backup recovery</a:t>
            </a:r>
          </a:p>
        </p:txBody>
      </p:sp>
      <p:sp>
        <p:nvSpPr>
          <p:cNvPr id="9" name="node-169">
            <a:extLst xmlns:a="http://schemas.openxmlformats.org/drawingml/2006/main">
              <a:ext uri="{FF2B5EF4-FFF2-40B4-BE49-F238E27FC236}">
                <a16:creationId xmlns:a16="http://schemas.microsoft.com/office/drawing/2014/main" id="{1372C85E-3F1F-4525-A3CE-9B12846084B4}"/>
              </a:ext>
            </a:extLst>
          </p:cNvPr>
          <p:cNvSpPr>
            <a:spLocks xmlns:a="http://schemas.openxmlformats.org/drawingml/2006/main" noGrp="1"/>
          </p:cNvSpPr>
          <p:nvPr/>
        </p:nvSpPr>
        <p:spPr>
          <a:xfrm xmlns:a="http://schemas.openxmlformats.org/drawingml/2006/main">
            <a:off x="5562600" y="2428875"/>
            <a:ext cx="41148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0" name="text-170">
            <a:extLst xmlns:a="http://schemas.openxmlformats.org/drawingml/2006/main">
              <a:ext uri="{FF2B5EF4-FFF2-40B4-BE49-F238E27FC236}">
                <a16:creationId xmlns:a16="http://schemas.microsoft.com/office/drawing/2014/main" id="{54A6D4AC-DB6B-4FBD-9D71-29BF4D485045}"/>
              </a:ext>
            </a:extLst>
          </p:cNvPr>
          <p:cNvSpPr>
            <a:spLocks xmlns:a="http://schemas.openxmlformats.org/drawingml/2006/main" noGrp="1"/>
          </p:cNvSpPr>
          <p:nvPr/>
        </p:nvSpPr>
        <p:spPr>
          <a:xfrm xmlns:a="http://schemas.openxmlformats.org/drawingml/2006/main">
            <a:off x="5753100" y="2600325"/>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Buzz + native pairing</a:t>
            </a:r>
          </a:p>
        </p:txBody>
      </p:sp>
      <p:sp>
        <p:nvSpPr>
          <p:cNvPr id="11" name="text-171">
            <a:extLst xmlns:a="http://schemas.openxmlformats.org/drawingml/2006/main">
              <a:ext uri="{FF2B5EF4-FFF2-40B4-BE49-F238E27FC236}">
                <a16:creationId xmlns:a16="http://schemas.microsoft.com/office/drawing/2014/main" id="{8E834DAA-55FC-40BF-A5A8-834E9056A554}"/>
              </a:ext>
            </a:extLst>
          </p:cNvPr>
          <p:cNvSpPr>
            <a:spLocks xmlns:a="http://schemas.openxmlformats.org/drawingml/2006/main" noGrp="1"/>
          </p:cNvSpPr>
          <p:nvPr/>
        </p:nvSpPr>
        <p:spPr>
          <a:xfrm xmlns:a="http://schemas.openxmlformats.org/drawingml/2006/main">
            <a:off x="5753100" y="3038475"/>
            <a:ext cx="3733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Approved relay and identity</a:t>
            </a:r>
          </a:p>
        </p:txBody>
      </p:sp>
      <p:sp>
        <p:nvSpPr>
          <p:cNvPr id="12" name="node-172">
            <a:extLst xmlns:a="http://schemas.openxmlformats.org/drawingml/2006/main">
              <a:ext uri="{FF2B5EF4-FFF2-40B4-BE49-F238E27FC236}">
                <a16:creationId xmlns:a16="http://schemas.microsoft.com/office/drawing/2014/main" id="{119381CA-7903-4EA4-9FAD-AF1799C61ADF}"/>
              </a:ext>
            </a:extLst>
          </p:cNvPr>
          <p:cNvSpPr>
            <a:spLocks xmlns:a="http://schemas.openxmlformats.org/drawingml/2006/main" noGrp="1"/>
          </p:cNvSpPr>
          <p:nvPr/>
        </p:nvSpPr>
        <p:spPr>
          <a:xfrm xmlns:a="http://schemas.openxmlformats.org/drawingml/2006/main">
            <a:off x="10515600" y="2428875"/>
            <a:ext cx="41148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B9C9C7"/>
            </a:solidFill>
            <a:prstDash val="solid"/>
          </a:ln>
        </p:spPr>
      </p:sp>
      <p:sp>
        <p:nvSpPr>
          <p:cNvPr id="13" name="text-173">
            <a:extLst xmlns:a="http://schemas.openxmlformats.org/drawingml/2006/main">
              <a:ext uri="{FF2B5EF4-FFF2-40B4-BE49-F238E27FC236}">
                <a16:creationId xmlns:a16="http://schemas.microsoft.com/office/drawing/2014/main" id="{49F5E230-8E67-40EE-99DB-495BA0513608}"/>
              </a:ext>
            </a:extLst>
          </p:cNvPr>
          <p:cNvSpPr>
            <a:spLocks xmlns:a="http://schemas.openxmlformats.org/drawingml/2006/main" noGrp="1"/>
          </p:cNvSpPr>
          <p:nvPr/>
        </p:nvSpPr>
        <p:spPr>
          <a:xfrm xmlns:a="http://schemas.openxmlformats.org/drawingml/2006/main">
            <a:off x="10706100" y="2600325"/>
            <a:ext cx="3733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250" b="1">
                <a:solidFill>
                  <a:srgbClr val="132E38"/>
                </a:solidFill>
                <a:latin typeface="Aptos"/>
                <a:ea typeface="Aptos"/>
                <a:cs typeface="Aptos"/>
              </a:defRPr>
            </a:defPPr>
          </a:lstStyle>
          <a:p xmlns:a="http://schemas.openxmlformats.org/drawingml/2006/main">
            <a:pPr>
              <a:buNone/>
              <a:defRPr sz="2250" b="1">
                <a:solidFill>
                  <a:srgbClr val="132E38"/>
                </a:solidFill>
                <a:latin typeface="Aptos"/>
                <a:ea typeface="Aptos"/>
                <a:cs typeface="Aptos"/>
              </a:defRPr>
            </a:pPr>
            <a:r>
              <a:rPr sz="2250" b="1">
                <a:solidFill>
                  <a:srgbClr val="132E38"/>
                </a:solidFill>
                <a:latin typeface="Aptos"/>
                <a:ea typeface="Aptos"/>
                <a:cs typeface="Aptos"/>
              </a:rPr>
              <a:t>CEO admission</a:t>
            </a:r>
          </a:p>
        </p:txBody>
      </p:sp>
      <p:sp>
        <p:nvSpPr>
          <p:cNvPr id="14" name="text-174">
            <a:extLst xmlns:a="http://schemas.openxmlformats.org/drawingml/2006/main">
              <a:ext uri="{FF2B5EF4-FFF2-40B4-BE49-F238E27FC236}">
                <a16:creationId xmlns:a16="http://schemas.microsoft.com/office/drawing/2014/main" id="{C7A2E8A3-6350-4289-8767-9A6AA5E4FC81}"/>
              </a:ext>
            </a:extLst>
          </p:cNvPr>
          <p:cNvSpPr>
            <a:spLocks xmlns:a="http://schemas.openxmlformats.org/drawingml/2006/main" noGrp="1"/>
          </p:cNvSpPr>
          <p:nvPr/>
        </p:nvSpPr>
        <p:spPr>
          <a:xfrm xmlns:a="http://schemas.openxmlformats.org/drawingml/2006/main">
            <a:off x="10706100" y="3038475"/>
            <a:ext cx="3733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875" b="0">
                <a:solidFill>
                  <a:srgbClr val="49616A"/>
                </a:solidFill>
                <a:latin typeface="Aptos"/>
                <a:ea typeface="Aptos"/>
                <a:cs typeface="Aptos"/>
              </a:defRPr>
            </a:defPPr>
          </a:lstStyle>
          <a:p xmlns:a="http://schemas.openxmlformats.org/drawingml/2006/main">
            <a:pPr>
              <a:buNone/>
              <a:defRPr sz="1875" b="0">
                <a:solidFill>
                  <a:srgbClr val="49616A"/>
                </a:solidFill>
                <a:latin typeface="Aptos"/>
                <a:ea typeface="Aptos"/>
                <a:cs typeface="Aptos"/>
              </a:defRPr>
            </a:pPr>
            <a:r>
              <a:rPr sz="1875" b="0">
                <a:solidFill>
                  <a:srgbClr val="49616A"/>
                </a:solidFill>
                <a:latin typeface="Aptos"/>
                <a:ea typeface="Aptos"/>
                <a:cs typeface="Aptos"/>
              </a:rPr>
              <a:t>Assigned intake + run evidence</a:t>
            </a:r>
          </a:p>
        </p:txBody>
      </p:sp>
      <p:sp>
        <p:nvSpPr>
          <p:cNvPr id="17" name="">
            <a:extLst xmlns:a="http://schemas.openxmlformats.org/drawingml/2006/main">
              <a:ext uri="{FF2B5EF4-FFF2-40B4-BE49-F238E27FC236}">
                <a16:creationId xmlns:a16="http://schemas.microsoft.com/office/drawing/2014/main" id="{35C4A18A-5728-431C-B45B-E91322246585}"/>
              </a:ext>
            </a:extLst>
          </p:cNvPr>
          <p:cNvSpPr>
            <a:spLocks xmlns:a="http://schemas.openxmlformats.org/drawingml/2006/main" noGrp="1"/>
          </p:cNvSpPr>
          <p:nvPr/>
        </p:nvSpPr>
        <p:spPr>
          <a:xfrm xmlns:a="http://schemas.openxmlformats.org/drawingml/2006/main">
            <a:off x="609600" y="4591050"/>
            <a:ext cx="14020800" cy="0"/>
          </a:xfrm>
          <a:prstGeom xmlns:a="http://schemas.openxmlformats.org/drawingml/2006/main" prst="line">
            <a:avLst/>
          </a:prstGeom>
          <a:ln xmlns:a="http://schemas.openxmlformats.org/drawingml/2006/main" w="9525">
            <a:solidFill>
              <a:srgbClr val="B9C9C7"/>
            </a:solidFill>
            <a:prstDash val="solid"/>
          </a:ln>
        </p:spPr>
      </p:sp>
      <p:sp>
        <p:nvSpPr>
          <p:cNvPr id="18" name="text-175">
            <a:extLst xmlns:a="http://schemas.openxmlformats.org/drawingml/2006/main">
              <a:ext uri="{FF2B5EF4-FFF2-40B4-BE49-F238E27FC236}">
                <a16:creationId xmlns:a16="http://schemas.microsoft.com/office/drawing/2014/main" id="{4A6663E8-8435-4030-B6A3-8C0EA39F7325}"/>
              </a:ext>
            </a:extLst>
          </p:cNvPr>
          <p:cNvSpPr>
            <a:spLocks xmlns:a="http://schemas.openxmlformats.org/drawingml/2006/main" noGrp="1"/>
          </p:cNvSpPr>
          <p:nvPr/>
        </p:nvSpPr>
        <p:spPr>
          <a:xfrm xmlns:a="http://schemas.openxmlformats.org/drawingml/2006/main">
            <a:off x="609600" y="495300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57D80"/>
                </a:solidFill>
                <a:latin typeface="Aptos"/>
                <a:ea typeface="Aptos"/>
                <a:cs typeface="Aptos"/>
              </a:defRPr>
            </a:defPPr>
          </a:lstStyle>
          <a:p xmlns:a="http://schemas.openxmlformats.org/drawingml/2006/main">
            <a:pPr>
              <a:buNone/>
              <a:defRPr sz="2025" b="1">
                <a:solidFill>
                  <a:srgbClr val="157D80"/>
                </a:solidFill>
                <a:latin typeface="Aptos"/>
                <a:ea typeface="Aptos"/>
                <a:cs typeface="Aptos"/>
              </a:defRPr>
            </a:pPr>
            <a:r>
              <a:rPr sz="2025" b="1">
                <a:solidFill>
                  <a:srgbClr val="157D80"/>
                </a:solidFill>
                <a:latin typeface="Aptos"/>
                <a:ea typeface="Aptos"/>
                <a:cs typeface="Aptos"/>
              </a:rPr>
              <a:t>Integration</a:t>
            </a:r>
          </a:p>
        </p:txBody>
      </p:sp>
      <p:sp>
        <p:nvSpPr>
          <p:cNvPr id="19" name="text-176">
            <a:extLst xmlns:a="http://schemas.openxmlformats.org/drawingml/2006/main">
              <a:ext uri="{FF2B5EF4-FFF2-40B4-BE49-F238E27FC236}">
                <a16:creationId xmlns:a16="http://schemas.microsoft.com/office/drawing/2014/main" id="{BD3213FA-2DDF-43E9-AF36-19563D6EDE9D}"/>
              </a:ext>
            </a:extLst>
          </p:cNvPr>
          <p:cNvSpPr>
            <a:spLocks xmlns:a="http://schemas.openxmlformats.org/drawingml/2006/main" noGrp="1"/>
          </p:cNvSpPr>
          <p:nvPr/>
        </p:nvSpPr>
        <p:spPr>
          <a:xfrm xmlns:a="http://schemas.openxmlformats.org/drawingml/2006/main">
            <a:off x="5562600" y="4953000"/>
            <a:ext cx="9067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57D80"/>
                </a:solidFill>
                <a:latin typeface="Aptos"/>
                <a:ea typeface="Aptos"/>
                <a:cs typeface="Aptos"/>
              </a:defRPr>
            </a:defPPr>
          </a:lstStyle>
          <a:p xmlns:a="http://schemas.openxmlformats.org/drawingml/2006/main">
            <a:pPr>
              <a:buNone/>
              <a:defRPr sz="2025" b="1">
                <a:solidFill>
                  <a:srgbClr val="157D80"/>
                </a:solidFill>
                <a:latin typeface="Aptos"/>
                <a:ea typeface="Aptos"/>
                <a:cs typeface="Aptos"/>
              </a:defRPr>
            </a:pPr>
            <a:r>
              <a:rPr sz="2025" b="1">
                <a:solidFill>
                  <a:srgbClr val="157D80"/>
                </a:solidFill>
                <a:latin typeface="Aptos"/>
                <a:ea typeface="Aptos"/>
                <a:cs typeface="Aptos"/>
              </a:rPr>
              <a:t>Acceptance evidence</a:t>
            </a:r>
          </a:p>
        </p:txBody>
      </p:sp>
      <p:sp>
        <p:nvSpPr>
          <p:cNvPr id="20" name="text-177">
            <a:extLst xmlns:a="http://schemas.openxmlformats.org/drawingml/2006/main">
              <a:ext uri="{FF2B5EF4-FFF2-40B4-BE49-F238E27FC236}">
                <a16:creationId xmlns:a16="http://schemas.microsoft.com/office/drawing/2014/main" id="{A19928B7-0003-4EA2-9297-10F5B2BB3BBB}"/>
              </a:ext>
            </a:extLst>
          </p:cNvPr>
          <p:cNvSpPr>
            <a:spLocks xmlns:a="http://schemas.openxmlformats.org/drawingml/2006/main" noGrp="1"/>
          </p:cNvSpPr>
          <p:nvPr/>
        </p:nvSpPr>
        <p:spPr>
          <a:xfrm xmlns:a="http://schemas.openxmlformats.org/drawingml/2006/main">
            <a:off x="609600" y="552450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32E38"/>
                </a:solidFill>
                <a:latin typeface="Aptos"/>
                <a:ea typeface="Aptos"/>
                <a:cs typeface="Aptos"/>
              </a:defRPr>
            </a:defPPr>
          </a:lstStyle>
          <a:p xmlns:a="http://schemas.openxmlformats.org/drawingml/2006/main">
            <a:pPr>
              <a:buNone/>
              <a:defRPr sz="2025" b="1">
                <a:solidFill>
                  <a:srgbClr val="132E38"/>
                </a:solidFill>
                <a:latin typeface="Aptos"/>
                <a:ea typeface="Aptos"/>
                <a:cs typeface="Aptos"/>
              </a:defRPr>
            </a:pPr>
            <a:r>
              <a:rPr sz="2025" b="1">
                <a:solidFill>
                  <a:srgbClr val="132E38"/>
                </a:solidFill>
                <a:latin typeface="Aptos"/>
                <a:ea typeface="Aptos"/>
                <a:cs typeface="Aptos"/>
              </a:rPr>
              <a:t>Roundtable</a:t>
            </a:r>
          </a:p>
        </p:txBody>
      </p:sp>
      <p:sp>
        <p:nvSpPr>
          <p:cNvPr id="21" name="text-178">
            <a:extLst xmlns:a="http://schemas.openxmlformats.org/drawingml/2006/main">
              <a:ext uri="{FF2B5EF4-FFF2-40B4-BE49-F238E27FC236}">
                <a16:creationId xmlns:a16="http://schemas.microsoft.com/office/drawing/2014/main" id="{F29661F1-A3CA-4C0A-96F7-2EFBB32C3603}"/>
              </a:ext>
            </a:extLst>
          </p:cNvPr>
          <p:cNvSpPr>
            <a:spLocks xmlns:a="http://schemas.openxmlformats.org/drawingml/2006/main" noGrp="1"/>
          </p:cNvSpPr>
          <p:nvPr/>
        </p:nvSpPr>
        <p:spPr>
          <a:xfrm xmlns:a="http://schemas.openxmlformats.org/drawingml/2006/main">
            <a:off x="5562600" y="5524500"/>
            <a:ext cx="9067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132E38"/>
                </a:solidFill>
                <a:latin typeface="Aptos"/>
                <a:ea typeface="Aptos"/>
                <a:cs typeface="Aptos"/>
              </a:defRPr>
            </a:defPPr>
          </a:lstStyle>
          <a:p xmlns:a="http://schemas.openxmlformats.org/drawingml/2006/main">
            <a:pPr>
              <a:buNone/>
              <a:defRPr sz="2025" b="0">
                <a:solidFill>
                  <a:srgbClr val="132E38"/>
                </a:solidFill>
                <a:latin typeface="Aptos"/>
                <a:ea typeface="Aptos"/>
                <a:cs typeface="Aptos"/>
              </a:defRPr>
            </a:pPr>
            <a:r>
              <a:rPr sz="2025" b="0">
                <a:solidFill>
                  <a:srgbClr val="132E38"/>
                </a:solidFill>
                <a:latin typeface="Aptos"/>
                <a:ea typeface="Aptos"/>
                <a:cs typeface="Aptos"/>
              </a:rPr>
              <a:t>Drive readiness, website membership enforcement and readback</a:t>
            </a:r>
          </a:p>
        </p:txBody>
      </p:sp>
      <p:sp>
        <p:nvSpPr>
          <p:cNvPr id="22" name="text-179">
            <a:extLst xmlns:a="http://schemas.openxmlformats.org/drawingml/2006/main">
              <a:ext uri="{FF2B5EF4-FFF2-40B4-BE49-F238E27FC236}">
                <a16:creationId xmlns:a16="http://schemas.microsoft.com/office/drawing/2014/main" id="{A6B2FBA5-CECE-4D15-A22B-110ABE3205CD}"/>
              </a:ext>
            </a:extLst>
          </p:cNvPr>
          <p:cNvSpPr>
            <a:spLocks xmlns:a="http://schemas.openxmlformats.org/drawingml/2006/main" noGrp="1"/>
          </p:cNvSpPr>
          <p:nvPr/>
        </p:nvSpPr>
        <p:spPr>
          <a:xfrm xmlns:a="http://schemas.openxmlformats.org/drawingml/2006/main">
            <a:off x="609600" y="601980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32E38"/>
                </a:solidFill>
                <a:latin typeface="Aptos"/>
                <a:ea typeface="Aptos"/>
                <a:cs typeface="Aptos"/>
              </a:defRPr>
            </a:defPPr>
          </a:lstStyle>
          <a:p xmlns:a="http://schemas.openxmlformats.org/drawingml/2006/main">
            <a:pPr>
              <a:buNone/>
              <a:defRPr sz="2025" b="1">
                <a:solidFill>
                  <a:srgbClr val="132E38"/>
                </a:solidFill>
                <a:latin typeface="Aptos"/>
                <a:ea typeface="Aptos"/>
                <a:cs typeface="Aptos"/>
              </a:defRPr>
            </a:pPr>
            <a:r>
              <a:rPr sz="2025" b="1">
                <a:solidFill>
                  <a:srgbClr val="132E38"/>
                </a:solidFill>
                <a:latin typeface="Aptos"/>
                <a:ea typeface="Aptos"/>
                <a:cs typeface="Aptos"/>
              </a:rPr>
              <a:t>Grants</a:t>
            </a:r>
          </a:p>
        </p:txBody>
      </p:sp>
      <p:sp>
        <p:nvSpPr>
          <p:cNvPr id="23" name="text-180">
            <a:extLst xmlns:a="http://schemas.openxmlformats.org/drawingml/2006/main">
              <a:ext uri="{FF2B5EF4-FFF2-40B4-BE49-F238E27FC236}">
                <a16:creationId xmlns:a16="http://schemas.microsoft.com/office/drawing/2014/main" id="{D44C092F-755E-442E-98F1-73471C384B41}"/>
              </a:ext>
            </a:extLst>
          </p:cNvPr>
          <p:cNvSpPr>
            <a:spLocks xmlns:a="http://schemas.openxmlformats.org/drawingml/2006/main" noGrp="1"/>
          </p:cNvSpPr>
          <p:nvPr/>
        </p:nvSpPr>
        <p:spPr>
          <a:xfrm xmlns:a="http://schemas.openxmlformats.org/drawingml/2006/main">
            <a:off x="5562600" y="6019800"/>
            <a:ext cx="9067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132E38"/>
                </a:solidFill>
                <a:latin typeface="Aptos"/>
                <a:ea typeface="Aptos"/>
                <a:cs typeface="Aptos"/>
              </a:defRPr>
            </a:defPPr>
          </a:lstStyle>
          <a:p xmlns:a="http://schemas.openxmlformats.org/drawingml/2006/main">
            <a:pPr>
              <a:buNone/>
              <a:defRPr sz="2025" b="0">
                <a:solidFill>
                  <a:srgbClr val="132E38"/>
                </a:solidFill>
                <a:latin typeface="Aptos"/>
                <a:ea typeface="Aptos"/>
                <a:cs typeface="Aptos"/>
              </a:defRPr>
            </a:pPr>
            <a:r>
              <a:rPr sz="2025" b="0">
                <a:solidFill>
                  <a:srgbClr val="132E38"/>
                </a:solidFill>
                <a:latin typeface="Aptos"/>
                <a:ea typeface="Aptos"/>
                <a:cs typeface="Aptos"/>
              </a:rPr>
              <a:t>Human-only review, trusted decision adapter and bound vote</a:t>
            </a:r>
          </a:p>
        </p:txBody>
      </p:sp>
      <p:sp>
        <p:nvSpPr>
          <p:cNvPr id="24" name="text-181">
            <a:extLst xmlns:a="http://schemas.openxmlformats.org/drawingml/2006/main">
              <a:ext uri="{FF2B5EF4-FFF2-40B4-BE49-F238E27FC236}">
                <a16:creationId xmlns:a16="http://schemas.microsoft.com/office/drawing/2014/main" id="{2790F855-BB6B-4623-A19C-80B7A36EAC65}"/>
              </a:ext>
            </a:extLst>
          </p:cNvPr>
          <p:cNvSpPr>
            <a:spLocks xmlns:a="http://schemas.openxmlformats.org/drawingml/2006/main" noGrp="1"/>
          </p:cNvSpPr>
          <p:nvPr/>
        </p:nvSpPr>
        <p:spPr>
          <a:xfrm xmlns:a="http://schemas.openxmlformats.org/drawingml/2006/main">
            <a:off x="609600" y="651510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32E38"/>
                </a:solidFill>
                <a:latin typeface="Aptos"/>
                <a:ea typeface="Aptos"/>
                <a:cs typeface="Aptos"/>
              </a:defRPr>
            </a:defPPr>
          </a:lstStyle>
          <a:p xmlns:a="http://schemas.openxmlformats.org/drawingml/2006/main">
            <a:pPr>
              <a:buNone/>
              <a:defRPr sz="2025" b="1">
                <a:solidFill>
                  <a:srgbClr val="132E38"/>
                </a:solidFill>
                <a:latin typeface="Aptos"/>
                <a:ea typeface="Aptos"/>
                <a:cs typeface="Aptos"/>
              </a:defRPr>
            </a:pPr>
            <a:r>
              <a:rPr sz="2025" b="1">
                <a:solidFill>
                  <a:srgbClr val="132E38"/>
                </a:solidFill>
                <a:latin typeface="Aptos"/>
                <a:ea typeface="Aptos"/>
                <a:cs typeface="Aptos"/>
              </a:rPr>
              <a:t>Member agent</a:t>
            </a:r>
          </a:p>
        </p:txBody>
      </p:sp>
      <p:sp>
        <p:nvSpPr>
          <p:cNvPr id="25" name="text-182">
            <a:extLst xmlns:a="http://schemas.openxmlformats.org/drawingml/2006/main">
              <a:ext uri="{FF2B5EF4-FFF2-40B4-BE49-F238E27FC236}">
                <a16:creationId xmlns:a16="http://schemas.microsoft.com/office/drawing/2014/main" id="{CB7A2D67-DA93-4B28-A555-9F1AE097D261}"/>
              </a:ext>
            </a:extLst>
          </p:cNvPr>
          <p:cNvSpPr>
            <a:spLocks xmlns:a="http://schemas.openxmlformats.org/drawingml/2006/main" noGrp="1"/>
          </p:cNvSpPr>
          <p:nvPr/>
        </p:nvSpPr>
        <p:spPr>
          <a:xfrm xmlns:a="http://schemas.openxmlformats.org/drawingml/2006/main">
            <a:off x="5562600" y="6515100"/>
            <a:ext cx="9067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132E38"/>
                </a:solidFill>
                <a:latin typeface="Aptos"/>
                <a:ea typeface="Aptos"/>
                <a:cs typeface="Aptos"/>
              </a:defRPr>
            </a:defPPr>
          </a:lstStyle>
          <a:p xmlns:a="http://schemas.openxmlformats.org/drawingml/2006/main">
            <a:pPr>
              <a:buNone/>
              <a:defRPr sz="2025" b="0">
                <a:solidFill>
                  <a:srgbClr val="132E38"/>
                </a:solidFill>
                <a:latin typeface="Aptos"/>
                <a:ea typeface="Aptos"/>
                <a:cs typeface="Aptos"/>
              </a:defRPr>
            </a:pPr>
            <a:r>
              <a:rPr sz="2025" b="0">
                <a:solidFill>
                  <a:srgbClr val="132E38"/>
                </a:solidFill>
                <a:latin typeface="Aptos"/>
                <a:ea typeface="Aptos"/>
                <a:cs typeface="Aptos"/>
              </a:rPr>
              <a:t>Enrollment, runtime isolation and denied-action test</a:t>
            </a:r>
          </a:p>
        </p:txBody>
      </p:sp>
      <p:sp>
        <p:nvSpPr>
          <p:cNvPr id="26" name="text-183">
            <a:extLst xmlns:a="http://schemas.openxmlformats.org/drawingml/2006/main">
              <a:ext uri="{FF2B5EF4-FFF2-40B4-BE49-F238E27FC236}">
                <a16:creationId xmlns:a16="http://schemas.microsoft.com/office/drawing/2014/main" id="{4B919B76-09CA-4689-81BD-56535B5EF709}"/>
              </a:ext>
            </a:extLst>
          </p:cNvPr>
          <p:cNvSpPr>
            <a:spLocks xmlns:a="http://schemas.openxmlformats.org/drawingml/2006/main" noGrp="1"/>
          </p:cNvSpPr>
          <p:nvPr/>
        </p:nvSpPr>
        <p:spPr>
          <a:xfrm xmlns:a="http://schemas.openxmlformats.org/drawingml/2006/main">
            <a:off x="609600" y="701040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1">
                <a:solidFill>
                  <a:srgbClr val="132E38"/>
                </a:solidFill>
                <a:latin typeface="Aptos"/>
                <a:ea typeface="Aptos"/>
                <a:cs typeface="Aptos"/>
              </a:defRPr>
            </a:defPPr>
          </a:lstStyle>
          <a:p xmlns:a="http://schemas.openxmlformats.org/drawingml/2006/main">
            <a:pPr>
              <a:buNone/>
              <a:defRPr sz="2025" b="1">
                <a:solidFill>
                  <a:srgbClr val="132E38"/>
                </a:solidFill>
                <a:latin typeface="Aptos"/>
                <a:ea typeface="Aptos"/>
                <a:cs typeface="Aptos"/>
              </a:defRPr>
            </a:pPr>
            <a:r>
              <a:rPr sz="2025" b="1">
                <a:solidFill>
                  <a:srgbClr val="132E38"/>
                </a:solidFill>
                <a:latin typeface="Aptos"/>
                <a:ea typeface="Aptos"/>
                <a:cs typeface="Aptos"/>
              </a:rPr>
              <a:t>Y2</a:t>
            </a:r>
          </a:p>
        </p:txBody>
      </p:sp>
      <p:sp>
        <p:nvSpPr>
          <p:cNvPr id="27" name="text-184">
            <a:extLst xmlns:a="http://schemas.openxmlformats.org/drawingml/2006/main">
              <a:ext uri="{FF2B5EF4-FFF2-40B4-BE49-F238E27FC236}">
                <a16:creationId xmlns:a16="http://schemas.microsoft.com/office/drawing/2014/main" id="{CE3A62AE-2B46-437B-9732-999CED1B91D7}"/>
              </a:ext>
            </a:extLst>
          </p:cNvPr>
          <p:cNvSpPr>
            <a:spLocks xmlns:a="http://schemas.openxmlformats.org/drawingml/2006/main" noGrp="1"/>
          </p:cNvSpPr>
          <p:nvPr/>
        </p:nvSpPr>
        <p:spPr>
          <a:xfrm xmlns:a="http://schemas.openxmlformats.org/drawingml/2006/main">
            <a:off x="5562600" y="7010400"/>
            <a:ext cx="9067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2025" b="0">
                <a:solidFill>
                  <a:srgbClr val="132E38"/>
                </a:solidFill>
                <a:latin typeface="Aptos"/>
                <a:ea typeface="Aptos"/>
                <a:cs typeface="Aptos"/>
              </a:defRPr>
            </a:defPPr>
          </a:lstStyle>
          <a:p xmlns:a="http://schemas.openxmlformats.org/drawingml/2006/main">
            <a:pPr>
              <a:buNone/>
              <a:defRPr sz="2025" b="0">
                <a:solidFill>
                  <a:srgbClr val="132E38"/>
                </a:solidFill>
                <a:latin typeface="Aptos"/>
                <a:ea typeface="Aptos"/>
                <a:cs typeface="Aptos"/>
              </a:defRPr>
            </a:pPr>
            <a:r>
              <a:rPr sz="2025" b="0">
                <a:solidFill>
                  <a:srgbClr val="132E38"/>
                </a:solidFill>
                <a:latin typeface="Aptos"/>
                <a:ea typeface="Aptos"/>
                <a:cs typeface="Aptos"/>
              </a:rPr>
              <a:t>Interest mapping and deduplicated follow-up</a:t>
            </a:r>
          </a:p>
        </p:txBody>
      </p:sp>
      <p:sp>
        <p:nvSpPr>
          <p:cNvPr id="29" name="revised-text-27">
            <a:extLst xmlns:a="http://schemas.openxmlformats.org/drawingml/2006/main">
              <a:ext uri="{FF2B5EF4-FFF2-40B4-BE49-F238E27FC236}">
                <a16:creationId xmlns:a16="http://schemas.microsoft.com/office/drawing/2014/main" id="{E2A23C23-C15B-4ACE-A9EA-033C6234DA84}"/>
              </a:ext>
            </a:extLst>
          </p:cNvPr>
          <p:cNvSpPr>
            <a:spLocks xmlns:a="http://schemas.openxmlformats.org/drawingml/2006/main" noGrp="1"/>
          </p:cNvSpPr>
          <p:nvPr/>
        </p:nvSpPr>
        <p:spPr>
          <a:xfrm xmlns:a="http://schemas.openxmlformats.org/drawingml/2006/main">
            <a:off x="609600" y="7600950"/>
            <a:ext cx="140208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defRPr sz="1575" b="0">
                <a:solidFill>
                  <a:srgbClr val="49616A"/>
                </a:solidFill>
                <a:latin typeface="Aptos"/>
                <a:ea typeface="Aptos"/>
                <a:cs typeface="Aptos"/>
              </a:defRPr>
            </a:defPPr>
          </a:lstStyle>
          <a:p xmlns:a="http://schemas.openxmlformats.org/drawingml/2006/main">
            <a:pPr>
              <a:defRPr sz="1575" b="0">
                <a:solidFill>
                  <a:srgbClr val="49616A"/>
                </a:solidFill>
                <a:latin typeface="Aptos"/>
                <a:ea typeface="Aptos"/>
                <a:cs typeface="Aptos"/>
              </a:defRPr>
            </a:pPr>
            <a:r>
              <a:rPr sz="1575" b="0">
                <a:solidFill>
                  <a:srgbClr val="49616A"/>
                </a:solidFill>
                <a:latin typeface="Aptos"/>
                <a:ea typeface="Aptos"/>
                <a:cs typeface="Aptos"/>
              </a:rPr>
              <a:t>DAO schemas + roles: verify provider support. Helix adds no demo dependency.</a:t>
            </a:r>
          </a:p>
        </p:txBody>
      </p:sp>
    </p:spTree>
    <p:extLst>
      <p:ext uri="{BB962C8B-B14F-4D97-AF65-F5344CB8AC3E}">
        <p14:creationId xmlns:p14="http://schemas.microsoft.com/office/powerpoint/2010/main" val="4094746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2026-10-23T14:11:09.4970000Z</dcterms:created>
  <dcterms:modified xsi:type="dcterms:W3CDTF">2026-10-23T14:11:09.4970000Z</dcterms:modified>
</coreProperties>
</file>