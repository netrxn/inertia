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274878bb9d84e79" /><Relationship Type="http://schemas.openxmlformats.org/officeDocument/2006/relationships/extended-properties" Target="/docProps/app.xml" Id="Raaa20dcc42b548c9" /><Relationship Type="http://schemas.openxmlformats.org/officeDocument/2006/relationships/officeDocument" Target="/ppt/presentation.xml" Id="R751ea083215b465f" /></Relationships>
</file>

<file path=ppt/presentation.xml><?xml version="1.0" encoding="utf-8"?>
<p:presentation xmlns:p="http://schemas.openxmlformats.org/presentationml/2006/main">
  <p:sldMasterIdLst>
    <p:sldMasterId xmlns:r="http://schemas.openxmlformats.org/officeDocument/2006/relationships" id="2147483648" r:id="R935c5bc66e724e41"/>
  </p:sldMasterIdLst>
  <p:notesMasterIdLst>
    <p:notesMasterId xmlns:r="http://schemas.openxmlformats.org/officeDocument/2006/relationships" r:id="R3020da40bcf64745"/>
  </p:notesMasterIdLst>
  <p:sldIdLst>
    <p:sldId xmlns:r="http://schemas.openxmlformats.org/officeDocument/2006/relationships" id="256" r:id="Rce2ba2346e3a41ec"/>
    <p:sldId xmlns:r="http://schemas.openxmlformats.org/officeDocument/2006/relationships" id="257" r:id="R9b25926a3f964b16"/>
    <p:sldId xmlns:r="http://schemas.openxmlformats.org/officeDocument/2006/relationships" id="258" r:id="Rc5be065f393b460d"/>
    <p:sldId xmlns:r="http://schemas.openxmlformats.org/officeDocument/2006/relationships" id="259" r:id="Rbad95026e5ef4825"/>
    <p:sldId xmlns:r="http://schemas.openxmlformats.org/officeDocument/2006/relationships" id="260" r:id="R0fbd58547ce64a57"/>
    <p:sldId xmlns:r="http://schemas.openxmlformats.org/officeDocument/2006/relationships" id="261" r:id="Rf7cc336b943c4d29"/>
    <p:sldId xmlns:r="http://schemas.openxmlformats.org/officeDocument/2006/relationships" id="262" r:id="Rb4ade776a18c409d"/>
    <p:sldId xmlns:r="http://schemas.openxmlformats.org/officeDocument/2006/relationships" id="263" r:id="Ra361728561614139"/>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80a564420f34053" /><Relationship Type="http://schemas.openxmlformats.org/officeDocument/2006/relationships/slideMaster" Target="/ppt/slideMasters/slideMaster1.xml" Id="R935c5bc66e724e41" /><Relationship Type="http://schemas.openxmlformats.org/officeDocument/2006/relationships/notesMaster" Target="/ppt/notesMasters/notesMaster1.xml" Id="R3020da40bcf64745" /><Relationship Type="http://schemas.openxmlformats.org/officeDocument/2006/relationships/presProps" Target="/ppt/presProps.xml" Id="Rd9e6fa127c964fbe" /><Relationship Type="http://schemas.openxmlformats.org/officeDocument/2006/relationships/tableStyles" Target="/ppt/tableStyles.xml" Id="R804edda08ab94b9e" /><Relationship Type="http://schemas.openxmlformats.org/officeDocument/2006/relationships/slide" Target="/ppt/slides/slide1.xml" Id="Rce2ba2346e3a41ec" /><Relationship Type="http://schemas.openxmlformats.org/officeDocument/2006/relationships/slide" Target="/ppt/slides/slide2.xml" Id="R9b25926a3f964b16" /><Relationship Type="http://schemas.openxmlformats.org/officeDocument/2006/relationships/slide" Target="/ppt/slides/slide3.xml" Id="Rc5be065f393b460d" /><Relationship Type="http://schemas.openxmlformats.org/officeDocument/2006/relationships/slide" Target="/ppt/slides/slide4.xml" Id="Rbad95026e5ef4825" /><Relationship Type="http://schemas.openxmlformats.org/officeDocument/2006/relationships/slide" Target="/ppt/slides/slide5.xml" Id="R0fbd58547ce64a57" /><Relationship Type="http://schemas.openxmlformats.org/officeDocument/2006/relationships/slide" Target="/ppt/slides/slide6.xml" Id="Rf7cc336b943c4d29" /><Relationship Type="http://schemas.openxmlformats.org/officeDocument/2006/relationships/slide" Target="/ppt/slides/slide7.xml" Id="Rb4ade776a18c409d" /><Relationship Type="http://schemas.openxmlformats.org/officeDocument/2006/relationships/slide" Target="/ppt/slides/slide8.xml" Id="Ra36172856161413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f8a5849efa4469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d74c5754ce948fb" /><Relationship Type="http://schemas.openxmlformats.org/officeDocument/2006/relationships/notesMaster" Target="/ppt/notesMasters/notesMaster1.xml" Id="Rcbb87507cbec4e38" /></Relationships>
</file>

<file path=ppt/notesSlides/_rels/notesSlide2.xml.rels>&#65279;<?xml version="1.0" encoding="utf-8"?><Relationships xmlns="http://schemas.openxmlformats.org/package/2006/relationships"><Relationship Type="http://schemas.openxmlformats.org/officeDocument/2006/relationships/slide" Target="/ppt/slides/slide2.xml" Id="R285922c110d84c9b" /><Relationship Type="http://schemas.openxmlformats.org/officeDocument/2006/relationships/notesMaster" Target="/ppt/notesMasters/notesMaster1.xml" Id="R0d924974b40149ea" /></Relationships>
</file>

<file path=ppt/notesSlides/_rels/notesSlide3.xml.rels>&#65279;<?xml version="1.0" encoding="utf-8"?><Relationships xmlns="http://schemas.openxmlformats.org/package/2006/relationships"><Relationship Type="http://schemas.openxmlformats.org/officeDocument/2006/relationships/slide" Target="/ppt/slides/slide3.xml" Id="Ra5e0ac29319b4897" /><Relationship Type="http://schemas.openxmlformats.org/officeDocument/2006/relationships/notesMaster" Target="/ppt/notesMasters/notesMaster1.xml" Id="Rf77d57bd18d54aae" /></Relationships>
</file>

<file path=ppt/notesSlides/_rels/notesSlide4.xml.rels>&#65279;<?xml version="1.0" encoding="utf-8"?><Relationships xmlns="http://schemas.openxmlformats.org/package/2006/relationships"><Relationship Type="http://schemas.openxmlformats.org/officeDocument/2006/relationships/slide" Target="/ppt/slides/slide4.xml" Id="R0a17b59ff0f640c2" /><Relationship Type="http://schemas.openxmlformats.org/officeDocument/2006/relationships/notesMaster" Target="/ppt/notesMasters/notesMaster1.xml" Id="R9f58cdf56ab74d51" /></Relationships>
</file>

<file path=ppt/notesSlides/_rels/notesSlide5.xml.rels>&#65279;<?xml version="1.0" encoding="utf-8"?><Relationships xmlns="http://schemas.openxmlformats.org/package/2006/relationships"><Relationship Type="http://schemas.openxmlformats.org/officeDocument/2006/relationships/slide" Target="/ppt/slides/slide5.xml" Id="Re7e38d1beb1e4ece" /><Relationship Type="http://schemas.openxmlformats.org/officeDocument/2006/relationships/notesMaster" Target="/ppt/notesMasters/notesMaster1.xml" Id="Rfca5846955bc45b6" /></Relationships>
</file>

<file path=ppt/notesSlides/_rels/notesSlide6.xml.rels>&#65279;<?xml version="1.0" encoding="utf-8"?><Relationships xmlns="http://schemas.openxmlformats.org/package/2006/relationships"><Relationship Type="http://schemas.openxmlformats.org/officeDocument/2006/relationships/slide" Target="/ppt/slides/slide6.xml" Id="R2e2001025f41422c" /><Relationship Type="http://schemas.openxmlformats.org/officeDocument/2006/relationships/notesMaster" Target="/ppt/notesMasters/notesMaster1.xml" Id="R650a55b100de46f9" /></Relationships>
</file>

<file path=ppt/notesSlides/_rels/notesSlide7.xml.rels>&#65279;<?xml version="1.0" encoding="utf-8"?><Relationships xmlns="http://schemas.openxmlformats.org/package/2006/relationships"><Relationship Type="http://schemas.openxmlformats.org/officeDocument/2006/relationships/slide" Target="/ppt/slides/slide7.xml" Id="Rdfa511ca03b6425f" /><Relationship Type="http://schemas.openxmlformats.org/officeDocument/2006/relationships/notesMaster" Target="/ppt/notesMasters/notesMaster1.xml" Id="R2060cc836a73462d" /></Relationships>
</file>

<file path=ppt/notesSlides/_rels/notesSlide8.xml.rels>&#65279;<?xml version="1.0" encoding="utf-8"?><Relationships xmlns="http://schemas.openxmlformats.org/package/2006/relationships"><Relationship Type="http://schemas.openxmlformats.org/officeDocument/2006/relationships/slide" Target="/ppt/slides/slide8.xml" Id="Rec916479613c4079" /><Relationship Type="http://schemas.openxmlformats.org/officeDocument/2006/relationships/notesMaster" Target="/ppt/notesMasters/notesMaster1.xml" Id="R5a86deeca4f6483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Paperclip owns identity/hierarchy, issues, dependencies, assignment, run admission, checkout, workflow decisions, documents, budgets and audit. Buzz uses the same native IDs via signed transport. Trusted domain adapters hold scoped external-write credentials. Paperclip PostgreSQL stores work state; DAO PlanetScale PostgreSQL and existing scanner data remain their respective sources of record. Cloudflare hosting/access/transport is optional. Live integration acceptance is pending.</a:t>
            </a:r>
          </a:p>
          <a:p xmlns:a="http://schemas.openxmlformats.org/drawingml/2006/main">
            <a:r>
              <a:t>Sources at documentation baseline f9423e5:</a:t>
            </a:r>
          </a:p>
          <a:p xmlns:a="http://schemas.openxmlformats.org/drawingml/2006/main">
            <a:r>
              <a:t>https://github.com/NetRxn/Inertia/blob/f9423e5/spec.md</a:t>
            </a:r>
          </a:p>
          <a:p xmlns:a="http://schemas.openxmlformats.org/drawingml/2006/main">
            <a:r>
              <a:t>https://github.com/NetRxn/Inertia/blob/f9423e5/docs/bridge-state-contract.md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Configure an existing CEO by native ID with an explicitly assigned bounded intake issue. The shipped heartbeat does not discover arbitrary unassigned work. Choose one native recurring mechanism rather than overlapping heartbeat/routine loops. Each event resolves to one native wake/issue operation. Native checkout is authoritative. Follow-up work retains parent/goal context, reason, acceptance criteria and deduplication key, with budget/depth/rate limits. Live CEO setup and admitted run/delegation evidence remain pending.</a:t>
            </a:r>
          </a:p>
          <a:p xmlns:a="http://schemas.openxmlformats.org/drawingml/2006/main">
            <a:r>
              <a:t>Sources at documentation baseline f9423e5:</a:t>
            </a:r>
          </a:p>
          <a:p xmlns:a="http://schemas.openxmlformats.org/drawingml/2006/main">
            <a:r>
              <a:t>https://github.com/NetRxn/Inertia/blob/f9423e5/spec.md</a:t>
            </a:r>
          </a:p>
          <a:p xmlns:a="http://schemas.openxmlformats.org/drawingml/2006/main">
            <a:r>
              <a:t>https://github.com/NetRxn/Inertia/blob/f9423e5/spec.md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PR14 caller is merged and contract-tested with mocked I/O. The proposed website server contract, active-membership enforcement, source readiness and single-owner native job wiring await live admission. Existing Privy login alone does not establish active membership. Source summaries produce notes with missing-transcript status, not invented transcripts. Source originals and uncertainty are retained. The v1.1 clarification preserves roundtable-publication-v1 / extractive-v1 hashes. Metadata-only correction needs a new codec. Routine publication follows the authorized versioned source/audience policy; governance voting is separate. Readback verifies content, URLs, version and audience.</a:t>
            </a:r>
          </a:p>
          <a:p xmlns:a="http://schemas.openxmlformats.org/drawingml/2006/main">
            <a:r>
              <a:t>Sources at documentation baseline f9423e5:</a:t>
            </a:r>
          </a:p>
          <a:p xmlns:a="http://schemas.openxmlformats.org/drawingml/2006/main">
            <a:r>
              <a:t>https://github.com/NetRxn/Inertia/blob/f9423e5/spec.md</a:t>
            </a:r>
          </a:p>
          <a:p xmlns:a="http://schemas.openxmlformats.org/drawingml/2006/main">
            <a:r>
              <a:t>https://github.com/NetRxn/Inertia/blob/f9423e5/docs/integrations/dao-website-member-publication-proposal.md</a:t>
            </a:r>
          </a:p>
          <a:p xmlns:a="http://schemas.openxmlformats.org/drawingml/2006/main">
            <a:r>
              <a:t>https://github.com/NetRxn/Inertia/blob/f9423e5/docs/integrations/dao-website-publication-v1.1-clarifications.md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merged core reads a trusted consistent export of engine-owned records, verifies artifact bytes and rereads fresh sources before acceptance. The production verifier must establish the effective final result, finality, network/proposal/action and exact immutable packet binding under operative governance. Vocdoni is selected; verify applicable final-action stages from authenticated canonical governance holdings and ratification evidence. Changed packet content requires renewed authority. Native workflow approval and DAO voted authority are separate. DAO legal/tax eligibility remains unverified. Public facts are cited draft inputs. Production exporter, chain verifier and transactional native acceptance are pending. Existing human review and manual submission handoff remain.</a:t>
            </a:r>
          </a:p>
          <a:p xmlns:a="http://schemas.openxmlformats.org/drawingml/2006/main">
            <a:r>
              <a:t>Sources at documentation baseline f9423e5:</a:t>
            </a:r>
          </a:p>
          <a:p xmlns:a="http://schemas.openxmlformats.org/drawingml/2006/main">
            <a:r>
              <a:t>https://github.com/NetRxn/Inertia/blob/f9423e5/spec.md</a:t>
            </a:r>
          </a:p>
          <a:p xmlns:a="http://schemas.openxmlformats.org/drawingml/2006/main">
            <a:r>
              <a:t>https://github.com/NetRxn/Inertia/blob/f9423e5/docs/implementation/public-dao-integration-map.md</a:t>
            </a:r>
          </a:p>
          <a:p xmlns:a="http://schemas.openxmlformats.org/drawingml/2006/main">
            <a:r>
              <a:t>https://github.com/NetRxn/Inertia/blob/f9423e5/docs/implementation/public-dao-grant-grounding.md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Pair member and agent, verify active membership/capabilities and approved company/project/task scope. Repo permissions do not grant DAO control-plane credentials. Qualify existing execution hardening, credential boundaries, host networking and workspace lifecycle against the selected runner integration before live use. Member artifacts are candidate evidence. Server validates types, size, provenance and authorized transition, accepts one completion per revision and reconciles interrupted or duplicate results. Trusted adapters alone perform authorized publication/submission. Member participation integration and isolation qualification remain pending.</a:t>
            </a:r>
          </a:p>
          <a:p xmlns:a="http://schemas.openxmlformats.org/drawingml/2006/main">
            <a:r>
              <a:t>Sources at documentation baseline f9423e5:</a:t>
            </a:r>
          </a:p>
          <a:p xmlns:a="http://schemas.openxmlformats.org/drawingml/2006/main">
            <a:r>
              <a:t>https://github.com/NetRxn/Inertia/blob/f9423e5/spec.md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Inbox uniqueness and compare-and-set prevent duplicate native mutation. Current host membership governs human-attributed native actions. Paired agents stay agents. Decision tokens bind company, issue, interaction and rendered digest. Reconcile uncertain comment creation before retry. Native atomic resolution governs accepted decisions. Persist outbound signed bytes before transport and retry stable event IDs with fresh NIP-98 authentication. Source edits/deletes cannot reverse accepted native decisions. PR17 native comment mirroring covers first publication only, default-off per binding, audienceAcknowledged approval and notBefore history cutoff. No edit/delete propagation or retraction. Non-expiring in-flight publication claims require token-matched administrative recovery after all prior workers are proved stopped. General status mirroring remains pending.</a:t>
            </a:r>
          </a:p>
          <a:p xmlns:a="http://schemas.openxmlformats.org/drawingml/2006/main">
            <a:r>
              <a:t>Sources at documentation baseline f9423e5:</a:t>
            </a:r>
          </a:p>
          <a:p xmlns:a="http://schemas.openxmlformats.org/drawingml/2006/main">
            <a:r>
              <a:t>https://github.com/NetRxn/Inertia/blob/f9423e5/docs/bridge-state-contract.md</a:t>
            </a:r>
          </a:p>
          <a:p xmlns:a="http://schemas.openxmlformats.org/drawingml/2006/main">
            <a:r>
              <a:t>https://github.com/NetRxn/Inertia/blob/f9423e5/spec.md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reviewed PR17 head 2a90ce24e16a72f446a7402560bd53d22f00ca38 merged into develop as 4841f7ade1510acf93e43ce1dbd16b91ae7bcd88 at 2026-10-23T11:12:50Z with identical source bytes. 248 combined tests in 16 files; typecheck/build/package verification passed. Exact passing runtime archive SHA256 19e67c88a8de52404412e49312cebfd6db42c462de3378cf3397966250add76c, source tree 8039b3e5f54e49c302b4751445f382403381ab91. Unmodified official Paperclip 2026.1012.0 and disposable PostgreSQL18.1 passed six plugin migrations, eight namespace tables, installation, initialization, three disabled-company job RPCs, expected health, actual SQL host binding and company isolation, disable, worker exit and shutdown. Host array-binding regression fixed before passing. Scope is native services, with no new HTTP/UI or live integration qualification. Earlier full HTTP/API receipt applies to its historical artifact. Documentation baseline f9423e5 is distinct from qualified runtime identity.</a:t>
            </a:r>
          </a:p>
          <a:p xmlns:a="http://schemas.openxmlformats.org/drawingml/2006/main">
            <a:r>
              <a:t>Sources at documentation baseline f9423e5:</a:t>
            </a:r>
          </a:p>
          <a:p xmlns:a="http://schemas.openxmlformats.org/drawingml/2006/main">
            <a:r>
              <a:t>https://github.com/NetRxn/Inertia/blob/f9423e5/docs/qualification/combined-native-services/README.md</a:t>
            </a:r>
          </a:p>
          <a:p xmlns:a="http://schemas.openxmlformats.org/drawingml/2006/main">
            <a:r>
              <a:t>https://github.com/NetRxn/Inertia/blob/f9423e5/testing.md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Live host setup, credentials, authorized relay/company/thread pairing and domain admission remain pending. Website server changes are a proposal for owner rollout. Qualify newer Paperclip releases through compatibility, clean package install, native and full-host checks plus backup-based database recovery. Target the latest release that passes qualification. Synthetic workflow rehearsal remains available with npm run demo:workflow. Proposed Oct29 rehearsal buffer precedes Oct30 owner submission handoff. Form990 enrichment is stretch and Helix is deprioritized.</a:t>
            </a:r>
          </a:p>
          <a:p xmlns:a="http://schemas.openxmlformats.org/drawingml/2006/main">
            <a:r>
              <a:t>Sources at documentation baseline f9423e5:</a:t>
            </a:r>
          </a:p>
          <a:p xmlns:a="http://schemas.openxmlformats.org/drawingml/2006/main">
            <a:r>
              <a:t>https://github.com/NetRxn/Inertia/blob/f9423e5/docs/implementation/live-handoff-checklist.md</a:t>
            </a:r>
          </a:p>
          <a:p xmlns:a="http://schemas.openxmlformats.org/drawingml/2006/main">
            <a:r>
              <a:t>https://github.com/NetRxn/Inertia/blob/f9423e5/spec.md</a:t>
            </a:r>
          </a:p>
          <a:p xmlns:a="http://schemas.openxmlformats.org/drawingml/2006/main">
            <a:r>
              <a:t>https://github.com/NetRxn/Inertia/blob/f9423e5/plan.md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0e609ff8ab4470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6c0eb97ffb94ca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b6dd9a159a3439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90e5825da4c4ea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f344b6efb8447b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953bab7efbb4db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7754F70-4B97-4155-92BE-0074743668E9}"/>
              </a:ext>
            </a:extLst>
          </p:cNvPr>
          <p:cNvSpPr>
            <a:spLocks xmlns:a="http://schemas.openxmlformats.org/drawingml/2006/main" noGrp="1"/>
          </p:cNvSpPr>
          <p:nvPr>
            <p:ph type="title" idx="0"/>
          </p:nvPr>
        </p:nvSpPr>
        <p:spPr>
          <a:xfrm xmlns:a="http://schemas.openxmlformats.org/drawingml/2006/main">
            <a:off x="1524000" y="3238500"/>
            <a:ext cx="12192000" cy="1238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0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A28E296-DF27-4ADF-B5DE-82917BF811E0}"/>
              </a:ext>
            </a:extLst>
          </p:cNvPr>
          <p:cNvSpPr>
            <a:spLocks xmlns:a="http://schemas.openxmlformats.org/drawingml/2006/main" noGrp="1"/>
          </p:cNvSpPr>
          <p:nvPr>
            <p:ph type="subTitle" idx="1"/>
          </p:nvPr>
        </p:nvSpPr>
        <p:spPr>
          <a:xfrm xmlns:a="http://schemas.openxmlformats.org/drawingml/2006/main">
            <a:off x="2286000" y="4714875"/>
            <a:ext cx="10668000" cy="952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625"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6FBB08B-E54B-4428-998F-3A0FBFCDFF4B}"/>
              </a:ext>
            </a:extLst>
          </p:cNvPr>
          <p:cNvSpPr>
            <a:spLocks xmlns:a="http://schemas.openxmlformats.org/drawingml/2006/main" noGrp="1"/>
          </p:cNvSpPr>
          <p:nvPr>
            <p:ph type="title" idx="0"/>
          </p:nvPr>
        </p:nvSpPr>
        <p:spPr>
          <a:xfrm xmlns:a="http://schemas.openxmlformats.org/drawingml/2006/main">
            <a:off x="1524000" y="3571875"/>
            <a:ext cx="12192000" cy="1428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2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44EE743-A279-46E4-8557-72B58A9C5AAB}"/>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E3122AA-DDD8-4E7A-B195-D3A64CA6AA69}"/>
              </a:ext>
            </a:extLst>
          </p:cNvPr>
          <p:cNvSpPr>
            <a:spLocks xmlns:a="http://schemas.openxmlformats.org/drawingml/2006/main" noGrp="1"/>
          </p:cNvSpPr>
          <p:nvPr>
            <p:ph type="body" idx="1"/>
          </p:nvPr>
        </p:nvSpPr>
        <p:spPr>
          <a:xfrm xmlns:a="http://schemas.openxmlformats.org/drawingml/2006/main">
            <a:off x="857250" y="2381250"/>
            <a:ext cx="13525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6ADEF31-35B5-4C01-8F99-088838D75991}"/>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7ABC8CF-E4EC-4287-949F-7BDEC294AB70}"/>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B1979E57-15EE-49F7-915A-42CEE5BB71BA}"/>
              </a:ext>
            </a:extLst>
          </p:cNvPr>
          <p:cNvSpPr>
            <a:spLocks xmlns:a="http://schemas.openxmlformats.org/drawingml/2006/main" noGrp="1"/>
          </p:cNvSpPr>
          <p:nvPr>
            <p:ph type="body" idx="2"/>
          </p:nvPr>
        </p:nvSpPr>
        <p:spPr>
          <a:xfrm xmlns:a="http://schemas.openxmlformats.org/drawingml/2006/main">
            <a:off x="8096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06A47FF-3FEE-4D92-B992-D1C2DE1D3F2D}"/>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3CAB291-7D03-4923-84C6-E5A2904D5A89}"/>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6ccc96b0a684cb0" /><Relationship Type="http://schemas.openxmlformats.org/officeDocument/2006/relationships/slideLayout" Target="/ppt/slideLayouts/slideLayout1.xml" Id="Rb087df424fed4bd7" /><Relationship Type="http://schemas.openxmlformats.org/officeDocument/2006/relationships/slideLayout" Target="/ppt/slideLayouts/slideLayout2.xml" Id="Rdcc24e85aa4f4f03" /><Relationship Type="http://schemas.openxmlformats.org/officeDocument/2006/relationships/slideLayout" Target="/ppt/slideLayouts/slideLayout3.xml" Id="Rf7928475be54416c" /><Relationship Type="http://schemas.openxmlformats.org/officeDocument/2006/relationships/slideLayout" Target="/ppt/slideLayouts/slideLayout4.xml" Id="Rbf16732ab890460d" /><Relationship Type="http://schemas.openxmlformats.org/officeDocument/2006/relationships/slideLayout" Target="/ppt/slideLayouts/slideLayout5.xml" Id="Rb852cbe46b7843e8" /><Relationship Type="http://schemas.openxmlformats.org/officeDocument/2006/relationships/slideLayout" Target="/ppt/slideLayouts/slideLayout6.xml" Id="R71c5b6b645a24a6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087df424fed4bd7"/>
    <p:sldLayoutId xmlns:r="http://schemas.openxmlformats.org/officeDocument/2006/relationships" id="2147483650" r:id="Rdcc24e85aa4f4f03"/>
    <p:sldLayoutId xmlns:r="http://schemas.openxmlformats.org/officeDocument/2006/relationships" id="2147483651" r:id="Rf7928475be54416c"/>
    <p:sldLayoutId xmlns:r="http://schemas.openxmlformats.org/officeDocument/2006/relationships" id="2147483652" r:id="Rbf16732ab890460d"/>
    <p:sldLayoutId xmlns:r="http://schemas.openxmlformats.org/officeDocument/2006/relationships" id="2147483653" r:id="Rb852cbe46b7843e8"/>
    <p:sldLayoutId xmlns:r="http://schemas.openxmlformats.org/officeDocument/2006/relationships" id="2147483654" r:id="R71c5b6b645a24a6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a2bdfe732424f29" /><Relationship Type="http://schemas.openxmlformats.org/officeDocument/2006/relationships/notesSlide" Target="/ppt/notesSlides/notesSlide1.xml" Id="R4f903aad6e50473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7445cac3a184513" /><Relationship Type="http://schemas.openxmlformats.org/officeDocument/2006/relationships/notesSlide" Target="/ppt/notesSlides/notesSlide2.xml" Id="R2a1298b8ad26456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6e72b1295fe4c96" /><Relationship Type="http://schemas.openxmlformats.org/officeDocument/2006/relationships/notesSlide" Target="/ppt/notesSlides/notesSlide3.xml" Id="R33e45af5ca984165"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baae600b6dfb4441" /><Relationship Type="http://schemas.openxmlformats.org/officeDocument/2006/relationships/notesSlide" Target="/ppt/notesSlides/notesSlide4.xml" Id="R6ae5278b7ffd42c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d107c3f53714ee3" /><Relationship Type="http://schemas.openxmlformats.org/officeDocument/2006/relationships/notesSlide" Target="/ppt/notesSlides/notesSlide5.xml" Id="R0329733857184bb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feaed48b41514e42" /><Relationship Type="http://schemas.openxmlformats.org/officeDocument/2006/relationships/notesSlide" Target="/ppt/notesSlides/notesSlide6.xml" Id="Re28c9a66b489482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f0c2f63f47a45c9" /><Relationship Type="http://schemas.openxmlformats.org/officeDocument/2006/relationships/notesSlide" Target="/ppt/notesSlides/notesSlide7.xml" Id="Rd27af0bfd23b47c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614062e244f8450f" /><Relationship Type="http://schemas.openxmlformats.org/officeDocument/2006/relationships/notesSlide" Target="/ppt/notesSlides/notesSlide8.xml" Id="R7de769c2c003444a" /></Relationships>
</file>

<file path=ppt/slides/slide1.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28" name="">
            <a:extLst xmlns:a="http://schemas.openxmlformats.org/drawingml/2006/main">
              <a:ext uri="{FF2B5EF4-FFF2-40B4-BE49-F238E27FC236}">
                <a16:creationId xmlns:a16="http://schemas.microsoft.com/office/drawing/2014/main" id="{A0A056AE-65B2-45D4-BEE1-67B89C35BAAF}"/>
              </a:ext>
            </a:extLst>
          </p:cNvPr>
          <p:cNvCxnSpPr>
            <a:stCxn xmlns:a="http://schemas.openxmlformats.org/drawingml/2006/main" id="21" idx="1"/>
            <a:endCxn xmlns:a="http://schemas.openxmlformats.org/drawingml/2006/main" id="25" idx="3"/>
          </p:cNvCxnSpPr>
          <p:nvPr/>
        </p:nvCxnSpPr>
        <p:spPr>
          <a:xfrm xmlns:a="http://schemas.openxmlformats.org/drawingml/2006/main" flipH="1">
            <a:off x="3657600" y="6038850"/>
            <a:ext cx="952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24" name="">
            <a:extLst xmlns:a="http://schemas.openxmlformats.org/drawingml/2006/main">
              <a:ext uri="{FF2B5EF4-FFF2-40B4-BE49-F238E27FC236}">
                <a16:creationId xmlns:a16="http://schemas.microsoft.com/office/drawing/2014/main" id="{0FDB2366-EB1D-4B1F-A692-8B0CF63C060F}"/>
              </a:ext>
            </a:extLst>
          </p:cNvPr>
          <p:cNvCxnSpPr>
            <a:stCxn xmlns:a="http://schemas.openxmlformats.org/drawingml/2006/main" id="12" idx="2"/>
            <a:endCxn xmlns:a="http://schemas.openxmlformats.org/drawingml/2006/main" id="21" idx="3"/>
          </p:cNvCxnSpPr>
          <p:nvPr/>
        </p:nvCxnSpPr>
        <p:spPr>
          <a:xfrm xmlns:a="http://schemas.openxmlformats.org/drawingml/2006/main" flipH="1">
            <a:off x="8039100" y="3657600"/>
            <a:ext cx="3771900" cy="2381250"/>
          </a:xfrm>
          <a:prstGeom xmlns:a="http://schemas.openxmlformats.org/drawingml/2006/main" prst="bentConnector5">
            <a:avLst>
              <a:gd name="adj1" fmla="val 0"/>
              <a:gd name="adj2" fmla="val 9600"/>
              <a:gd name="adj3" fmla="val 93939"/>
            </a:avLst>
          </a:prstGeom>
          <a:ln xmlns:a="http://schemas.openxmlformats.org/drawingml/2006/main" w="23813">
            <a:solidFill>
              <a:srgbClr val="157D80"/>
            </a:solidFill>
            <a:prstDash val="solid"/>
            <a:tailEnd type="triangle" w="med" len="med"/>
          </a:ln>
        </p:spPr>
      </p:cxnSp>
      <p:cxnSp>
        <p:nvCxnSpPr>
          <p:cNvPr id="20" name="">
            <a:extLst xmlns:a="http://schemas.openxmlformats.org/drawingml/2006/main">
              <a:ext uri="{FF2B5EF4-FFF2-40B4-BE49-F238E27FC236}">
                <a16:creationId xmlns:a16="http://schemas.microsoft.com/office/drawing/2014/main" id="{F2E11574-69C3-494E-9C30-17E4C036C6D9}"/>
              </a:ext>
            </a:extLst>
          </p:cNvPr>
          <p:cNvCxnSpPr>
            <a:stCxn xmlns:a="http://schemas.openxmlformats.org/drawingml/2006/main" id="17" idx="0"/>
            <a:endCxn xmlns:a="http://schemas.openxmlformats.org/drawingml/2006/main" id="12" idx="2"/>
          </p:cNvCxnSpPr>
          <p:nvPr/>
        </p:nvCxnSpPr>
        <p:spPr>
          <a:xfrm xmlns:a="http://schemas.openxmlformats.org/drawingml/2006/main" flipV="1">
            <a:off x="11811000" y="3657600"/>
            <a:ext cx="0" cy="175260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6" name="">
            <a:extLst xmlns:a="http://schemas.openxmlformats.org/drawingml/2006/main">
              <a:ext uri="{FF2B5EF4-FFF2-40B4-BE49-F238E27FC236}">
                <a16:creationId xmlns:a16="http://schemas.microsoft.com/office/drawing/2014/main" id="{372BE494-8774-434B-B642-1321DEE76EBC}"/>
              </a:ext>
            </a:extLst>
          </p:cNvPr>
          <p:cNvCxnSpPr>
            <a:stCxn xmlns:a="http://schemas.openxmlformats.org/drawingml/2006/main" id="9" idx="3"/>
            <a:endCxn xmlns:a="http://schemas.openxmlformats.org/drawingml/2006/main" id="12" idx="1"/>
          </p:cNvCxnSpPr>
          <p:nvPr/>
        </p:nvCxnSpPr>
        <p:spPr>
          <a:xfrm xmlns:a="http://schemas.openxmlformats.org/drawingml/2006/main">
            <a:off x="8039100" y="3028950"/>
            <a:ext cx="952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5" name="">
            <a:extLst xmlns:a="http://schemas.openxmlformats.org/drawingml/2006/main">
              <a:ext uri="{FF2B5EF4-FFF2-40B4-BE49-F238E27FC236}">
                <a16:creationId xmlns:a16="http://schemas.microsoft.com/office/drawing/2014/main" id="{5AC71159-DAD0-4F87-8A07-6072C80F65BE}"/>
              </a:ext>
            </a:extLst>
          </p:cNvPr>
          <p:cNvCxnSpPr>
            <a:stCxn xmlns:a="http://schemas.openxmlformats.org/drawingml/2006/main" id="6" idx="3"/>
            <a:endCxn xmlns:a="http://schemas.openxmlformats.org/drawingml/2006/main" id="9" idx="1"/>
          </p:cNvCxnSpPr>
          <p:nvPr/>
        </p:nvCxnSpPr>
        <p:spPr>
          <a:xfrm xmlns:a="http://schemas.openxmlformats.org/drawingml/2006/main">
            <a:off x="3657600" y="3028950"/>
            <a:ext cx="952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30" name="text-0">
            <a:extLst xmlns:a="http://schemas.openxmlformats.org/drawingml/2006/main">
              <a:ext uri="{FF2B5EF4-FFF2-40B4-BE49-F238E27FC236}">
                <a16:creationId xmlns:a16="http://schemas.microsoft.com/office/drawing/2014/main" id="{51E67BFE-3442-429E-9509-9CC56A18583F}"/>
              </a:ext>
            </a:extLst>
          </p:cNvPr>
          <p:cNvSpPr>
            <a:spLocks xmlns:a="http://schemas.openxmlformats.org/drawingml/2006/main" noGrp="1"/>
          </p:cNvSpPr>
          <p:nvPr/>
        </p:nvSpPr>
        <p:spPr>
          <a:xfrm xmlns:a="http://schemas.openxmlformats.org/drawingml/2006/main">
            <a:off x="609600" y="542925"/>
            <a:ext cx="14020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600" b="1">
                <a:solidFill>
                  <a:srgbClr val="132E38"/>
                </a:solidFill>
                <a:latin typeface="Aptos"/>
                <a:ea typeface="Aptos"/>
                <a:cs typeface="Aptos"/>
              </a:defRPr>
            </a:defPPr>
          </a:lstStyle>
          <a:p xmlns:a="http://schemas.openxmlformats.org/drawingml/2006/main">
            <a:pPr>
              <a:defRPr sz="3600" b="1">
                <a:solidFill>
                  <a:srgbClr val="132E38"/>
                </a:solidFill>
                <a:latin typeface="Aptos"/>
                <a:ea typeface="Aptos"/>
                <a:cs typeface="Aptos"/>
              </a:defRPr>
            </a:pPr>
            <a:r>
              <a:rPr sz="3600" b="1">
                <a:solidFill>
                  <a:srgbClr val="132E38"/>
                </a:solidFill>
                <a:latin typeface="Aptos"/>
                <a:ea typeface="Aptos"/>
                <a:cs typeface="Aptos"/>
              </a:rPr>
              <a:t>Inertia system architecture</a:t>
            </a:r>
          </a:p>
        </p:txBody>
      </p:sp>
      <p:sp>
        <p:nvSpPr>
          <p:cNvPr id="2" name="text-1">
            <a:extLst xmlns:a="http://schemas.openxmlformats.org/drawingml/2006/main">
              <a:ext uri="{FF2B5EF4-FFF2-40B4-BE49-F238E27FC236}">
                <a16:creationId xmlns:a16="http://schemas.microsoft.com/office/drawing/2014/main" id="{1DA4C3E3-EB0B-4A69-B7EB-C94024121856}"/>
              </a:ext>
            </a:extLst>
          </p:cNvPr>
          <p:cNvSpPr>
            <a:spLocks xmlns:a="http://schemas.openxmlformats.org/drawingml/2006/main" noGrp="1"/>
          </p:cNvSpPr>
          <p:nvPr/>
        </p:nvSpPr>
        <p:spPr>
          <a:xfrm xmlns:a="http://schemas.openxmlformats.org/drawingml/2006/main">
            <a:off x="609600" y="1333500"/>
            <a:ext cx="14020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49616A"/>
                </a:solidFill>
                <a:latin typeface="Aptos"/>
                <a:ea typeface="Aptos"/>
                <a:cs typeface="Aptos"/>
              </a:defRPr>
            </a:defPPr>
          </a:lstStyle>
          <a:p xmlns:a="http://schemas.openxmlformats.org/drawingml/2006/main">
            <a:pPr>
              <a:defRPr sz="2025" b="0">
                <a:solidFill>
                  <a:srgbClr val="49616A"/>
                </a:solidFill>
                <a:latin typeface="Aptos"/>
                <a:ea typeface="Aptos"/>
                <a:cs typeface="Aptos"/>
              </a:defRPr>
            </a:pPr>
            <a:r>
              <a:rPr sz="2025" b="0">
                <a:solidFill>
                  <a:srgbClr val="49616A"/>
                </a:solidFill>
                <a:latin typeface="Aptos"/>
                <a:ea typeface="Aptos"/>
                <a:cs typeface="Aptos"/>
              </a:rPr>
              <a:t>Architecture target</a:t>
            </a:r>
          </a:p>
        </p:txBody>
      </p:sp>
      <p:sp>
        <p:nvSpPr>
          <p:cNvPr id="3" name="">
            <a:extLst xmlns:a="http://schemas.openxmlformats.org/drawingml/2006/main">
              <a:ext uri="{FF2B5EF4-FFF2-40B4-BE49-F238E27FC236}">
                <a16:creationId xmlns:a16="http://schemas.microsoft.com/office/drawing/2014/main" id="{260788D9-40D5-4001-9EAA-FBE71D3DA7DE}"/>
              </a:ext>
            </a:extLst>
          </p:cNvPr>
          <p:cNvSpPr>
            <a:spLocks xmlns:a="http://schemas.openxmlformats.org/drawingml/2006/main" noGrp="1"/>
          </p:cNvSpPr>
          <p:nvPr/>
        </p:nvSpPr>
        <p:spPr>
          <a:xfrm xmlns:a="http://schemas.openxmlformats.org/drawingml/2006/main">
            <a:off x="609600" y="7905750"/>
            <a:ext cx="14020800" cy="0"/>
          </a:xfrm>
          <a:prstGeom xmlns:a="http://schemas.openxmlformats.org/drawingml/2006/main" prst="line">
            <a:avLst/>
          </a:prstGeom>
          <a:ln xmlns:a="http://schemas.openxmlformats.org/drawingml/2006/main" w="9525">
            <a:solidFill>
              <a:srgbClr val="B9C9C7"/>
            </a:solidFill>
            <a:prstDash val="solid"/>
          </a:ln>
        </p:spPr>
      </p:sp>
      <p:sp>
        <p:nvSpPr>
          <p:cNvPr id="4" name="text-2">
            <a:extLst xmlns:a="http://schemas.openxmlformats.org/drawingml/2006/main">
              <a:ext uri="{FF2B5EF4-FFF2-40B4-BE49-F238E27FC236}">
                <a16:creationId xmlns:a16="http://schemas.microsoft.com/office/drawing/2014/main" id="{D3ABF008-95F4-4917-9F87-E611516875F6}"/>
              </a:ext>
            </a:extLst>
          </p:cNvPr>
          <p:cNvSpPr>
            <a:spLocks xmlns:a="http://schemas.openxmlformats.org/drawingml/2006/main" noGrp="1"/>
          </p:cNvSpPr>
          <p:nvPr/>
        </p:nvSpPr>
        <p:spPr>
          <a:xfrm xmlns:a="http://schemas.openxmlformats.org/drawingml/2006/main">
            <a:off x="609600" y="8086725"/>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350" b="0">
                <a:solidFill>
                  <a:srgbClr val="49616A"/>
                </a:solidFill>
                <a:latin typeface="Aptos"/>
                <a:ea typeface="Aptos"/>
                <a:cs typeface="Aptos"/>
              </a:defRPr>
            </a:defPPr>
          </a:lstStyle>
          <a:p xmlns:a="http://schemas.openxmlformats.org/drawingml/2006/main">
            <a:pPr>
              <a:defRPr sz="1350" b="0">
                <a:solidFill>
                  <a:srgbClr val="49616A"/>
                </a:solidFill>
                <a:latin typeface="Aptos"/>
                <a:ea typeface="Aptos"/>
                <a:cs typeface="Aptos"/>
              </a:defRPr>
            </a:pPr>
            <a:r>
              <a:rPr sz="1350" b="0">
                <a:solidFill>
                  <a:srgbClr val="49616A"/>
                </a:solidFill>
                <a:latin typeface="Aptos"/>
                <a:ea typeface="Aptos"/>
                <a:cs typeface="Aptos"/>
              </a:rPr>
              <a:t>Inertia architecture · 23 October 2026</a:t>
            </a:r>
          </a:p>
        </p:txBody>
      </p:sp>
      <p:sp>
        <p:nvSpPr>
          <p:cNvPr id="5" name="text-3">
            <a:extLst xmlns:a="http://schemas.openxmlformats.org/drawingml/2006/main">
              <a:ext uri="{FF2B5EF4-FFF2-40B4-BE49-F238E27FC236}">
                <a16:creationId xmlns:a16="http://schemas.microsoft.com/office/drawing/2014/main" id="{EB34C96B-45FF-4D03-AB28-DE96B745E548}"/>
              </a:ext>
            </a:extLst>
          </p:cNvPr>
          <p:cNvSpPr>
            <a:spLocks xmlns:a="http://schemas.openxmlformats.org/drawingml/2006/main" noGrp="1"/>
          </p:cNvSpPr>
          <p:nvPr/>
        </p:nvSpPr>
        <p:spPr>
          <a:xfrm xmlns:a="http://schemas.openxmlformats.org/drawingml/2006/main">
            <a:off x="14097000" y="8058150"/>
            <a:ext cx="533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650" b="1">
                <a:solidFill>
                  <a:srgbClr val="157D80"/>
                </a:solidFill>
                <a:latin typeface="Aptos"/>
                <a:ea typeface="Aptos"/>
                <a:cs typeface="Aptos"/>
              </a:defRPr>
            </a:defPPr>
          </a:lstStyle>
          <a:p xmlns:a="http://schemas.openxmlformats.org/drawingml/2006/main">
            <a:pPr>
              <a:defRPr sz="1650" b="1">
                <a:solidFill>
                  <a:srgbClr val="157D80"/>
                </a:solidFill>
                <a:latin typeface="Aptos"/>
                <a:ea typeface="Aptos"/>
                <a:cs typeface="Aptos"/>
              </a:defRPr>
            </a:pPr>
            <a:r>
              <a:rPr sz="1650" b="1">
                <a:solidFill>
                  <a:srgbClr val="157D80"/>
                </a:solidFill>
                <a:latin typeface="Aptos"/>
                <a:ea typeface="Aptos"/>
                <a:cs typeface="Aptos"/>
              </a:rPr>
              <a:t>1</a:t>
            </a:r>
          </a:p>
        </p:txBody>
      </p:sp>
      <p:sp>
        <p:nvSpPr>
          <p:cNvPr id="6" name="node-4">
            <a:extLst xmlns:a="http://schemas.openxmlformats.org/drawingml/2006/main">
              <a:ext uri="{FF2B5EF4-FFF2-40B4-BE49-F238E27FC236}">
                <a16:creationId xmlns:a16="http://schemas.microsoft.com/office/drawing/2014/main" id="{C15446C5-1CE0-402A-94C6-7C989F5EB9D5}"/>
              </a:ext>
            </a:extLst>
          </p:cNvPr>
          <p:cNvSpPr>
            <a:spLocks xmlns:a="http://schemas.openxmlformats.org/drawingml/2006/main" noGrp="1"/>
          </p:cNvSpPr>
          <p:nvPr/>
        </p:nvSpPr>
        <p:spPr>
          <a:xfrm xmlns:a="http://schemas.openxmlformats.org/drawingml/2006/main">
            <a:off x="609600" y="2400300"/>
            <a:ext cx="3048000" cy="12573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7" name="text-5">
            <a:extLst xmlns:a="http://schemas.openxmlformats.org/drawingml/2006/main">
              <a:ext uri="{FF2B5EF4-FFF2-40B4-BE49-F238E27FC236}">
                <a16:creationId xmlns:a16="http://schemas.microsoft.com/office/drawing/2014/main" id="{5F70AAC2-B54C-49D4-9431-FAE62A9C0367}"/>
              </a:ext>
            </a:extLst>
          </p:cNvPr>
          <p:cNvSpPr>
            <a:spLocks xmlns:a="http://schemas.openxmlformats.org/drawingml/2006/main" noGrp="1"/>
          </p:cNvSpPr>
          <p:nvPr/>
        </p:nvSpPr>
        <p:spPr>
          <a:xfrm xmlns:a="http://schemas.openxmlformats.org/drawingml/2006/main">
            <a:off x="800100" y="2571750"/>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Buzz</a:t>
            </a:r>
          </a:p>
        </p:txBody>
      </p:sp>
      <p:sp>
        <p:nvSpPr>
          <p:cNvPr id="8" name="text-6">
            <a:extLst xmlns:a="http://schemas.openxmlformats.org/drawingml/2006/main">
              <a:ext uri="{FF2B5EF4-FFF2-40B4-BE49-F238E27FC236}">
                <a16:creationId xmlns:a16="http://schemas.microsoft.com/office/drawing/2014/main" id="{80004549-D177-4BD7-91DF-000D355349CC}"/>
              </a:ext>
            </a:extLst>
          </p:cNvPr>
          <p:cNvSpPr>
            <a:spLocks xmlns:a="http://schemas.openxmlformats.org/drawingml/2006/main" noGrp="1"/>
          </p:cNvSpPr>
          <p:nvPr/>
        </p:nvSpPr>
        <p:spPr>
          <a:xfrm xmlns:a="http://schemas.openxmlformats.org/drawingml/2006/main">
            <a:off x="800100" y="3009900"/>
            <a:ext cx="2667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Signed conversation</a:t>
            </a:r>
          </a:p>
        </p:txBody>
      </p:sp>
      <p:sp>
        <p:nvSpPr>
          <p:cNvPr id="9" name="node-7">
            <a:extLst xmlns:a="http://schemas.openxmlformats.org/drawingml/2006/main">
              <a:ext uri="{FF2B5EF4-FFF2-40B4-BE49-F238E27FC236}">
                <a16:creationId xmlns:a16="http://schemas.microsoft.com/office/drawing/2014/main" id="{F2639F01-0B8C-4369-AB42-496EE3639C02}"/>
              </a:ext>
            </a:extLst>
          </p:cNvPr>
          <p:cNvSpPr>
            <a:spLocks xmlns:a="http://schemas.openxmlformats.org/drawingml/2006/main" noGrp="1"/>
          </p:cNvSpPr>
          <p:nvPr/>
        </p:nvSpPr>
        <p:spPr>
          <a:xfrm xmlns:a="http://schemas.openxmlformats.org/drawingml/2006/main">
            <a:off x="4610100" y="2400300"/>
            <a:ext cx="3429000" cy="12573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10" name="text-8">
            <a:extLst xmlns:a="http://schemas.openxmlformats.org/drawingml/2006/main">
              <a:ext uri="{FF2B5EF4-FFF2-40B4-BE49-F238E27FC236}">
                <a16:creationId xmlns:a16="http://schemas.microsoft.com/office/drawing/2014/main" id="{C82B6064-5A83-4872-A18E-0CC0BC6479E7}"/>
              </a:ext>
            </a:extLst>
          </p:cNvPr>
          <p:cNvSpPr>
            <a:spLocks xmlns:a="http://schemas.openxmlformats.org/drawingml/2006/main" noGrp="1"/>
          </p:cNvSpPr>
          <p:nvPr/>
        </p:nvSpPr>
        <p:spPr>
          <a:xfrm xmlns:a="http://schemas.openxmlformats.org/drawingml/2006/main">
            <a:off x="4800600" y="2571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Inertia bridge</a:t>
            </a:r>
          </a:p>
        </p:txBody>
      </p:sp>
      <p:sp>
        <p:nvSpPr>
          <p:cNvPr id="11" name="text-9">
            <a:extLst xmlns:a="http://schemas.openxmlformats.org/drawingml/2006/main">
              <a:ext uri="{FF2B5EF4-FFF2-40B4-BE49-F238E27FC236}">
                <a16:creationId xmlns:a16="http://schemas.microsoft.com/office/drawing/2014/main" id="{5A6C5373-ED5B-4FFB-AD4D-A16D6D1B6768}"/>
              </a:ext>
            </a:extLst>
          </p:cNvPr>
          <p:cNvSpPr>
            <a:spLocks xmlns:a="http://schemas.openxmlformats.org/drawingml/2006/main" noGrp="1"/>
          </p:cNvSpPr>
          <p:nvPr/>
        </p:nvSpPr>
        <p:spPr>
          <a:xfrm xmlns:a="http://schemas.openxmlformats.org/drawingml/2006/main">
            <a:off x="4800600" y="3009900"/>
            <a:ext cx="3048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Identity + native IDs</a:t>
            </a:r>
          </a:p>
        </p:txBody>
      </p:sp>
      <p:sp>
        <p:nvSpPr>
          <p:cNvPr id="12" name="node-10">
            <a:extLst xmlns:a="http://schemas.openxmlformats.org/drawingml/2006/main">
              <a:ext uri="{FF2B5EF4-FFF2-40B4-BE49-F238E27FC236}">
                <a16:creationId xmlns:a16="http://schemas.microsoft.com/office/drawing/2014/main" id="{D7299329-32E5-453E-8117-3CA0A809B0F9}"/>
              </a:ext>
            </a:extLst>
          </p:cNvPr>
          <p:cNvSpPr>
            <a:spLocks xmlns:a="http://schemas.openxmlformats.org/drawingml/2006/main" noGrp="1"/>
          </p:cNvSpPr>
          <p:nvPr/>
        </p:nvSpPr>
        <p:spPr>
          <a:xfrm xmlns:a="http://schemas.openxmlformats.org/drawingml/2006/main">
            <a:off x="8991600" y="2400300"/>
            <a:ext cx="5638800" cy="1257300"/>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13" name="text-11">
            <a:extLst xmlns:a="http://schemas.openxmlformats.org/drawingml/2006/main">
              <a:ext uri="{FF2B5EF4-FFF2-40B4-BE49-F238E27FC236}">
                <a16:creationId xmlns:a16="http://schemas.microsoft.com/office/drawing/2014/main" id="{8943A70A-C3DC-42DE-86F5-67D7A1CBCCD6}"/>
              </a:ext>
            </a:extLst>
          </p:cNvPr>
          <p:cNvSpPr>
            <a:spLocks xmlns:a="http://schemas.openxmlformats.org/drawingml/2006/main" noGrp="1"/>
          </p:cNvSpPr>
          <p:nvPr/>
        </p:nvSpPr>
        <p:spPr>
          <a:xfrm xmlns:a="http://schemas.openxmlformats.org/drawingml/2006/main">
            <a:off x="9182100" y="2571750"/>
            <a:ext cx="5257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defRPr sz="2250" b="1">
                <a:solidFill>
                  <a:srgbClr val="157D80"/>
                </a:solidFill>
                <a:latin typeface="Aptos"/>
                <a:ea typeface="Aptos"/>
                <a:cs typeface="Aptos"/>
              </a:defRPr>
            </a:pPr>
            <a:r>
              <a:rPr sz="2250" b="1">
                <a:solidFill>
                  <a:srgbClr val="157D80"/>
                </a:solidFill>
                <a:latin typeface="Aptos"/>
                <a:ea typeface="Aptos"/>
                <a:cs typeface="Aptos"/>
              </a:rPr>
              <a:t>Paperclip</a:t>
            </a:r>
          </a:p>
        </p:txBody>
      </p:sp>
      <p:sp>
        <p:nvSpPr>
          <p:cNvPr id="14" name="text-12">
            <a:extLst xmlns:a="http://schemas.openxmlformats.org/drawingml/2006/main">
              <a:ext uri="{FF2B5EF4-FFF2-40B4-BE49-F238E27FC236}">
                <a16:creationId xmlns:a16="http://schemas.microsoft.com/office/drawing/2014/main" id="{6EEB2972-BBA0-44D3-BAA1-01DBDF741BD5}"/>
              </a:ext>
            </a:extLst>
          </p:cNvPr>
          <p:cNvSpPr>
            <a:spLocks xmlns:a="http://schemas.openxmlformats.org/drawingml/2006/main" noGrp="1"/>
          </p:cNvSpPr>
          <p:nvPr/>
        </p:nvSpPr>
        <p:spPr>
          <a:xfrm xmlns:a="http://schemas.openxmlformats.org/drawingml/2006/main">
            <a:off x="9182100" y="3009900"/>
            <a:ext cx="5257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Work state + authority</a:t>
            </a:r>
          </a:p>
        </p:txBody>
      </p:sp>
      <p:sp>
        <p:nvSpPr>
          <p:cNvPr id="17" name="node-13">
            <a:extLst xmlns:a="http://schemas.openxmlformats.org/drawingml/2006/main">
              <a:ext uri="{FF2B5EF4-FFF2-40B4-BE49-F238E27FC236}">
                <a16:creationId xmlns:a16="http://schemas.microsoft.com/office/drawing/2014/main" id="{629B6ABF-1E53-4C60-98EF-A2A87E32F438}"/>
              </a:ext>
            </a:extLst>
          </p:cNvPr>
          <p:cNvSpPr>
            <a:spLocks xmlns:a="http://schemas.openxmlformats.org/drawingml/2006/main" noGrp="1"/>
          </p:cNvSpPr>
          <p:nvPr/>
        </p:nvSpPr>
        <p:spPr>
          <a:xfrm xmlns:a="http://schemas.openxmlformats.org/drawingml/2006/main">
            <a:off x="8991600" y="5410200"/>
            <a:ext cx="5638800" cy="12573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18" name="text-14">
            <a:extLst xmlns:a="http://schemas.openxmlformats.org/drawingml/2006/main">
              <a:ext uri="{FF2B5EF4-FFF2-40B4-BE49-F238E27FC236}">
                <a16:creationId xmlns:a16="http://schemas.microsoft.com/office/drawing/2014/main" id="{73A27F18-8CD0-42CA-8B81-AC16B8DAECE5}"/>
              </a:ext>
            </a:extLst>
          </p:cNvPr>
          <p:cNvSpPr>
            <a:spLocks xmlns:a="http://schemas.openxmlformats.org/drawingml/2006/main" noGrp="1"/>
          </p:cNvSpPr>
          <p:nvPr/>
        </p:nvSpPr>
        <p:spPr>
          <a:xfrm xmlns:a="http://schemas.openxmlformats.org/drawingml/2006/main">
            <a:off x="9182100" y="5581650"/>
            <a:ext cx="5257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Paperclip dashboard</a:t>
            </a:r>
          </a:p>
        </p:txBody>
      </p:sp>
      <p:sp>
        <p:nvSpPr>
          <p:cNvPr id="19" name="text-15">
            <a:extLst xmlns:a="http://schemas.openxmlformats.org/drawingml/2006/main">
              <a:ext uri="{FF2B5EF4-FFF2-40B4-BE49-F238E27FC236}">
                <a16:creationId xmlns:a16="http://schemas.microsoft.com/office/drawing/2014/main" id="{436AF7C5-1B99-4ECA-8D3F-C29052BD7203}"/>
              </a:ext>
            </a:extLst>
          </p:cNvPr>
          <p:cNvSpPr>
            <a:spLocks xmlns:a="http://schemas.openxmlformats.org/drawingml/2006/main" noGrp="1"/>
          </p:cNvSpPr>
          <p:nvPr/>
        </p:nvSpPr>
        <p:spPr>
          <a:xfrm xmlns:a="http://schemas.openxmlformats.org/drawingml/2006/main">
            <a:off x="9182100" y="6019800"/>
            <a:ext cx="5257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Native task and decision UI</a:t>
            </a:r>
          </a:p>
        </p:txBody>
      </p:sp>
      <p:sp>
        <p:nvSpPr>
          <p:cNvPr id="21" name="node-16">
            <a:extLst xmlns:a="http://schemas.openxmlformats.org/drawingml/2006/main">
              <a:ext uri="{FF2B5EF4-FFF2-40B4-BE49-F238E27FC236}">
                <a16:creationId xmlns:a16="http://schemas.microsoft.com/office/drawing/2014/main" id="{231998CF-B908-4449-8976-A6C4772F3B0A}"/>
              </a:ext>
            </a:extLst>
          </p:cNvPr>
          <p:cNvSpPr>
            <a:spLocks xmlns:a="http://schemas.openxmlformats.org/drawingml/2006/main" noGrp="1"/>
          </p:cNvSpPr>
          <p:nvPr/>
        </p:nvSpPr>
        <p:spPr>
          <a:xfrm xmlns:a="http://schemas.openxmlformats.org/drawingml/2006/main">
            <a:off x="4610100" y="5410200"/>
            <a:ext cx="3429000" cy="1257300"/>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22" name="text-17">
            <a:extLst xmlns:a="http://schemas.openxmlformats.org/drawingml/2006/main">
              <a:ext uri="{FF2B5EF4-FFF2-40B4-BE49-F238E27FC236}">
                <a16:creationId xmlns:a16="http://schemas.microsoft.com/office/drawing/2014/main" id="{5EDD183F-5488-4014-BDEC-D2B3D2975B49}"/>
              </a:ext>
            </a:extLst>
          </p:cNvPr>
          <p:cNvSpPr>
            <a:spLocks xmlns:a="http://schemas.openxmlformats.org/drawingml/2006/main" noGrp="1"/>
          </p:cNvSpPr>
          <p:nvPr/>
        </p:nvSpPr>
        <p:spPr>
          <a:xfrm xmlns:a="http://schemas.openxmlformats.org/drawingml/2006/main">
            <a:off x="4800600" y="55816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defRPr sz="2250" b="1">
                <a:solidFill>
                  <a:srgbClr val="157D80"/>
                </a:solidFill>
                <a:latin typeface="Aptos"/>
                <a:ea typeface="Aptos"/>
                <a:cs typeface="Aptos"/>
              </a:defRPr>
            </a:pPr>
            <a:r>
              <a:rPr sz="2250" b="1">
                <a:solidFill>
                  <a:srgbClr val="157D80"/>
                </a:solidFill>
                <a:latin typeface="Aptos"/>
                <a:ea typeface="Aptos"/>
                <a:cs typeface="Aptos"/>
              </a:rPr>
              <a:t>Trusted adapters</a:t>
            </a:r>
          </a:p>
        </p:txBody>
      </p:sp>
      <p:sp>
        <p:nvSpPr>
          <p:cNvPr id="23" name="text-18">
            <a:extLst xmlns:a="http://schemas.openxmlformats.org/drawingml/2006/main">
              <a:ext uri="{FF2B5EF4-FFF2-40B4-BE49-F238E27FC236}">
                <a16:creationId xmlns:a16="http://schemas.microsoft.com/office/drawing/2014/main" id="{3C209CE9-2188-4752-B66E-6A7E0C3ED757}"/>
              </a:ext>
            </a:extLst>
          </p:cNvPr>
          <p:cNvSpPr>
            <a:spLocks xmlns:a="http://schemas.openxmlformats.org/drawingml/2006/main" noGrp="1"/>
          </p:cNvSpPr>
          <p:nvPr/>
        </p:nvSpPr>
        <p:spPr>
          <a:xfrm xmlns:a="http://schemas.openxmlformats.org/drawingml/2006/main">
            <a:off x="4800600" y="6019800"/>
            <a:ext cx="3048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Validate + publish</a:t>
            </a:r>
          </a:p>
        </p:txBody>
      </p:sp>
      <p:sp>
        <p:nvSpPr>
          <p:cNvPr id="25" name="node-19">
            <a:extLst xmlns:a="http://schemas.openxmlformats.org/drawingml/2006/main">
              <a:ext uri="{FF2B5EF4-FFF2-40B4-BE49-F238E27FC236}">
                <a16:creationId xmlns:a16="http://schemas.microsoft.com/office/drawing/2014/main" id="{C41BC504-6999-4993-AF38-5CA1B7B3FD3B}"/>
              </a:ext>
            </a:extLst>
          </p:cNvPr>
          <p:cNvSpPr>
            <a:spLocks xmlns:a="http://schemas.openxmlformats.org/drawingml/2006/main" noGrp="1"/>
          </p:cNvSpPr>
          <p:nvPr/>
        </p:nvSpPr>
        <p:spPr>
          <a:xfrm xmlns:a="http://schemas.openxmlformats.org/drawingml/2006/main">
            <a:off x="609600" y="5410200"/>
            <a:ext cx="3048000" cy="12573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26" name="text-20">
            <a:extLst xmlns:a="http://schemas.openxmlformats.org/drawingml/2006/main">
              <a:ext uri="{FF2B5EF4-FFF2-40B4-BE49-F238E27FC236}">
                <a16:creationId xmlns:a16="http://schemas.microsoft.com/office/drawing/2014/main" id="{6E03D1A2-7DF3-40C6-BDBC-BB01101D3097}"/>
              </a:ext>
            </a:extLst>
          </p:cNvPr>
          <p:cNvSpPr>
            <a:spLocks xmlns:a="http://schemas.openxmlformats.org/drawingml/2006/main" noGrp="1"/>
          </p:cNvSpPr>
          <p:nvPr/>
        </p:nvSpPr>
        <p:spPr>
          <a:xfrm xmlns:a="http://schemas.openxmlformats.org/drawingml/2006/main">
            <a:off x="800100" y="5581650"/>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DAO integrations</a:t>
            </a:r>
          </a:p>
        </p:txBody>
      </p:sp>
      <p:sp>
        <p:nvSpPr>
          <p:cNvPr id="27" name="text-21">
            <a:extLst xmlns:a="http://schemas.openxmlformats.org/drawingml/2006/main">
              <a:ext uri="{FF2B5EF4-FFF2-40B4-BE49-F238E27FC236}">
                <a16:creationId xmlns:a16="http://schemas.microsoft.com/office/drawing/2014/main" id="{03E4B192-432E-440A-8902-1B9AFB32C0A3}"/>
              </a:ext>
            </a:extLst>
          </p:cNvPr>
          <p:cNvSpPr>
            <a:spLocks xmlns:a="http://schemas.openxmlformats.org/drawingml/2006/main" noGrp="1"/>
          </p:cNvSpPr>
          <p:nvPr/>
        </p:nvSpPr>
        <p:spPr>
          <a:xfrm xmlns:a="http://schemas.openxmlformats.org/drawingml/2006/main">
            <a:off x="800100" y="6019800"/>
            <a:ext cx="2667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Website · grants · Y2</a:t>
            </a:r>
          </a:p>
        </p:txBody>
      </p:sp>
      <p:sp>
        <p:nvSpPr>
          <p:cNvPr id="29" name="text-22">
            <a:extLst xmlns:a="http://schemas.openxmlformats.org/drawingml/2006/main">
              <a:ext uri="{FF2B5EF4-FFF2-40B4-BE49-F238E27FC236}">
                <a16:creationId xmlns:a16="http://schemas.microsoft.com/office/drawing/2014/main" id="{A4659F77-31C5-4D51-8AC2-3C62E551A7A0}"/>
              </a:ext>
            </a:extLst>
          </p:cNvPr>
          <p:cNvSpPr>
            <a:spLocks xmlns:a="http://schemas.openxmlformats.org/drawingml/2006/main" noGrp="1"/>
          </p:cNvSpPr>
          <p:nvPr/>
        </p:nvSpPr>
        <p:spPr>
          <a:xfrm xmlns:a="http://schemas.openxmlformats.org/drawingml/2006/main">
            <a:off x="4610100" y="6858000"/>
            <a:ext cx="3429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Scoped credentials</a:t>
            </a:r>
          </a:p>
        </p:txBody>
      </p:sp>
    </p:spTree>
    <p:extLst>
      <p:ext uri="{BB962C8B-B14F-4D97-AF65-F5344CB8AC3E}">
        <p14:creationId xmlns:p14="http://schemas.microsoft.com/office/powerpoint/2010/main" val="67699560"/>
      </p:ext>
    </p:extLst>
  </p:cSld>
</p:sld>
</file>

<file path=ppt/slides/slide2.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27" name="">
            <a:extLst xmlns:a="http://schemas.openxmlformats.org/drawingml/2006/main">
              <a:ext uri="{FF2B5EF4-FFF2-40B4-BE49-F238E27FC236}">
                <a16:creationId xmlns:a16="http://schemas.microsoft.com/office/drawing/2014/main" id="{D296E119-0D8E-47FA-8AE9-C028A9630DAA}"/>
              </a:ext>
            </a:extLst>
          </p:cNvPr>
          <p:cNvCxnSpPr>
            <a:stCxn xmlns:a="http://schemas.openxmlformats.org/drawingml/2006/main" id="15" idx="2"/>
            <a:endCxn xmlns:a="http://schemas.openxmlformats.org/drawingml/2006/main" id="24" idx="0"/>
          </p:cNvCxnSpPr>
          <p:nvPr/>
        </p:nvCxnSpPr>
        <p:spPr>
          <a:xfrm xmlns:a="http://schemas.openxmlformats.org/drawingml/2006/main" flipH="1">
            <a:off x="12630150" y="4381500"/>
            <a:ext cx="895350" cy="1905000"/>
          </a:xfrm>
          <a:prstGeom xmlns:a="http://schemas.openxmlformats.org/drawingml/2006/main" prst="bentConnector4">
            <a:avLst>
              <a:gd name="adj1" fmla="val 0"/>
              <a:gd name="adj2" fmla="val 50000"/>
            </a:avLst>
          </a:prstGeom>
          <a:ln xmlns:a="http://schemas.openxmlformats.org/drawingml/2006/main" w="23813">
            <a:solidFill>
              <a:srgbClr val="157D80"/>
            </a:solidFill>
            <a:prstDash val="solid"/>
            <a:tailEnd type="triangle" w="med" len="med"/>
          </a:ln>
        </p:spPr>
      </p:cxnSp>
      <p:cxnSp>
        <p:nvCxnSpPr>
          <p:cNvPr id="20" name="">
            <a:extLst xmlns:a="http://schemas.openxmlformats.org/drawingml/2006/main">
              <a:ext uri="{FF2B5EF4-FFF2-40B4-BE49-F238E27FC236}">
                <a16:creationId xmlns:a16="http://schemas.microsoft.com/office/drawing/2014/main" id="{508AB70B-80CA-4D5C-8635-A04F5D77AC4A}"/>
              </a:ext>
            </a:extLst>
          </p:cNvPr>
          <p:cNvCxnSpPr>
            <a:stCxn xmlns:a="http://schemas.openxmlformats.org/drawingml/2006/main" id="12" idx="3"/>
            <a:endCxn xmlns:a="http://schemas.openxmlformats.org/drawingml/2006/main" id="15" idx="1"/>
          </p:cNvCxnSpPr>
          <p:nvPr/>
        </p:nvCxnSpPr>
        <p:spPr>
          <a:xfrm xmlns:a="http://schemas.openxmlformats.org/drawingml/2006/main">
            <a:off x="11468100" y="3619500"/>
            <a:ext cx="952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9" name="">
            <a:extLst xmlns:a="http://schemas.openxmlformats.org/drawingml/2006/main">
              <a:ext uri="{FF2B5EF4-FFF2-40B4-BE49-F238E27FC236}">
                <a16:creationId xmlns:a16="http://schemas.microsoft.com/office/drawing/2014/main" id="{EBD287BC-CF4A-4CFD-91BC-1183EF4408DD}"/>
              </a:ext>
            </a:extLst>
          </p:cNvPr>
          <p:cNvCxnSpPr>
            <a:stCxn xmlns:a="http://schemas.openxmlformats.org/drawingml/2006/main" id="9" idx="3"/>
            <a:endCxn xmlns:a="http://schemas.openxmlformats.org/drawingml/2006/main" id="12" idx="1"/>
          </p:cNvCxnSpPr>
          <p:nvPr/>
        </p:nvCxnSpPr>
        <p:spPr>
          <a:xfrm xmlns:a="http://schemas.openxmlformats.org/drawingml/2006/main">
            <a:off x="7658100" y="3619500"/>
            <a:ext cx="952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8" name="">
            <a:extLst xmlns:a="http://schemas.openxmlformats.org/drawingml/2006/main">
              <a:ext uri="{FF2B5EF4-FFF2-40B4-BE49-F238E27FC236}">
                <a16:creationId xmlns:a16="http://schemas.microsoft.com/office/drawing/2014/main" id="{123F361A-520D-43FF-B34C-FA90BA19B16C}"/>
              </a:ext>
            </a:extLst>
          </p:cNvPr>
          <p:cNvCxnSpPr>
            <a:stCxn xmlns:a="http://schemas.openxmlformats.org/drawingml/2006/main" id="6" idx="3"/>
            <a:endCxn xmlns:a="http://schemas.openxmlformats.org/drawingml/2006/main" id="9" idx="1"/>
          </p:cNvCxnSpPr>
          <p:nvPr/>
        </p:nvCxnSpPr>
        <p:spPr>
          <a:xfrm xmlns:a="http://schemas.openxmlformats.org/drawingml/2006/main">
            <a:off x="3657600" y="3619500"/>
            <a:ext cx="952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29" name="text-23">
            <a:extLst xmlns:a="http://schemas.openxmlformats.org/drawingml/2006/main">
              <a:ext uri="{FF2B5EF4-FFF2-40B4-BE49-F238E27FC236}">
                <a16:creationId xmlns:a16="http://schemas.microsoft.com/office/drawing/2014/main" id="{F1943FE5-B29F-4861-8D15-FD3D995675EA}"/>
              </a:ext>
            </a:extLst>
          </p:cNvPr>
          <p:cNvSpPr>
            <a:spLocks xmlns:a="http://schemas.openxmlformats.org/drawingml/2006/main" noGrp="1"/>
          </p:cNvSpPr>
          <p:nvPr/>
        </p:nvSpPr>
        <p:spPr>
          <a:xfrm xmlns:a="http://schemas.openxmlformats.org/drawingml/2006/main">
            <a:off x="609600" y="542925"/>
            <a:ext cx="14020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600" b="1">
                <a:solidFill>
                  <a:srgbClr val="132E38"/>
                </a:solidFill>
                <a:latin typeface="Aptos"/>
                <a:ea typeface="Aptos"/>
                <a:cs typeface="Aptos"/>
              </a:defRPr>
            </a:defPPr>
          </a:lstStyle>
          <a:p xmlns:a="http://schemas.openxmlformats.org/drawingml/2006/main">
            <a:pPr>
              <a:defRPr sz="3600" b="1">
                <a:solidFill>
                  <a:srgbClr val="132E38"/>
                </a:solidFill>
                <a:latin typeface="Aptos"/>
                <a:ea typeface="Aptos"/>
                <a:cs typeface="Aptos"/>
              </a:defRPr>
            </a:pPr>
            <a:r>
              <a:rPr sz="3600" b="1">
                <a:solidFill>
                  <a:srgbClr val="132E38"/>
                </a:solidFill>
                <a:latin typeface="Aptos"/>
                <a:ea typeface="Aptos"/>
                <a:cs typeface="Aptos"/>
              </a:rPr>
              <a:t>Native work acquisition</a:t>
            </a:r>
          </a:p>
        </p:txBody>
      </p:sp>
      <p:sp>
        <p:nvSpPr>
          <p:cNvPr id="2" name="text-24">
            <a:extLst xmlns:a="http://schemas.openxmlformats.org/drawingml/2006/main">
              <a:ext uri="{FF2B5EF4-FFF2-40B4-BE49-F238E27FC236}">
                <a16:creationId xmlns:a16="http://schemas.microsoft.com/office/drawing/2014/main" id="{EA5E7432-AAC2-456A-BAB2-7ACF5BDC47DB}"/>
              </a:ext>
            </a:extLst>
          </p:cNvPr>
          <p:cNvSpPr>
            <a:spLocks xmlns:a="http://schemas.openxmlformats.org/drawingml/2006/main" noGrp="1"/>
          </p:cNvSpPr>
          <p:nvPr/>
        </p:nvSpPr>
        <p:spPr>
          <a:xfrm xmlns:a="http://schemas.openxmlformats.org/drawingml/2006/main">
            <a:off x="609600" y="1333500"/>
            <a:ext cx="14020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49616A"/>
                </a:solidFill>
                <a:latin typeface="Aptos"/>
                <a:ea typeface="Aptos"/>
                <a:cs typeface="Aptos"/>
              </a:defRPr>
            </a:defPPr>
          </a:lstStyle>
          <a:p xmlns:a="http://schemas.openxmlformats.org/drawingml/2006/main">
            <a:pPr>
              <a:defRPr sz="2025" b="0">
                <a:solidFill>
                  <a:srgbClr val="49616A"/>
                </a:solidFill>
                <a:latin typeface="Aptos"/>
                <a:ea typeface="Aptos"/>
                <a:cs typeface="Aptos"/>
              </a:defRPr>
            </a:pPr>
            <a:r>
              <a:rPr sz="2025" b="0">
                <a:solidFill>
                  <a:srgbClr val="49616A"/>
                </a:solidFill>
                <a:latin typeface="Aptos"/>
                <a:ea typeface="Aptos"/>
                <a:cs typeface="Aptos"/>
              </a:rPr>
              <a:t>CEO intake and execution ownership</a:t>
            </a:r>
          </a:p>
        </p:txBody>
      </p:sp>
      <p:sp>
        <p:nvSpPr>
          <p:cNvPr id="3" name="">
            <a:extLst xmlns:a="http://schemas.openxmlformats.org/drawingml/2006/main">
              <a:ext uri="{FF2B5EF4-FFF2-40B4-BE49-F238E27FC236}">
                <a16:creationId xmlns:a16="http://schemas.microsoft.com/office/drawing/2014/main" id="{297B8D10-C60E-46D3-8064-651BB8424E4F}"/>
              </a:ext>
            </a:extLst>
          </p:cNvPr>
          <p:cNvSpPr>
            <a:spLocks xmlns:a="http://schemas.openxmlformats.org/drawingml/2006/main" noGrp="1"/>
          </p:cNvSpPr>
          <p:nvPr/>
        </p:nvSpPr>
        <p:spPr>
          <a:xfrm xmlns:a="http://schemas.openxmlformats.org/drawingml/2006/main">
            <a:off x="609600" y="7905750"/>
            <a:ext cx="14020800" cy="0"/>
          </a:xfrm>
          <a:prstGeom xmlns:a="http://schemas.openxmlformats.org/drawingml/2006/main" prst="line">
            <a:avLst/>
          </a:prstGeom>
          <a:ln xmlns:a="http://schemas.openxmlformats.org/drawingml/2006/main" w="9525">
            <a:solidFill>
              <a:srgbClr val="B9C9C7"/>
            </a:solidFill>
            <a:prstDash val="solid"/>
          </a:ln>
        </p:spPr>
      </p:sp>
      <p:sp>
        <p:nvSpPr>
          <p:cNvPr id="4" name="text-25">
            <a:extLst xmlns:a="http://schemas.openxmlformats.org/drawingml/2006/main">
              <a:ext uri="{FF2B5EF4-FFF2-40B4-BE49-F238E27FC236}">
                <a16:creationId xmlns:a16="http://schemas.microsoft.com/office/drawing/2014/main" id="{274CFED5-96B5-4735-B935-49996A2FEB4F}"/>
              </a:ext>
            </a:extLst>
          </p:cNvPr>
          <p:cNvSpPr>
            <a:spLocks xmlns:a="http://schemas.openxmlformats.org/drawingml/2006/main" noGrp="1"/>
          </p:cNvSpPr>
          <p:nvPr/>
        </p:nvSpPr>
        <p:spPr>
          <a:xfrm xmlns:a="http://schemas.openxmlformats.org/drawingml/2006/main">
            <a:off x="609600" y="8086725"/>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350" b="0">
                <a:solidFill>
                  <a:srgbClr val="49616A"/>
                </a:solidFill>
                <a:latin typeface="Aptos"/>
                <a:ea typeface="Aptos"/>
                <a:cs typeface="Aptos"/>
              </a:defRPr>
            </a:defPPr>
          </a:lstStyle>
          <a:p xmlns:a="http://schemas.openxmlformats.org/drawingml/2006/main">
            <a:pPr>
              <a:defRPr sz="1350" b="0">
                <a:solidFill>
                  <a:srgbClr val="49616A"/>
                </a:solidFill>
                <a:latin typeface="Aptos"/>
                <a:ea typeface="Aptos"/>
                <a:cs typeface="Aptos"/>
              </a:defRPr>
            </a:pPr>
            <a:r>
              <a:rPr sz="1350" b="0">
                <a:solidFill>
                  <a:srgbClr val="49616A"/>
                </a:solidFill>
                <a:latin typeface="Aptos"/>
                <a:ea typeface="Aptos"/>
                <a:cs typeface="Aptos"/>
              </a:rPr>
              <a:t>Inertia architecture · 23 October 2026</a:t>
            </a:r>
          </a:p>
        </p:txBody>
      </p:sp>
      <p:sp>
        <p:nvSpPr>
          <p:cNvPr id="5" name="text-26">
            <a:extLst xmlns:a="http://schemas.openxmlformats.org/drawingml/2006/main">
              <a:ext uri="{FF2B5EF4-FFF2-40B4-BE49-F238E27FC236}">
                <a16:creationId xmlns:a16="http://schemas.microsoft.com/office/drawing/2014/main" id="{72CB28C6-5CBD-401E-AA6F-A78FEC5A7EEE}"/>
              </a:ext>
            </a:extLst>
          </p:cNvPr>
          <p:cNvSpPr>
            <a:spLocks xmlns:a="http://schemas.openxmlformats.org/drawingml/2006/main" noGrp="1"/>
          </p:cNvSpPr>
          <p:nvPr/>
        </p:nvSpPr>
        <p:spPr>
          <a:xfrm xmlns:a="http://schemas.openxmlformats.org/drawingml/2006/main">
            <a:off x="14097000" y="8058150"/>
            <a:ext cx="533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650" b="1">
                <a:solidFill>
                  <a:srgbClr val="157D80"/>
                </a:solidFill>
                <a:latin typeface="Aptos"/>
                <a:ea typeface="Aptos"/>
                <a:cs typeface="Aptos"/>
              </a:defRPr>
            </a:defPPr>
          </a:lstStyle>
          <a:p xmlns:a="http://schemas.openxmlformats.org/drawingml/2006/main">
            <a:pPr>
              <a:defRPr sz="1650" b="1">
                <a:solidFill>
                  <a:srgbClr val="157D80"/>
                </a:solidFill>
                <a:latin typeface="Aptos"/>
                <a:ea typeface="Aptos"/>
                <a:cs typeface="Aptos"/>
              </a:defRPr>
            </a:pPr>
            <a:r>
              <a:rPr sz="1650" b="1">
                <a:solidFill>
                  <a:srgbClr val="157D80"/>
                </a:solidFill>
                <a:latin typeface="Aptos"/>
                <a:ea typeface="Aptos"/>
                <a:cs typeface="Aptos"/>
              </a:rPr>
              <a:t>2</a:t>
            </a:r>
          </a:p>
        </p:txBody>
      </p:sp>
      <p:sp>
        <p:nvSpPr>
          <p:cNvPr id="6" name="node-27">
            <a:extLst xmlns:a="http://schemas.openxmlformats.org/drawingml/2006/main">
              <a:ext uri="{FF2B5EF4-FFF2-40B4-BE49-F238E27FC236}">
                <a16:creationId xmlns:a16="http://schemas.microsoft.com/office/drawing/2014/main" id="{4F7F61EE-94A5-4626-8AA9-2A5805A6FC01}"/>
              </a:ext>
            </a:extLst>
          </p:cNvPr>
          <p:cNvSpPr>
            <a:spLocks xmlns:a="http://schemas.openxmlformats.org/drawingml/2006/main" noGrp="1"/>
          </p:cNvSpPr>
          <p:nvPr/>
        </p:nvSpPr>
        <p:spPr>
          <a:xfrm xmlns:a="http://schemas.openxmlformats.org/drawingml/2006/main">
            <a:off x="609600" y="2857500"/>
            <a:ext cx="3048000" cy="15240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7" name="text-28">
            <a:extLst xmlns:a="http://schemas.openxmlformats.org/drawingml/2006/main">
              <a:ext uri="{FF2B5EF4-FFF2-40B4-BE49-F238E27FC236}">
                <a16:creationId xmlns:a16="http://schemas.microsoft.com/office/drawing/2014/main" id="{2675E434-C72C-44BE-861D-C2FBA0B199BB}"/>
              </a:ext>
            </a:extLst>
          </p:cNvPr>
          <p:cNvSpPr>
            <a:spLocks xmlns:a="http://schemas.openxmlformats.org/drawingml/2006/main" noGrp="1"/>
          </p:cNvSpPr>
          <p:nvPr/>
        </p:nvSpPr>
        <p:spPr>
          <a:xfrm xmlns:a="http://schemas.openxmlformats.org/drawingml/2006/main">
            <a:off x="800100" y="3028950"/>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Assigned intake</a:t>
            </a:r>
          </a:p>
        </p:txBody>
      </p:sp>
      <p:sp>
        <p:nvSpPr>
          <p:cNvPr id="8" name="text-29">
            <a:extLst xmlns:a="http://schemas.openxmlformats.org/drawingml/2006/main">
              <a:ext uri="{FF2B5EF4-FFF2-40B4-BE49-F238E27FC236}">
                <a16:creationId xmlns:a16="http://schemas.microsoft.com/office/drawing/2014/main" id="{8AB9CD13-0E84-4178-A44C-37358F1F1781}"/>
              </a:ext>
            </a:extLst>
          </p:cNvPr>
          <p:cNvSpPr>
            <a:spLocks xmlns:a="http://schemas.openxmlformats.org/drawingml/2006/main" noGrp="1"/>
          </p:cNvSpPr>
          <p:nvPr/>
        </p:nvSpPr>
        <p:spPr>
          <a:xfrm xmlns:a="http://schemas.openxmlformats.org/drawingml/2006/main">
            <a:off x="800100" y="3467100"/>
            <a:ext cx="2667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Scope + acceptance criteria</a:t>
            </a:r>
          </a:p>
        </p:txBody>
      </p:sp>
      <p:sp>
        <p:nvSpPr>
          <p:cNvPr id="9" name="node-30">
            <a:extLst xmlns:a="http://schemas.openxmlformats.org/drawingml/2006/main">
              <a:ext uri="{FF2B5EF4-FFF2-40B4-BE49-F238E27FC236}">
                <a16:creationId xmlns:a16="http://schemas.microsoft.com/office/drawing/2014/main" id="{4731905E-E2EB-430D-A2DA-77F2EB21C820}"/>
              </a:ext>
            </a:extLst>
          </p:cNvPr>
          <p:cNvSpPr>
            <a:spLocks xmlns:a="http://schemas.openxmlformats.org/drawingml/2006/main" noGrp="1"/>
          </p:cNvSpPr>
          <p:nvPr/>
        </p:nvSpPr>
        <p:spPr>
          <a:xfrm xmlns:a="http://schemas.openxmlformats.org/drawingml/2006/main">
            <a:off x="4610100" y="2857500"/>
            <a:ext cx="3048000" cy="1524000"/>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10" name="text-31">
            <a:extLst xmlns:a="http://schemas.openxmlformats.org/drawingml/2006/main">
              <a:ext uri="{FF2B5EF4-FFF2-40B4-BE49-F238E27FC236}">
                <a16:creationId xmlns:a16="http://schemas.microsoft.com/office/drawing/2014/main" id="{01BF8AF8-A7F5-4594-91A6-546733CB62E5}"/>
              </a:ext>
            </a:extLst>
          </p:cNvPr>
          <p:cNvSpPr>
            <a:spLocks xmlns:a="http://schemas.openxmlformats.org/drawingml/2006/main" noGrp="1"/>
          </p:cNvSpPr>
          <p:nvPr/>
        </p:nvSpPr>
        <p:spPr>
          <a:xfrm xmlns:a="http://schemas.openxmlformats.org/drawingml/2006/main">
            <a:off x="4800600" y="3028950"/>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defRPr sz="2250" b="1">
                <a:solidFill>
                  <a:srgbClr val="157D80"/>
                </a:solidFill>
                <a:latin typeface="Aptos"/>
                <a:ea typeface="Aptos"/>
                <a:cs typeface="Aptos"/>
              </a:defRPr>
            </a:pPr>
            <a:r>
              <a:rPr sz="2250" b="1">
                <a:solidFill>
                  <a:srgbClr val="157D80"/>
                </a:solidFill>
                <a:latin typeface="Aptos"/>
                <a:ea typeface="Aptos"/>
                <a:cs typeface="Aptos"/>
              </a:rPr>
              <a:t>Native CEO</a:t>
            </a:r>
          </a:p>
        </p:txBody>
      </p:sp>
      <p:sp>
        <p:nvSpPr>
          <p:cNvPr id="11" name="text-32">
            <a:extLst xmlns:a="http://schemas.openxmlformats.org/drawingml/2006/main">
              <a:ext uri="{FF2B5EF4-FFF2-40B4-BE49-F238E27FC236}">
                <a16:creationId xmlns:a16="http://schemas.microsoft.com/office/drawing/2014/main" id="{3F58CBF0-D800-4562-B1EE-BC4C9B436546}"/>
              </a:ext>
            </a:extLst>
          </p:cNvPr>
          <p:cNvSpPr>
            <a:spLocks xmlns:a="http://schemas.openxmlformats.org/drawingml/2006/main" noGrp="1"/>
          </p:cNvSpPr>
          <p:nvPr/>
        </p:nvSpPr>
        <p:spPr>
          <a:xfrm xmlns:a="http://schemas.openxmlformats.org/drawingml/2006/main">
            <a:off x="4800600" y="3467100"/>
            <a:ext cx="2667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Heartbeat + delegation</a:t>
            </a:r>
          </a:p>
        </p:txBody>
      </p:sp>
      <p:sp>
        <p:nvSpPr>
          <p:cNvPr id="12" name="node-33">
            <a:extLst xmlns:a="http://schemas.openxmlformats.org/drawingml/2006/main">
              <a:ext uri="{FF2B5EF4-FFF2-40B4-BE49-F238E27FC236}">
                <a16:creationId xmlns:a16="http://schemas.microsoft.com/office/drawing/2014/main" id="{18889FF6-97AC-4A2B-9A1A-3B2928D27F5D}"/>
              </a:ext>
            </a:extLst>
          </p:cNvPr>
          <p:cNvSpPr>
            <a:spLocks xmlns:a="http://schemas.openxmlformats.org/drawingml/2006/main" noGrp="1"/>
          </p:cNvSpPr>
          <p:nvPr/>
        </p:nvSpPr>
        <p:spPr>
          <a:xfrm xmlns:a="http://schemas.openxmlformats.org/drawingml/2006/main">
            <a:off x="8610600" y="2857500"/>
            <a:ext cx="2857500" cy="15240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13" name="text-34">
            <a:extLst xmlns:a="http://schemas.openxmlformats.org/drawingml/2006/main">
              <a:ext uri="{FF2B5EF4-FFF2-40B4-BE49-F238E27FC236}">
                <a16:creationId xmlns:a16="http://schemas.microsoft.com/office/drawing/2014/main" id="{7CE878A2-8694-4603-BF48-A10B005540CE}"/>
              </a:ext>
            </a:extLst>
          </p:cNvPr>
          <p:cNvSpPr>
            <a:spLocks xmlns:a="http://schemas.openxmlformats.org/drawingml/2006/main" noGrp="1"/>
          </p:cNvSpPr>
          <p:nvPr/>
        </p:nvSpPr>
        <p:spPr>
          <a:xfrm xmlns:a="http://schemas.openxmlformats.org/drawingml/2006/main">
            <a:off x="8801100" y="30289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Eligible issue</a:t>
            </a:r>
          </a:p>
        </p:txBody>
      </p:sp>
      <p:sp>
        <p:nvSpPr>
          <p:cNvPr id="14" name="text-35">
            <a:extLst xmlns:a="http://schemas.openxmlformats.org/drawingml/2006/main">
              <a:ext uri="{FF2B5EF4-FFF2-40B4-BE49-F238E27FC236}">
                <a16:creationId xmlns:a16="http://schemas.microsoft.com/office/drawing/2014/main" id="{ADDFEC33-BFEE-493C-8128-7C89B1280A07}"/>
              </a:ext>
            </a:extLst>
          </p:cNvPr>
          <p:cNvSpPr>
            <a:spLocks xmlns:a="http://schemas.openxmlformats.org/drawingml/2006/main" noGrp="1"/>
          </p:cNvSpPr>
          <p:nvPr/>
        </p:nvSpPr>
        <p:spPr>
          <a:xfrm xmlns:a="http://schemas.openxmlformats.org/drawingml/2006/main">
            <a:off x="8801100" y="3467100"/>
            <a:ext cx="24765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Policy + dependencies</a:t>
            </a:r>
          </a:p>
        </p:txBody>
      </p:sp>
      <p:sp>
        <p:nvSpPr>
          <p:cNvPr id="15" name="node-36">
            <a:extLst xmlns:a="http://schemas.openxmlformats.org/drawingml/2006/main">
              <a:ext uri="{FF2B5EF4-FFF2-40B4-BE49-F238E27FC236}">
                <a16:creationId xmlns:a16="http://schemas.microsoft.com/office/drawing/2014/main" id="{10777CE7-655A-4789-8EFB-632788A4D93E}"/>
              </a:ext>
            </a:extLst>
          </p:cNvPr>
          <p:cNvSpPr>
            <a:spLocks xmlns:a="http://schemas.openxmlformats.org/drawingml/2006/main" noGrp="1"/>
          </p:cNvSpPr>
          <p:nvPr/>
        </p:nvSpPr>
        <p:spPr>
          <a:xfrm xmlns:a="http://schemas.openxmlformats.org/drawingml/2006/main">
            <a:off x="12420600" y="2857500"/>
            <a:ext cx="2209800" cy="1524000"/>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16" name="text-37">
            <a:extLst xmlns:a="http://schemas.openxmlformats.org/drawingml/2006/main">
              <a:ext uri="{FF2B5EF4-FFF2-40B4-BE49-F238E27FC236}">
                <a16:creationId xmlns:a16="http://schemas.microsoft.com/office/drawing/2014/main" id="{1ABB9DEA-462E-420C-B8BD-F2939FD4F476}"/>
              </a:ext>
            </a:extLst>
          </p:cNvPr>
          <p:cNvSpPr>
            <a:spLocks xmlns:a="http://schemas.openxmlformats.org/drawingml/2006/main" noGrp="1"/>
          </p:cNvSpPr>
          <p:nvPr/>
        </p:nvSpPr>
        <p:spPr>
          <a:xfrm xmlns:a="http://schemas.openxmlformats.org/drawingml/2006/main">
            <a:off x="12611100" y="3028950"/>
            <a:ext cx="1828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defRPr sz="2250" b="1">
                <a:solidFill>
                  <a:srgbClr val="157D80"/>
                </a:solidFill>
                <a:latin typeface="Aptos"/>
                <a:ea typeface="Aptos"/>
                <a:cs typeface="Aptos"/>
              </a:defRPr>
            </a:pPr>
            <a:r>
              <a:rPr sz="2250" b="1">
                <a:solidFill>
                  <a:srgbClr val="157D80"/>
                </a:solidFill>
                <a:latin typeface="Aptos"/>
                <a:ea typeface="Aptos"/>
                <a:cs typeface="Aptos"/>
              </a:rPr>
              <a:t>Checkout</a:t>
            </a:r>
          </a:p>
        </p:txBody>
      </p:sp>
      <p:sp>
        <p:nvSpPr>
          <p:cNvPr id="17" name="text-38">
            <a:extLst xmlns:a="http://schemas.openxmlformats.org/drawingml/2006/main">
              <a:ext uri="{FF2B5EF4-FFF2-40B4-BE49-F238E27FC236}">
                <a16:creationId xmlns:a16="http://schemas.microsoft.com/office/drawing/2014/main" id="{2628217F-BF8C-4DF5-B8BE-905341D21604}"/>
              </a:ext>
            </a:extLst>
          </p:cNvPr>
          <p:cNvSpPr>
            <a:spLocks xmlns:a="http://schemas.openxmlformats.org/drawingml/2006/main" noGrp="1"/>
          </p:cNvSpPr>
          <p:nvPr/>
        </p:nvSpPr>
        <p:spPr>
          <a:xfrm xmlns:a="http://schemas.openxmlformats.org/drawingml/2006/main">
            <a:off x="12611100" y="3467100"/>
            <a:ext cx="18288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Atomic owner</a:t>
            </a:r>
          </a:p>
        </p:txBody>
      </p:sp>
      <p:sp>
        <p:nvSpPr>
          <p:cNvPr id="21" name="text-39">
            <a:extLst xmlns:a="http://schemas.openxmlformats.org/drawingml/2006/main">
              <a:ext uri="{FF2B5EF4-FFF2-40B4-BE49-F238E27FC236}">
                <a16:creationId xmlns:a16="http://schemas.microsoft.com/office/drawing/2014/main" id="{C13CBCCE-1303-44B4-8CC8-01C9DBFAC0AE}"/>
              </a:ext>
            </a:extLst>
          </p:cNvPr>
          <p:cNvSpPr>
            <a:spLocks xmlns:a="http://schemas.openxmlformats.org/drawingml/2006/main" noGrp="1"/>
          </p:cNvSpPr>
          <p:nvPr/>
        </p:nvSpPr>
        <p:spPr>
          <a:xfrm xmlns:a="http://schemas.openxmlformats.org/drawingml/2006/main">
            <a:off x="609600" y="4629150"/>
            <a:ext cx="304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Assigned mandate</a:t>
            </a:r>
          </a:p>
        </p:txBody>
      </p:sp>
      <p:sp>
        <p:nvSpPr>
          <p:cNvPr id="22" name="text-40">
            <a:extLst xmlns:a="http://schemas.openxmlformats.org/drawingml/2006/main">
              <a:ext uri="{FF2B5EF4-FFF2-40B4-BE49-F238E27FC236}">
                <a16:creationId xmlns:a16="http://schemas.microsoft.com/office/drawing/2014/main" id="{12BFD442-9482-4C53-99C2-F0EF22191435}"/>
              </a:ext>
            </a:extLst>
          </p:cNvPr>
          <p:cNvSpPr>
            <a:spLocks xmlns:a="http://schemas.openxmlformats.org/drawingml/2006/main" noGrp="1"/>
          </p:cNvSpPr>
          <p:nvPr/>
        </p:nvSpPr>
        <p:spPr>
          <a:xfrm xmlns:a="http://schemas.openxmlformats.org/drawingml/2006/main">
            <a:off x="4610100" y="4629150"/>
            <a:ext cx="304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Hiring and budget policy</a:t>
            </a:r>
          </a:p>
        </p:txBody>
      </p:sp>
      <p:sp>
        <p:nvSpPr>
          <p:cNvPr id="23" name="text-41">
            <a:extLst xmlns:a="http://schemas.openxmlformats.org/drawingml/2006/main">
              <a:ext uri="{FF2B5EF4-FFF2-40B4-BE49-F238E27FC236}">
                <a16:creationId xmlns:a16="http://schemas.microsoft.com/office/drawing/2014/main" id="{53765DCA-9453-431A-90F9-6ACF1E11FE69}"/>
              </a:ext>
            </a:extLst>
          </p:cNvPr>
          <p:cNvSpPr>
            <a:spLocks xmlns:a="http://schemas.openxmlformats.org/drawingml/2006/main" noGrp="1"/>
          </p:cNvSpPr>
          <p:nvPr/>
        </p:nvSpPr>
        <p:spPr>
          <a:xfrm xmlns:a="http://schemas.openxmlformats.org/drawingml/2006/main">
            <a:off x="8610600" y="4629150"/>
            <a:ext cx="2857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Authority + capabilities</a:t>
            </a:r>
          </a:p>
        </p:txBody>
      </p:sp>
      <p:sp>
        <p:nvSpPr>
          <p:cNvPr id="24" name="node-42">
            <a:extLst xmlns:a="http://schemas.openxmlformats.org/drawingml/2006/main">
              <a:ext uri="{FF2B5EF4-FFF2-40B4-BE49-F238E27FC236}">
                <a16:creationId xmlns:a16="http://schemas.microsoft.com/office/drawing/2014/main" id="{6EDE93AC-A7A1-46C2-A477-5B11BC62DE65}"/>
              </a:ext>
            </a:extLst>
          </p:cNvPr>
          <p:cNvSpPr>
            <a:spLocks xmlns:a="http://schemas.openxmlformats.org/drawingml/2006/main" noGrp="1"/>
          </p:cNvSpPr>
          <p:nvPr/>
        </p:nvSpPr>
        <p:spPr>
          <a:xfrm xmlns:a="http://schemas.openxmlformats.org/drawingml/2006/main">
            <a:off x="10629900" y="6286500"/>
            <a:ext cx="4000500" cy="120015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25" name="text-43">
            <a:extLst xmlns:a="http://schemas.openxmlformats.org/drawingml/2006/main">
              <a:ext uri="{FF2B5EF4-FFF2-40B4-BE49-F238E27FC236}">
                <a16:creationId xmlns:a16="http://schemas.microsoft.com/office/drawing/2014/main" id="{93D3473F-A0D7-4E22-9CC0-F4223B2EAE51}"/>
              </a:ext>
            </a:extLst>
          </p:cNvPr>
          <p:cNvSpPr>
            <a:spLocks xmlns:a="http://schemas.openxmlformats.org/drawingml/2006/main" noGrp="1"/>
          </p:cNvSpPr>
          <p:nvPr/>
        </p:nvSpPr>
        <p:spPr>
          <a:xfrm xmlns:a="http://schemas.openxmlformats.org/drawingml/2006/main">
            <a:off x="10820400" y="6457950"/>
            <a:ext cx="3619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Native run</a:t>
            </a:r>
          </a:p>
        </p:txBody>
      </p:sp>
      <p:sp>
        <p:nvSpPr>
          <p:cNvPr id="26" name="text-44">
            <a:extLst xmlns:a="http://schemas.openxmlformats.org/drawingml/2006/main">
              <a:ext uri="{FF2B5EF4-FFF2-40B4-BE49-F238E27FC236}">
                <a16:creationId xmlns:a16="http://schemas.microsoft.com/office/drawing/2014/main" id="{813C5E71-1941-4504-BD81-F5E399DB3CD7}"/>
              </a:ext>
            </a:extLst>
          </p:cNvPr>
          <p:cNvSpPr>
            <a:spLocks xmlns:a="http://schemas.openxmlformats.org/drawingml/2006/main" noGrp="1"/>
          </p:cNvSpPr>
          <p:nvPr/>
        </p:nvSpPr>
        <p:spPr>
          <a:xfrm xmlns:a="http://schemas.openxmlformats.org/drawingml/2006/main">
            <a:off x="10820400" y="6896100"/>
            <a:ext cx="3619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Bounded tools + runtime</a:t>
            </a:r>
          </a:p>
        </p:txBody>
      </p:sp>
      <p:sp>
        <p:nvSpPr>
          <p:cNvPr id="28" name="text-45">
            <a:extLst xmlns:a="http://schemas.openxmlformats.org/drawingml/2006/main">
              <a:ext uri="{FF2B5EF4-FFF2-40B4-BE49-F238E27FC236}">
                <a16:creationId xmlns:a16="http://schemas.microsoft.com/office/drawing/2014/main" id="{5D247365-96BB-4CE9-A48B-9C7B0C14C5E9}"/>
              </a:ext>
            </a:extLst>
          </p:cNvPr>
          <p:cNvSpPr>
            <a:spLocks xmlns:a="http://schemas.openxmlformats.org/drawingml/2006/main" noGrp="1"/>
          </p:cNvSpPr>
          <p:nvPr/>
        </p:nvSpPr>
        <p:spPr>
          <a:xfrm xmlns:a="http://schemas.openxmlformats.org/drawingml/2006/main">
            <a:off x="609600" y="6372225"/>
            <a:ext cx="923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400" b="1">
                <a:solidFill>
                  <a:srgbClr val="157D80"/>
                </a:solidFill>
                <a:latin typeface="Aptos"/>
                <a:ea typeface="Aptos"/>
                <a:cs typeface="Aptos"/>
              </a:defRPr>
            </a:defPPr>
          </a:lstStyle>
          <a:p xmlns:a="http://schemas.openxmlformats.org/drawingml/2006/main">
            <a:pPr>
              <a:defRPr sz="2400" b="1">
                <a:solidFill>
                  <a:srgbClr val="157D80"/>
                </a:solidFill>
                <a:latin typeface="Aptos"/>
                <a:ea typeface="Aptos"/>
                <a:cs typeface="Aptos"/>
              </a:defRPr>
            </a:pPr>
            <a:r>
              <a:rPr sz="2400" b="1">
                <a:solidFill>
                  <a:srgbClr val="157D80"/>
                </a:solidFill>
                <a:latin typeface="Aptos"/>
                <a:ea typeface="Aptos"/>
                <a:cs typeface="Aptos"/>
              </a:rPr>
              <a:t>One native scheduler / checkout owner per job</a:t>
            </a:r>
          </a:p>
        </p:txBody>
      </p:sp>
    </p:spTree>
    <p:extLst>
      <p:ext uri="{BB962C8B-B14F-4D97-AF65-F5344CB8AC3E}">
        <p14:creationId xmlns:p14="http://schemas.microsoft.com/office/powerpoint/2010/main" val="1549615085"/>
      </p:ext>
    </p:extLst>
  </p:cSld>
</p:sld>
</file>

<file path=ppt/slides/slide3.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28" name="">
            <a:extLst xmlns:a="http://schemas.openxmlformats.org/drawingml/2006/main">
              <a:ext uri="{FF2B5EF4-FFF2-40B4-BE49-F238E27FC236}">
                <a16:creationId xmlns:a16="http://schemas.microsoft.com/office/drawing/2014/main" id="{3A5E487B-135C-4190-87BD-C8C99C410A26}"/>
              </a:ext>
            </a:extLst>
          </p:cNvPr>
          <p:cNvCxnSpPr>
            <a:stCxn xmlns:a="http://schemas.openxmlformats.org/drawingml/2006/main" id="20" idx="1"/>
            <a:endCxn xmlns:a="http://schemas.openxmlformats.org/drawingml/2006/main" id="23" idx="3"/>
          </p:cNvCxnSpPr>
          <p:nvPr/>
        </p:nvCxnSpPr>
        <p:spPr>
          <a:xfrm xmlns:a="http://schemas.openxmlformats.org/drawingml/2006/main" flipH="1">
            <a:off x="3848100" y="6248400"/>
            <a:ext cx="104775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27" name="">
            <a:extLst xmlns:a="http://schemas.openxmlformats.org/drawingml/2006/main">
              <a:ext uri="{FF2B5EF4-FFF2-40B4-BE49-F238E27FC236}">
                <a16:creationId xmlns:a16="http://schemas.microsoft.com/office/drawing/2014/main" id="{49B53A20-8475-444A-9304-C682A37DE07F}"/>
              </a:ext>
            </a:extLst>
          </p:cNvPr>
          <p:cNvCxnSpPr>
            <a:stCxn xmlns:a="http://schemas.openxmlformats.org/drawingml/2006/main" id="17" idx="1"/>
            <a:endCxn xmlns:a="http://schemas.openxmlformats.org/drawingml/2006/main" id="20" idx="3"/>
          </p:cNvCxnSpPr>
          <p:nvPr/>
        </p:nvCxnSpPr>
        <p:spPr>
          <a:xfrm xmlns:a="http://schemas.openxmlformats.org/drawingml/2006/main" flipH="1">
            <a:off x="8991600" y="6248400"/>
            <a:ext cx="104775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26" name="">
            <a:extLst xmlns:a="http://schemas.openxmlformats.org/drawingml/2006/main">
              <a:ext uri="{FF2B5EF4-FFF2-40B4-BE49-F238E27FC236}">
                <a16:creationId xmlns:a16="http://schemas.microsoft.com/office/drawing/2014/main" id="{161FDFD7-E8C4-448D-B620-4CDFCB28C6FE}"/>
              </a:ext>
            </a:extLst>
          </p:cNvPr>
          <p:cNvCxnSpPr>
            <a:stCxn xmlns:a="http://schemas.openxmlformats.org/drawingml/2006/main" id="12" idx="2"/>
            <a:endCxn xmlns:a="http://schemas.openxmlformats.org/drawingml/2006/main" id="17" idx="0"/>
          </p:cNvCxnSpPr>
          <p:nvPr/>
        </p:nvCxnSpPr>
        <p:spPr>
          <a:xfrm xmlns:a="http://schemas.openxmlformats.org/drawingml/2006/main">
            <a:off x="12334875" y="3810000"/>
            <a:ext cx="0" cy="177165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6" name="">
            <a:extLst xmlns:a="http://schemas.openxmlformats.org/drawingml/2006/main">
              <a:ext uri="{FF2B5EF4-FFF2-40B4-BE49-F238E27FC236}">
                <a16:creationId xmlns:a16="http://schemas.microsoft.com/office/drawing/2014/main" id="{0E6A89E9-823B-45D2-89B0-BBBA3903EFBF}"/>
              </a:ext>
            </a:extLst>
          </p:cNvPr>
          <p:cNvCxnSpPr>
            <a:stCxn xmlns:a="http://schemas.openxmlformats.org/drawingml/2006/main" id="9" idx="3"/>
            <a:endCxn xmlns:a="http://schemas.openxmlformats.org/drawingml/2006/main" id="12" idx="1"/>
          </p:cNvCxnSpPr>
          <p:nvPr/>
        </p:nvCxnSpPr>
        <p:spPr>
          <a:xfrm xmlns:a="http://schemas.openxmlformats.org/drawingml/2006/main">
            <a:off x="8991600" y="3143250"/>
            <a:ext cx="104775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5" name="">
            <a:extLst xmlns:a="http://schemas.openxmlformats.org/drawingml/2006/main">
              <a:ext uri="{FF2B5EF4-FFF2-40B4-BE49-F238E27FC236}">
                <a16:creationId xmlns:a16="http://schemas.microsoft.com/office/drawing/2014/main" id="{77EDF039-8A96-492F-B997-FFA6DC3A0B14}"/>
              </a:ext>
            </a:extLst>
          </p:cNvPr>
          <p:cNvCxnSpPr>
            <a:stCxn xmlns:a="http://schemas.openxmlformats.org/drawingml/2006/main" id="6" idx="3"/>
            <a:endCxn xmlns:a="http://schemas.openxmlformats.org/drawingml/2006/main" id="9" idx="1"/>
          </p:cNvCxnSpPr>
          <p:nvPr/>
        </p:nvCxnSpPr>
        <p:spPr>
          <a:xfrm xmlns:a="http://schemas.openxmlformats.org/drawingml/2006/main">
            <a:off x="3848100" y="3143250"/>
            <a:ext cx="104775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30" name="text-46">
            <a:extLst xmlns:a="http://schemas.openxmlformats.org/drawingml/2006/main">
              <a:ext uri="{FF2B5EF4-FFF2-40B4-BE49-F238E27FC236}">
                <a16:creationId xmlns:a16="http://schemas.microsoft.com/office/drawing/2014/main" id="{806FA2A9-5632-44AB-999B-7319BDECD677}"/>
              </a:ext>
            </a:extLst>
          </p:cNvPr>
          <p:cNvSpPr>
            <a:spLocks xmlns:a="http://schemas.openxmlformats.org/drawingml/2006/main" noGrp="1"/>
          </p:cNvSpPr>
          <p:nvPr/>
        </p:nvSpPr>
        <p:spPr>
          <a:xfrm xmlns:a="http://schemas.openxmlformats.org/drawingml/2006/main">
            <a:off x="609600" y="542925"/>
            <a:ext cx="14020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600" b="1">
                <a:solidFill>
                  <a:srgbClr val="132E38"/>
                </a:solidFill>
                <a:latin typeface="Aptos"/>
                <a:ea typeface="Aptos"/>
                <a:cs typeface="Aptos"/>
              </a:defRPr>
            </a:defPPr>
          </a:lstStyle>
          <a:p xmlns:a="http://schemas.openxmlformats.org/drawingml/2006/main">
            <a:pPr>
              <a:defRPr sz="3600" b="1">
                <a:solidFill>
                  <a:srgbClr val="132E38"/>
                </a:solidFill>
                <a:latin typeface="Aptos"/>
                <a:ea typeface="Aptos"/>
                <a:cs typeface="Aptos"/>
              </a:defRPr>
            </a:pPr>
            <a:r>
              <a:rPr sz="3600" b="1">
                <a:solidFill>
                  <a:srgbClr val="132E38"/>
                </a:solidFill>
                <a:latin typeface="Aptos"/>
                <a:ea typeface="Aptos"/>
                <a:cs typeface="Aptos"/>
              </a:rPr>
              <a:t>Roundtable publication</a:t>
            </a:r>
          </a:p>
        </p:txBody>
      </p:sp>
      <p:sp>
        <p:nvSpPr>
          <p:cNvPr id="2" name="text-47">
            <a:extLst xmlns:a="http://schemas.openxmlformats.org/drawingml/2006/main">
              <a:ext uri="{FF2B5EF4-FFF2-40B4-BE49-F238E27FC236}">
                <a16:creationId xmlns:a16="http://schemas.microsoft.com/office/drawing/2014/main" id="{9510745C-C52D-4FB6-93DC-36EC91656AFC}"/>
              </a:ext>
            </a:extLst>
          </p:cNvPr>
          <p:cNvSpPr>
            <a:spLocks xmlns:a="http://schemas.openxmlformats.org/drawingml/2006/main" noGrp="1"/>
          </p:cNvSpPr>
          <p:nvPr/>
        </p:nvSpPr>
        <p:spPr>
          <a:xfrm xmlns:a="http://schemas.openxmlformats.org/drawingml/2006/main">
            <a:off x="609600" y="1333500"/>
            <a:ext cx="14020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49616A"/>
                </a:solidFill>
                <a:latin typeface="Aptos"/>
                <a:ea typeface="Aptos"/>
                <a:cs typeface="Aptos"/>
              </a:defRPr>
            </a:defPPr>
          </a:lstStyle>
          <a:p xmlns:a="http://schemas.openxmlformats.org/drawingml/2006/main">
            <a:pPr>
              <a:defRPr sz="2025" b="0">
                <a:solidFill>
                  <a:srgbClr val="49616A"/>
                </a:solidFill>
                <a:latin typeface="Aptos"/>
                <a:ea typeface="Aptos"/>
                <a:cs typeface="Aptos"/>
              </a:defRPr>
            </a:pPr>
            <a:r>
              <a:rPr sz="2025" b="0">
                <a:solidFill>
                  <a:srgbClr val="49616A"/>
                </a:solidFill>
                <a:latin typeface="Aptos"/>
                <a:ea typeface="Aptos"/>
                <a:cs typeface="Aptos"/>
              </a:rPr>
              <a:t>Target flow</a:t>
            </a:r>
          </a:p>
        </p:txBody>
      </p:sp>
      <p:sp>
        <p:nvSpPr>
          <p:cNvPr id="3" name="">
            <a:extLst xmlns:a="http://schemas.openxmlformats.org/drawingml/2006/main">
              <a:ext uri="{FF2B5EF4-FFF2-40B4-BE49-F238E27FC236}">
                <a16:creationId xmlns:a16="http://schemas.microsoft.com/office/drawing/2014/main" id="{6394A911-B54A-4946-A882-3471665388DF}"/>
              </a:ext>
            </a:extLst>
          </p:cNvPr>
          <p:cNvSpPr>
            <a:spLocks xmlns:a="http://schemas.openxmlformats.org/drawingml/2006/main" noGrp="1"/>
          </p:cNvSpPr>
          <p:nvPr/>
        </p:nvSpPr>
        <p:spPr>
          <a:xfrm xmlns:a="http://schemas.openxmlformats.org/drawingml/2006/main">
            <a:off x="609600" y="7905750"/>
            <a:ext cx="14020800" cy="0"/>
          </a:xfrm>
          <a:prstGeom xmlns:a="http://schemas.openxmlformats.org/drawingml/2006/main" prst="line">
            <a:avLst/>
          </a:prstGeom>
          <a:ln xmlns:a="http://schemas.openxmlformats.org/drawingml/2006/main" w="9525">
            <a:solidFill>
              <a:srgbClr val="B9C9C7"/>
            </a:solidFill>
            <a:prstDash val="solid"/>
          </a:ln>
        </p:spPr>
      </p:sp>
      <p:sp>
        <p:nvSpPr>
          <p:cNvPr id="4" name="text-48">
            <a:extLst xmlns:a="http://schemas.openxmlformats.org/drawingml/2006/main">
              <a:ext uri="{FF2B5EF4-FFF2-40B4-BE49-F238E27FC236}">
                <a16:creationId xmlns:a16="http://schemas.microsoft.com/office/drawing/2014/main" id="{0C83E494-6EF0-4EF2-B732-DB197AF0E2A8}"/>
              </a:ext>
            </a:extLst>
          </p:cNvPr>
          <p:cNvSpPr>
            <a:spLocks xmlns:a="http://schemas.openxmlformats.org/drawingml/2006/main" noGrp="1"/>
          </p:cNvSpPr>
          <p:nvPr/>
        </p:nvSpPr>
        <p:spPr>
          <a:xfrm xmlns:a="http://schemas.openxmlformats.org/drawingml/2006/main">
            <a:off x="609600" y="8086725"/>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350" b="0">
                <a:solidFill>
                  <a:srgbClr val="49616A"/>
                </a:solidFill>
                <a:latin typeface="Aptos"/>
                <a:ea typeface="Aptos"/>
                <a:cs typeface="Aptos"/>
              </a:defRPr>
            </a:defPPr>
          </a:lstStyle>
          <a:p xmlns:a="http://schemas.openxmlformats.org/drawingml/2006/main">
            <a:pPr>
              <a:defRPr sz="1350" b="0">
                <a:solidFill>
                  <a:srgbClr val="49616A"/>
                </a:solidFill>
                <a:latin typeface="Aptos"/>
                <a:ea typeface="Aptos"/>
                <a:cs typeface="Aptos"/>
              </a:defRPr>
            </a:pPr>
            <a:r>
              <a:rPr sz="1350" b="0">
                <a:solidFill>
                  <a:srgbClr val="49616A"/>
                </a:solidFill>
                <a:latin typeface="Aptos"/>
                <a:ea typeface="Aptos"/>
                <a:cs typeface="Aptos"/>
              </a:rPr>
              <a:t>Inertia architecture · 23 October 2026</a:t>
            </a:r>
          </a:p>
        </p:txBody>
      </p:sp>
      <p:sp>
        <p:nvSpPr>
          <p:cNvPr id="5" name="text-49">
            <a:extLst xmlns:a="http://schemas.openxmlformats.org/drawingml/2006/main">
              <a:ext uri="{FF2B5EF4-FFF2-40B4-BE49-F238E27FC236}">
                <a16:creationId xmlns:a16="http://schemas.microsoft.com/office/drawing/2014/main" id="{D56D2066-5630-415E-9D30-1DE8F3106AEC}"/>
              </a:ext>
            </a:extLst>
          </p:cNvPr>
          <p:cNvSpPr>
            <a:spLocks xmlns:a="http://schemas.openxmlformats.org/drawingml/2006/main" noGrp="1"/>
          </p:cNvSpPr>
          <p:nvPr/>
        </p:nvSpPr>
        <p:spPr>
          <a:xfrm xmlns:a="http://schemas.openxmlformats.org/drawingml/2006/main">
            <a:off x="14097000" y="8058150"/>
            <a:ext cx="533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650" b="1">
                <a:solidFill>
                  <a:srgbClr val="157D80"/>
                </a:solidFill>
                <a:latin typeface="Aptos"/>
                <a:ea typeface="Aptos"/>
                <a:cs typeface="Aptos"/>
              </a:defRPr>
            </a:defPPr>
          </a:lstStyle>
          <a:p xmlns:a="http://schemas.openxmlformats.org/drawingml/2006/main">
            <a:pPr>
              <a:defRPr sz="1650" b="1">
                <a:solidFill>
                  <a:srgbClr val="157D80"/>
                </a:solidFill>
                <a:latin typeface="Aptos"/>
                <a:ea typeface="Aptos"/>
                <a:cs typeface="Aptos"/>
              </a:defRPr>
            </a:pPr>
            <a:r>
              <a:rPr sz="1650" b="1">
                <a:solidFill>
                  <a:srgbClr val="157D80"/>
                </a:solidFill>
                <a:latin typeface="Aptos"/>
                <a:ea typeface="Aptos"/>
                <a:cs typeface="Aptos"/>
              </a:rPr>
              <a:t>3</a:t>
            </a:r>
          </a:p>
        </p:txBody>
      </p:sp>
      <p:sp>
        <p:nvSpPr>
          <p:cNvPr id="6" name="node-50">
            <a:extLst xmlns:a="http://schemas.openxmlformats.org/drawingml/2006/main">
              <a:ext uri="{FF2B5EF4-FFF2-40B4-BE49-F238E27FC236}">
                <a16:creationId xmlns:a16="http://schemas.microsoft.com/office/drawing/2014/main" id="{B26DFF23-B6B4-4B01-B347-7C07F3EF2E84}"/>
              </a:ext>
            </a:extLst>
          </p:cNvPr>
          <p:cNvSpPr>
            <a:spLocks xmlns:a="http://schemas.openxmlformats.org/drawingml/2006/main" noGrp="1"/>
          </p:cNvSpPr>
          <p:nvPr/>
        </p:nvSpPr>
        <p:spPr>
          <a:xfrm xmlns:a="http://schemas.openxmlformats.org/drawingml/2006/main">
            <a:off x="609600" y="2476500"/>
            <a:ext cx="3238500" cy="13335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7" name="text-51">
            <a:extLst xmlns:a="http://schemas.openxmlformats.org/drawingml/2006/main">
              <a:ext uri="{FF2B5EF4-FFF2-40B4-BE49-F238E27FC236}">
                <a16:creationId xmlns:a16="http://schemas.microsoft.com/office/drawing/2014/main" id="{A1F27FDF-74BA-4DFC-A86F-1EE7BCD47CBB}"/>
              </a:ext>
            </a:extLst>
          </p:cNvPr>
          <p:cNvSpPr>
            <a:spLocks xmlns:a="http://schemas.openxmlformats.org/drawingml/2006/main" noGrp="1"/>
          </p:cNvSpPr>
          <p:nvPr/>
        </p:nvSpPr>
        <p:spPr>
          <a:xfrm xmlns:a="http://schemas.openxmlformats.org/drawingml/2006/main">
            <a:off x="800100" y="264795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Meet / Gemini</a:t>
            </a:r>
          </a:p>
        </p:txBody>
      </p:sp>
      <p:sp>
        <p:nvSpPr>
          <p:cNvPr id="8" name="text-52">
            <a:extLst xmlns:a="http://schemas.openxmlformats.org/drawingml/2006/main">
              <a:ext uri="{FF2B5EF4-FFF2-40B4-BE49-F238E27FC236}">
                <a16:creationId xmlns:a16="http://schemas.microsoft.com/office/drawing/2014/main" id="{E553ECC4-D613-4E01-9BEA-881EA9133E46}"/>
              </a:ext>
            </a:extLst>
          </p:cNvPr>
          <p:cNvSpPr>
            <a:spLocks xmlns:a="http://schemas.openxmlformats.org/drawingml/2006/main" noGrp="1"/>
          </p:cNvSpPr>
          <p:nvPr/>
        </p:nvSpPr>
        <p:spPr>
          <a:xfrm xmlns:a="http://schemas.openxmlformats.org/drawingml/2006/main">
            <a:off x="800100" y="3086100"/>
            <a:ext cx="2857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Authorized Drive output</a:t>
            </a:r>
          </a:p>
        </p:txBody>
      </p:sp>
      <p:sp>
        <p:nvSpPr>
          <p:cNvPr id="9" name="node-53">
            <a:extLst xmlns:a="http://schemas.openxmlformats.org/drawingml/2006/main">
              <a:ext uri="{FF2B5EF4-FFF2-40B4-BE49-F238E27FC236}">
                <a16:creationId xmlns:a16="http://schemas.microsoft.com/office/drawing/2014/main" id="{B4C4DBDA-44C3-4B89-BC44-C18CE844AE43}"/>
              </a:ext>
            </a:extLst>
          </p:cNvPr>
          <p:cNvSpPr>
            <a:spLocks xmlns:a="http://schemas.openxmlformats.org/drawingml/2006/main" noGrp="1"/>
          </p:cNvSpPr>
          <p:nvPr/>
        </p:nvSpPr>
        <p:spPr>
          <a:xfrm xmlns:a="http://schemas.openxmlformats.org/drawingml/2006/main">
            <a:off x="4895850" y="2476500"/>
            <a:ext cx="4095750" cy="1333500"/>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10" name="text-54">
            <a:extLst xmlns:a="http://schemas.openxmlformats.org/drawingml/2006/main">
              <a:ext uri="{FF2B5EF4-FFF2-40B4-BE49-F238E27FC236}">
                <a16:creationId xmlns:a16="http://schemas.microsoft.com/office/drawing/2014/main" id="{B9B0600E-FEC5-4821-9249-B18E49DE0896}"/>
              </a:ext>
            </a:extLst>
          </p:cNvPr>
          <p:cNvSpPr>
            <a:spLocks xmlns:a="http://schemas.openxmlformats.org/drawingml/2006/main" noGrp="1"/>
          </p:cNvSpPr>
          <p:nvPr/>
        </p:nvSpPr>
        <p:spPr>
          <a:xfrm xmlns:a="http://schemas.openxmlformats.org/drawingml/2006/main">
            <a:off x="5086350" y="2647950"/>
            <a:ext cx="3714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defRPr sz="2250" b="1">
                <a:solidFill>
                  <a:srgbClr val="157D80"/>
                </a:solidFill>
                <a:latin typeface="Aptos"/>
                <a:ea typeface="Aptos"/>
                <a:cs typeface="Aptos"/>
              </a:defRPr>
            </a:pPr>
            <a:r>
              <a:rPr sz="2250" b="1">
                <a:solidFill>
                  <a:srgbClr val="157D80"/>
                </a:solidFill>
                <a:latin typeface="Aptos"/>
                <a:ea typeface="Aptos"/>
                <a:cs typeface="Aptos"/>
              </a:rPr>
              <a:t>Roundtable core</a:t>
            </a:r>
          </a:p>
        </p:txBody>
      </p:sp>
      <p:sp>
        <p:nvSpPr>
          <p:cNvPr id="11" name="text-55">
            <a:extLst xmlns:a="http://schemas.openxmlformats.org/drawingml/2006/main">
              <a:ext uri="{FF2B5EF4-FFF2-40B4-BE49-F238E27FC236}">
                <a16:creationId xmlns:a16="http://schemas.microsoft.com/office/drawing/2014/main" id="{F5B04B0E-13F2-4040-9A19-57C8FCE4ECED}"/>
              </a:ext>
            </a:extLst>
          </p:cNvPr>
          <p:cNvSpPr>
            <a:spLocks xmlns:a="http://schemas.openxmlformats.org/drawingml/2006/main" noGrp="1"/>
          </p:cNvSpPr>
          <p:nvPr/>
        </p:nvSpPr>
        <p:spPr>
          <a:xfrm xmlns:a="http://schemas.openxmlformats.org/drawingml/2006/main">
            <a:off x="5086350" y="3086100"/>
            <a:ext cx="3714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Source revision + hash</a:t>
            </a:r>
          </a:p>
        </p:txBody>
      </p:sp>
      <p:sp>
        <p:nvSpPr>
          <p:cNvPr id="12" name="node-56">
            <a:extLst xmlns:a="http://schemas.openxmlformats.org/drawingml/2006/main">
              <a:ext uri="{FF2B5EF4-FFF2-40B4-BE49-F238E27FC236}">
                <a16:creationId xmlns:a16="http://schemas.microsoft.com/office/drawing/2014/main" id="{9FA70456-5051-4A1F-B7D7-41820244D7DE}"/>
              </a:ext>
            </a:extLst>
          </p:cNvPr>
          <p:cNvSpPr>
            <a:spLocks xmlns:a="http://schemas.openxmlformats.org/drawingml/2006/main" noGrp="1"/>
          </p:cNvSpPr>
          <p:nvPr/>
        </p:nvSpPr>
        <p:spPr>
          <a:xfrm xmlns:a="http://schemas.openxmlformats.org/drawingml/2006/main">
            <a:off x="10039350" y="2476500"/>
            <a:ext cx="4591050" cy="13335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13" name="text-57">
            <a:extLst xmlns:a="http://schemas.openxmlformats.org/drawingml/2006/main">
              <a:ext uri="{FF2B5EF4-FFF2-40B4-BE49-F238E27FC236}">
                <a16:creationId xmlns:a16="http://schemas.microsoft.com/office/drawing/2014/main" id="{EA590C8D-98C7-40CB-B348-3C257A58F8A4}"/>
              </a:ext>
            </a:extLst>
          </p:cNvPr>
          <p:cNvSpPr>
            <a:spLocks xmlns:a="http://schemas.openxmlformats.org/drawingml/2006/main" noGrp="1"/>
          </p:cNvSpPr>
          <p:nvPr/>
        </p:nvSpPr>
        <p:spPr>
          <a:xfrm xmlns:a="http://schemas.openxmlformats.org/drawingml/2006/main">
            <a:off x="10229850" y="2647950"/>
            <a:ext cx="421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Candidate output</a:t>
            </a:r>
          </a:p>
        </p:txBody>
      </p:sp>
      <p:sp>
        <p:nvSpPr>
          <p:cNvPr id="14" name="text-58">
            <a:extLst xmlns:a="http://schemas.openxmlformats.org/drawingml/2006/main">
              <a:ext uri="{FF2B5EF4-FFF2-40B4-BE49-F238E27FC236}">
                <a16:creationId xmlns:a16="http://schemas.microsoft.com/office/drawing/2014/main" id="{2B0DBD45-D6FF-4BC0-AA4B-98DADC53C21D}"/>
              </a:ext>
            </a:extLst>
          </p:cNvPr>
          <p:cNvSpPr>
            <a:spLocks xmlns:a="http://schemas.openxmlformats.org/drawingml/2006/main" noGrp="1"/>
          </p:cNvSpPr>
          <p:nvPr/>
        </p:nvSpPr>
        <p:spPr>
          <a:xfrm xmlns:a="http://schemas.openxmlformats.org/drawingml/2006/main">
            <a:off x="10229850" y="3086100"/>
            <a:ext cx="42100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Transcript + separate notes</a:t>
            </a:r>
          </a:p>
        </p:txBody>
      </p:sp>
      <p:sp>
        <p:nvSpPr>
          <p:cNvPr id="17" name="node-59">
            <a:extLst xmlns:a="http://schemas.openxmlformats.org/drawingml/2006/main">
              <a:ext uri="{FF2B5EF4-FFF2-40B4-BE49-F238E27FC236}">
                <a16:creationId xmlns:a16="http://schemas.microsoft.com/office/drawing/2014/main" id="{C213DDD7-320A-4F18-9F6D-D40ABA4913EB}"/>
              </a:ext>
            </a:extLst>
          </p:cNvPr>
          <p:cNvSpPr>
            <a:spLocks xmlns:a="http://schemas.openxmlformats.org/drawingml/2006/main" noGrp="1"/>
          </p:cNvSpPr>
          <p:nvPr/>
        </p:nvSpPr>
        <p:spPr>
          <a:xfrm xmlns:a="http://schemas.openxmlformats.org/drawingml/2006/main">
            <a:off x="10039350" y="5581650"/>
            <a:ext cx="4591050" cy="1333500"/>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18" name="text-60">
            <a:extLst xmlns:a="http://schemas.openxmlformats.org/drawingml/2006/main">
              <a:ext uri="{FF2B5EF4-FFF2-40B4-BE49-F238E27FC236}">
                <a16:creationId xmlns:a16="http://schemas.microsoft.com/office/drawing/2014/main" id="{2390ACC7-3690-4E65-8EE1-096C6D1DD2C5}"/>
              </a:ext>
            </a:extLst>
          </p:cNvPr>
          <p:cNvSpPr>
            <a:spLocks xmlns:a="http://schemas.openxmlformats.org/drawingml/2006/main" noGrp="1"/>
          </p:cNvSpPr>
          <p:nvPr/>
        </p:nvSpPr>
        <p:spPr>
          <a:xfrm xmlns:a="http://schemas.openxmlformats.org/drawingml/2006/main">
            <a:off x="10229850" y="5753100"/>
            <a:ext cx="421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defRPr sz="2250" b="1">
                <a:solidFill>
                  <a:srgbClr val="157D80"/>
                </a:solidFill>
                <a:latin typeface="Aptos"/>
                <a:ea typeface="Aptos"/>
                <a:cs typeface="Aptos"/>
              </a:defRPr>
            </a:pPr>
            <a:r>
              <a:rPr sz="2250" b="1">
                <a:solidFill>
                  <a:srgbClr val="157D80"/>
                </a:solidFill>
                <a:latin typeface="Aptos"/>
                <a:ea typeface="Aptos"/>
                <a:cs typeface="Aptos"/>
              </a:rPr>
              <a:t>Trusted publisher</a:t>
            </a:r>
          </a:p>
        </p:txBody>
      </p:sp>
      <p:sp>
        <p:nvSpPr>
          <p:cNvPr id="19" name="text-61">
            <a:extLst xmlns:a="http://schemas.openxmlformats.org/drawingml/2006/main">
              <a:ext uri="{FF2B5EF4-FFF2-40B4-BE49-F238E27FC236}">
                <a16:creationId xmlns:a16="http://schemas.microsoft.com/office/drawing/2014/main" id="{4984F5D5-0280-4579-A246-FEC02C902F0A}"/>
              </a:ext>
            </a:extLst>
          </p:cNvPr>
          <p:cNvSpPr>
            <a:spLocks xmlns:a="http://schemas.openxmlformats.org/drawingml/2006/main" noGrp="1"/>
          </p:cNvSpPr>
          <p:nvPr/>
        </p:nvSpPr>
        <p:spPr>
          <a:xfrm xmlns:a="http://schemas.openxmlformats.org/drawingml/2006/main">
            <a:off x="10229850" y="6191250"/>
            <a:ext cx="42100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Persist exact request bytes</a:t>
            </a:r>
          </a:p>
        </p:txBody>
      </p:sp>
      <p:sp>
        <p:nvSpPr>
          <p:cNvPr id="20" name="node-62">
            <a:extLst xmlns:a="http://schemas.openxmlformats.org/drawingml/2006/main">
              <a:ext uri="{FF2B5EF4-FFF2-40B4-BE49-F238E27FC236}">
                <a16:creationId xmlns:a16="http://schemas.microsoft.com/office/drawing/2014/main" id="{46A91346-AE18-4333-8370-977AAF202043}"/>
              </a:ext>
            </a:extLst>
          </p:cNvPr>
          <p:cNvSpPr>
            <a:spLocks xmlns:a="http://schemas.openxmlformats.org/drawingml/2006/main" noGrp="1"/>
          </p:cNvSpPr>
          <p:nvPr/>
        </p:nvSpPr>
        <p:spPr>
          <a:xfrm xmlns:a="http://schemas.openxmlformats.org/drawingml/2006/main">
            <a:off x="4895850" y="5581650"/>
            <a:ext cx="4095750" cy="13335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21" name="text-63">
            <a:extLst xmlns:a="http://schemas.openxmlformats.org/drawingml/2006/main">
              <a:ext uri="{FF2B5EF4-FFF2-40B4-BE49-F238E27FC236}">
                <a16:creationId xmlns:a16="http://schemas.microsoft.com/office/drawing/2014/main" id="{9A6CACE5-5FE6-434D-B97C-44181E592A9F}"/>
              </a:ext>
            </a:extLst>
          </p:cNvPr>
          <p:cNvSpPr>
            <a:spLocks xmlns:a="http://schemas.openxmlformats.org/drawingml/2006/main" noGrp="1"/>
          </p:cNvSpPr>
          <p:nvPr/>
        </p:nvSpPr>
        <p:spPr>
          <a:xfrm xmlns:a="http://schemas.openxmlformats.org/drawingml/2006/main">
            <a:off x="5086350" y="5753100"/>
            <a:ext cx="3714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Members-only portal</a:t>
            </a:r>
          </a:p>
        </p:txBody>
      </p:sp>
      <p:sp>
        <p:nvSpPr>
          <p:cNvPr id="22" name="text-64">
            <a:extLst xmlns:a="http://schemas.openxmlformats.org/drawingml/2006/main">
              <a:ext uri="{FF2B5EF4-FFF2-40B4-BE49-F238E27FC236}">
                <a16:creationId xmlns:a16="http://schemas.microsoft.com/office/drawing/2014/main" id="{99B7EA44-85B5-4A88-9D8C-4678E741017D}"/>
              </a:ext>
            </a:extLst>
          </p:cNvPr>
          <p:cNvSpPr>
            <a:spLocks xmlns:a="http://schemas.openxmlformats.org/drawingml/2006/main" noGrp="1"/>
          </p:cNvSpPr>
          <p:nvPr/>
        </p:nvSpPr>
        <p:spPr>
          <a:xfrm xmlns:a="http://schemas.openxmlformats.org/drawingml/2006/main">
            <a:off x="5086350" y="6191250"/>
            <a:ext cx="3714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Active-membership authorization</a:t>
            </a:r>
          </a:p>
        </p:txBody>
      </p:sp>
      <p:sp>
        <p:nvSpPr>
          <p:cNvPr id="23" name="node-65">
            <a:extLst xmlns:a="http://schemas.openxmlformats.org/drawingml/2006/main">
              <a:ext uri="{FF2B5EF4-FFF2-40B4-BE49-F238E27FC236}">
                <a16:creationId xmlns:a16="http://schemas.microsoft.com/office/drawing/2014/main" id="{8EBD8429-2C93-47A3-95E4-04F16F302BD7}"/>
              </a:ext>
            </a:extLst>
          </p:cNvPr>
          <p:cNvSpPr>
            <a:spLocks xmlns:a="http://schemas.openxmlformats.org/drawingml/2006/main" noGrp="1"/>
          </p:cNvSpPr>
          <p:nvPr/>
        </p:nvSpPr>
        <p:spPr>
          <a:xfrm xmlns:a="http://schemas.openxmlformats.org/drawingml/2006/main">
            <a:off x="609600" y="5581650"/>
            <a:ext cx="3238500" cy="13335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24" name="text-66">
            <a:extLst xmlns:a="http://schemas.openxmlformats.org/drawingml/2006/main">
              <a:ext uri="{FF2B5EF4-FFF2-40B4-BE49-F238E27FC236}">
                <a16:creationId xmlns:a16="http://schemas.microsoft.com/office/drawing/2014/main" id="{EEDC6BC6-9713-4EC9-9261-F2D6BB4022FC}"/>
              </a:ext>
            </a:extLst>
          </p:cNvPr>
          <p:cNvSpPr>
            <a:spLocks xmlns:a="http://schemas.openxmlformats.org/drawingml/2006/main" noGrp="1"/>
          </p:cNvSpPr>
          <p:nvPr/>
        </p:nvSpPr>
        <p:spPr>
          <a:xfrm xmlns:a="http://schemas.openxmlformats.org/drawingml/2006/main">
            <a:off x="800100" y="57531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Verified receipt</a:t>
            </a:r>
          </a:p>
        </p:txBody>
      </p:sp>
      <p:sp>
        <p:nvSpPr>
          <p:cNvPr id="25" name="text-67">
            <a:extLst xmlns:a="http://schemas.openxmlformats.org/drawingml/2006/main">
              <a:ext uri="{FF2B5EF4-FFF2-40B4-BE49-F238E27FC236}">
                <a16:creationId xmlns:a16="http://schemas.microsoft.com/office/drawing/2014/main" id="{1F1BF6DD-EAF1-4B78-87AA-C51857318628}"/>
              </a:ext>
            </a:extLst>
          </p:cNvPr>
          <p:cNvSpPr>
            <a:spLocks xmlns:a="http://schemas.openxmlformats.org/drawingml/2006/main" noGrp="1"/>
          </p:cNvSpPr>
          <p:nvPr/>
        </p:nvSpPr>
        <p:spPr>
          <a:xfrm xmlns:a="http://schemas.openxmlformats.org/drawingml/2006/main">
            <a:off x="800100" y="6191250"/>
            <a:ext cx="2857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URLs + hash + audience</a:t>
            </a:r>
          </a:p>
        </p:txBody>
      </p:sp>
      <p:sp>
        <p:nvSpPr>
          <p:cNvPr id="29" name="text-68">
            <a:extLst xmlns:a="http://schemas.openxmlformats.org/drawingml/2006/main">
              <a:ext uri="{FF2B5EF4-FFF2-40B4-BE49-F238E27FC236}">
                <a16:creationId xmlns:a16="http://schemas.microsoft.com/office/drawing/2014/main" id="{81579940-D53B-4051-B513-9845AEA8292F}"/>
              </a:ext>
            </a:extLst>
          </p:cNvPr>
          <p:cNvSpPr>
            <a:spLocks xmlns:a="http://schemas.openxmlformats.org/drawingml/2006/main" noGrp="1"/>
          </p:cNvSpPr>
          <p:nvPr/>
        </p:nvSpPr>
        <p:spPr>
          <a:xfrm xmlns:a="http://schemas.openxmlformats.org/drawingml/2006/main">
            <a:off x="4895850" y="4067175"/>
            <a:ext cx="6191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Source-grounded quotes and action references</a:t>
            </a:r>
          </a:p>
        </p:txBody>
      </p:sp>
    </p:spTree>
    <p:extLst>
      <p:ext uri="{BB962C8B-B14F-4D97-AF65-F5344CB8AC3E}">
        <p14:creationId xmlns:p14="http://schemas.microsoft.com/office/powerpoint/2010/main" val="1333562925"/>
      </p:ext>
    </p:extLst>
  </p:cSld>
</p:sld>
</file>

<file path=ppt/slides/slide4.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29" name="">
            <a:extLst xmlns:a="http://schemas.openxmlformats.org/drawingml/2006/main">
              <a:ext uri="{FF2B5EF4-FFF2-40B4-BE49-F238E27FC236}">
                <a16:creationId xmlns:a16="http://schemas.microsoft.com/office/drawing/2014/main" id="{4D76E335-635F-4992-99CE-5D169798FB3F}"/>
              </a:ext>
            </a:extLst>
          </p:cNvPr>
          <p:cNvCxnSpPr>
            <a:stCxn xmlns:a="http://schemas.openxmlformats.org/drawingml/2006/main" id="22" idx="1"/>
            <a:endCxn xmlns:a="http://schemas.openxmlformats.org/drawingml/2006/main" id="25" idx="3"/>
          </p:cNvCxnSpPr>
          <p:nvPr/>
        </p:nvCxnSpPr>
        <p:spPr>
          <a:xfrm xmlns:a="http://schemas.openxmlformats.org/drawingml/2006/main" flipH="1">
            <a:off x="3657600" y="6119813"/>
            <a:ext cx="952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28" name="">
            <a:extLst xmlns:a="http://schemas.openxmlformats.org/drawingml/2006/main">
              <a:ext uri="{FF2B5EF4-FFF2-40B4-BE49-F238E27FC236}">
                <a16:creationId xmlns:a16="http://schemas.microsoft.com/office/drawing/2014/main" id="{D060E0F7-22B1-4B6B-9187-45DDD06DA85E}"/>
              </a:ext>
            </a:extLst>
          </p:cNvPr>
          <p:cNvCxnSpPr>
            <a:stCxn xmlns:a="http://schemas.openxmlformats.org/drawingml/2006/main" id="17" idx="1"/>
            <a:endCxn xmlns:a="http://schemas.openxmlformats.org/drawingml/2006/main" id="22" idx="3"/>
          </p:cNvCxnSpPr>
          <p:nvPr/>
        </p:nvCxnSpPr>
        <p:spPr>
          <a:xfrm xmlns:a="http://schemas.openxmlformats.org/drawingml/2006/main" flipH="1">
            <a:off x="7658100" y="6119813"/>
            <a:ext cx="952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20" name="">
            <a:extLst xmlns:a="http://schemas.openxmlformats.org/drawingml/2006/main">
              <a:ext uri="{FF2B5EF4-FFF2-40B4-BE49-F238E27FC236}">
                <a16:creationId xmlns:a16="http://schemas.microsoft.com/office/drawing/2014/main" id="{D1661DF7-BD1A-4254-83D9-599DEE4CC6B1}"/>
              </a:ext>
            </a:extLst>
          </p:cNvPr>
          <p:cNvCxnSpPr>
            <a:stCxn xmlns:a="http://schemas.openxmlformats.org/drawingml/2006/main" id="12" idx="2"/>
            <a:endCxn xmlns:a="http://schemas.openxmlformats.org/drawingml/2006/main" id="17" idx="0"/>
          </p:cNvCxnSpPr>
          <p:nvPr/>
        </p:nvCxnSpPr>
        <p:spPr>
          <a:xfrm xmlns:a="http://schemas.openxmlformats.org/drawingml/2006/main">
            <a:off x="11620500" y="3857625"/>
            <a:ext cx="0" cy="1571625"/>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6" name="">
            <a:extLst xmlns:a="http://schemas.openxmlformats.org/drawingml/2006/main">
              <a:ext uri="{FF2B5EF4-FFF2-40B4-BE49-F238E27FC236}">
                <a16:creationId xmlns:a16="http://schemas.microsoft.com/office/drawing/2014/main" id="{54CA241B-C3D3-493F-95A2-CABB3B1F5A19}"/>
              </a:ext>
            </a:extLst>
          </p:cNvPr>
          <p:cNvCxnSpPr>
            <a:stCxn xmlns:a="http://schemas.openxmlformats.org/drawingml/2006/main" id="9" idx="3"/>
            <a:endCxn xmlns:a="http://schemas.openxmlformats.org/drawingml/2006/main" id="12" idx="1"/>
          </p:cNvCxnSpPr>
          <p:nvPr/>
        </p:nvCxnSpPr>
        <p:spPr>
          <a:xfrm xmlns:a="http://schemas.openxmlformats.org/drawingml/2006/main">
            <a:off x="7658100" y="3190875"/>
            <a:ext cx="952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5" name="">
            <a:extLst xmlns:a="http://schemas.openxmlformats.org/drawingml/2006/main">
              <a:ext uri="{FF2B5EF4-FFF2-40B4-BE49-F238E27FC236}">
                <a16:creationId xmlns:a16="http://schemas.microsoft.com/office/drawing/2014/main" id="{F3E86FC0-AD7E-48A7-A85C-3F5E63DE698F}"/>
              </a:ext>
            </a:extLst>
          </p:cNvPr>
          <p:cNvCxnSpPr>
            <a:stCxn xmlns:a="http://schemas.openxmlformats.org/drawingml/2006/main" id="6" idx="3"/>
            <a:endCxn xmlns:a="http://schemas.openxmlformats.org/drawingml/2006/main" id="9" idx="1"/>
          </p:cNvCxnSpPr>
          <p:nvPr/>
        </p:nvCxnSpPr>
        <p:spPr>
          <a:xfrm xmlns:a="http://schemas.openxmlformats.org/drawingml/2006/main">
            <a:off x="3657600" y="3190875"/>
            <a:ext cx="952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30" name="text-69">
            <a:extLst xmlns:a="http://schemas.openxmlformats.org/drawingml/2006/main">
              <a:ext uri="{FF2B5EF4-FFF2-40B4-BE49-F238E27FC236}">
                <a16:creationId xmlns:a16="http://schemas.microsoft.com/office/drawing/2014/main" id="{AC6289CA-CC54-4698-8B74-3B2890E23A9C}"/>
              </a:ext>
            </a:extLst>
          </p:cNvPr>
          <p:cNvSpPr>
            <a:spLocks xmlns:a="http://schemas.openxmlformats.org/drawingml/2006/main" noGrp="1"/>
          </p:cNvSpPr>
          <p:nvPr/>
        </p:nvSpPr>
        <p:spPr>
          <a:xfrm xmlns:a="http://schemas.openxmlformats.org/drawingml/2006/main">
            <a:off x="609600" y="542925"/>
            <a:ext cx="14020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600" b="1">
                <a:solidFill>
                  <a:srgbClr val="132E38"/>
                </a:solidFill>
                <a:latin typeface="Aptos"/>
                <a:ea typeface="Aptos"/>
                <a:cs typeface="Aptos"/>
              </a:defRPr>
            </a:defPPr>
          </a:lstStyle>
          <a:p xmlns:a="http://schemas.openxmlformats.org/drawingml/2006/main">
            <a:pPr>
              <a:defRPr sz="3600" b="1">
                <a:solidFill>
                  <a:srgbClr val="132E38"/>
                </a:solidFill>
                <a:latin typeface="Aptos"/>
                <a:ea typeface="Aptos"/>
                <a:cs typeface="Aptos"/>
              </a:defRPr>
            </a:pPr>
            <a:r>
              <a:rPr sz="3600" b="1">
                <a:solidFill>
                  <a:srgbClr val="132E38"/>
                </a:solidFill>
                <a:latin typeface="Aptos"/>
                <a:ea typeface="Aptos"/>
                <a:cs typeface="Aptos"/>
              </a:rPr>
              <a:t>Grant packet and governance</a:t>
            </a:r>
          </a:p>
        </p:txBody>
      </p:sp>
      <p:sp>
        <p:nvSpPr>
          <p:cNvPr id="2" name="text-70">
            <a:extLst xmlns:a="http://schemas.openxmlformats.org/drawingml/2006/main">
              <a:ext uri="{FF2B5EF4-FFF2-40B4-BE49-F238E27FC236}">
                <a16:creationId xmlns:a16="http://schemas.microsoft.com/office/drawing/2014/main" id="{876C7B98-58A4-40FB-A19A-D74942B33890}"/>
              </a:ext>
            </a:extLst>
          </p:cNvPr>
          <p:cNvSpPr>
            <a:spLocks xmlns:a="http://schemas.openxmlformats.org/drawingml/2006/main" noGrp="1"/>
          </p:cNvSpPr>
          <p:nvPr/>
        </p:nvSpPr>
        <p:spPr>
          <a:xfrm xmlns:a="http://schemas.openxmlformats.org/drawingml/2006/main">
            <a:off x="609600" y="1333500"/>
            <a:ext cx="14020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49616A"/>
                </a:solidFill>
                <a:latin typeface="Aptos"/>
                <a:ea typeface="Aptos"/>
                <a:cs typeface="Aptos"/>
              </a:defRPr>
            </a:defPPr>
          </a:lstStyle>
          <a:p xmlns:a="http://schemas.openxmlformats.org/drawingml/2006/main">
            <a:pPr>
              <a:defRPr sz="2025" b="0">
                <a:solidFill>
                  <a:srgbClr val="49616A"/>
                </a:solidFill>
                <a:latin typeface="Aptos"/>
                <a:ea typeface="Aptos"/>
                <a:cs typeface="Aptos"/>
              </a:defRPr>
            </a:pPr>
            <a:r>
              <a:rPr sz="2025" b="0">
                <a:solidFill>
                  <a:srgbClr val="49616A"/>
                </a:solidFill>
                <a:latin typeface="Aptos"/>
                <a:ea typeface="Aptos"/>
                <a:cs typeface="Aptos"/>
              </a:rPr>
              <a:t>Target flow</a:t>
            </a:r>
          </a:p>
        </p:txBody>
      </p:sp>
      <p:sp>
        <p:nvSpPr>
          <p:cNvPr id="3" name="">
            <a:extLst xmlns:a="http://schemas.openxmlformats.org/drawingml/2006/main">
              <a:ext uri="{FF2B5EF4-FFF2-40B4-BE49-F238E27FC236}">
                <a16:creationId xmlns:a16="http://schemas.microsoft.com/office/drawing/2014/main" id="{2D15FBB3-B93A-42A4-9B0C-922A25EC9461}"/>
              </a:ext>
            </a:extLst>
          </p:cNvPr>
          <p:cNvSpPr>
            <a:spLocks xmlns:a="http://schemas.openxmlformats.org/drawingml/2006/main" noGrp="1"/>
          </p:cNvSpPr>
          <p:nvPr/>
        </p:nvSpPr>
        <p:spPr>
          <a:xfrm xmlns:a="http://schemas.openxmlformats.org/drawingml/2006/main">
            <a:off x="609600" y="7905750"/>
            <a:ext cx="14020800" cy="0"/>
          </a:xfrm>
          <a:prstGeom xmlns:a="http://schemas.openxmlformats.org/drawingml/2006/main" prst="line">
            <a:avLst/>
          </a:prstGeom>
          <a:ln xmlns:a="http://schemas.openxmlformats.org/drawingml/2006/main" w="9525">
            <a:solidFill>
              <a:srgbClr val="B9C9C7"/>
            </a:solidFill>
            <a:prstDash val="solid"/>
          </a:ln>
        </p:spPr>
      </p:sp>
      <p:sp>
        <p:nvSpPr>
          <p:cNvPr id="4" name="text-71">
            <a:extLst xmlns:a="http://schemas.openxmlformats.org/drawingml/2006/main">
              <a:ext uri="{FF2B5EF4-FFF2-40B4-BE49-F238E27FC236}">
                <a16:creationId xmlns:a16="http://schemas.microsoft.com/office/drawing/2014/main" id="{9499EFB9-5B5B-4C37-854C-81C7ECEF1EC0}"/>
              </a:ext>
            </a:extLst>
          </p:cNvPr>
          <p:cNvSpPr>
            <a:spLocks xmlns:a="http://schemas.openxmlformats.org/drawingml/2006/main" noGrp="1"/>
          </p:cNvSpPr>
          <p:nvPr/>
        </p:nvSpPr>
        <p:spPr>
          <a:xfrm xmlns:a="http://schemas.openxmlformats.org/drawingml/2006/main">
            <a:off x="609600" y="8086725"/>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350" b="0">
                <a:solidFill>
                  <a:srgbClr val="49616A"/>
                </a:solidFill>
                <a:latin typeface="Aptos"/>
                <a:ea typeface="Aptos"/>
                <a:cs typeface="Aptos"/>
              </a:defRPr>
            </a:defPPr>
          </a:lstStyle>
          <a:p xmlns:a="http://schemas.openxmlformats.org/drawingml/2006/main">
            <a:pPr>
              <a:defRPr sz="1350" b="0">
                <a:solidFill>
                  <a:srgbClr val="49616A"/>
                </a:solidFill>
                <a:latin typeface="Aptos"/>
                <a:ea typeface="Aptos"/>
                <a:cs typeface="Aptos"/>
              </a:defRPr>
            </a:pPr>
            <a:r>
              <a:rPr sz="1350" b="0">
                <a:solidFill>
                  <a:srgbClr val="49616A"/>
                </a:solidFill>
                <a:latin typeface="Aptos"/>
                <a:ea typeface="Aptos"/>
                <a:cs typeface="Aptos"/>
              </a:rPr>
              <a:t>Inertia architecture · 23 October 2026</a:t>
            </a:r>
          </a:p>
        </p:txBody>
      </p:sp>
      <p:sp>
        <p:nvSpPr>
          <p:cNvPr id="5" name="text-72">
            <a:extLst xmlns:a="http://schemas.openxmlformats.org/drawingml/2006/main">
              <a:ext uri="{FF2B5EF4-FFF2-40B4-BE49-F238E27FC236}">
                <a16:creationId xmlns:a16="http://schemas.microsoft.com/office/drawing/2014/main" id="{D12FBB6A-7570-4281-8D9B-A9FE033759F6}"/>
              </a:ext>
            </a:extLst>
          </p:cNvPr>
          <p:cNvSpPr>
            <a:spLocks xmlns:a="http://schemas.openxmlformats.org/drawingml/2006/main" noGrp="1"/>
          </p:cNvSpPr>
          <p:nvPr/>
        </p:nvSpPr>
        <p:spPr>
          <a:xfrm xmlns:a="http://schemas.openxmlformats.org/drawingml/2006/main">
            <a:off x="14097000" y="8058150"/>
            <a:ext cx="533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650" b="1">
                <a:solidFill>
                  <a:srgbClr val="157D80"/>
                </a:solidFill>
                <a:latin typeface="Aptos"/>
                <a:ea typeface="Aptos"/>
                <a:cs typeface="Aptos"/>
              </a:defRPr>
            </a:defPPr>
          </a:lstStyle>
          <a:p xmlns:a="http://schemas.openxmlformats.org/drawingml/2006/main">
            <a:pPr>
              <a:defRPr sz="1650" b="1">
                <a:solidFill>
                  <a:srgbClr val="157D80"/>
                </a:solidFill>
                <a:latin typeface="Aptos"/>
                <a:ea typeface="Aptos"/>
                <a:cs typeface="Aptos"/>
              </a:defRPr>
            </a:pPr>
            <a:r>
              <a:rPr sz="1650" b="1">
                <a:solidFill>
                  <a:srgbClr val="157D80"/>
                </a:solidFill>
                <a:latin typeface="Aptos"/>
                <a:ea typeface="Aptos"/>
                <a:cs typeface="Aptos"/>
              </a:rPr>
              <a:t>4</a:t>
            </a:r>
          </a:p>
        </p:txBody>
      </p:sp>
      <p:sp>
        <p:nvSpPr>
          <p:cNvPr id="6" name="node-73">
            <a:extLst xmlns:a="http://schemas.openxmlformats.org/drawingml/2006/main">
              <a:ext uri="{FF2B5EF4-FFF2-40B4-BE49-F238E27FC236}">
                <a16:creationId xmlns:a16="http://schemas.microsoft.com/office/drawing/2014/main" id="{8FEEF33B-5688-4A0F-BE08-969BDC59E13C}"/>
              </a:ext>
            </a:extLst>
          </p:cNvPr>
          <p:cNvSpPr>
            <a:spLocks xmlns:a="http://schemas.openxmlformats.org/drawingml/2006/main" noGrp="1"/>
          </p:cNvSpPr>
          <p:nvPr/>
        </p:nvSpPr>
        <p:spPr>
          <a:xfrm xmlns:a="http://schemas.openxmlformats.org/drawingml/2006/main">
            <a:off x="609600" y="2524125"/>
            <a:ext cx="3048000" cy="13335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7" name="text-74">
            <a:extLst xmlns:a="http://schemas.openxmlformats.org/drawingml/2006/main">
              <a:ext uri="{FF2B5EF4-FFF2-40B4-BE49-F238E27FC236}">
                <a16:creationId xmlns:a16="http://schemas.microsoft.com/office/drawing/2014/main" id="{731AC59C-0863-4685-BCCC-27C1AD8C91E1}"/>
              </a:ext>
            </a:extLst>
          </p:cNvPr>
          <p:cNvSpPr>
            <a:spLocks xmlns:a="http://schemas.openxmlformats.org/drawingml/2006/main" noGrp="1"/>
          </p:cNvSpPr>
          <p:nvPr/>
        </p:nvSpPr>
        <p:spPr>
          <a:xfrm xmlns:a="http://schemas.openxmlformats.org/drawingml/2006/main">
            <a:off x="800100" y="2695575"/>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Existing scanner</a:t>
            </a:r>
          </a:p>
        </p:txBody>
      </p:sp>
      <p:sp>
        <p:nvSpPr>
          <p:cNvPr id="8" name="text-75">
            <a:extLst xmlns:a="http://schemas.openxmlformats.org/drawingml/2006/main">
              <a:ext uri="{FF2B5EF4-FFF2-40B4-BE49-F238E27FC236}">
                <a16:creationId xmlns:a16="http://schemas.microsoft.com/office/drawing/2014/main" id="{F3456FB3-194A-441B-A803-4F76C4A88829}"/>
              </a:ext>
            </a:extLst>
          </p:cNvPr>
          <p:cNvSpPr>
            <a:spLocks xmlns:a="http://schemas.openxmlformats.org/drawingml/2006/main" noGrp="1"/>
          </p:cNvSpPr>
          <p:nvPr/>
        </p:nvSpPr>
        <p:spPr>
          <a:xfrm xmlns:a="http://schemas.openxmlformats.org/drawingml/2006/main">
            <a:off x="800100" y="3133725"/>
            <a:ext cx="2667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Sources + eligibility</a:t>
            </a:r>
          </a:p>
        </p:txBody>
      </p:sp>
      <p:sp>
        <p:nvSpPr>
          <p:cNvPr id="9" name="node-76">
            <a:extLst xmlns:a="http://schemas.openxmlformats.org/drawingml/2006/main">
              <a:ext uri="{FF2B5EF4-FFF2-40B4-BE49-F238E27FC236}">
                <a16:creationId xmlns:a16="http://schemas.microsoft.com/office/drawing/2014/main" id="{BA2C9FD4-2432-4B33-AFAF-D65B84FFBA65}"/>
              </a:ext>
            </a:extLst>
          </p:cNvPr>
          <p:cNvSpPr>
            <a:spLocks xmlns:a="http://schemas.openxmlformats.org/drawingml/2006/main" noGrp="1"/>
          </p:cNvSpPr>
          <p:nvPr/>
        </p:nvSpPr>
        <p:spPr>
          <a:xfrm xmlns:a="http://schemas.openxmlformats.org/drawingml/2006/main">
            <a:off x="4610100" y="2524125"/>
            <a:ext cx="3048000" cy="13335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10" name="text-77">
            <a:extLst xmlns:a="http://schemas.openxmlformats.org/drawingml/2006/main">
              <a:ext uri="{FF2B5EF4-FFF2-40B4-BE49-F238E27FC236}">
                <a16:creationId xmlns:a16="http://schemas.microsoft.com/office/drawing/2014/main" id="{4B6FA0B2-D445-40EF-95B0-5B97AEE0887E}"/>
              </a:ext>
            </a:extLst>
          </p:cNvPr>
          <p:cNvSpPr>
            <a:spLocks xmlns:a="http://schemas.openxmlformats.org/drawingml/2006/main" noGrp="1"/>
          </p:cNvSpPr>
          <p:nvPr/>
        </p:nvSpPr>
        <p:spPr>
          <a:xfrm xmlns:a="http://schemas.openxmlformats.org/drawingml/2006/main">
            <a:off x="4800600" y="2695575"/>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Human review</a:t>
            </a:r>
          </a:p>
        </p:txBody>
      </p:sp>
      <p:sp>
        <p:nvSpPr>
          <p:cNvPr id="11" name="text-78">
            <a:extLst xmlns:a="http://schemas.openxmlformats.org/drawingml/2006/main">
              <a:ext uri="{FF2B5EF4-FFF2-40B4-BE49-F238E27FC236}">
                <a16:creationId xmlns:a16="http://schemas.microsoft.com/office/drawing/2014/main" id="{8EBFCCA2-DE9E-4FCB-9687-4245EECE42F1}"/>
              </a:ext>
            </a:extLst>
          </p:cNvPr>
          <p:cNvSpPr>
            <a:spLocks xmlns:a="http://schemas.openxmlformats.org/drawingml/2006/main" noGrp="1"/>
          </p:cNvSpPr>
          <p:nvPr/>
        </p:nvSpPr>
        <p:spPr>
          <a:xfrm xmlns:a="http://schemas.openxmlformats.org/drawingml/2006/main">
            <a:off x="4800600" y="3133725"/>
            <a:ext cx="2667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Draft + signoffs</a:t>
            </a:r>
          </a:p>
        </p:txBody>
      </p:sp>
      <p:sp>
        <p:nvSpPr>
          <p:cNvPr id="12" name="node-79">
            <a:extLst xmlns:a="http://schemas.openxmlformats.org/drawingml/2006/main">
              <a:ext uri="{FF2B5EF4-FFF2-40B4-BE49-F238E27FC236}">
                <a16:creationId xmlns:a16="http://schemas.microsoft.com/office/drawing/2014/main" id="{C51CEE40-03F4-405E-A7A3-C1A0F9EDAD49}"/>
              </a:ext>
            </a:extLst>
          </p:cNvPr>
          <p:cNvSpPr>
            <a:spLocks xmlns:a="http://schemas.openxmlformats.org/drawingml/2006/main" noGrp="1"/>
          </p:cNvSpPr>
          <p:nvPr/>
        </p:nvSpPr>
        <p:spPr>
          <a:xfrm xmlns:a="http://schemas.openxmlformats.org/drawingml/2006/main">
            <a:off x="8610600" y="2524125"/>
            <a:ext cx="6019800" cy="1333500"/>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13" name="text-80">
            <a:extLst xmlns:a="http://schemas.openxmlformats.org/drawingml/2006/main">
              <a:ext uri="{FF2B5EF4-FFF2-40B4-BE49-F238E27FC236}">
                <a16:creationId xmlns:a16="http://schemas.microsoft.com/office/drawing/2014/main" id="{E439F7E9-02DC-4C12-BF34-4CB0C2475B25}"/>
              </a:ext>
            </a:extLst>
          </p:cNvPr>
          <p:cNvSpPr>
            <a:spLocks xmlns:a="http://schemas.openxmlformats.org/drawingml/2006/main" noGrp="1"/>
          </p:cNvSpPr>
          <p:nvPr/>
        </p:nvSpPr>
        <p:spPr>
          <a:xfrm xmlns:a="http://schemas.openxmlformats.org/drawingml/2006/main">
            <a:off x="8801100" y="2695575"/>
            <a:ext cx="5638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defRPr sz="2250" b="1">
                <a:solidFill>
                  <a:srgbClr val="157D80"/>
                </a:solidFill>
                <a:latin typeface="Aptos"/>
                <a:ea typeface="Aptos"/>
                <a:cs typeface="Aptos"/>
              </a:defRPr>
            </a:pPr>
            <a:r>
              <a:rPr sz="2250" b="1">
                <a:solidFill>
                  <a:srgbClr val="157D80"/>
                </a:solidFill>
                <a:latin typeface="Aptos"/>
                <a:ea typeface="Aptos"/>
                <a:cs typeface="Aptos"/>
              </a:rPr>
              <a:t>Frozen packet</a:t>
            </a:r>
          </a:p>
        </p:txBody>
      </p:sp>
      <p:sp>
        <p:nvSpPr>
          <p:cNvPr id="14" name="text-81">
            <a:extLst xmlns:a="http://schemas.openxmlformats.org/drawingml/2006/main">
              <a:ext uri="{FF2B5EF4-FFF2-40B4-BE49-F238E27FC236}">
                <a16:creationId xmlns:a16="http://schemas.microsoft.com/office/drawing/2014/main" id="{984D5FA8-EE41-409B-A3FC-F39DE061AA91}"/>
              </a:ext>
            </a:extLst>
          </p:cNvPr>
          <p:cNvSpPr>
            <a:spLocks xmlns:a="http://schemas.openxmlformats.org/drawingml/2006/main" noGrp="1"/>
          </p:cNvSpPr>
          <p:nvPr/>
        </p:nvSpPr>
        <p:spPr>
          <a:xfrm xmlns:a="http://schemas.openxmlformats.org/drawingml/2006/main">
            <a:off x="8801100" y="3133725"/>
            <a:ext cx="56388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Version + canonical hash</a:t>
            </a:r>
          </a:p>
        </p:txBody>
      </p:sp>
      <p:sp>
        <p:nvSpPr>
          <p:cNvPr id="17" name="node-82">
            <a:extLst xmlns:a="http://schemas.openxmlformats.org/drawingml/2006/main">
              <a:ext uri="{FF2B5EF4-FFF2-40B4-BE49-F238E27FC236}">
                <a16:creationId xmlns:a16="http://schemas.microsoft.com/office/drawing/2014/main" id="{2E78E8C8-2B64-49D8-A1B7-E6A6A2B6D8A9}"/>
              </a:ext>
            </a:extLst>
          </p:cNvPr>
          <p:cNvSpPr>
            <a:spLocks xmlns:a="http://schemas.openxmlformats.org/drawingml/2006/main" noGrp="1"/>
          </p:cNvSpPr>
          <p:nvPr/>
        </p:nvSpPr>
        <p:spPr>
          <a:xfrm xmlns:a="http://schemas.openxmlformats.org/drawingml/2006/main">
            <a:off x="8610600" y="5429250"/>
            <a:ext cx="6019800" cy="1381125"/>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18" name="text-83">
            <a:extLst xmlns:a="http://schemas.openxmlformats.org/drawingml/2006/main">
              <a:ext uri="{FF2B5EF4-FFF2-40B4-BE49-F238E27FC236}">
                <a16:creationId xmlns:a16="http://schemas.microsoft.com/office/drawing/2014/main" id="{B4FD0D2E-7F3D-4F1D-B5A8-C1F5F1044657}"/>
              </a:ext>
            </a:extLst>
          </p:cNvPr>
          <p:cNvSpPr>
            <a:spLocks xmlns:a="http://schemas.openxmlformats.org/drawingml/2006/main" noGrp="1"/>
          </p:cNvSpPr>
          <p:nvPr/>
        </p:nvSpPr>
        <p:spPr>
          <a:xfrm xmlns:a="http://schemas.openxmlformats.org/drawingml/2006/main">
            <a:off x="8801100" y="5600700"/>
            <a:ext cx="5638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defRPr sz="2250" b="1">
                <a:solidFill>
                  <a:srgbClr val="157D80"/>
                </a:solidFill>
                <a:latin typeface="Aptos"/>
                <a:ea typeface="Aptos"/>
                <a:cs typeface="Aptos"/>
              </a:defRPr>
            </a:pPr>
            <a:r>
              <a:rPr sz="2250" b="1">
                <a:solidFill>
                  <a:srgbClr val="157D80"/>
                </a:solidFill>
                <a:latin typeface="Aptos"/>
                <a:ea typeface="Aptos"/>
                <a:cs typeface="Aptos"/>
              </a:rPr>
              <a:t>Governance verifier</a:t>
            </a:r>
          </a:p>
        </p:txBody>
      </p:sp>
      <p:sp>
        <p:nvSpPr>
          <p:cNvPr id="19" name="text-84">
            <a:extLst xmlns:a="http://schemas.openxmlformats.org/drawingml/2006/main">
              <a:ext uri="{FF2B5EF4-FFF2-40B4-BE49-F238E27FC236}">
                <a16:creationId xmlns:a16="http://schemas.microsoft.com/office/drawing/2014/main" id="{AB0F018A-C70D-4637-992C-E775C347A02F}"/>
              </a:ext>
            </a:extLst>
          </p:cNvPr>
          <p:cNvSpPr>
            <a:spLocks xmlns:a="http://schemas.openxmlformats.org/drawingml/2006/main" noGrp="1"/>
          </p:cNvSpPr>
          <p:nvPr/>
        </p:nvSpPr>
        <p:spPr>
          <a:xfrm xmlns:a="http://schemas.openxmlformats.org/drawingml/2006/main">
            <a:off x="8801100" y="6038850"/>
            <a:ext cx="563880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Effective result + action + packet hash</a:t>
            </a:r>
          </a:p>
        </p:txBody>
      </p:sp>
      <p:sp>
        <p:nvSpPr>
          <p:cNvPr id="21" name="text-85">
            <a:extLst xmlns:a="http://schemas.openxmlformats.org/drawingml/2006/main">
              <a:ext uri="{FF2B5EF4-FFF2-40B4-BE49-F238E27FC236}">
                <a16:creationId xmlns:a16="http://schemas.microsoft.com/office/drawing/2014/main" id="{6BD7260A-5ED9-4CF4-B4F8-DA5B7AFBA400}"/>
              </a:ext>
            </a:extLst>
          </p:cNvPr>
          <p:cNvSpPr>
            <a:spLocks xmlns:a="http://schemas.openxmlformats.org/drawingml/2006/main" noGrp="1"/>
          </p:cNvSpPr>
          <p:nvPr/>
        </p:nvSpPr>
        <p:spPr>
          <a:xfrm xmlns:a="http://schemas.openxmlformats.org/drawingml/2006/main">
            <a:off x="8610600" y="4219575"/>
            <a:ext cx="2762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Packet-bound vote</a:t>
            </a:r>
          </a:p>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Network + proposal</a:t>
            </a:r>
          </a:p>
        </p:txBody>
      </p:sp>
      <p:sp>
        <p:nvSpPr>
          <p:cNvPr id="22" name="node-86">
            <a:extLst xmlns:a="http://schemas.openxmlformats.org/drawingml/2006/main">
              <a:ext uri="{FF2B5EF4-FFF2-40B4-BE49-F238E27FC236}">
                <a16:creationId xmlns:a16="http://schemas.microsoft.com/office/drawing/2014/main" id="{3955D524-FA42-4805-8D20-C8859CE97240}"/>
              </a:ext>
            </a:extLst>
          </p:cNvPr>
          <p:cNvSpPr>
            <a:spLocks xmlns:a="http://schemas.openxmlformats.org/drawingml/2006/main" noGrp="1"/>
          </p:cNvSpPr>
          <p:nvPr/>
        </p:nvSpPr>
        <p:spPr>
          <a:xfrm xmlns:a="http://schemas.openxmlformats.org/drawingml/2006/main">
            <a:off x="4610100" y="5429250"/>
            <a:ext cx="3048000" cy="1381125"/>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23" name="text-87">
            <a:extLst xmlns:a="http://schemas.openxmlformats.org/drawingml/2006/main">
              <a:ext uri="{FF2B5EF4-FFF2-40B4-BE49-F238E27FC236}">
                <a16:creationId xmlns:a16="http://schemas.microsoft.com/office/drawing/2014/main" id="{7B2CFF88-69CE-4712-9E58-87585CDB342A}"/>
              </a:ext>
            </a:extLst>
          </p:cNvPr>
          <p:cNvSpPr>
            <a:spLocks xmlns:a="http://schemas.openxmlformats.org/drawingml/2006/main" noGrp="1"/>
          </p:cNvSpPr>
          <p:nvPr/>
        </p:nvSpPr>
        <p:spPr>
          <a:xfrm xmlns:a="http://schemas.openxmlformats.org/drawingml/2006/main">
            <a:off x="4800600" y="5600700"/>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Native acceptance</a:t>
            </a:r>
          </a:p>
        </p:txBody>
      </p:sp>
      <p:sp>
        <p:nvSpPr>
          <p:cNvPr id="24" name="text-88">
            <a:extLst xmlns:a="http://schemas.openxmlformats.org/drawingml/2006/main">
              <a:ext uri="{FF2B5EF4-FFF2-40B4-BE49-F238E27FC236}">
                <a16:creationId xmlns:a16="http://schemas.microsoft.com/office/drawing/2014/main" id="{F3DEE6EF-43C9-4E04-9877-9C22373FD263}"/>
              </a:ext>
            </a:extLst>
          </p:cNvPr>
          <p:cNvSpPr>
            <a:spLocks xmlns:a="http://schemas.openxmlformats.org/drawingml/2006/main" noGrp="1"/>
          </p:cNvSpPr>
          <p:nvPr/>
        </p:nvSpPr>
        <p:spPr>
          <a:xfrm xmlns:a="http://schemas.openxmlformats.org/drawingml/2006/main">
            <a:off x="4800600" y="6038850"/>
            <a:ext cx="266700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Apply bound authority once</a:t>
            </a:r>
          </a:p>
        </p:txBody>
      </p:sp>
      <p:sp>
        <p:nvSpPr>
          <p:cNvPr id="25" name="node-89">
            <a:extLst xmlns:a="http://schemas.openxmlformats.org/drawingml/2006/main">
              <a:ext uri="{FF2B5EF4-FFF2-40B4-BE49-F238E27FC236}">
                <a16:creationId xmlns:a16="http://schemas.microsoft.com/office/drawing/2014/main" id="{8D77A72E-7DD5-48C4-B7B2-BC25A412FB4E}"/>
              </a:ext>
            </a:extLst>
          </p:cNvPr>
          <p:cNvSpPr>
            <a:spLocks xmlns:a="http://schemas.openxmlformats.org/drawingml/2006/main" noGrp="1"/>
          </p:cNvSpPr>
          <p:nvPr/>
        </p:nvSpPr>
        <p:spPr>
          <a:xfrm xmlns:a="http://schemas.openxmlformats.org/drawingml/2006/main">
            <a:off x="609600" y="5429250"/>
            <a:ext cx="3048000" cy="1381125"/>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26" name="text-90">
            <a:extLst xmlns:a="http://schemas.openxmlformats.org/drawingml/2006/main">
              <a:ext uri="{FF2B5EF4-FFF2-40B4-BE49-F238E27FC236}">
                <a16:creationId xmlns:a16="http://schemas.microsoft.com/office/drawing/2014/main" id="{B923BEDD-06BF-4164-A93C-58C54CE99A3A}"/>
              </a:ext>
            </a:extLst>
          </p:cNvPr>
          <p:cNvSpPr>
            <a:spLocks xmlns:a="http://schemas.openxmlformats.org/drawingml/2006/main" noGrp="1"/>
          </p:cNvSpPr>
          <p:nvPr/>
        </p:nvSpPr>
        <p:spPr>
          <a:xfrm xmlns:a="http://schemas.openxmlformats.org/drawingml/2006/main">
            <a:off x="800100" y="5600700"/>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Funder submission</a:t>
            </a:r>
          </a:p>
        </p:txBody>
      </p:sp>
      <p:sp>
        <p:nvSpPr>
          <p:cNvPr id="27" name="text-91">
            <a:extLst xmlns:a="http://schemas.openxmlformats.org/drawingml/2006/main">
              <a:ext uri="{FF2B5EF4-FFF2-40B4-BE49-F238E27FC236}">
                <a16:creationId xmlns:a16="http://schemas.microsoft.com/office/drawing/2014/main" id="{DE60E98B-241F-488E-A098-815A988BB504}"/>
              </a:ext>
            </a:extLst>
          </p:cNvPr>
          <p:cNvSpPr>
            <a:spLocks xmlns:a="http://schemas.openxmlformats.org/drawingml/2006/main" noGrp="1"/>
          </p:cNvSpPr>
          <p:nvPr/>
        </p:nvSpPr>
        <p:spPr>
          <a:xfrm xmlns:a="http://schemas.openxmlformats.org/drawingml/2006/main">
            <a:off x="800100" y="6038850"/>
            <a:ext cx="266700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Separate authorization</a:t>
            </a:r>
          </a:p>
        </p:txBody>
      </p:sp>
    </p:spTree>
    <p:extLst>
      <p:ext uri="{BB962C8B-B14F-4D97-AF65-F5344CB8AC3E}">
        <p14:creationId xmlns:p14="http://schemas.microsoft.com/office/powerpoint/2010/main" val="244281659"/>
      </p:ext>
    </p:extLst>
  </p:cSld>
</p:sld>
</file>

<file path=ppt/slides/slide5.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25" name="">
            <a:extLst xmlns:a="http://schemas.openxmlformats.org/drawingml/2006/main">
              <a:ext uri="{FF2B5EF4-FFF2-40B4-BE49-F238E27FC236}">
                <a16:creationId xmlns:a16="http://schemas.microsoft.com/office/drawing/2014/main" id="{4ABA9C36-77FA-446D-B4A7-D5D8EC8B6C34}"/>
              </a:ext>
            </a:extLst>
          </p:cNvPr>
          <p:cNvCxnSpPr>
            <a:stCxn xmlns:a="http://schemas.openxmlformats.org/drawingml/2006/main" id="18" idx="0"/>
            <a:endCxn xmlns:a="http://schemas.openxmlformats.org/drawingml/2006/main" id="22" idx="2"/>
          </p:cNvCxnSpPr>
          <p:nvPr/>
        </p:nvCxnSpPr>
        <p:spPr>
          <a:xfrm xmlns:a="http://schemas.openxmlformats.org/drawingml/2006/main" flipV="1">
            <a:off x="12630150" y="3810000"/>
            <a:ext cx="0" cy="161925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21" name="">
            <a:extLst xmlns:a="http://schemas.openxmlformats.org/drawingml/2006/main">
              <a:ext uri="{FF2B5EF4-FFF2-40B4-BE49-F238E27FC236}">
                <a16:creationId xmlns:a16="http://schemas.microsoft.com/office/drawing/2014/main" id="{97AB326E-499A-4847-89E8-97475C52327C}"/>
              </a:ext>
            </a:extLst>
          </p:cNvPr>
          <p:cNvCxnSpPr>
            <a:stCxn xmlns:a="http://schemas.openxmlformats.org/drawingml/2006/main" id="14" idx="3"/>
            <a:endCxn xmlns:a="http://schemas.openxmlformats.org/drawingml/2006/main" id="18" idx="1"/>
          </p:cNvCxnSpPr>
          <p:nvPr/>
        </p:nvCxnSpPr>
        <p:spPr>
          <a:xfrm xmlns:a="http://schemas.openxmlformats.org/drawingml/2006/main">
            <a:off x="9372600" y="6119813"/>
            <a:ext cx="12573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7" name="">
            <a:extLst xmlns:a="http://schemas.openxmlformats.org/drawingml/2006/main">
              <a:ext uri="{FF2B5EF4-FFF2-40B4-BE49-F238E27FC236}">
                <a16:creationId xmlns:a16="http://schemas.microsoft.com/office/drawing/2014/main" id="{99B359C2-80C7-4A72-BA44-87537E526D55}"/>
              </a:ext>
            </a:extLst>
          </p:cNvPr>
          <p:cNvCxnSpPr>
            <a:stCxn xmlns:a="http://schemas.openxmlformats.org/drawingml/2006/main" id="9" idx="3"/>
            <a:endCxn xmlns:a="http://schemas.openxmlformats.org/drawingml/2006/main" id="14" idx="1"/>
          </p:cNvCxnSpPr>
          <p:nvPr/>
        </p:nvCxnSpPr>
        <p:spPr>
          <a:xfrm xmlns:a="http://schemas.openxmlformats.org/drawingml/2006/main">
            <a:off x="4610100" y="6119813"/>
            <a:ext cx="1333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2" name="">
            <a:extLst xmlns:a="http://schemas.openxmlformats.org/drawingml/2006/main">
              <a:ext uri="{FF2B5EF4-FFF2-40B4-BE49-F238E27FC236}">
                <a16:creationId xmlns:a16="http://schemas.microsoft.com/office/drawing/2014/main" id="{C207415E-7225-4F19-90FC-4E394DD9AF72}"/>
              </a:ext>
            </a:extLst>
          </p:cNvPr>
          <p:cNvCxnSpPr>
            <a:stCxn xmlns:a="http://schemas.openxmlformats.org/drawingml/2006/main" id="6" idx="2"/>
            <a:endCxn xmlns:a="http://schemas.openxmlformats.org/drawingml/2006/main" id="9" idx="0"/>
          </p:cNvCxnSpPr>
          <p:nvPr/>
        </p:nvCxnSpPr>
        <p:spPr>
          <a:xfrm xmlns:a="http://schemas.openxmlformats.org/drawingml/2006/main">
            <a:off x="2609850" y="3810000"/>
            <a:ext cx="0" cy="161925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28" name="text-92">
            <a:extLst xmlns:a="http://schemas.openxmlformats.org/drawingml/2006/main">
              <a:ext uri="{FF2B5EF4-FFF2-40B4-BE49-F238E27FC236}">
                <a16:creationId xmlns:a16="http://schemas.microsoft.com/office/drawing/2014/main" id="{C7EE97A3-CC32-4477-B9AB-0A1BFAC17419}"/>
              </a:ext>
            </a:extLst>
          </p:cNvPr>
          <p:cNvSpPr>
            <a:spLocks xmlns:a="http://schemas.openxmlformats.org/drawingml/2006/main" noGrp="1"/>
          </p:cNvSpPr>
          <p:nvPr/>
        </p:nvSpPr>
        <p:spPr>
          <a:xfrm xmlns:a="http://schemas.openxmlformats.org/drawingml/2006/main">
            <a:off x="609600" y="542925"/>
            <a:ext cx="14020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600" b="1">
                <a:solidFill>
                  <a:srgbClr val="132E38"/>
                </a:solidFill>
                <a:latin typeface="Aptos"/>
                <a:ea typeface="Aptos"/>
                <a:cs typeface="Aptos"/>
              </a:defRPr>
            </a:defPPr>
          </a:lstStyle>
          <a:p xmlns:a="http://schemas.openxmlformats.org/drawingml/2006/main">
            <a:pPr>
              <a:defRPr sz="3600" b="1">
                <a:solidFill>
                  <a:srgbClr val="132E38"/>
                </a:solidFill>
                <a:latin typeface="Aptos"/>
                <a:ea typeface="Aptos"/>
                <a:cs typeface="Aptos"/>
              </a:defRPr>
            </a:pPr>
            <a:r>
              <a:rPr sz="3600" b="1">
                <a:solidFill>
                  <a:srgbClr val="132E38"/>
                </a:solidFill>
                <a:latin typeface="Aptos"/>
                <a:ea typeface="Aptos"/>
                <a:cs typeface="Aptos"/>
              </a:rPr>
              <a:t>Member execution boundary</a:t>
            </a:r>
          </a:p>
        </p:txBody>
      </p:sp>
      <p:sp>
        <p:nvSpPr>
          <p:cNvPr id="2" name="text-93">
            <a:extLst xmlns:a="http://schemas.openxmlformats.org/drawingml/2006/main">
              <a:ext uri="{FF2B5EF4-FFF2-40B4-BE49-F238E27FC236}">
                <a16:creationId xmlns:a16="http://schemas.microsoft.com/office/drawing/2014/main" id="{EB387220-9D2C-4EDF-AC3D-6D720B874397}"/>
              </a:ext>
            </a:extLst>
          </p:cNvPr>
          <p:cNvSpPr>
            <a:spLocks xmlns:a="http://schemas.openxmlformats.org/drawingml/2006/main" noGrp="1"/>
          </p:cNvSpPr>
          <p:nvPr/>
        </p:nvSpPr>
        <p:spPr>
          <a:xfrm xmlns:a="http://schemas.openxmlformats.org/drawingml/2006/main">
            <a:off x="609600" y="1333500"/>
            <a:ext cx="14020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49616A"/>
                </a:solidFill>
                <a:latin typeface="Aptos"/>
                <a:ea typeface="Aptos"/>
                <a:cs typeface="Aptos"/>
              </a:defRPr>
            </a:defPPr>
          </a:lstStyle>
          <a:p xmlns:a="http://schemas.openxmlformats.org/drawingml/2006/main">
            <a:pPr>
              <a:defRPr sz="2025" b="0">
                <a:solidFill>
                  <a:srgbClr val="49616A"/>
                </a:solidFill>
                <a:latin typeface="Aptos"/>
                <a:ea typeface="Aptos"/>
                <a:cs typeface="Aptos"/>
              </a:defRPr>
            </a:pPr>
            <a:r>
              <a:rPr sz="2025" b="0">
                <a:solidFill>
                  <a:srgbClr val="49616A"/>
                </a:solidFill>
                <a:latin typeface="Aptos"/>
                <a:ea typeface="Aptos"/>
                <a:cs typeface="Aptos"/>
              </a:rPr>
              <a:t>Target flow</a:t>
            </a:r>
          </a:p>
        </p:txBody>
      </p:sp>
      <p:sp>
        <p:nvSpPr>
          <p:cNvPr id="3" name="">
            <a:extLst xmlns:a="http://schemas.openxmlformats.org/drawingml/2006/main">
              <a:ext uri="{FF2B5EF4-FFF2-40B4-BE49-F238E27FC236}">
                <a16:creationId xmlns:a16="http://schemas.microsoft.com/office/drawing/2014/main" id="{1CF15578-3B55-4182-9D64-392C71EA43F8}"/>
              </a:ext>
            </a:extLst>
          </p:cNvPr>
          <p:cNvSpPr>
            <a:spLocks xmlns:a="http://schemas.openxmlformats.org/drawingml/2006/main" noGrp="1"/>
          </p:cNvSpPr>
          <p:nvPr/>
        </p:nvSpPr>
        <p:spPr>
          <a:xfrm xmlns:a="http://schemas.openxmlformats.org/drawingml/2006/main">
            <a:off x="609600" y="7905750"/>
            <a:ext cx="14020800" cy="0"/>
          </a:xfrm>
          <a:prstGeom xmlns:a="http://schemas.openxmlformats.org/drawingml/2006/main" prst="line">
            <a:avLst/>
          </a:prstGeom>
          <a:ln xmlns:a="http://schemas.openxmlformats.org/drawingml/2006/main" w="9525">
            <a:solidFill>
              <a:srgbClr val="B9C9C7"/>
            </a:solidFill>
            <a:prstDash val="solid"/>
          </a:ln>
        </p:spPr>
      </p:sp>
      <p:sp>
        <p:nvSpPr>
          <p:cNvPr id="4" name="text-94">
            <a:extLst xmlns:a="http://schemas.openxmlformats.org/drawingml/2006/main">
              <a:ext uri="{FF2B5EF4-FFF2-40B4-BE49-F238E27FC236}">
                <a16:creationId xmlns:a16="http://schemas.microsoft.com/office/drawing/2014/main" id="{B0ADB08D-8E07-47F5-8C89-A0E790AD4CF2}"/>
              </a:ext>
            </a:extLst>
          </p:cNvPr>
          <p:cNvSpPr>
            <a:spLocks xmlns:a="http://schemas.openxmlformats.org/drawingml/2006/main" noGrp="1"/>
          </p:cNvSpPr>
          <p:nvPr/>
        </p:nvSpPr>
        <p:spPr>
          <a:xfrm xmlns:a="http://schemas.openxmlformats.org/drawingml/2006/main">
            <a:off x="609600" y="8086725"/>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350" b="0">
                <a:solidFill>
                  <a:srgbClr val="49616A"/>
                </a:solidFill>
                <a:latin typeface="Aptos"/>
                <a:ea typeface="Aptos"/>
                <a:cs typeface="Aptos"/>
              </a:defRPr>
            </a:defPPr>
          </a:lstStyle>
          <a:p xmlns:a="http://schemas.openxmlformats.org/drawingml/2006/main">
            <a:pPr>
              <a:defRPr sz="1350" b="0">
                <a:solidFill>
                  <a:srgbClr val="49616A"/>
                </a:solidFill>
                <a:latin typeface="Aptos"/>
                <a:ea typeface="Aptos"/>
                <a:cs typeface="Aptos"/>
              </a:defRPr>
            </a:pPr>
            <a:r>
              <a:rPr sz="1350" b="0">
                <a:solidFill>
                  <a:srgbClr val="49616A"/>
                </a:solidFill>
                <a:latin typeface="Aptos"/>
                <a:ea typeface="Aptos"/>
                <a:cs typeface="Aptos"/>
              </a:rPr>
              <a:t>Inertia architecture · 23 October 2026</a:t>
            </a:r>
          </a:p>
        </p:txBody>
      </p:sp>
      <p:sp>
        <p:nvSpPr>
          <p:cNvPr id="5" name="text-95">
            <a:extLst xmlns:a="http://schemas.openxmlformats.org/drawingml/2006/main">
              <a:ext uri="{FF2B5EF4-FFF2-40B4-BE49-F238E27FC236}">
                <a16:creationId xmlns:a16="http://schemas.microsoft.com/office/drawing/2014/main" id="{3EA7C949-F387-4E11-AE7A-5CBE82587B65}"/>
              </a:ext>
            </a:extLst>
          </p:cNvPr>
          <p:cNvSpPr>
            <a:spLocks xmlns:a="http://schemas.openxmlformats.org/drawingml/2006/main" noGrp="1"/>
          </p:cNvSpPr>
          <p:nvPr/>
        </p:nvSpPr>
        <p:spPr>
          <a:xfrm xmlns:a="http://schemas.openxmlformats.org/drawingml/2006/main">
            <a:off x="14097000" y="8058150"/>
            <a:ext cx="533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650" b="1">
                <a:solidFill>
                  <a:srgbClr val="157D80"/>
                </a:solidFill>
                <a:latin typeface="Aptos"/>
                <a:ea typeface="Aptos"/>
                <a:cs typeface="Aptos"/>
              </a:defRPr>
            </a:defPPr>
          </a:lstStyle>
          <a:p xmlns:a="http://schemas.openxmlformats.org/drawingml/2006/main">
            <a:pPr>
              <a:defRPr sz="1650" b="1">
                <a:solidFill>
                  <a:srgbClr val="157D80"/>
                </a:solidFill>
                <a:latin typeface="Aptos"/>
                <a:ea typeface="Aptos"/>
                <a:cs typeface="Aptos"/>
              </a:defRPr>
            </a:pPr>
            <a:r>
              <a:rPr sz="1650" b="1">
                <a:solidFill>
                  <a:srgbClr val="157D80"/>
                </a:solidFill>
                <a:latin typeface="Aptos"/>
                <a:ea typeface="Aptos"/>
                <a:cs typeface="Aptos"/>
              </a:rPr>
              <a:t>5</a:t>
            </a:r>
          </a:p>
        </p:txBody>
      </p:sp>
      <p:sp>
        <p:nvSpPr>
          <p:cNvPr id="6" name="node-96">
            <a:extLst xmlns:a="http://schemas.openxmlformats.org/drawingml/2006/main">
              <a:ext uri="{FF2B5EF4-FFF2-40B4-BE49-F238E27FC236}">
                <a16:creationId xmlns:a16="http://schemas.microsoft.com/office/drawing/2014/main" id="{CCBF7F9F-DD4A-4ECB-B098-CDE48252BEBC}"/>
              </a:ext>
            </a:extLst>
          </p:cNvPr>
          <p:cNvSpPr>
            <a:spLocks xmlns:a="http://schemas.openxmlformats.org/drawingml/2006/main" noGrp="1"/>
          </p:cNvSpPr>
          <p:nvPr/>
        </p:nvSpPr>
        <p:spPr>
          <a:xfrm xmlns:a="http://schemas.openxmlformats.org/drawingml/2006/main">
            <a:off x="609600" y="2428875"/>
            <a:ext cx="4000500" cy="1381125"/>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7" name="text-97">
            <a:extLst xmlns:a="http://schemas.openxmlformats.org/drawingml/2006/main">
              <a:ext uri="{FF2B5EF4-FFF2-40B4-BE49-F238E27FC236}">
                <a16:creationId xmlns:a16="http://schemas.microsoft.com/office/drawing/2014/main" id="{D467A98E-3D6E-44B9-92D3-992226EF4788}"/>
              </a:ext>
            </a:extLst>
          </p:cNvPr>
          <p:cNvSpPr>
            <a:spLocks xmlns:a="http://schemas.openxmlformats.org/drawingml/2006/main" noGrp="1"/>
          </p:cNvSpPr>
          <p:nvPr/>
        </p:nvSpPr>
        <p:spPr>
          <a:xfrm xmlns:a="http://schemas.openxmlformats.org/drawingml/2006/main">
            <a:off x="800100" y="2600325"/>
            <a:ext cx="3619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defRPr sz="2250" b="1">
                <a:solidFill>
                  <a:srgbClr val="157D80"/>
                </a:solidFill>
                <a:latin typeface="Aptos"/>
                <a:ea typeface="Aptos"/>
                <a:cs typeface="Aptos"/>
              </a:defRPr>
            </a:pPr>
            <a:r>
              <a:rPr sz="2250" b="1">
                <a:solidFill>
                  <a:srgbClr val="157D80"/>
                </a:solidFill>
                <a:latin typeface="Aptos"/>
                <a:ea typeface="Aptos"/>
                <a:cs typeface="Aptos"/>
              </a:rPr>
              <a:t>Paperclip</a:t>
            </a:r>
          </a:p>
        </p:txBody>
      </p:sp>
      <p:sp>
        <p:nvSpPr>
          <p:cNvPr id="8" name="text-98">
            <a:extLst xmlns:a="http://schemas.openxmlformats.org/drawingml/2006/main">
              <a:ext uri="{FF2B5EF4-FFF2-40B4-BE49-F238E27FC236}">
                <a16:creationId xmlns:a16="http://schemas.microsoft.com/office/drawing/2014/main" id="{94A569C5-1FE3-467C-9303-E51B49F0C526}"/>
              </a:ext>
            </a:extLst>
          </p:cNvPr>
          <p:cNvSpPr>
            <a:spLocks xmlns:a="http://schemas.openxmlformats.org/drawingml/2006/main" noGrp="1"/>
          </p:cNvSpPr>
          <p:nvPr/>
        </p:nvSpPr>
        <p:spPr>
          <a:xfrm xmlns:a="http://schemas.openxmlformats.org/drawingml/2006/main">
            <a:off x="800100" y="3038475"/>
            <a:ext cx="361950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Membership + task scope</a:t>
            </a:r>
          </a:p>
        </p:txBody>
      </p:sp>
      <p:sp>
        <p:nvSpPr>
          <p:cNvPr id="9" name="node-99">
            <a:extLst xmlns:a="http://schemas.openxmlformats.org/drawingml/2006/main">
              <a:ext uri="{FF2B5EF4-FFF2-40B4-BE49-F238E27FC236}">
                <a16:creationId xmlns:a16="http://schemas.microsoft.com/office/drawing/2014/main" id="{A1614372-6E90-4843-8EE7-E3D803B4E63E}"/>
              </a:ext>
            </a:extLst>
          </p:cNvPr>
          <p:cNvSpPr>
            <a:spLocks xmlns:a="http://schemas.openxmlformats.org/drawingml/2006/main" noGrp="1"/>
          </p:cNvSpPr>
          <p:nvPr/>
        </p:nvSpPr>
        <p:spPr>
          <a:xfrm xmlns:a="http://schemas.openxmlformats.org/drawingml/2006/main">
            <a:off x="609600" y="5429250"/>
            <a:ext cx="4000500" cy="1381125"/>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10" name="text-100">
            <a:extLst xmlns:a="http://schemas.openxmlformats.org/drawingml/2006/main">
              <a:ext uri="{FF2B5EF4-FFF2-40B4-BE49-F238E27FC236}">
                <a16:creationId xmlns:a16="http://schemas.microsoft.com/office/drawing/2014/main" id="{9EFC60D4-C937-4878-B175-AA40742D7961}"/>
              </a:ext>
            </a:extLst>
          </p:cNvPr>
          <p:cNvSpPr>
            <a:spLocks xmlns:a="http://schemas.openxmlformats.org/drawingml/2006/main" noGrp="1"/>
          </p:cNvSpPr>
          <p:nvPr/>
        </p:nvSpPr>
        <p:spPr>
          <a:xfrm xmlns:a="http://schemas.openxmlformats.org/drawingml/2006/main">
            <a:off x="800100" y="5600700"/>
            <a:ext cx="3619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Member agent</a:t>
            </a:r>
          </a:p>
        </p:txBody>
      </p:sp>
      <p:sp>
        <p:nvSpPr>
          <p:cNvPr id="11" name="text-101">
            <a:extLst xmlns:a="http://schemas.openxmlformats.org/drawingml/2006/main">
              <a:ext uri="{FF2B5EF4-FFF2-40B4-BE49-F238E27FC236}">
                <a16:creationId xmlns:a16="http://schemas.microsoft.com/office/drawing/2014/main" id="{A60ED348-614A-4EF4-A6FF-90B431BAB631}"/>
              </a:ext>
            </a:extLst>
          </p:cNvPr>
          <p:cNvSpPr>
            <a:spLocks xmlns:a="http://schemas.openxmlformats.org/drawingml/2006/main" noGrp="1"/>
          </p:cNvSpPr>
          <p:nvPr/>
        </p:nvSpPr>
        <p:spPr>
          <a:xfrm xmlns:a="http://schemas.openxmlformats.org/drawingml/2006/main">
            <a:off x="800100" y="6038850"/>
            <a:ext cx="361950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Isolated runtime + workspace</a:t>
            </a:r>
          </a:p>
        </p:txBody>
      </p:sp>
      <p:sp>
        <p:nvSpPr>
          <p:cNvPr id="13" name="text-102">
            <a:extLst xmlns:a="http://schemas.openxmlformats.org/drawingml/2006/main">
              <a:ext uri="{FF2B5EF4-FFF2-40B4-BE49-F238E27FC236}">
                <a16:creationId xmlns:a16="http://schemas.microsoft.com/office/drawing/2014/main" id="{C699B5F1-A68A-4B8C-B64F-D79474771ADC}"/>
              </a:ext>
            </a:extLst>
          </p:cNvPr>
          <p:cNvSpPr>
            <a:spLocks xmlns:a="http://schemas.openxmlformats.org/drawingml/2006/main" noGrp="1"/>
          </p:cNvSpPr>
          <p:nvPr/>
        </p:nvSpPr>
        <p:spPr>
          <a:xfrm xmlns:a="http://schemas.openxmlformats.org/drawingml/2006/main">
            <a:off x="800100" y="4152900"/>
            <a:ext cx="1619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Authorized</a:t>
            </a:r>
          </a:p>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inputs</a:t>
            </a:r>
          </a:p>
        </p:txBody>
      </p:sp>
      <p:sp>
        <p:nvSpPr>
          <p:cNvPr id="14" name="node-103">
            <a:extLst xmlns:a="http://schemas.openxmlformats.org/drawingml/2006/main">
              <a:ext uri="{FF2B5EF4-FFF2-40B4-BE49-F238E27FC236}">
                <a16:creationId xmlns:a16="http://schemas.microsoft.com/office/drawing/2014/main" id="{D40F4AF1-F613-4878-AA0D-3EBB2852DAAC}"/>
              </a:ext>
            </a:extLst>
          </p:cNvPr>
          <p:cNvSpPr>
            <a:spLocks xmlns:a="http://schemas.openxmlformats.org/drawingml/2006/main" noGrp="1"/>
          </p:cNvSpPr>
          <p:nvPr/>
        </p:nvSpPr>
        <p:spPr>
          <a:xfrm xmlns:a="http://schemas.openxmlformats.org/drawingml/2006/main">
            <a:off x="5943600" y="5429250"/>
            <a:ext cx="3429000" cy="1381125"/>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15" name="text-104">
            <a:extLst xmlns:a="http://schemas.openxmlformats.org/drawingml/2006/main">
              <a:ext uri="{FF2B5EF4-FFF2-40B4-BE49-F238E27FC236}">
                <a16:creationId xmlns:a16="http://schemas.microsoft.com/office/drawing/2014/main" id="{E17494E3-FC1A-4524-9A33-621F1059FAD0}"/>
              </a:ext>
            </a:extLst>
          </p:cNvPr>
          <p:cNvSpPr>
            <a:spLocks xmlns:a="http://schemas.openxmlformats.org/drawingml/2006/main" noGrp="1"/>
          </p:cNvSpPr>
          <p:nvPr/>
        </p:nvSpPr>
        <p:spPr>
          <a:xfrm xmlns:a="http://schemas.openxmlformats.org/drawingml/2006/main">
            <a:off x="6134100" y="56007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Candidate artifact</a:t>
            </a:r>
          </a:p>
        </p:txBody>
      </p:sp>
      <p:sp>
        <p:nvSpPr>
          <p:cNvPr id="16" name="text-105">
            <a:extLst xmlns:a="http://schemas.openxmlformats.org/drawingml/2006/main">
              <a:ext uri="{FF2B5EF4-FFF2-40B4-BE49-F238E27FC236}">
                <a16:creationId xmlns:a16="http://schemas.microsoft.com/office/drawing/2014/main" id="{D97B0D69-6920-4EF4-9F95-4BB168C9015C}"/>
              </a:ext>
            </a:extLst>
          </p:cNvPr>
          <p:cNvSpPr>
            <a:spLocks xmlns:a="http://schemas.openxmlformats.org/drawingml/2006/main" noGrp="1"/>
          </p:cNvSpPr>
          <p:nvPr/>
        </p:nvSpPr>
        <p:spPr>
          <a:xfrm xmlns:a="http://schemas.openxmlformats.org/drawingml/2006/main">
            <a:off x="6134100" y="6038850"/>
            <a:ext cx="304800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Bytes + provenance</a:t>
            </a:r>
          </a:p>
        </p:txBody>
      </p:sp>
      <p:sp>
        <p:nvSpPr>
          <p:cNvPr id="18" name="node-106">
            <a:extLst xmlns:a="http://schemas.openxmlformats.org/drawingml/2006/main">
              <a:ext uri="{FF2B5EF4-FFF2-40B4-BE49-F238E27FC236}">
                <a16:creationId xmlns:a16="http://schemas.microsoft.com/office/drawing/2014/main" id="{6EB04207-FA8E-43BF-915E-4EECA36AB38B}"/>
              </a:ext>
            </a:extLst>
          </p:cNvPr>
          <p:cNvSpPr>
            <a:spLocks xmlns:a="http://schemas.openxmlformats.org/drawingml/2006/main" noGrp="1"/>
          </p:cNvSpPr>
          <p:nvPr/>
        </p:nvSpPr>
        <p:spPr>
          <a:xfrm xmlns:a="http://schemas.openxmlformats.org/drawingml/2006/main">
            <a:off x="10629900" y="5429250"/>
            <a:ext cx="4000500" cy="1381125"/>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19" name="text-107">
            <a:extLst xmlns:a="http://schemas.openxmlformats.org/drawingml/2006/main">
              <a:ext uri="{FF2B5EF4-FFF2-40B4-BE49-F238E27FC236}">
                <a16:creationId xmlns:a16="http://schemas.microsoft.com/office/drawing/2014/main" id="{106CD4D3-E1FB-418C-B317-1D83D83FE883}"/>
              </a:ext>
            </a:extLst>
          </p:cNvPr>
          <p:cNvSpPr>
            <a:spLocks xmlns:a="http://schemas.openxmlformats.org/drawingml/2006/main" noGrp="1"/>
          </p:cNvSpPr>
          <p:nvPr/>
        </p:nvSpPr>
        <p:spPr>
          <a:xfrm xmlns:a="http://schemas.openxmlformats.org/drawingml/2006/main">
            <a:off x="10820400" y="5600700"/>
            <a:ext cx="3619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defRPr sz="2250" b="1">
                <a:solidFill>
                  <a:srgbClr val="157D80"/>
                </a:solidFill>
                <a:latin typeface="Aptos"/>
                <a:ea typeface="Aptos"/>
                <a:cs typeface="Aptos"/>
              </a:defRPr>
            </a:pPr>
            <a:r>
              <a:rPr sz="2250" b="1">
                <a:solidFill>
                  <a:srgbClr val="157D80"/>
                </a:solidFill>
                <a:latin typeface="Aptos"/>
                <a:ea typeface="Aptos"/>
                <a:cs typeface="Aptos"/>
              </a:rPr>
              <a:t>Server validation</a:t>
            </a:r>
          </a:p>
        </p:txBody>
      </p:sp>
      <p:sp>
        <p:nvSpPr>
          <p:cNvPr id="20" name="text-108">
            <a:extLst xmlns:a="http://schemas.openxmlformats.org/drawingml/2006/main">
              <a:ext uri="{FF2B5EF4-FFF2-40B4-BE49-F238E27FC236}">
                <a16:creationId xmlns:a16="http://schemas.microsoft.com/office/drawing/2014/main" id="{16994313-E8DF-44CD-A640-FB7EE5885810}"/>
              </a:ext>
            </a:extLst>
          </p:cNvPr>
          <p:cNvSpPr>
            <a:spLocks xmlns:a="http://schemas.openxmlformats.org/drawingml/2006/main" noGrp="1"/>
          </p:cNvSpPr>
          <p:nvPr/>
        </p:nvSpPr>
        <p:spPr>
          <a:xfrm xmlns:a="http://schemas.openxmlformats.org/drawingml/2006/main">
            <a:off x="10820400" y="6038850"/>
            <a:ext cx="361950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Artifact + state transition</a:t>
            </a:r>
          </a:p>
        </p:txBody>
      </p:sp>
      <p:sp>
        <p:nvSpPr>
          <p:cNvPr id="22" name="node-109">
            <a:extLst xmlns:a="http://schemas.openxmlformats.org/drawingml/2006/main">
              <a:ext uri="{FF2B5EF4-FFF2-40B4-BE49-F238E27FC236}">
                <a16:creationId xmlns:a16="http://schemas.microsoft.com/office/drawing/2014/main" id="{D6552827-BB26-4C54-AEF3-2DA26085C097}"/>
              </a:ext>
            </a:extLst>
          </p:cNvPr>
          <p:cNvSpPr>
            <a:spLocks xmlns:a="http://schemas.openxmlformats.org/drawingml/2006/main" noGrp="1"/>
          </p:cNvSpPr>
          <p:nvPr/>
        </p:nvSpPr>
        <p:spPr>
          <a:xfrm xmlns:a="http://schemas.openxmlformats.org/drawingml/2006/main">
            <a:off x="10629900" y="2428875"/>
            <a:ext cx="4000500" cy="1381125"/>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23" name="text-110">
            <a:extLst xmlns:a="http://schemas.openxmlformats.org/drawingml/2006/main">
              <a:ext uri="{FF2B5EF4-FFF2-40B4-BE49-F238E27FC236}">
                <a16:creationId xmlns:a16="http://schemas.microsoft.com/office/drawing/2014/main" id="{D85E199A-FDFE-457D-9DF0-0FAE28DA1546}"/>
              </a:ext>
            </a:extLst>
          </p:cNvPr>
          <p:cNvSpPr>
            <a:spLocks xmlns:a="http://schemas.openxmlformats.org/drawingml/2006/main" noGrp="1"/>
          </p:cNvSpPr>
          <p:nvPr/>
        </p:nvSpPr>
        <p:spPr>
          <a:xfrm xmlns:a="http://schemas.openxmlformats.org/drawingml/2006/main">
            <a:off x="10820400" y="2600325"/>
            <a:ext cx="3619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defRPr sz="2250" b="1">
                <a:solidFill>
                  <a:srgbClr val="157D80"/>
                </a:solidFill>
                <a:latin typeface="Aptos"/>
                <a:ea typeface="Aptos"/>
                <a:cs typeface="Aptos"/>
              </a:defRPr>
            </a:pPr>
            <a:r>
              <a:rPr sz="2250" b="1">
                <a:solidFill>
                  <a:srgbClr val="157D80"/>
                </a:solidFill>
                <a:latin typeface="Aptos"/>
                <a:ea typeface="Aptos"/>
                <a:cs typeface="Aptos"/>
              </a:rPr>
              <a:t>Trusted adapter</a:t>
            </a:r>
          </a:p>
        </p:txBody>
      </p:sp>
      <p:sp>
        <p:nvSpPr>
          <p:cNvPr id="24" name="text-111">
            <a:extLst xmlns:a="http://schemas.openxmlformats.org/drawingml/2006/main">
              <a:ext uri="{FF2B5EF4-FFF2-40B4-BE49-F238E27FC236}">
                <a16:creationId xmlns:a16="http://schemas.microsoft.com/office/drawing/2014/main" id="{B62CA725-4027-4CE9-81FC-EFD70B490E8A}"/>
              </a:ext>
            </a:extLst>
          </p:cNvPr>
          <p:cNvSpPr>
            <a:spLocks xmlns:a="http://schemas.openxmlformats.org/drawingml/2006/main" noGrp="1"/>
          </p:cNvSpPr>
          <p:nvPr/>
        </p:nvSpPr>
        <p:spPr>
          <a:xfrm xmlns:a="http://schemas.openxmlformats.org/drawingml/2006/main">
            <a:off x="10820400" y="3038475"/>
            <a:ext cx="361950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Scoped publisher credentials</a:t>
            </a:r>
          </a:p>
        </p:txBody>
      </p:sp>
      <p:sp>
        <p:nvSpPr>
          <p:cNvPr id="26" name="text-112">
            <a:extLst xmlns:a="http://schemas.openxmlformats.org/drawingml/2006/main">
              <a:ext uri="{FF2B5EF4-FFF2-40B4-BE49-F238E27FC236}">
                <a16:creationId xmlns:a16="http://schemas.microsoft.com/office/drawing/2014/main" id="{38291BBD-4CB4-423B-B8AE-938F4BECADBF}"/>
              </a:ext>
            </a:extLst>
          </p:cNvPr>
          <p:cNvSpPr>
            <a:spLocks xmlns:a="http://schemas.openxmlformats.org/drawingml/2006/main" noGrp="1"/>
          </p:cNvSpPr>
          <p:nvPr/>
        </p:nvSpPr>
        <p:spPr>
          <a:xfrm xmlns:a="http://schemas.openxmlformats.org/drawingml/2006/main">
            <a:off x="609600" y="7115175"/>
            <a:ext cx="6667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Member runtime: no publisher credentials</a:t>
            </a:r>
          </a:p>
        </p:txBody>
      </p:sp>
      <p:sp>
        <p:nvSpPr>
          <p:cNvPr id="27" name="text-113">
            <a:extLst xmlns:a="http://schemas.openxmlformats.org/drawingml/2006/main">
              <a:ext uri="{FF2B5EF4-FFF2-40B4-BE49-F238E27FC236}">
                <a16:creationId xmlns:a16="http://schemas.microsoft.com/office/drawing/2014/main" id="{C5C38BF6-039C-44B2-A024-98A4F5501BC9}"/>
              </a:ext>
            </a:extLst>
          </p:cNvPr>
          <p:cNvSpPr>
            <a:spLocks xmlns:a="http://schemas.openxmlformats.org/drawingml/2006/main" noGrp="1"/>
          </p:cNvSpPr>
          <p:nvPr/>
        </p:nvSpPr>
        <p:spPr>
          <a:xfrm xmlns:a="http://schemas.openxmlformats.org/drawingml/2006/main">
            <a:off x="10629900" y="4114800"/>
            <a:ext cx="1809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Native review</a:t>
            </a:r>
          </a:p>
        </p:txBody>
      </p:sp>
    </p:spTree>
    <p:extLst>
      <p:ext uri="{BB962C8B-B14F-4D97-AF65-F5344CB8AC3E}">
        <p14:creationId xmlns:p14="http://schemas.microsoft.com/office/powerpoint/2010/main" val="996138484"/>
      </p:ext>
    </p:extLst>
  </p:cSld>
</p:sld>
</file>

<file path=ppt/slides/slide6.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28" name="">
            <a:extLst xmlns:a="http://schemas.openxmlformats.org/drawingml/2006/main">
              <a:ext uri="{FF2B5EF4-FFF2-40B4-BE49-F238E27FC236}">
                <a16:creationId xmlns:a16="http://schemas.microsoft.com/office/drawing/2014/main" id="{D7B69FCF-F783-4940-9FE1-CFEB8E7EA4F3}"/>
              </a:ext>
            </a:extLst>
          </p:cNvPr>
          <p:cNvCxnSpPr>
            <a:stCxn xmlns:a="http://schemas.openxmlformats.org/drawingml/2006/main" id="20" idx="1"/>
            <a:endCxn xmlns:a="http://schemas.openxmlformats.org/drawingml/2006/main" id="23" idx="3"/>
          </p:cNvCxnSpPr>
          <p:nvPr/>
        </p:nvCxnSpPr>
        <p:spPr>
          <a:xfrm xmlns:a="http://schemas.openxmlformats.org/drawingml/2006/main" flipH="1">
            <a:off x="4038600" y="6262688"/>
            <a:ext cx="11430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27" name="">
            <a:extLst xmlns:a="http://schemas.openxmlformats.org/drawingml/2006/main">
              <a:ext uri="{FF2B5EF4-FFF2-40B4-BE49-F238E27FC236}">
                <a16:creationId xmlns:a16="http://schemas.microsoft.com/office/drawing/2014/main" id="{5B6599DA-2B68-4ED6-832B-2E0447841D0B}"/>
              </a:ext>
            </a:extLst>
          </p:cNvPr>
          <p:cNvCxnSpPr>
            <a:stCxn xmlns:a="http://schemas.openxmlformats.org/drawingml/2006/main" id="17" idx="1"/>
            <a:endCxn xmlns:a="http://schemas.openxmlformats.org/drawingml/2006/main" id="20" idx="3"/>
          </p:cNvCxnSpPr>
          <p:nvPr/>
        </p:nvCxnSpPr>
        <p:spPr>
          <a:xfrm xmlns:a="http://schemas.openxmlformats.org/drawingml/2006/main" flipH="1">
            <a:off x="9182100" y="6262688"/>
            <a:ext cx="11430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26" name="">
            <a:extLst xmlns:a="http://schemas.openxmlformats.org/drawingml/2006/main">
              <a:ext uri="{FF2B5EF4-FFF2-40B4-BE49-F238E27FC236}">
                <a16:creationId xmlns:a16="http://schemas.microsoft.com/office/drawing/2014/main" id="{021ED3DE-F361-4DBD-B81E-DE1078CBCC89}"/>
              </a:ext>
            </a:extLst>
          </p:cNvPr>
          <p:cNvCxnSpPr>
            <a:stCxn xmlns:a="http://schemas.openxmlformats.org/drawingml/2006/main" id="12" idx="2"/>
            <a:endCxn xmlns:a="http://schemas.openxmlformats.org/drawingml/2006/main" id="17" idx="0"/>
          </p:cNvCxnSpPr>
          <p:nvPr/>
        </p:nvCxnSpPr>
        <p:spPr>
          <a:xfrm xmlns:a="http://schemas.openxmlformats.org/drawingml/2006/main">
            <a:off x="12477750" y="3952875"/>
            <a:ext cx="0" cy="161925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6" name="">
            <a:extLst xmlns:a="http://schemas.openxmlformats.org/drawingml/2006/main">
              <a:ext uri="{FF2B5EF4-FFF2-40B4-BE49-F238E27FC236}">
                <a16:creationId xmlns:a16="http://schemas.microsoft.com/office/drawing/2014/main" id="{456113BB-B175-43A7-AFB1-4C5D08C5B74D}"/>
              </a:ext>
            </a:extLst>
          </p:cNvPr>
          <p:cNvCxnSpPr>
            <a:stCxn xmlns:a="http://schemas.openxmlformats.org/drawingml/2006/main" id="9" idx="3"/>
            <a:endCxn xmlns:a="http://schemas.openxmlformats.org/drawingml/2006/main" id="12" idx="1"/>
          </p:cNvCxnSpPr>
          <p:nvPr/>
        </p:nvCxnSpPr>
        <p:spPr>
          <a:xfrm xmlns:a="http://schemas.openxmlformats.org/drawingml/2006/main">
            <a:off x="9182100" y="3238500"/>
            <a:ext cx="11430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5" name="">
            <a:extLst xmlns:a="http://schemas.openxmlformats.org/drawingml/2006/main">
              <a:ext uri="{FF2B5EF4-FFF2-40B4-BE49-F238E27FC236}">
                <a16:creationId xmlns:a16="http://schemas.microsoft.com/office/drawing/2014/main" id="{EF2ADEA0-5319-4D5D-9A58-4C95F83E9273}"/>
              </a:ext>
            </a:extLst>
          </p:cNvPr>
          <p:cNvCxnSpPr>
            <a:stCxn xmlns:a="http://schemas.openxmlformats.org/drawingml/2006/main" id="6" idx="3"/>
            <a:endCxn xmlns:a="http://schemas.openxmlformats.org/drawingml/2006/main" id="9" idx="1"/>
          </p:cNvCxnSpPr>
          <p:nvPr/>
        </p:nvCxnSpPr>
        <p:spPr>
          <a:xfrm xmlns:a="http://schemas.openxmlformats.org/drawingml/2006/main">
            <a:off x="4038600" y="3238500"/>
            <a:ext cx="11430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30" name="text-114">
            <a:extLst xmlns:a="http://schemas.openxmlformats.org/drawingml/2006/main">
              <a:ext uri="{FF2B5EF4-FFF2-40B4-BE49-F238E27FC236}">
                <a16:creationId xmlns:a16="http://schemas.microsoft.com/office/drawing/2014/main" id="{0F11E872-5B19-4386-AB81-FAACAFAA9201}"/>
              </a:ext>
            </a:extLst>
          </p:cNvPr>
          <p:cNvSpPr>
            <a:spLocks xmlns:a="http://schemas.openxmlformats.org/drawingml/2006/main" noGrp="1"/>
          </p:cNvSpPr>
          <p:nvPr/>
        </p:nvSpPr>
        <p:spPr>
          <a:xfrm xmlns:a="http://schemas.openxmlformats.org/drawingml/2006/main">
            <a:off x="609600" y="542925"/>
            <a:ext cx="14020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600" b="1">
                <a:solidFill>
                  <a:srgbClr val="132E38"/>
                </a:solidFill>
                <a:latin typeface="Aptos"/>
                <a:ea typeface="Aptos"/>
                <a:cs typeface="Aptos"/>
              </a:defRPr>
            </a:defPPr>
          </a:lstStyle>
          <a:p xmlns:a="http://schemas.openxmlformats.org/drawingml/2006/main">
            <a:pPr>
              <a:defRPr sz="3600" b="1">
                <a:solidFill>
                  <a:srgbClr val="132E38"/>
                </a:solidFill>
                <a:latin typeface="Aptos"/>
                <a:ea typeface="Aptos"/>
                <a:cs typeface="Aptos"/>
              </a:defRPr>
            </a:pPr>
            <a:r>
              <a:rPr sz="3600" b="1">
                <a:solidFill>
                  <a:srgbClr val="132E38"/>
                </a:solidFill>
                <a:latin typeface="Aptos"/>
                <a:ea typeface="Aptos"/>
                <a:cs typeface="Aptos"/>
              </a:rPr>
              <a:t>Bridge persistence and recovery</a:t>
            </a:r>
          </a:p>
        </p:txBody>
      </p:sp>
      <p:sp>
        <p:nvSpPr>
          <p:cNvPr id="2" name="text-115">
            <a:extLst xmlns:a="http://schemas.openxmlformats.org/drawingml/2006/main">
              <a:ext uri="{FF2B5EF4-FFF2-40B4-BE49-F238E27FC236}">
                <a16:creationId xmlns:a16="http://schemas.microsoft.com/office/drawing/2014/main" id="{A6DC3F8C-EBA0-49D7-B2FE-AB08B8C1DB0F}"/>
              </a:ext>
            </a:extLst>
          </p:cNvPr>
          <p:cNvSpPr>
            <a:spLocks xmlns:a="http://schemas.openxmlformats.org/drawingml/2006/main" noGrp="1"/>
          </p:cNvSpPr>
          <p:nvPr/>
        </p:nvSpPr>
        <p:spPr>
          <a:xfrm xmlns:a="http://schemas.openxmlformats.org/drawingml/2006/main">
            <a:off x="609600" y="1333500"/>
            <a:ext cx="14020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49616A"/>
                </a:solidFill>
                <a:latin typeface="Aptos"/>
                <a:ea typeface="Aptos"/>
                <a:cs typeface="Aptos"/>
              </a:defRPr>
            </a:defPPr>
          </a:lstStyle>
          <a:p xmlns:a="http://schemas.openxmlformats.org/drawingml/2006/main">
            <a:pPr>
              <a:defRPr sz="2025" b="0">
                <a:solidFill>
                  <a:srgbClr val="49616A"/>
                </a:solidFill>
                <a:latin typeface="Aptos"/>
                <a:ea typeface="Aptos"/>
                <a:cs typeface="Aptos"/>
              </a:defRPr>
            </a:pPr>
            <a:r>
              <a:rPr sz="2025" b="0">
                <a:solidFill>
                  <a:srgbClr val="49616A"/>
                </a:solidFill>
                <a:latin typeface="Aptos"/>
                <a:ea typeface="Aptos"/>
                <a:cs typeface="Aptos"/>
              </a:rPr>
              <a:t>Signed transport with native authority</a:t>
            </a:r>
          </a:p>
        </p:txBody>
      </p:sp>
      <p:sp>
        <p:nvSpPr>
          <p:cNvPr id="3" name="">
            <a:extLst xmlns:a="http://schemas.openxmlformats.org/drawingml/2006/main">
              <a:ext uri="{FF2B5EF4-FFF2-40B4-BE49-F238E27FC236}">
                <a16:creationId xmlns:a16="http://schemas.microsoft.com/office/drawing/2014/main" id="{E76F611E-1C14-4929-B222-C6A6A40FFC04}"/>
              </a:ext>
            </a:extLst>
          </p:cNvPr>
          <p:cNvSpPr>
            <a:spLocks xmlns:a="http://schemas.openxmlformats.org/drawingml/2006/main" noGrp="1"/>
          </p:cNvSpPr>
          <p:nvPr/>
        </p:nvSpPr>
        <p:spPr>
          <a:xfrm xmlns:a="http://schemas.openxmlformats.org/drawingml/2006/main">
            <a:off x="609600" y="7905750"/>
            <a:ext cx="14020800" cy="0"/>
          </a:xfrm>
          <a:prstGeom xmlns:a="http://schemas.openxmlformats.org/drawingml/2006/main" prst="line">
            <a:avLst/>
          </a:prstGeom>
          <a:ln xmlns:a="http://schemas.openxmlformats.org/drawingml/2006/main" w="9525">
            <a:solidFill>
              <a:srgbClr val="B9C9C7"/>
            </a:solidFill>
            <a:prstDash val="solid"/>
          </a:ln>
        </p:spPr>
      </p:sp>
      <p:sp>
        <p:nvSpPr>
          <p:cNvPr id="4" name="text-116">
            <a:extLst xmlns:a="http://schemas.openxmlformats.org/drawingml/2006/main">
              <a:ext uri="{FF2B5EF4-FFF2-40B4-BE49-F238E27FC236}">
                <a16:creationId xmlns:a16="http://schemas.microsoft.com/office/drawing/2014/main" id="{6CEB5CB9-965F-4A8D-B785-32B0B5E6DC95}"/>
              </a:ext>
            </a:extLst>
          </p:cNvPr>
          <p:cNvSpPr>
            <a:spLocks xmlns:a="http://schemas.openxmlformats.org/drawingml/2006/main" noGrp="1"/>
          </p:cNvSpPr>
          <p:nvPr/>
        </p:nvSpPr>
        <p:spPr>
          <a:xfrm xmlns:a="http://schemas.openxmlformats.org/drawingml/2006/main">
            <a:off x="609600" y="8086725"/>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350" b="0">
                <a:solidFill>
                  <a:srgbClr val="49616A"/>
                </a:solidFill>
                <a:latin typeface="Aptos"/>
                <a:ea typeface="Aptos"/>
                <a:cs typeface="Aptos"/>
              </a:defRPr>
            </a:defPPr>
          </a:lstStyle>
          <a:p xmlns:a="http://schemas.openxmlformats.org/drawingml/2006/main">
            <a:pPr>
              <a:defRPr sz="1350" b="0">
                <a:solidFill>
                  <a:srgbClr val="49616A"/>
                </a:solidFill>
                <a:latin typeface="Aptos"/>
                <a:ea typeface="Aptos"/>
                <a:cs typeface="Aptos"/>
              </a:defRPr>
            </a:pPr>
            <a:r>
              <a:rPr sz="1350" b="0">
                <a:solidFill>
                  <a:srgbClr val="49616A"/>
                </a:solidFill>
                <a:latin typeface="Aptos"/>
                <a:ea typeface="Aptos"/>
                <a:cs typeface="Aptos"/>
              </a:rPr>
              <a:t>Inertia architecture · 23 October 2026</a:t>
            </a:r>
          </a:p>
        </p:txBody>
      </p:sp>
      <p:sp>
        <p:nvSpPr>
          <p:cNvPr id="5" name="text-117">
            <a:extLst xmlns:a="http://schemas.openxmlformats.org/drawingml/2006/main">
              <a:ext uri="{FF2B5EF4-FFF2-40B4-BE49-F238E27FC236}">
                <a16:creationId xmlns:a16="http://schemas.microsoft.com/office/drawing/2014/main" id="{703E30AF-9859-41AF-95D5-D4583EEBCA8F}"/>
              </a:ext>
            </a:extLst>
          </p:cNvPr>
          <p:cNvSpPr>
            <a:spLocks xmlns:a="http://schemas.openxmlformats.org/drawingml/2006/main" noGrp="1"/>
          </p:cNvSpPr>
          <p:nvPr/>
        </p:nvSpPr>
        <p:spPr>
          <a:xfrm xmlns:a="http://schemas.openxmlformats.org/drawingml/2006/main">
            <a:off x="14097000" y="8058150"/>
            <a:ext cx="533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650" b="1">
                <a:solidFill>
                  <a:srgbClr val="157D80"/>
                </a:solidFill>
                <a:latin typeface="Aptos"/>
                <a:ea typeface="Aptos"/>
                <a:cs typeface="Aptos"/>
              </a:defRPr>
            </a:defPPr>
          </a:lstStyle>
          <a:p xmlns:a="http://schemas.openxmlformats.org/drawingml/2006/main">
            <a:pPr>
              <a:defRPr sz="1650" b="1">
                <a:solidFill>
                  <a:srgbClr val="157D80"/>
                </a:solidFill>
                <a:latin typeface="Aptos"/>
                <a:ea typeface="Aptos"/>
                <a:cs typeface="Aptos"/>
              </a:defRPr>
            </a:pPr>
            <a:r>
              <a:rPr sz="1650" b="1">
                <a:solidFill>
                  <a:srgbClr val="157D80"/>
                </a:solidFill>
                <a:latin typeface="Aptos"/>
                <a:ea typeface="Aptos"/>
                <a:cs typeface="Aptos"/>
              </a:rPr>
              <a:t>6</a:t>
            </a:r>
          </a:p>
        </p:txBody>
      </p:sp>
      <p:sp>
        <p:nvSpPr>
          <p:cNvPr id="6" name="node-118">
            <a:extLst xmlns:a="http://schemas.openxmlformats.org/drawingml/2006/main">
              <a:ext uri="{FF2B5EF4-FFF2-40B4-BE49-F238E27FC236}">
                <a16:creationId xmlns:a16="http://schemas.microsoft.com/office/drawing/2014/main" id="{286700C5-CECB-45DD-A16D-AEAADF27BC73}"/>
              </a:ext>
            </a:extLst>
          </p:cNvPr>
          <p:cNvSpPr>
            <a:spLocks xmlns:a="http://schemas.openxmlformats.org/drawingml/2006/main" noGrp="1"/>
          </p:cNvSpPr>
          <p:nvPr/>
        </p:nvSpPr>
        <p:spPr>
          <a:xfrm xmlns:a="http://schemas.openxmlformats.org/drawingml/2006/main">
            <a:off x="609600" y="2524125"/>
            <a:ext cx="34290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7" name="text-119">
            <a:extLst xmlns:a="http://schemas.openxmlformats.org/drawingml/2006/main">
              <a:ext uri="{FF2B5EF4-FFF2-40B4-BE49-F238E27FC236}">
                <a16:creationId xmlns:a16="http://schemas.microsoft.com/office/drawing/2014/main" id="{30B66AB6-3C84-4C85-9D8C-930802A4B198}"/>
              </a:ext>
            </a:extLst>
          </p:cNvPr>
          <p:cNvSpPr>
            <a:spLocks xmlns:a="http://schemas.openxmlformats.org/drawingml/2006/main" noGrp="1"/>
          </p:cNvSpPr>
          <p:nvPr/>
        </p:nvSpPr>
        <p:spPr>
          <a:xfrm xmlns:a="http://schemas.openxmlformats.org/drawingml/2006/main">
            <a:off x="800100" y="2695575"/>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Signed Buzz event</a:t>
            </a:r>
          </a:p>
        </p:txBody>
      </p:sp>
      <p:sp>
        <p:nvSpPr>
          <p:cNvPr id="8" name="text-120">
            <a:extLst xmlns:a="http://schemas.openxmlformats.org/drawingml/2006/main">
              <a:ext uri="{FF2B5EF4-FFF2-40B4-BE49-F238E27FC236}">
                <a16:creationId xmlns:a16="http://schemas.microsoft.com/office/drawing/2014/main" id="{401A3F6B-22F4-4200-BC38-4DBE166F98FB}"/>
              </a:ext>
            </a:extLst>
          </p:cNvPr>
          <p:cNvSpPr>
            <a:spLocks xmlns:a="http://schemas.openxmlformats.org/drawingml/2006/main" noGrp="1"/>
          </p:cNvSpPr>
          <p:nvPr/>
        </p:nvSpPr>
        <p:spPr>
          <a:xfrm xmlns:a="http://schemas.openxmlformats.org/drawingml/2006/main">
            <a:off x="800100" y="3133725"/>
            <a:ext cx="3048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Verified key + thread binding</a:t>
            </a:r>
          </a:p>
        </p:txBody>
      </p:sp>
      <p:sp>
        <p:nvSpPr>
          <p:cNvPr id="9" name="node-121">
            <a:extLst xmlns:a="http://schemas.openxmlformats.org/drawingml/2006/main">
              <a:ext uri="{FF2B5EF4-FFF2-40B4-BE49-F238E27FC236}">
                <a16:creationId xmlns:a16="http://schemas.microsoft.com/office/drawing/2014/main" id="{BAD04AAC-35B1-4C76-A3ED-B88E3D1BB3DB}"/>
              </a:ext>
            </a:extLst>
          </p:cNvPr>
          <p:cNvSpPr>
            <a:spLocks xmlns:a="http://schemas.openxmlformats.org/drawingml/2006/main" noGrp="1"/>
          </p:cNvSpPr>
          <p:nvPr/>
        </p:nvSpPr>
        <p:spPr>
          <a:xfrm xmlns:a="http://schemas.openxmlformats.org/drawingml/2006/main">
            <a:off x="5181600" y="2524125"/>
            <a:ext cx="4000500" cy="1428750"/>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10" name="text-122">
            <a:extLst xmlns:a="http://schemas.openxmlformats.org/drawingml/2006/main">
              <a:ext uri="{FF2B5EF4-FFF2-40B4-BE49-F238E27FC236}">
                <a16:creationId xmlns:a16="http://schemas.microsoft.com/office/drawing/2014/main" id="{536D9818-916F-4B2C-BDD2-9784ADB7E6C0}"/>
              </a:ext>
            </a:extLst>
          </p:cNvPr>
          <p:cNvSpPr>
            <a:spLocks xmlns:a="http://schemas.openxmlformats.org/drawingml/2006/main" noGrp="1"/>
          </p:cNvSpPr>
          <p:nvPr/>
        </p:nvSpPr>
        <p:spPr>
          <a:xfrm xmlns:a="http://schemas.openxmlformats.org/drawingml/2006/main">
            <a:off x="5372100" y="2695575"/>
            <a:ext cx="3619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defRPr sz="2250" b="1">
                <a:solidFill>
                  <a:srgbClr val="157D80"/>
                </a:solidFill>
                <a:latin typeface="Aptos"/>
                <a:ea typeface="Aptos"/>
                <a:cs typeface="Aptos"/>
              </a:defRPr>
            </a:pPr>
            <a:r>
              <a:rPr sz="2250" b="1">
                <a:solidFill>
                  <a:srgbClr val="157D80"/>
                </a:solidFill>
                <a:latin typeface="Aptos"/>
                <a:ea typeface="Aptos"/>
                <a:cs typeface="Aptos"/>
              </a:rPr>
              <a:t>Durable inbox</a:t>
            </a:r>
          </a:p>
        </p:txBody>
      </p:sp>
      <p:sp>
        <p:nvSpPr>
          <p:cNvPr id="11" name="text-123">
            <a:extLst xmlns:a="http://schemas.openxmlformats.org/drawingml/2006/main">
              <a:ext uri="{FF2B5EF4-FFF2-40B4-BE49-F238E27FC236}">
                <a16:creationId xmlns:a16="http://schemas.microsoft.com/office/drawing/2014/main" id="{98D64943-B2D6-49FC-B602-46316AC831D2}"/>
              </a:ext>
            </a:extLst>
          </p:cNvPr>
          <p:cNvSpPr>
            <a:spLocks xmlns:a="http://schemas.openxmlformats.org/drawingml/2006/main" noGrp="1"/>
          </p:cNvSpPr>
          <p:nvPr/>
        </p:nvSpPr>
        <p:spPr>
          <a:xfrm xmlns:a="http://schemas.openxmlformats.org/drawingml/2006/main">
            <a:off x="5372100" y="3133725"/>
            <a:ext cx="3619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Event ID + atomic claim</a:t>
            </a:r>
          </a:p>
        </p:txBody>
      </p:sp>
      <p:sp>
        <p:nvSpPr>
          <p:cNvPr id="12" name="node-124">
            <a:extLst xmlns:a="http://schemas.openxmlformats.org/drawingml/2006/main">
              <a:ext uri="{FF2B5EF4-FFF2-40B4-BE49-F238E27FC236}">
                <a16:creationId xmlns:a16="http://schemas.microsoft.com/office/drawing/2014/main" id="{2227D411-6E0A-4508-9B61-8A2D8C390F27}"/>
              </a:ext>
            </a:extLst>
          </p:cNvPr>
          <p:cNvSpPr>
            <a:spLocks xmlns:a="http://schemas.openxmlformats.org/drawingml/2006/main" noGrp="1"/>
          </p:cNvSpPr>
          <p:nvPr/>
        </p:nvSpPr>
        <p:spPr>
          <a:xfrm xmlns:a="http://schemas.openxmlformats.org/drawingml/2006/main">
            <a:off x="10325100" y="2524125"/>
            <a:ext cx="43053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13" name="text-125">
            <a:extLst xmlns:a="http://schemas.openxmlformats.org/drawingml/2006/main">
              <a:ext uri="{FF2B5EF4-FFF2-40B4-BE49-F238E27FC236}">
                <a16:creationId xmlns:a16="http://schemas.microsoft.com/office/drawing/2014/main" id="{A70B9540-CFBC-455C-929D-3CF60D1270B9}"/>
              </a:ext>
            </a:extLst>
          </p:cNvPr>
          <p:cNvSpPr>
            <a:spLocks xmlns:a="http://schemas.openxmlformats.org/drawingml/2006/main" noGrp="1"/>
          </p:cNvSpPr>
          <p:nvPr/>
        </p:nvSpPr>
        <p:spPr>
          <a:xfrm xmlns:a="http://schemas.openxmlformats.org/drawingml/2006/main">
            <a:off x="10515600" y="2695575"/>
            <a:ext cx="3924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Native action</a:t>
            </a:r>
          </a:p>
        </p:txBody>
      </p:sp>
      <p:sp>
        <p:nvSpPr>
          <p:cNvPr id="14" name="text-126">
            <a:extLst xmlns:a="http://schemas.openxmlformats.org/drawingml/2006/main">
              <a:ext uri="{FF2B5EF4-FFF2-40B4-BE49-F238E27FC236}">
                <a16:creationId xmlns:a16="http://schemas.microsoft.com/office/drawing/2014/main" id="{F9C3CDF3-DF4D-442A-8086-FBBD59C31FF3}"/>
              </a:ext>
            </a:extLst>
          </p:cNvPr>
          <p:cNvSpPr>
            <a:spLocks xmlns:a="http://schemas.openxmlformats.org/drawingml/2006/main" noGrp="1"/>
          </p:cNvSpPr>
          <p:nvPr/>
        </p:nvSpPr>
        <p:spPr>
          <a:xfrm xmlns:a="http://schemas.openxmlformats.org/drawingml/2006/main">
            <a:off x="10515600" y="3133725"/>
            <a:ext cx="39243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Current authorization</a:t>
            </a:r>
          </a:p>
        </p:txBody>
      </p:sp>
      <p:sp>
        <p:nvSpPr>
          <p:cNvPr id="17" name="node-127">
            <a:extLst xmlns:a="http://schemas.openxmlformats.org/drawingml/2006/main">
              <a:ext uri="{FF2B5EF4-FFF2-40B4-BE49-F238E27FC236}">
                <a16:creationId xmlns:a16="http://schemas.microsoft.com/office/drawing/2014/main" id="{93149277-BBF7-46C2-BB16-9D0752D8F876}"/>
              </a:ext>
            </a:extLst>
          </p:cNvPr>
          <p:cNvSpPr>
            <a:spLocks xmlns:a="http://schemas.openxmlformats.org/drawingml/2006/main" noGrp="1"/>
          </p:cNvSpPr>
          <p:nvPr/>
        </p:nvSpPr>
        <p:spPr>
          <a:xfrm xmlns:a="http://schemas.openxmlformats.org/drawingml/2006/main">
            <a:off x="10325100" y="5572125"/>
            <a:ext cx="4305300" cy="1381125"/>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18" name="text-128">
            <a:extLst xmlns:a="http://schemas.openxmlformats.org/drawingml/2006/main">
              <a:ext uri="{FF2B5EF4-FFF2-40B4-BE49-F238E27FC236}">
                <a16:creationId xmlns:a16="http://schemas.microsoft.com/office/drawing/2014/main" id="{CD22364D-58FC-41A7-A369-59E1A35AC793}"/>
              </a:ext>
            </a:extLst>
          </p:cNvPr>
          <p:cNvSpPr>
            <a:spLocks xmlns:a="http://schemas.openxmlformats.org/drawingml/2006/main" noGrp="1"/>
          </p:cNvSpPr>
          <p:nvPr/>
        </p:nvSpPr>
        <p:spPr>
          <a:xfrm xmlns:a="http://schemas.openxmlformats.org/drawingml/2006/main">
            <a:off x="10515600" y="5743575"/>
            <a:ext cx="3924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defRPr sz="2250" b="1">
                <a:solidFill>
                  <a:srgbClr val="157D80"/>
                </a:solidFill>
                <a:latin typeface="Aptos"/>
                <a:ea typeface="Aptos"/>
                <a:cs typeface="Aptos"/>
              </a:defRPr>
            </a:pPr>
            <a:r>
              <a:rPr sz="2250" b="1">
                <a:solidFill>
                  <a:srgbClr val="157D80"/>
                </a:solidFill>
                <a:latin typeface="Aptos"/>
                <a:ea typeface="Aptos"/>
                <a:cs typeface="Aptos"/>
              </a:rPr>
              <a:t>Reconciliation</a:t>
            </a:r>
          </a:p>
        </p:txBody>
      </p:sp>
      <p:sp>
        <p:nvSpPr>
          <p:cNvPr id="19" name="text-129">
            <a:extLst xmlns:a="http://schemas.openxmlformats.org/drawingml/2006/main">
              <a:ext uri="{FF2B5EF4-FFF2-40B4-BE49-F238E27FC236}">
                <a16:creationId xmlns:a16="http://schemas.microsoft.com/office/drawing/2014/main" id="{C213AC5D-E887-4118-B2BF-8C392EEAF1AF}"/>
              </a:ext>
            </a:extLst>
          </p:cNvPr>
          <p:cNvSpPr>
            <a:spLocks xmlns:a="http://schemas.openxmlformats.org/drawingml/2006/main" noGrp="1"/>
          </p:cNvSpPr>
          <p:nvPr/>
        </p:nvSpPr>
        <p:spPr>
          <a:xfrm xmlns:a="http://schemas.openxmlformats.org/drawingml/2006/main">
            <a:off x="10515600" y="6181725"/>
            <a:ext cx="392430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Read native state first</a:t>
            </a:r>
          </a:p>
        </p:txBody>
      </p:sp>
      <p:sp>
        <p:nvSpPr>
          <p:cNvPr id="20" name="node-130">
            <a:extLst xmlns:a="http://schemas.openxmlformats.org/drawingml/2006/main">
              <a:ext uri="{FF2B5EF4-FFF2-40B4-BE49-F238E27FC236}">
                <a16:creationId xmlns:a16="http://schemas.microsoft.com/office/drawing/2014/main" id="{B6203233-C62C-4472-9274-B68579805A45}"/>
              </a:ext>
            </a:extLst>
          </p:cNvPr>
          <p:cNvSpPr>
            <a:spLocks xmlns:a="http://schemas.openxmlformats.org/drawingml/2006/main" noGrp="1"/>
          </p:cNvSpPr>
          <p:nvPr/>
        </p:nvSpPr>
        <p:spPr>
          <a:xfrm xmlns:a="http://schemas.openxmlformats.org/drawingml/2006/main">
            <a:off x="5181600" y="5572125"/>
            <a:ext cx="4000500" cy="1381125"/>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21" name="text-131">
            <a:extLst xmlns:a="http://schemas.openxmlformats.org/drawingml/2006/main">
              <a:ext uri="{FF2B5EF4-FFF2-40B4-BE49-F238E27FC236}">
                <a16:creationId xmlns:a16="http://schemas.microsoft.com/office/drawing/2014/main" id="{2249F277-E5D5-4753-B1A3-54FA961BFA3A}"/>
              </a:ext>
            </a:extLst>
          </p:cNvPr>
          <p:cNvSpPr>
            <a:spLocks xmlns:a="http://schemas.openxmlformats.org/drawingml/2006/main" noGrp="1"/>
          </p:cNvSpPr>
          <p:nvPr/>
        </p:nvSpPr>
        <p:spPr>
          <a:xfrm xmlns:a="http://schemas.openxmlformats.org/drawingml/2006/main">
            <a:off x="5372100" y="5743575"/>
            <a:ext cx="3619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Durable outbox</a:t>
            </a:r>
          </a:p>
        </p:txBody>
      </p:sp>
      <p:sp>
        <p:nvSpPr>
          <p:cNvPr id="22" name="text-132">
            <a:extLst xmlns:a="http://schemas.openxmlformats.org/drawingml/2006/main">
              <a:ext uri="{FF2B5EF4-FFF2-40B4-BE49-F238E27FC236}">
                <a16:creationId xmlns:a16="http://schemas.microsoft.com/office/drawing/2014/main" id="{1FE51020-D0D9-4DAB-A86B-5AF915145A2A}"/>
              </a:ext>
            </a:extLst>
          </p:cNvPr>
          <p:cNvSpPr>
            <a:spLocks xmlns:a="http://schemas.openxmlformats.org/drawingml/2006/main" noGrp="1"/>
          </p:cNvSpPr>
          <p:nvPr/>
        </p:nvSpPr>
        <p:spPr>
          <a:xfrm xmlns:a="http://schemas.openxmlformats.org/drawingml/2006/main">
            <a:off x="5372100" y="6181725"/>
            <a:ext cx="361950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Persist signed event</a:t>
            </a:r>
          </a:p>
        </p:txBody>
      </p:sp>
      <p:sp>
        <p:nvSpPr>
          <p:cNvPr id="23" name="node-133">
            <a:extLst xmlns:a="http://schemas.openxmlformats.org/drawingml/2006/main">
              <a:ext uri="{FF2B5EF4-FFF2-40B4-BE49-F238E27FC236}">
                <a16:creationId xmlns:a16="http://schemas.microsoft.com/office/drawing/2014/main" id="{C4016D16-AB4D-4E23-B4F8-753594BA6BAF}"/>
              </a:ext>
            </a:extLst>
          </p:cNvPr>
          <p:cNvSpPr>
            <a:spLocks xmlns:a="http://schemas.openxmlformats.org/drawingml/2006/main" noGrp="1"/>
          </p:cNvSpPr>
          <p:nvPr/>
        </p:nvSpPr>
        <p:spPr>
          <a:xfrm xmlns:a="http://schemas.openxmlformats.org/drawingml/2006/main">
            <a:off x="609600" y="5572125"/>
            <a:ext cx="3429000" cy="1381125"/>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24" name="text-134">
            <a:extLst xmlns:a="http://schemas.openxmlformats.org/drawingml/2006/main">
              <a:ext uri="{FF2B5EF4-FFF2-40B4-BE49-F238E27FC236}">
                <a16:creationId xmlns:a16="http://schemas.microsoft.com/office/drawing/2014/main" id="{3FCEF27D-BA95-43F9-93CC-D0DE866D37FB}"/>
              </a:ext>
            </a:extLst>
          </p:cNvPr>
          <p:cNvSpPr>
            <a:spLocks xmlns:a="http://schemas.openxmlformats.org/drawingml/2006/main" noGrp="1"/>
          </p:cNvSpPr>
          <p:nvPr/>
        </p:nvSpPr>
        <p:spPr>
          <a:xfrm xmlns:a="http://schemas.openxmlformats.org/drawingml/2006/main">
            <a:off x="800100" y="5743575"/>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Buzz receipt</a:t>
            </a:r>
          </a:p>
        </p:txBody>
      </p:sp>
      <p:sp>
        <p:nvSpPr>
          <p:cNvPr id="25" name="text-135">
            <a:extLst xmlns:a="http://schemas.openxmlformats.org/drawingml/2006/main">
              <a:ext uri="{FF2B5EF4-FFF2-40B4-BE49-F238E27FC236}">
                <a16:creationId xmlns:a16="http://schemas.microsoft.com/office/drawing/2014/main" id="{931961FC-5386-4590-A2BF-594F00AE8EF5}"/>
              </a:ext>
            </a:extLst>
          </p:cNvPr>
          <p:cNvSpPr>
            <a:spLocks xmlns:a="http://schemas.openxmlformats.org/drawingml/2006/main" noGrp="1"/>
          </p:cNvSpPr>
          <p:nvPr/>
        </p:nvSpPr>
        <p:spPr>
          <a:xfrm xmlns:a="http://schemas.openxmlformats.org/drawingml/2006/main">
            <a:off x="800100" y="6181725"/>
            <a:ext cx="304800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Retry same event ID</a:t>
            </a:r>
          </a:p>
        </p:txBody>
      </p:sp>
      <p:sp>
        <p:nvSpPr>
          <p:cNvPr id="29" name="text-136">
            <a:extLst xmlns:a="http://schemas.openxmlformats.org/drawingml/2006/main">
              <a:ext uri="{FF2B5EF4-FFF2-40B4-BE49-F238E27FC236}">
                <a16:creationId xmlns:a16="http://schemas.microsoft.com/office/drawing/2014/main" id="{E2F6D6EF-74B0-43DB-8033-E7B7C5DD5429}"/>
              </a:ext>
            </a:extLst>
          </p:cNvPr>
          <p:cNvSpPr>
            <a:spLocks xmlns:a="http://schemas.openxmlformats.org/drawingml/2006/main" noGrp="1"/>
          </p:cNvSpPr>
          <p:nvPr/>
        </p:nvSpPr>
        <p:spPr>
          <a:xfrm xmlns:a="http://schemas.openxmlformats.org/drawingml/2006/main">
            <a:off x="10668000" y="4314825"/>
            <a:ext cx="3619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Uncertain write</a:t>
            </a:r>
          </a:p>
        </p:txBody>
      </p:sp>
    </p:spTree>
    <p:extLst>
      <p:ext uri="{BB962C8B-B14F-4D97-AF65-F5344CB8AC3E}">
        <p14:creationId xmlns:p14="http://schemas.microsoft.com/office/powerpoint/2010/main" val="1592003797"/>
      </p:ext>
    </p:extLst>
  </p:cSld>
</p:sld>
</file>

<file path=ppt/slides/slide7.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16" name="">
            <a:extLst xmlns:a="http://schemas.openxmlformats.org/drawingml/2006/main">
              <a:ext uri="{FF2B5EF4-FFF2-40B4-BE49-F238E27FC236}">
                <a16:creationId xmlns:a16="http://schemas.microsoft.com/office/drawing/2014/main" id="{F810477A-895E-446D-B875-C1C03D5E1E08}"/>
              </a:ext>
            </a:extLst>
          </p:cNvPr>
          <p:cNvCxnSpPr>
            <a:stCxn xmlns:a="http://schemas.openxmlformats.org/drawingml/2006/main" id="9" idx="3"/>
            <a:endCxn xmlns:a="http://schemas.openxmlformats.org/drawingml/2006/main" id="12" idx="1"/>
          </p:cNvCxnSpPr>
          <p:nvPr/>
        </p:nvCxnSpPr>
        <p:spPr>
          <a:xfrm xmlns:a="http://schemas.openxmlformats.org/drawingml/2006/main">
            <a:off x="9563100" y="3476625"/>
            <a:ext cx="1333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5" name="">
            <a:extLst xmlns:a="http://schemas.openxmlformats.org/drawingml/2006/main">
              <a:ext uri="{FF2B5EF4-FFF2-40B4-BE49-F238E27FC236}">
                <a16:creationId xmlns:a16="http://schemas.microsoft.com/office/drawing/2014/main" id="{D78137A7-C07D-492B-9CF7-DF46E08F09EA}"/>
              </a:ext>
            </a:extLst>
          </p:cNvPr>
          <p:cNvCxnSpPr>
            <a:stCxn xmlns:a="http://schemas.openxmlformats.org/drawingml/2006/main" id="6" idx="3"/>
            <a:endCxn xmlns:a="http://schemas.openxmlformats.org/drawingml/2006/main" id="9" idx="1"/>
          </p:cNvCxnSpPr>
          <p:nvPr/>
        </p:nvCxnSpPr>
        <p:spPr>
          <a:xfrm xmlns:a="http://schemas.openxmlformats.org/drawingml/2006/main">
            <a:off x="4419600" y="3476625"/>
            <a:ext cx="1333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26" name="text-137">
            <a:extLst xmlns:a="http://schemas.openxmlformats.org/drawingml/2006/main">
              <a:ext uri="{FF2B5EF4-FFF2-40B4-BE49-F238E27FC236}">
                <a16:creationId xmlns:a16="http://schemas.microsoft.com/office/drawing/2014/main" id="{5DBEA419-9ABF-4F58-9F51-A049F9DEA84B}"/>
              </a:ext>
            </a:extLst>
          </p:cNvPr>
          <p:cNvSpPr>
            <a:spLocks xmlns:a="http://schemas.openxmlformats.org/drawingml/2006/main" noGrp="1"/>
          </p:cNvSpPr>
          <p:nvPr/>
        </p:nvSpPr>
        <p:spPr>
          <a:xfrm xmlns:a="http://schemas.openxmlformats.org/drawingml/2006/main">
            <a:off x="609600" y="542925"/>
            <a:ext cx="14020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600" b="1">
                <a:solidFill>
                  <a:srgbClr val="132E38"/>
                </a:solidFill>
                <a:latin typeface="Aptos"/>
                <a:ea typeface="Aptos"/>
                <a:cs typeface="Aptos"/>
              </a:defRPr>
            </a:defPPr>
          </a:lstStyle>
          <a:p xmlns:a="http://schemas.openxmlformats.org/drawingml/2006/main">
            <a:pPr>
              <a:defRPr sz="3600" b="1">
                <a:solidFill>
                  <a:srgbClr val="132E38"/>
                </a:solidFill>
                <a:latin typeface="Aptos"/>
                <a:ea typeface="Aptos"/>
                <a:cs typeface="Aptos"/>
              </a:defRPr>
            </a:pPr>
            <a:r>
              <a:rPr sz="3600" b="1">
                <a:solidFill>
                  <a:srgbClr val="132E38"/>
                </a:solidFill>
                <a:latin typeface="Aptos"/>
                <a:ea typeface="Aptos"/>
                <a:cs typeface="Aptos"/>
              </a:rPr>
              <a:t>Qualification evidence</a:t>
            </a:r>
          </a:p>
        </p:txBody>
      </p:sp>
      <p:sp>
        <p:nvSpPr>
          <p:cNvPr id="2" name="text-138">
            <a:extLst xmlns:a="http://schemas.openxmlformats.org/drawingml/2006/main">
              <a:ext uri="{FF2B5EF4-FFF2-40B4-BE49-F238E27FC236}">
                <a16:creationId xmlns:a16="http://schemas.microsoft.com/office/drawing/2014/main" id="{569245D7-EB11-4FB7-BB16-276601A1D6DE}"/>
              </a:ext>
            </a:extLst>
          </p:cNvPr>
          <p:cNvSpPr>
            <a:spLocks xmlns:a="http://schemas.openxmlformats.org/drawingml/2006/main" noGrp="1"/>
          </p:cNvSpPr>
          <p:nvPr/>
        </p:nvSpPr>
        <p:spPr>
          <a:xfrm xmlns:a="http://schemas.openxmlformats.org/drawingml/2006/main">
            <a:off x="609600" y="1333500"/>
            <a:ext cx="14020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49616A"/>
                </a:solidFill>
                <a:latin typeface="Aptos"/>
                <a:ea typeface="Aptos"/>
                <a:cs typeface="Aptos"/>
              </a:defRPr>
            </a:defPPr>
          </a:lstStyle>
          <a:p xmlns:a="http://schemas.openxmlformats.org/drawingml/2006/main">
            <a:pPr>
              <a:defRPr sz="2025" b="0">
                <a:solidFill>
                  <a:srgbClr val="49616A"/>
                </a:solidFill>
                <a:latin typeface="Aptos"/>
                <a:ea typeface="Aptos"/>
                <a:cs typeface="Aptos"/>
              </a:defRPr>
            </a:pPr>
            <a:r>
              <a:rPr sz="2025" b="0">
                <a:solidFill>
                  <a:srgbClr val="49616A"/>
                </a:solidFill>
                <a:latin typeface="Aptos"/>
                <a:ea typeface="Aptos"/>
                <a:cs typeface="Aptos"/>
              </a:rPr>
              <a:t>Recorded results · 23 October 2026</a:t>
            </a:r>
          </a:p>
        </p:txBody>
      </p:sp>
      <p:sp>
        <p:nvSpPr>
          <p:cNvPr id="3" name="">
            <a:extLst xmlns:a="http://schemas.openxmlformats.org/drawingml/2006/main">
              <a:ext uri="{FF2B5EF4-FFF2-40B4-BE49-F238E27FC236}">
                <a16:creationId xmlns:a16="http://schemas.microsoft.com/office/drawing/2014/main" id="{653D04A9-C03F-47EB-9330-49D9C87BFFB7}"/>
              </a:ext>
            </a:extLst>
          </p:cNvPr>
          <p:cNvSpPr>
            <a:spLocks xmlns:a="http://schemas.openxmlformats.org/drawingml/2006/main" noGrp="1"/>
          </p:cNvSpPr>
          <p:nvPr/>
        </p:nvSpPr>
        <p:spPr>
          <a:xfrm xmlns:a="http://schemas.openxmlformats.org/drawingml/2006/main">
            <a:off x="609600" y="7905750"/>
            <a:ext cx="14020800" cy="0"/>
          </a:xfrm>
          <a:prstGeom xmlns:a="http://schemas.openxmlformats.org/drawingml/2006/main" prst="line">
            <a:avLst/>
          </a:prstGeom>
          <a:ln xmlns:a="http://schemas.openxmlformats.org/drawingml/2006/main" w="9525">
            <a:solidFill>
              <a:srgbClr val="B9C9C7"/>
            </a:solidFill>
            <a:prstDash val="solid"/>
          </a:ln>
        </p:spPr>
      </p:sp>
      <p:sp>
        <p:nvSpPr>
          <p:cNvPr id="4" name="text-139">
            <a:extLst xmlns:a="http://schemas.openxmlformats.org/drawingml/2006/main">
              <a:ext uri="{FF2B5EF4-FFF2-40B4-BE49-F238E27FC236}">
                <a16:creationId xmlns:a16="http://schemas.microsoft.com/office/drawing/2014/main" id="{C0FB24F1-7CF7-48A1-91DE-540999BB40C4}"/>
              </a:ext>
            </a:extLst>
          </p:cNvPr>
          <p:cNvSpPr>
            <a:spLocks xmlns:a="http://schemas.openxmlformats.org/drawingml/2006/main" noGrp="1"/>
          </p:cNvSpPr>
          <p:nvPr/>
        </p:nvSpPr>
        <p:spPr>
          <a:xfrm xmlns:a="http://schemas.openxmlformats.org/drawingml/2006/main">
            <a:off x="609600" y="8086725"/>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350" b="0">
                <a:solidFill>
                  <a:srgbClr val="49616A"/>
                </a:solidFill>
                <a:latin typeface="Aptos"/>
                <a:ea typeface="Aptos"/>
                <a:cs typeface="Aptos"/>
              </a:defRPr>
            </a:defPPr>
          </a:lstStyle>
          <a:p xmlns:a="http://schemas.openxmlformats.org/drawingml/2006/main">
            <a:pPr>
              <a:defRPr sz="1350" b="0">
                <a:solidFill>
                  <a:srgbClr val="49616A"/>
                </a:solidFill>
                <a:latin typeface="Aptos"/>
                <a:ea typeface="Aptos"/>
                <a:cs typeface="Aptos"/>
              </a:defRPr>
            </a:pPr>
            <a:r>
              <a:rPr sz="1350" b="0">
                <a:solidFill>
                  <a:srgbClr val="49616A"/>
                </a:solidFill>
                <a:latin typeface="Aptos"/>
                <a:ea typeface="Aptos"/>
                <a:cs typeface="Aptos"/>
              </a:rPr>
              <a:t>Inertia architecture · 23 October 2026</a:t>
            </a:r>
          </a:p>
        </p:txBody>
      </p:sp>
      <p:sp>
        <p:nvSpPr>
          <p:cNvPr id="5" name="text-140">
            <a:extLst xmlns:a="http://schemas.openxmlformats.org/drawingml/2006/main">
              <a:ext uri="{FF2B5EF4-FFF2-40B4-BE49-F238E27FC236}">
                <a16:creationId xmlns:a16="http://schemas.microsoft.com/office/drawing/2014/main" id="{121E94EE-BAFC-46AE-997F-7D47C40C2BFE}"/>
              </a:ext>
            </a:extLst>
          </p:cNvPr>
          <p:cNvSpPr>
            <a:spLocks xmlns:a="http://schemas.openxmlformats.org/drawingml/2006/main" noGrp="1"/>
          </p:cNvSpPr>
          <p:nvPr/>
        </p:nvSpPr>
        <p:spPr>
          <a:xfrm xmlns:a="http://schemas.openxmlformats.org/drawingml/2006/main">
            <a:off x="14097000" y="8058150"/>
            <a:ext cx="533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650" b="1">
                <a:solidFill>
                  <a:srgbClr val="157D80"/>
                </a:solidFill>
                <a:latin typeface="Aptos"/>
                <a:ea typeface="Aptos"/>
                <a:cs typeface="Aptos"/>
              </a:defRPr>
            </a:defPPr>
          </a:lstStyle>
          <a:p xmlns:a="http://schemas.openxmlformats.org/drawingml/2006/main">
            <a:pPr>
              <a:defRPr sz="1650" b="1">
                <a:solidFill>
                  <a:srgbClr val="157D80"/>
                </a:solidFill>
                <a:latin typeface="Aptos"/>
                <a:ea typeface="Aptos"/>
                <a:cs typeface="Aptos"/>
              </a:defRPr>
            </a:pPr>
            <a:r>
              <a:rPr sz="1650" b="1">
                <a:solidFill>
                  <a:srgbClr val="157D80"/>
                </a:solidFill>
                <a:latin typeface="Aptos"/>
                <a:ea typeface="Aptos"/>
                <a:cs typeface="Aptos"/>
              </a:rPr>
              <a:t>7</a:t>
            </a:r>
          </a:p>
        </p:txBody>
      </p:sp>
      <p:sp>
        <p:nvSpPr>
          <p:cNvPr id="6" name="node-141">
            <a:extLst xmlns:a="http://schemas.openxmlformats.org/drawingml/2006/main">
              <a:ext uri="{FF2B5EF4-FFF2-40B4-BE49-F238E27FC236}">
                <a16:creationId xmlns:a16="http://schemas.microsoft.com/office/drawing/2014/main" id="{00920475-19AD-4E94-B4D3-354097348104}"/>
              </a:ext>
            </a:extLst>
          </p:cNvPr>
          <p:cNvSpPr>
            <a:spLocks xmlns:a="http://schemas.openxmlformats.org/drawingml/2006/main" noGrp="1"/>
          </p:cNvSpPr>
          <p:nvPr/>
        </p:nvSpPr>
        <p:spPr>
          <a:xfrm xmlns:a="http://schemas.openxmlformats.org/drawingml/2006/main">
            <a:off x="609600" y="2714625"/>
            <a:ext cx="3810000" cy="15240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7" name="text-142">
            <a:extLst xmlns:a="http://schemas.openxmlformats.org/drawingml/2006/main">
              <a:ext uri="{FF2B5EF4-FFF2-40B4-BE49-F238E27FC236}">
                <a16:creationId xmlns:a16="http://schemas.microsoft.com/office/drawing/2014/main" id="{879F5A3A-8455-432A-9C7C-C8336C3257B5}"/>
              </a:ext>
            </a:extLst>
          </p:cNvPr>
          <p:cNvSpPr>
            <a:spLocks xmlns:a="http://schemas.openxmlformats.org/drawingml/2006/main" noGrp="1"/>
          </p:cNvSpPr>
          <p:nvPr/>
        </p:nvSpPr>
        <p:spPr>
          <a:xfrm xmlns:a="http://schemas.openxmlformats.org/drawingml/2006/main">
            <a:off x="800100" y="2886075"/>
            <a:ext cx="3429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Reviewed source</a:t>
            </a:r>
          </a:p>
        </p:txBody>
      </p:sp>
      <p:sp>
        <p:nvSpPr>
          <p:cNvPr id="8" name="text-143">
            <a:extLst xmlns:a="http://schemas.openxmlformats.org/drawingml/2006/main">
              <a:ext uri="{FF2B5EF4-FFF2-40B4-BE49-F238E27FC236}">
                <a16:creationId xmlns:a16="http://schemas.microsoft.com/office/drawing/2014/main" id="{95349F81-D907-4084-91D0-EFC4DB40B92E}"/>
              </a:ext>
            </a:extLst>
          </p:cNvPr>
          <p:cNvSpPr>
            <a:spLocks xmlns:a="http://schemas.openxmlformats.org/drawingml/2006/main" noGrp="1"/>
          </p:cNvSpPr>
          <p:nvPr/>
        </p:nvSpPr>
        <p:spPr>
          <a:xfrm xmlns:a="http://schemas.openxmlformats.org/drawingml/2006/main">
            <a:off x="800100" y="3324225"/>
            <a:ext cx="3429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248 combined tests</a:t>
            </a:r>
          </a:p>
        </p:txBody>
      </p:sp>
      <p:sp>
        <p:nvSpPr>
          <p:cNvPr id="9" name="node-144">
            <a:extLst xmlns:a="http://schemas.openxmlformats.org/drawingml/2006/main">
              <a:ext uri="{FF2B5EF4-FFF2-40B4-BE49-F238E27FC236}">
                <a16:creationId xmlns:a16="http://schemas.microsoft.com/office/drawing/2014/main" id="{FE4B8081-12CA-4115-B3E3-CC8D28045A56}"/>
              </a:ext>
            </a:extLst>
          </p:cNvPr>
          <p:cNvSpPr>
            <a:spLocks xmlns:a="http://schemas.openxmlformats.org/drawingml/2006/main" noGrp="1"/>
          </p:cNvSpPr>
          <p:nvPr/>
        </p:nvSpPr>
        <p:spPr>
          <a:xfrm xmlns:a="http://schemas.openxmlformats.org/drawingml/2006/main">
            <a:off x="5753100" y="2714625"/>
            <a:ext cx="3810000" cy="1524000"/>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10" name="text-145">
            <a:extLst xmlns:a="http://schemas.openxmlformats.org/drawingml/2006/main">
              <a:ext uri="{FF2B5EF4-FFF2-40B4-BE49-F238E27FC236}">
                <a16:creationId xmlns:a16="http://schemas.microsoft.com/office/drawing/2014/main" id="{046A7D38-B350-4782-A554-036CCF49CA31}"/>
              </a:ext>
            </a:extLst>
          </p:cNvPr>
          <p:cNvSpPr>
            <a:spLocks xmlns:a="http://schemas.openxmlformats.org/drawingml/2006/main" noGrp="1"/>
          </p:cNvSpPr>
          <p:nvPr/>
        </p:nvSpPr>
        <p:spPr>
          <a:xfrm xmlns:a="http://schemas.openxmlformats.org/drawingml/2006/main">
            <a:off x="5943600" y="2886075"/>
            <a:ext cx="3429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defRPr sz="2250" b="1">
                <a:solidFill>
                  <a:srgbClr val="157D80"/>
                </a:solidFill>
                <a:latin typeface="Aptos"/>
                <a:ea typeface="Aptos"/>
                <a:cs typeface="Aptos"/>
              </a:defRPr>
            </a:pPr>
            <a:r>
              <a:rPr sz="2250" b="1">
                <a:solidFill>
                  <a:srgbClr val="157D80"/>
                </a:solidFill>
                <a:latin typeface="Aptos"/>
                <a:ea typeface="Aptos"/>
                <a:cs typeface="Aptos"/>
              </a:rPr>
              <a:t>Exact runtime archive</a:t>
            </a:r>
          </a:p>
        </p:txBody>
      </p:sp>
      <p:sp>
        <p:nvSpPr>
          <p:cNvPr id="11" name="text-146">
            <a:extLst xmlns:a="http://schemas.openxmlformats.org/drawingml/2006/main">
              <a:ext uri="{FF2B5EF4-FFF2-40B4-BE49-F238E27FC236}">
                <a16:creationId xmlns:a16="http://schemas.microsoft.com/office/drawing/2014/main" id="{8460170D-21DF-4EF9-A5B9-9F9A85E48334}"/>
              </a:ext>
            </a:extLst>
          </p:cNvPr>
          <p:cNvSpPr>
            <a:spLocks xmlns:a="http://schemas.openxmlformats.org/drawingml/2006/main" noGrp="1"/>
          </p:cNvSpPr>
          <p:nvPr/>
        </p:nvSpPr>
        <p:spPr>
          <a:xfrm xmlns:a="http://schemas.openxmlformats.org/drawingml/2006/main">
            <a:off x="5943600" y="3324225"/>
            <a:ext cx="3429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SHA-256 pinned in receipt</a:t>
            </a:r>
          </a:p>
        </p:txBody>
      </p:sp>
      <p:sp>
        <p:nvSpPr>
          <p:cNvPr id="12" name="node-147">
            <a:extLst xmlns:a="http://schemas.openxmlformats.org/drawingml/2006/main">
              <a:ext uri="{FF2B5EF4-FFF2-40B4-BE49-F238E27FC236}">
                <a16:creationId xmlns:a16="http://schemas.microsoft.com/office/drawing/2014/main" id="{B47DBCDA-1E78-4CCD-A6C9-5E50A4DDC86A}"/>
              </a:ext>
            </a:extLst>
          </p:cNvPr>
          <p:cNvSpPr>
            <a:spLocks xmlns:a="http://schemas.openxmlformats.org/drawingml/2006/main" noGrp="1"/>
          </p:cNvSpPr>
          <p:nvPr/>
        </p:nvSpPr>
        <p:spPr>
          <a:xfrm xmlns:a="http://schemas.openxmlformats.org/drawingml/2006/main">
            <a:off x="10896600" y="2714625"/>
            <a:ext cx="3733800" cy="15240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13" name="text-148">
            <a:extLst xmlns:a="http://schemas.openxmlformats.org/drawingml/2006/main">
              <a:ext uri="{FF2B5EF4-FFF2-40B4-BE49-F238E27FC236}">
                <a16:creationId xmlns:a16="http://schemas.microsoft.com/office/drawing/2014/main" id="{CF0CA507-A87D-416B-B731-896E84F6FC68}"/>
              </a:ext>
            </a:extLst>
          </p:cNvPr>
          <p:cNvSpPr>
            <a:spLocks xmlns:a="http://schemas.openxmlformats.org/drawingml/2006/main" noGrp="1"/>
          </p:cNvSpPr>
          <p:nvPr/>
        </p:nvSpPr>
        <p:spPr>
          <a:xfrm xmlns:a="http://schemas.openxmlformats.org/drawingml/2006/main">
            <a:off x="11087100" y="2886075"/>
            <a:ext cx="335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Native services</a:t>
            </a:r>
          </a:p>
        </p:txBody>
      </p:sp>
      <p:sp>
        <p:nvSpPr>
          <p:cNvPr id="14" name="text-149">
            <a:extLst xmlns:a="http://schemas.openxmlformats.org/drawingml/2006/main">
              <a:ext uri="{FF2B5EF4-FFF2-40B4-BE49-F238E27FC236}">
                <a16:creationId xmlns:a16="http://schemas.microsoft.com/office/drawing/2014/main" id="{C3BA5727-0934-41C1-A8F0-00BCC95088D7}"/>
              </a:ext>
            </a:extLst>
          </p:cNvPr>
          <p:cNvSpPr>
            <a:spLocks xmlns:a="http://schemas.openxmlformats.org/drawingml/2006/main" noGrp="1"/>
          </p:cNvSpPr>
          <p:nvPr/>
        </p:nvSpPr>
        <p:spPr>
          <a:xfrm xmlns:a="http://schemas.openxmlformats.org/drawingml/2006/main">
            <a:off x="11087100" y="3324225"/>
            <a:ext cx="33528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Paperclip 2026.1012.0</a:t>
            </a:r>
          </a:p>
        </p:txBody>
      </p:sp>
      <p:sp>
        <p:nvSpPr>
          <p:cNvPr id="17" name="text-150">
            <a:extLst xmlns:a="http://schemas.openxmlformats.org/drawingml/2006/main">
              <a:ext uri="{FF2B5EF4-FFF2-40B4-BE49-F238E27FC236}">
                <a16:creationId xmlns:a16="http://schemas.microsoft.com/office/drawing/2014/main" id="{846489BB-727A-486E-A288-AB6639BFB5DD}"/>
              </a:ext>
            </a:extLst>
          </p:cNvPr>
          <p:cNvSpPr>
            <a:spLocks xmlns:a="http://schemas.openxmlformats.org/drawingml/2006/main" noGrp="1"/>
          </p:cNvSpPr>
          <p:nvPr/>
        </p:nvSpPr>
        <p:spPr>
          <a:xfrm xmlns:a="http://schemas.openxmlformats.org/drawingml/2006/main">
            <a:off x="609600" y="4495800"/>
            <a:ext cx="3810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Typecheck + build</a:t>
            </a:r>
          </a:p>
        </p:txBody>
      </p:sp>
      <p:sp>
        <p:nvSpPr>
          <p:cNvPr id="18" name="text-151">
            <a:extLst xmlns:a="http://schemas.openxmlformats.org/drawingml/2006/main">
              <a:ext uri="{FF2B5EF4-FFF2-40B4-BE49-F238E27FC236}">
                <a16:creationId xmlns:a16="http://schemas.microsoft.com/office/drawing/2014/main" id="{25028866-1F18-4D8E-A893-35A0D5213A36}"/>
              </a:ext>
            </a:extLst>
          </p:cNvPr>
          <p:cNvSpPr>
            <a:spLocks xmlns:a="http://schemas.openxmlformats.org/drawingml/2006/main" noGrp="1"/>
          </p:cNvSpPr>
          <p:nvPr/>
        </p:nvSpPr>
        <p:spPr>
          <a:xfrm xmlns:a="http://schemas.openxmlformats.org/drawingml/2006/main">
            <a:off x="5753100" y="4495800"/>
            <a:ext cx="3810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Package verification</a:t>
            </a:r>
          </a:p>
        </p:txBody>
      </p:sp>
      <p:sp>
        <p:nvSpPr>
          <p:cNvPr id="19" name="text-152">
            <a:extLst xmlns:a="http://schemas.openxmlformats.org/drawingml/2006/main">
              <a:ext uri="{FF2B5EF4-FFF2-40B4-BE49-F238E27FC236}">
                <a16:creationId xmlns:a16="http://schemas.microsoft.com/office/drawing/2014/main" id="{43818037-20A1-4E51-A578-5D9C9A9595B8}"/>
              </a:ext>
            </a:extLst>
          </p:cNvPr>
          <p:cNvSpPr>
            <a:spLocks xmlns:a="http://schemas.openxmlformats.org/drawingml/2006/main" noGrp="1"/>
          </p:cNvSpPr>
          <p:nvPr/>
        </p:nvSpPr>
        <p:spPr>
          <a:xfrm xmlns:a="http://schemas.openxmlformats.org/drawingml/2006/main">
            <a:off x="10896600" y="4495800"/>
            <a:ext cx="37338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PostgreSQL 18.1</a:t>
            </a:r>
          </a:p>
        </p:txBody>
      </p:sp>
      <p:sp>
        <p:nvSpPr>
          <p:cNvPr id="20" name="">
            <a:extLst xmlns:a="http://schemas.openxmlformats.org/drawingml/2006/main">
              <a:ext uri="{FF2B5EF4-FFF2-40B4-BE49-F238E27FC236}">
                <a16:creationId xmlns:a16="http://schemas.microsoft.com/office/drawing/2014/main" id="{83E0E8F0-032F-4110-B70C-41B11A29EAE0}"/>
              </a:ext>
            </a:extLst>
          </p:cNvPr>
          <p:cNvSpPr>
            <a:spLocks xmlns:a="http://schemas.openxmlformats.org/drawingml/2006/main" noGrp="1"/>
          </p:cNvSpPr>
          <p:nvPr/>
        </p:nvSpPr>
        <p:spPr>
          <a:xfrm xmlns:a="http://schemas.openxmlformats.org/drawingml/2006/main">
            <a:off x="609600" y="5562600"/>
            <a:ext cx="14020800" cy="0"/>
          </a:xfrm>
          <a:prstGeom xmlns:a="http://schemas.openxmlformats.org/drawingml/2006/main" prst="line">
            <a:avLst/>
          </a:prstGeom>
          <a:ln xmlns:a="http://schemas.openxmlformats.org/drawingml/2006/main" w="9525">
            <a:solidFill>
              <a:srgbClr val="B9C9C7"/>
            </a:solidFill>
            <a:prstDash val="solid"/>
          </a:ln>
        </p:spPr>
      </p:sp>
      <p:sp>
        <p:nvSpPr>
          <p:cNvPr id="21" name="text-153">
            <a:extLst xmlns:a="http://schemas.openxmlformats.org/drawingml/2006/main">
              <a:ext uri="{FF2B5EF4-FFF2-40B4-BE49-F238E27FC236}">
                <a16:creationId xmlns:a16="http://schemas.microsoft.com/office/drawing/2014/main" id="{FEC7D07E-882D-4D7B-8C95-AD82A98BC995}"/>
              </a:ext>
            </a:extLst>
          </p:cNvPr>
          <p:cNvSpPr>
            <a:spLocks xmlns:a="http://schemas.openxmlformats.org/drawingml/2006/main" noGrp="1"/>
          </p:cNvSpPr>
          <p:nvPr/>
        </p:nvSpPr>
        <p:spPr>
          <a:xfrm xmlns:a="http://schemas.openxmlformats.org/drawingml/2006/main">
            <a:off x="609600" y="5981700"/>
            <a:ext cx="3810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850" b="1">
                <a:solidFill>
                  <a:srgbClr val="157D80"/>
                </a:solidFill>
                <a:latin typeface="Aptos"/>
                <a:ea typeface="Aptos"/>
                <a:cs typeface="Aptos"/>
              </a:defRPr>
            </a:defPPr>
          </a:lstStyle>
          <a:p xmlns:a="http://schemas.openxmlformats.org/drawingml/2006/main">
            <a:pPr>
              <a:defRPr sz="2850" b="1">
                <a:solidFill>
                  <a:srgbClr val="157D80"/>
                </a:solidFill>
                <a:latin typeface="Aptos"/>
                <a:ea typeface="Aptos"/>
                <a:cs typeface="Aptos"/>
              </a:defRPr>
            </a:pPr>
            <a:r>
              <a:rPr sz="2850" b="1">
                <a:solidFill>
                  <a:srgbClr val="157D80"/>
                </a:solidFill>
                <a:latin typeface="Aptos"/>
                <a:ea typeface="Aptos"/>
                <a:cs typeface="Aptos"/>
              </a:rPr>
              <a:t>6 migrations</a:t>
            </a:r>
          </a:p>
        </p:txBody>
      </p:sp>
      <p:sp>
        <p:nvSpPr>
          <p:cNvPr id="22" name="text-154">
            <a:extLst xmlns:a="http://schemas.openxmlformats.org/drawingml/2006/main">
              <a:ext uri="{FF2B5EF4-FFF2-40B4-BE49-F238E27FC236}">
                <a16:creationId xmlns:a16="http://schemas.microsoft.com/office/drawing/2014/main" id="{32DE307E-2DF1-479D-92AA-57D1F7B51A53}"/>
              </a:ext>
            </a:extLst>
          </p:cNvPr>
          <p:cNvSpPr>
            <a:spLocks xmlns:a="http://schemas.openxmlformats.org/drawingml/2006/main" noGrp="1"/>
          </p:cNvSpPr>
          <p:nvPr/>
        </p:nvSpPr>
        <p:spPr>
          <a:xfrm xmlns:a="http://schemas.openxmlformats.org/drawingml/2006/main">
            <a:off x="5753100" y="5981700"/>
            <a:ext cx="4286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850" b="1">
                <a:solidFill>
                  <a:srgbClr val="157D80"/>
                </a:solidFill>
                <a:latin typeface="Aptos"/>
                <a:ea typeface="Aptos"/>
                <a:cs typeface="Aptos"/>
              </a:defRPr>
            </a:defPPr>
          </a:lstStyle>
          <a:p xmlns:a="http://schemas.openxmlformats.org/drawingml/2006/main">
            <a:pPr>
              <a:defRPr sz="2850" b="1">
                <a:solidFill>
                  <a:srgbClr val="157D80"/>
                </a:solidFill>
                <a:latin typeface="Aptos"/>
                <a:ea typeface="Aptos"/>
                <a:cs typeface="Aptos"/>
              </a:defRPr>
            </a:pPr>
            <a:r>
              <a:rPr sz="2850" b="1">
                <a:solidFill>
                  <a:srgbClr val="157D80"/>
                </a:solidFill>
                <a:latin typeface="Aptos"/>
                <a:ea typeface="Aptos"/>
                <a:cs typeface="Aptos"/>
              </a:rPr>
              <a:t>8 namespace tables</a:t>
            </a:r>
          </a:p>
        </p:txBody>
      </p:sp>
      <p:sp>
        <p:nvSpPr>
          <p:cNvPr id="23" name="text-155">
            <a:extLst xmlns:a="http://schemas.openxmlformats.org/drawingml/2006/main">
              <a:ext uri="{FF2B5EF4-FFF2-40B4-BE49-F238E27FC236}">
                <a16:creationId xmlns:a16="http://schemas.microsoft.com/office/drawing/2014/main" id="{7A795B4E-4095-4696-BB5A-AA4C0FABD213}"/>
              </a:ext>
            </a:extLst>
          </p:cNvPr>
          <p:cNvSpPr>
            <a:spLocks xmlns:a="http://schemas.openxmlformats.org/drawingml/2006/main" noGrp="1"/>
          </p:cNvSpPr>
          <p:nvPr/>
        </p:nvSpPr>
        <p:spPr>
          <a:xfrm xmlns:a="http://schemas.openxmlformats.org/drawingml/2006/main">
            <a:off x="10896600" y="5981700"/>
            <a:ext cx="3905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850" b="1">
                <a:solidFill>
                  <a:srgbClr val="157D80"/>
                </a:solidFill>
                <a:latin typeface="Aptos"/>
                <a:ea typeface="Aptos"/>
                <a:cs typeface="Aptos"/>
              </a:defRPr>
            </a:defPPr>
          </a:lstStyle>
          <a:p xmlns:a="http://schemas.openxmlformats.org/drawingml/2006/main">
            <a:pPr>
              <a:defRPr sz="2850" b="1">
                <a:solidFill>
                  <a:srgbClr val="157D80"/>
                </a:solidFill>
                <a:latin typeface="Aptos"/>
                <a:ea typeface="Aptos"/>
                <a:cs typeface="Aptos"/>
              </a:defRPr>
            </a:pPr>
            <a:r>
              <a:rPr sz="2850" b="1">
                <a:solidFill>
                  <a:srgbClr val="157D80"/>
                </a:solidFill>
                <a:latin typeface="Aptos"/>
                <a:ea typeface="Aptos"/>
                <a:cs typeface="Aptos"/>
              </a:rPr>
              <a:t>3 disabled job RPCs</a:t>
            </a:r>
          </a:p>
        </p:txBody>
      </p:sp>
      <p:sp>
        <p:nvSpPr>
          <p:cNvPr id="24" name="text-156">
            <a:extLst xmlns:a="http://schemas.openxmlformats.org/drawingml/2006/main">
              <a:ext uri="{FF2B5EF4-FFF2-40B4-BE49-F238E27FC236}">
                <a16:creationId xmlns:a16="http://schemas.microsoft.com/office/drawing/2014/main" id="{AA01973E-7E4B-4469-BFFD-FCFB7966BBBB}"/>
              </a:ext>
            </a:extLst>
          </p:cNvPr>
          <p:cNvSpPr>
            <a:spLocks xmlns:a="http://schemas.openxmlformats.org/drawingml/2006/main" noGrp="1"/>
          </p:cNvSpPr>
          <p:nvPr/>
        </p:nvSpPr>
        <p:spPr>
          <a:xfrm xmlns:a="http://schemas.openxmlformats.org/drawingml/2006/main">
            <a:off x="609600" y="7029450"/>
            <a:ext cx="6572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49616A"/>
                </a:solidFill>
                <a:latin typeface="Aptos"/>
                <a:ea typeface="Aptos"/>
                <a:cs typeface="Aptos"/>
              </a:defRPr>
            </a:defPPr>
          </a:lstStyle>
          <a:p xmlns:a="http://schemas.openxmlformats.org/drawingml/2006/main">
            <a:pPr>
              <a:defRPr sz="2025" b="0">
                <a:solidFill>
                  <a:srgbClr val="49616A"/>
                </a:solidFill>
                <a:latin typeface="Aptos"/>
                <a:ea typeface="Aptos"/>
                <a:cs typeface="Aptos"/>
              </a:defRPr>
            </a:pPr>
            <a:r>
              <a:rPr sz="2025" b="0">
                <a:solidFill>
                  <a:srgbClr val="49616A"/>
                </a:solidFill>
                <a:latin typeface="Aptos"/>
                <a:ea typeface="Aptos"/>
                <a:cs typeface="Aptos"/>
              </a:rPr>
              <a:t>HTTP/API: historical baseline</a:t>
            </a:r>
          </a:p>
        </p:txBody>
      </p:sp>
      <p:sp>
        <p:nvSpPr>
          <p:cNvPr id="25" name="text-157">
            <a:extLst xmlns:a="http://schemas.openxmlformats.org/drawingml/2006/main">
              <a:ext uri="{FF2B5EF4-FFF2-40B4-BE49-F238E27FC236}">
                <a16:creationId xmlns:a16="http://schemas.microsoft.com/office/drawing/2014/main" id="{1F894F9E-9004-400B-9E6A-C267858B7245}"/>
              </a:ext>
            </a:extLst>
          </p:cNvPr>
          <p:cNvSpPr>
            <a:spLocks xmlns:a="http://schemas.openxmlformats.org/drawingml/2006/main" noGrp="1"/>
          </p:cNvSpPr>
          <p:nvPr/>
        </p:nvSpPr>
        <p:spPr>
          <a:xfrm xmlns:a="http://schemas.openxmlformats.org/drawingml/2006/main">
            <a:off x="8039100" y="7029450"/>
            <a:ext cx="65913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916011"/>
                </a:solidFill>
                <a:latin typeface="Aptos"/>
                <a:ea typeface="Aptos"/>
                <a:cs typeface="Aptos"/>
              </a:defRPr>
            </a:defPPr>
          </a:lstStyle>
          <a:p xmlns:a="http://schemas.openxmlformats.org/drawingml/2006/main">
            <a:pPr>
              <a:defRPr sz="2025" b="0">
                <a:solidFill>
                  <a:srgbClr val="916011"/>
                </a:solidFill>
                <a:latin typeface="Aptos"/>
                <a:ea typeface="Aptos"/>
                <a:cs typeface="Aptos"/>
              </a:defRPr>
            </a:pPr>
            <a:r>
              <a:rPr sz="2025" b="0">
                <a:solidFill>
                  <a:srgbClr val="916011"/>
                </a:solidFill>
                <a:latin typeface="Aptos"/>
                <a:ea typeface="Aptos"/>
                <a:cs typeface="Aptos"/>
              </a:rPr>
              <a:t>Live integration admission: pending</a:t>
            </a:r>
          </a:p>
        </p:txBody>
      </p:sp>
    </p:spTree>
    <p:extLst>
      <p:ext uri="{BB962C8B-B14F-4D97-AF65-F5344CB8AC3E}">
        <p14:creationId xmlns:p14="http://schemas.microsoft.com/office/powerpoint/2010/main" val="19734729"/>
      </p:ext>
    </p:extLst>
  </p:cSld>
</p:sld>
</file>

<file path=ppt/slides/slide8.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16" name="">
            <a:extLst xmlns:a="http://schemas.openxmlformats.org/drawingml/2006/main">
              <a:ext uri="{FF2B5EF4-FFF2-40B4-BE49-F238E27FC236}">
                <a16:creationId xmlns:a16="http://schemas.microsoft.com/office/drawing/2014/main" id="{21240F4C-6B27-480A-82E8-92F81D9F5E4D}"/>
              </a:ext>
            </a:extLst>
          </p:cNvPr>
          <p:cNvCxnSpPr>
            <a:stCxn xmlns:a="http://schemas.openxmlformats.org/drawingml/2006/main" id="9" idx="3"/>
            <a:endCxn xmlns:a="http://schemas.openxmlformats.org/drawingml/2006/main" id="12" idx="1"/>
          </p:cNvCxnSpPr>
          <p:nvPr/>
        </p:nvCxnSpPr>
        <p:spPr>
          <a:xfrm xmlns:a="http://schemas.openxmlformats.org/drawingml/2006/main">
            <a:off x="9677400" y="3143250"/>
            <a:ext cx="8382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5" name="">
            <a:extLst xmlns:a="http://schemas.openxmlformats.org/drawingml/2006/main">
              <a:ext uri="{FF2B5EF4-FFF2-40B4-BE49-F238E27FC236}">
                <a16:creationId xmlns:a16="http://schemas.microsoft.com/office/drawing/2014/main" id="{F628B173-1F33-45EB-B1D7-6C6E4D7EB886}"/>
              </a:ext>
            </a:extLst>
          </p:cNvPr>
          <p:cNvCxnSpPr>
            <a:stCxn xmlns:a="http://schemas.openxmlformats.org/drawingml/2006/main" id="6" idx="3"/>
            <a:endCxn xmlns:a="http://schemas.openxmlformats.org/drawingml/2006/main" id="9" idx="1"/>
          </p:cNvCxnSpPr>
          <p:nvPr/>
        </p:nvCxnSpPr>
        <p:spPr>
          <a:xfrm xmlns:a="http://schemas.openxmlformats.org/drawingml/2006/main">
            <a:off x="4724400" y="3143250"/>
            <a:ext cx="8382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28" name="text-158">
            <a:extLst xmlns:a="http://schemas.openxmlformats.org/drawingml/2006/main">
              <a:ext uri="{FF2B5EF4-FFF2-40B4-BE49-F238E27FC236}">
                <a16:creationId xmlns:a16="http://schemas.microsoft.com/office/drawing/2014/main" id="{DF906344-FE3A-4BFB-88BC-00586A44E098}"/>
              </a:ext>
            </a:extLst>
          </p:cNvPr>
          <p:cNvSpPr>
            <a:spLocks xmlns:a="http://schemas.openxmlformats.org/drawingml/2006/main" noGrp="1"/>
          </p:cNvSpPr>
          <p:nvPr/>
        </p:nvSpPr>
        <p:spPr>
          <a:xfrm xmlns:a="http://schemas.openxmlformats.org/drawingml/2006/main">
            <a:off x="609600" y="542925"/>
            <a:ext cx="14020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600" b="1">
                <a:solidFill>
                  <a:srgbClr val="132E38"/>
                </a:solidFill>
                <a:latin typeface="Aptos"/>
                <a:ea typeface="Aptos"/>
                <a:cs typeface="Aptos"/>
              </a:defRPr>
            </a:defPPr>
          </a:lstStyle>
          <a:p xmlns:a="http://schemas.openxmlformats.org/drawingml/2006/main">
            <a:pPr>
              <a:defRPr sz="3600" b="1">
                <a:solidFill>
                  <a:srgbClr val="132E38"/>
                </a:solidFill>
                <a:latin typeface="Aptos"/>
                <a:ea typeface="Aptos"/>
                <a:cs typeface="Aptos"/>
              </a:defRPr>
            </a:pPr>
            <a:r>
              <a:rPr sz="3600" b="1">
                <a:solidFill>
                  <a:srgbClr val="132E38"/>
                </a:solidFill>
                <a:latin typeface="Aptos"/>
                <a:ea typeface="Aptos"/>
                <a:cs typeface="Aptos"/>
              </a:rPr>
              <a:t>Live integration sequence</a:t>
            </a:r>
          </a:p>
        </p:txBody>
      </p:sp>
      <p:sp>
        <p:nvSpPr>
          <p:cNvPr id="2" name="text-159">
            <a:extLst xmlns:a="http://schemas.openxmlformats.org/drawingml/2006/main">
              <a:ext uri="{FF2B5EF4-FFF2-40B4-BE49-F238E27FC236}">
                <a16:creationId xmlns:a16="http://schemas.microsoft.com/office/drawing/2014/main" id="{1B67906C-487B-46DD-B5F4-A9919656C172}"/>
              </a:ext>
            </a:extLst>
          </p:cNvPr>
          <p:cNvSpPr>
            <a:spLocks xmlns:a="http://schemas.openxmlformats.org/drawingml/2006/main" noGrp="1"/>
          </p:cNvSpPr>
          <p:nvPr/>
        </p:nvSpPr>
        <p:spPr>
          <a:xfrm xmlns:a="http://schemas.openxmlformats.org/drawingml/2006/main">
            <a:off x="609600" y="1333500"/>
            <a:ext cx="14020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49616A"/>
                </a:solidFill>
                <a:latin typeface="Aptos"/>
                <a:ea typeface="Aptos"/>
                <a:cs typeface="Aptos"/>
              </a:defRPr>
            </a:defPPr>
          </a:lstStyle>
          <a:p xmlns:a="http://schemas.openxmlformats.org/drawingml/2006/main">
            <a:pPr>
              <a:defRPr sz="2025" b="0">
                <a:solidFill>
                  <a:srgbClr val="49616A"/>
                </a:solidFill>
                <a:latin typeface="Aptos"/>
                <a:ea typeface="Aptos"/>
                <a:cs typeface="Aptos"/>
              </a:defRPr>
            </a:pPr>
            <a:r>
              <a:rPr sz="2025" b="0">
                <a:solidFill>
                  <a:srgbClr val="49616A"/>
                </a:solidFill>
                <a:latin typeface="Aptos"/>
                <a:ea typeface="Aptos"/>
                <a:cs typeface="Aptos"/>
              </a:rPr>
              <a:t>Pending acceptance</a:t>
            </a:r>
          </a:p>
        </p:txBody>
      </p:sp>
      <p:sp>
        <p:nvSpPr>
          <p:cNvPr id="3" name="">
            <a:extLst xmlns:a="http://schemas.openxmlformats.org/drawingml/2006/main">
              <a:ext uri="{FF2B5EF4-FFF2-40B4-BE49-F238E27FC236}">
                <a16:creationId xmlns:a16="http://schemas.microsoft.com/office/drawing/2014/main" id="{1CF64C34-D824-4094-991B-9532BC5E56BC}"/>
              </a:ext>
            </a:extLst>
          </p:cNvPr>
          <p:cNvSpPr>
            <a:spLocks xmlns:a="http://schemas.openxmlformats.org/drawingml/2006/main" noGrp="1"/>
          </p:cNvSpPr>
          <p:nvPr/>
        </p:nvSpPr>
        <p:spPr>
          <a:xfrm xmlns:a="http://schemas.openxmlformats.org/drawingml/2006/main">
            <a:off x="609600" y="7905750"/>
            <a:ext cx="14020800" cy="0"/>
          </a:xfrm>
          <a:prstGeom xmlns:a="http://schemas.openxmlformats.org/drawingml/2006/main" prst="line">
            <a:avLst/>
          </a:prstGeom>
          <a:ln xmlns:a="http://schemas.openxmlformats.org/drawingml/2006/main" w="9525">
            <a:solidFill>
              <a:srgbClr val="B9C9C7"/>
            </a:solidFill>
            <a:prstDash val="solid"/>
          </a:ln>
        </p:spPr>
      </p:sp>
      <p:sp>
        <p:nvSpPr>
          <p:cNvPr id="4" name="text-160">
            <a:extLst xmlns:a="http://schemas.openxmlformats.org/drawingml/2006/main">
              <a:ext uri="{FF2B5EF4-FFF2-40B4-BE49-F238E27FC236}">
                <a16:creationId xmlns:a16="http://schemas.microsoft.com/office/drawing/2014/main" id="{7D45A3B0-1509-4F2C-AD84-503D9048459C}"/>
              </a:ext>
            </a:extLst>
          </p:cNvPr>
          <p:cNvSpPr>
            <a:spLocks xmlns:a="http://schemas.openxmlformats.org/drawingml/2006/main" noGrp="1"/>
          </p:cNvSpPr>
          <p:nvPr/>
        </p:nvSpPr>
        <p:spPr>
          <a:xfrm xmlns:a="http://schemas.openxmlformats.org/drawingml/2006/main">
            <a:off x="609600" y="8086725"/>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350" b="0">
                <a:solidFill>
                  <a:srgbClr val="49616A"/>
                </a:solidFill>
                <a:latin typeface="Aptos"/>
                <a:ea typeface="Aptos"/>
                <a:cs typeface="Aptos"/>
              </a:defRPr>
            </a:defPPr>
          </a:lstStyle>
          <a:p xmlns:a="http://schemas.openxmlformats.org/drawingml/2006/main">
            <a:pPr>
              <a:defRPr sz="1350" b="0">
                <a:solidFill>
                  <a:srgbClr val="49616A"/>
                </a:solidFill>
                <a:latin typeface="Aptos"/>
                <a:ea typeface="Aptos"/>
                <a:cs typeface="Aptos"/>
              </a:defRPr>
            </a:pPr>
            <a:r>
              <a:rPr sz="1350" b="0">
                <a:solidFill>
                  <a:srgbClr val="49616A"/>
                </a:solidFill>
                <a:latin typeface="Aptos"/>
                <a:ea typeface="Aptos"/>
                <a:cs typeface="Aptos"/>
              </a:rPr>
              <a:t>Inertia architecture · 23 October 2026</a:t>
            </a:r>
          </a:p>
        </p:txBody>
      </p:sp>
      <p:sp>
        <p:nvSpPr>
          <p:cNvPr id="5" name="text-161">
            <a:extLst xmlns:a="http://schemas.openxmlformats.org/drawingml/2006/main">
              <a:ext uri="{FF2B5EF4-FFF2-40B4-BE49-F238E27FC236}">
                <a16:creationId xmlns:a16="http://schemas.microsoft.com/office/drawing/2014/main" id="{646E4043-B495-495D-ABBD-5EA2BD219EC4}"/>
              </a:ext>
            </a:extLst>
          </p:cNvPr>
          <p:cNvSpPr>
            <a:spLocks xmlns:a="http://schemas.openxmlformats.org/drawingml/2006/main" noGrp="1"/>
          </p:cNvSpPr>
          <p:nvPr/>
        </p:nvSpPr>
        <p:spPr>
          <a:xfrm xmlns:a="http://schemas.openxmlformats.org/drawingml/2006/main">
            <a:off x="14097000" y="8058150"/>
            <a:ext cx="533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650" b="1">
                <a:solidFill>
                  <a:srgbClr val="157D80"/>
                </a:solidFill>
                <a:latin typeface="Aptos"/>
                <a:ea typeface="Aptos"/>
                <a:cs typeface="Aptos"/>
              </a:defRPr>
            </a:defPPr>
          </a:lstStyle>
          <a:p xmlns:a="http://schemas.openxmlformats.org/drawingml/2006/main">
            <a:pPr>
              <a:defRPr sz="1650" b="1">
                <a:solidFill>
                  <a:srgbClr val="157D80"/>
                </a:solidFill>
                <a:latin typeface="Aptos"/>
                <a:ea typeface="Aptos"/>
                <a:cs typeface="Aptos"/>
              </a:defRPr>
            </a:pPr>
            <a:r>
              <a:rPr sz="1650" b="1">
                <a:solidFill>
                  <a:srgbClr val="157D80"/>
                </a:solidFill>
                <a:latin typeface="Aptos"/>
                <a:ea typeface="Aptos"/>
                <a:cs typeface="Aptos"/>
              </a:rPr>
              <a:t>8</a:t>
            </a:r>
          </a:p>
        </p:txBody>
      </p:sp>
      <p:sp>
        <p:nvSpPr>
          <p:cNvPr id="6" name="node-162">
            <a:extLst xmlns:a="http://schemas.openxmlformats.org/drawingml/2006/main">
              <a:ext uri="{FF2B5EF4-FFF2-40B4-BE49-F238E27FC236}">
                <a16:creationId xmlns:a16="http://schemas.microsoft.com/office/drawing/2014/main" id="{3F3966AD-BF0D-48D2-8EB4-31904A1BF66F}"/>
              </a:ext>
            </a:extLst>
          </p:cNvPr>
          <p:cNvSpPr>
            <a:spLocks xmlns:a="http://schemas.openxmlformats.org/drawingml/2006/main" noGrp="1"/>
          </p:cNvSpPr>
          <p:nvPr/>
        </p:nvSpPr>
        <p:spPr>
          <a:xfrm xmlns:a="http://schemas.openxmlformats.org/drawingml/2006/main">
            <a:off x="609600" y="2428875"/>
            <a:ext cx="41148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7" name="text-163">
            <a:extLst xmlns:a="http://schemas.openxmlformats.org/drawingml/2006/main">
              <a:ext uri="{FF2B5EF4-FFF2-40B4-BE49-F238E27FC236}">
                <a16:creationId xmlns:a16="http://schemas.microsoft.com/office/drawing/2014/main" id="{4E65D2DB-6865-4055-B6C3-AD72D7D9BE1A}"/>
              </a:ext>
            </a:extLst>
          </p:cNvPr>
          <p:cNvSpPr>
            <a:spLocks xmlns:a="http://schemas.openxmlformats.org/drawingml/2006/main" noGrp="1"/>
          </p:cNvSpPr>
          <p:nvPr/>
        </p:nvSpPr>
        <p:spPr>
          <a:xfrm xmlns:a="http://schemas.openxmlformats.org/drawingml/2006/main">
            <a:off x="800100" y="2600325"/>
            <a:ext cx="3733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Private host</a:t>
            </a:r>
          </a:p>
        </p:txBody>
      </p:sp>
      <p:sp>
        <p:nvSpPr>
          <p:cNvPr id="8" name="text-164">
            <a:extLst xmlns:a="http://schemas.openxmlformats.org/drawingml/2006/main">
              <a:ext uri="{FF2B5EF4-FFF2-40B4-BE49-F238E27FC236}">
                <a16:creationId xmlns:a16="http://schemas.microsoft.com/office/drawing/2014/main" id="{58FBC16F-1C4F-4394-A85A-6BF2EA9DDBA6}"/>
              </a:ext>
            </a:extLst>
          </p:cNvPr>
          <p:cNvSpPr>
            <a:spLocks xmlns:a="http://schemas.openxmlformats.org/drawingml/2006/main" noGrp="1"/>
          </p:cNvSpPr>
          <p:nvPr/>
        </p:nvSpPr>
        <p:spPr>
          <a:xfrm xmlns:a="http://schemas.openxmlformats.org/drawingml/2006/main">
            <a:off x="800100" y="3038475"/>
            <a:ext cx="3733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Database + backup recovery</a:t>
            </a:r>
          </a:p>
        </p:txBody>
      </p:sp>
      <p:sp>
        <p:nvSpPr>
          <p:cNvPr id="9" name="node-165">
            <a:extLst xmlns:a="http://schemas.openxmlformats.org/drawingml/2006/main">
              <a:ext uri="{FF2B5EF4-FFF2-40B4-BE49-F238E27FC236}">
                <a16:creationId xmlns:a16="http://schemas.microsoft.com/office/drawing/2014/main" id="{7D0646D6-CC4A-4267-A2DF-C6C785860C4B}"/>
              </a:ext>
            </a:extLst>
          </p:cNvPr>
          <p:cNvSpPr>
            <a:spLocks xmlns:a="http://schemas.openxmlformats.org/drawingml/2006/main" noGrp="1"/>
          </p:cNvSpPr>
          <p:nvPr/>
        </p:nvSpPr>
        <p:spPr>
          <a:xfrm xmlns:a="http://schemas.openxmlformats.org/drawingml/2006/main">
            <a:off x="5562600" y="2428875"/>
            <a:ext cx="41148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10" name="text-166">
            <a:extLst xmlns:a="http://schemas.openxmlformats.org/drawingml/2006/main">
              <a:ext uri="{FF2B5EF4-FFF2-40B4-BE49-F238E27FC236}">
                <a16:creationId xmlns:a16="http://schemas.microsoft.com/office/drawing/2014/main" id="{EC6BCA1C-DED6-4354-91DC-BB70CD7EAF38}"/>
              </a:ext>
            </a:extLst>
          </p:cNvPr>
          <p:cNvSpPr>
            <a:spLocks xmlns:a="http://schemas.openxmlformats.org/drawingml/2006/main" noGrp="1"/>
          </p:cNvSpPr>
          <p:nvPr/>
        </p:nvSpPr>
        <p:spPr>
          <a:xfrm xmlns:a="http://schemas.openxmlformats.org/drawingml/2006/main">
            <a:off x="5753100" y="2600325"/>
            <a:ext cx="3733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Buzz + native pairing</a:t>
            </a:r>
          </a:p>
        </p:txBody>
      </p:sp>
      <p:sp>
        <p:nvSpPr>
          <p:cNvPr id="11" name="text-167">
            <a:extLst xmlns:a="http://schemas.openxmlformats.org/drawingml/2006/main">
              <a:ext uri="{FF2B5EF4-FFF2-40B4-BE49-F238E27FC236}">
                <a16:creationId xmlns:a16="http://schemas.microsoft.com/office/drawing/2014/main" id="{3466C431-1DEE-474E-AC6D-D851A0C1AA49}"/>
              </a:ext>
            </a:extLst>
          </p:cNvPr>
          <p:cNvSpPr>
            <a:spLocks xmlns:a="http://schemas.openxmlformats.org/drawingml/2006/main" noGrp="1"/>
          </p:cNvSpPr>
          <p:nvPr/>
        </p:nvSpPr>
        <p:spPr>
          <a:xfrm xmlns:a="http://schemas.openxmlformats.org/drawingml/2006/main">
            <a:off x="5753100" y="3038475"/>
            <a:ext cx="3733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Approved relay and identity</a:t>
            </a:r>
          </a:p>
        </p:txBody>
      </p:sp>
      <p:sp>
        <p:nvSpPr>
          <p:cNvPr id="12" name="node-168">
            <a:extLst xmlns:a="http://schemas.openxmlformats.org/drawingml/2006/main">
              <a:ext uri="{FF2B5EF4-FFF2-40B4-BE49-F238E27FC236}">
                <a16:creationId xmlns:a16="http://schemas.microsoft.com/office/drawing/2014/main" id="{0B73E0B0-1425-49A8-A28B-322C146C3E56}"/>
              </a:ext>
            </a:extLst>
          </p:cNvPr>
          <p:cNvSpPr>
            <a:spLocks xmlns:a="http://schemas.openxmlformats.org/drawingml/2006/main" noGrp="1"/>
          </p:cNvSpPr>
          <p:nvPr/>
        </p:nvSpPr>
        <p:spPr>
          <a:xfrm xmlns:a="http://schemas.openxmlformats.org/drawingml/2006/main">
            <a:off x="10515600" y="2428875"/>
            <a:ext cx="41148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13" name="text-169">
            <a:extLst xmlns:a="http://schemas.openxmlformats.org/drawingml/2006/main">
              <a:ext uri="{FF2B5EF4-FFF2-40B4-BE49-F238E27FC236}">
                <a16:creationId xmlns:a16="http://schemas.microsoft.com/office/drawing/2014/main" id="{D5EC0895-1A3A-4C14-8554-CCBE091733B9}"/>
              </a:ext>
            </a:extLst>
          </p:cNvPr>
          <p:cNvSpPr>
            <a:spLocks xmlns:a="http://schemas.openxmlformats.org/drawingml/2006/main" noGrp="1"/>
          </p:cNvSpPr>
          <p:nvPr/>
        </p:nvSpPr>
        <p:spPr>
          <a:xfrm xmlns:a="http://schemas.openxmlformats.org/drawingml/2006/main">
            <a:off x="10706100" y="2600325"/>
            <a:ext cx="3733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CEO admission</a:t>
            </a:r>
          </a:p>
        </p:txBody>
      </p:sp>
      <p:sp>
        <p:nvSpPr>
          <p:cNvPr id="14" name="text-170">
            <a:extLst xmlns:a="http://schemas.openxmlformats.org/drawingml/2006/main">
              <a:ext uri="{FF2B5EF4-FFF2-40B4-BE49-F238E27FC236}">
                <a16:creationId xmlns:a16="http://schemas.microsoft.com/office/drawing/2014/main" id="{A61384B5-81C4-438D-8E0E-DA406F33EAF8}"/>
              </a:ext>
            </a:extLst>
          </p:cNvPr>
          <p:cNvSpPr>
            <a:spLocks xmlns:a="http://schemas.openxmlformats.org/drawingml/2006/main" noGrp="1"/>
          </p:cNvSpPr>
          <p:nvPr/>
        </p:nvSpPr>
        <p:spPr>
          <a:xfrm xmlns:a="http://schemas.openxmlformats.org/drawingml/2006/main">
            <a:off x="10706100" y="3038475"/>
            <a:ext cx="3733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Assigned intake + run evidence</a:t>
            </a:r>
          </a:p>
        </p:txBody>
      </p:sp>
      <p:sp>
        <p:nvSpPr>
          <p:cNvPr id="17" name="">
            <a:extLst xmlns:a="http://schemas.openxmlformats.org/drawingml/2006/main">
              <a:ext uri="{FF2B5EF4-FFF2-40B4-BE49-F238E27FC236}">
                <a16:creationId xmlns:a16="http://schemas.microsoft.com/office/drawing/2014/main" id="{2B94EBED-AD4D-4AED-AEB0-6737F695F76A}"/>
              </a:ext>
            </a:extLst>
          </p:cNvPr>
          <p:cNvSpPr>
            <a:spLocks xmlns:a="http://schemas.openxmlformats.org/drawingml/2006/main" noGrp="1"/>
          </p:cNvSpPr>
          <p:nvPr/>
        </p:nvSpPr>
        <p:spPr>
          <a:xfrm xmlns:a="http://schemas.openxmlformats.org/drawingml/2006/main">
            <a:off x="609600" y="4591050"/>
            <a:ext cx="14020800" cy="0"/>
          </a:xfrm>
          <a:prstGeom xmlns:a="http://schemas.openxmlformats.org/drawingml/2006/main" prst="line">
            <a:avLst/>
          </a:prstGeom>
          <a:ln xmlns:a="http://schemas.openxmlformats.org/drawingml/2006/main" w="9525">
            <a:solidFill>
              <a:srgbClr val="B9C9C7"/>
            </a:solidFill>
            <a:prstDash val="solid"/>
          </a:ln>
        </p:spPr>
      </p:sp>
      <p:sp>
        <p:nvSpPr>
          <p:cNvPr id="18" name="text-171">
            <a:extLst xmlns:a="http://schemas.openxmlformats.org/drawingml/2006/main">
              <a:ext uri="{FF2B5EF4-FFF2-40B4-BE49-F238E27FC236}">
                <a16:creationId xmlns:a16="http://schemas.microsoft.com/office/drawing/2014/main" id="{CDD52313-887F-4365-887A-79DB1C5DA1C5}"/>
              </a:ext>
            </a:extLst>
          </p:cNvPr>
          <p:cNvSpPr>
            <a:spLocks xmlns:a="http://schemas.openxmlformats.org/drawingml/2006/main" noGrp="1"/>
          </p:cNvSpPr>
          <p:nvPr/>
        </p:nvSpPr>
        <p:spPr>
          <a:xfrm xmlns:a="http://schemas.openxmlformats.org/drawingml/2006/main">
            <a:off x="609600" y="4953000"/>
            <a:ext cx="4000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1">
                <a:solidFill>
                  <a:srgbClr val="157D80"/>
                </a:solidFill>
                <a:latin typeface="Aptos"/>
                <a:ea typeface="Aptos"/>
                <a:cs typeface="Aptos"/>
              </a:defRPr>
            </a:defPPr>
          </a:lstStyle>
          <a:p xmlns:a="http://schemas.openxmlformats.org/drawingml/2006/main">
            <a:pPr>
              <a:defRPr sz="2025" b="1">
                <a:solidFill>
                  <a:srgbClr val="157D80"/>
                </a:solidFill>
                <a:latin typeface="Aptos"/>
                <a:ea typeface="Aptos"/>
                <a:cs typeface="Aptos"/>
              </a:defRPr>
            </a:pPr>
            <a:r>
              <a:rPr sz="2025" b="1">
                <a:solidFill>
                  <a:srgbClr val="157D80"/>
                </a:solidFill>
                <a:latin typeface="Aptos"/>
                <a:ea typeface="Aptos"/>
                <a:cs typeface="Aptos"/>
              </a:rPr>
              <a:t>Integration</a:t>
            </a:r>
          </a:p>
        </p:txBody>
      </p:sp>
      <p:sp>
        <p:nvSpPr>
          <p:cNvPr id="19" name="text-172">
            <a:extLst xmlns:a="http://schemas.openxmlformats.org/drawingml/2006/main">
              <a:ext uri="{FF2B5EF4-FFF2-40B4-BE49-F238E27FC236}">
                <a16:creationId xmlns:a16="http://schemas.microsoft.com/office/drawing/2014/main" id="{CFF2169D-AC00-41D4-BC6A-D3C57EAA312F}"/>
              </a:ext>
            </a:extLst>
          </p:cNvPr>
          <p:cNvSpPr>
            <a:spLocks xmlns:a="http://schemas.openxmlformats.org/drawingml/2006/main" noGrp="1"/>
          </p:cNvSpPr>
          <p:nvPr/>
        </p:nvSpPr>
        <p:spPr>
          <a:xfrm xmlns:a="http://schemas.openxmlformats.org/drawingml/2006/main">
            <a:off x="5562600" y="4953000"/>
            <a:ext cx="9067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1">
                <a:solidFill>
                  <a:srgbClr val="157D80"/>
                </a:solidFill>
                <a:latin typeface="Aptos"/>
                <a:ea typeface="Aptos"/>
                <a:cs typeface="Aptos"/>
              </a:defRPr>
            </a:defPPr>
          </a:lstStyle>
          <a:p xmlns:a="http://schemas.openxmlformats.org/drawingml/2006/main">
            <a:pPr>
              <a:defRPr sz="2025" b="1">
                <a:solidFill>
                  <a:srgbClr val="157D80"/>
                </a:solidFill>
                <a:latin typeface="Aptos"/>
                <a:ea typeface="Aptos"/>
                <a:cs typeface="Aptos"/>
              </a:defRPr>
            </a:pPr>
            <a:r>
              <a:rPr sz="2025" b="1">
                <a:solidFill>
                  <a:srgbClr val="157D80"/>
                </a:solidFill>
                <a:latin typeface="Aptos"/>
                <a:ea typeface="Aptos"/>
                <a:cs typeface="Aptos"/>
              </a:rPr>
              <a:t>Acceptance evidence</a:t>
            </a:r>
          </a:p>
        </p:txBody>
      </p:sp>
      <p:sp>
        <p:nvSpPr>
          <p:cNvPr id="20" name="text-173">
            <a:extLst xmlns:a="http://schemas.openxmlformats.org/drawingml/2006/main">
              <a:ext uri="{FF2B5EF4-FFF2-40B4-BE49-F238E27FC236}">
                <a16:creationId xmlns:a16="http://schemas.microsoft.com/office/drawing/2014/main" id="{3967AA79-A2C5-4988-B28E-2E9C73C940EE}"/>
              </a:ext>
            </a:extLst>
          </p:cNvPr>
          <p:cNvSpPr>
            <a:spLocks xmlns:a="http://schemas.openxmlformats.org/drawingml/2006/main" noGrp="1"/>
          </p:cNvSpPr>
          <p:nvPr/>
        </p:nvSpPr>
        <p:spPr>
          <a:xfrm xmlns:a="http://schemas.openxmlformats.org/drawingml/2006/main">
            <a:off x="609600" y="5524500"/>
            <a:ext cx="4095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1">
                <a:solidFill>
                  <a:srgbClr val="132E38"/>
                </a:solidFill>
                <a:latin typeface="Aptos"/>
                <a:ea typeface="Aptos"/>
                <a:cs typeface="Aptos"/>
              </a:defRPr>
            </a:defPPr>
          </a:lstStyle>
          <a:p xmlns:a="http://schemas.openxmlformats.org/drawingml/2006/main">
            <a:pPr>
              <a:defRPr sz="2025" b="1">
                <a:solidFill>
                  <a:srgbClr val="132E38"/>
                </a:solidFill>
                <a:latin typeface="Aptos"/>
                <a:ea typeface="Aptos"/>
                <a:cs typeface="Aptos"/>
              </a:defRPr>
            </a:pPr>
            <a:r>
              <a:rPr sz="2025" b="1">
                <a:solidFill>
                  <a:srgbClr val="132E38"/>
                </a:solidFill>
                <a:latin typeface="Aptos"/>
                <a:ea typeface="Aptos"/>
                <a:cs typeface="Aptos"/>
              </a:rPr>
              <a:t>Roundtable</a:t>
            </a:r>
          </a:p>
        </p:txBody>
      </p:sp>
      <p:sp>
        <p:nvSpPr>
          <p:cNvPr id="21" name="text-174">
            <a:extLst xmlns:a="http://schemas.openxmlformats.org/drawingml/2006/main">
              <a:ext uri="{FF2B5EF4-FFF2-40B4-BE49-F238E27FC236}">
                <a16:creationId xmlns:a16="http://schemas.microsoft.com/office/drawing/2014/main" id="{E270E18D-33E7-4694-AC9D-D1F4B0CA7B7D}"/>
              </a:ext>
            </a:extLst>
          </p:cNvPr>
          <p:cNvSpPr>
            <a:spLocks xmlns:a="http://schemas.openxmlformats.org/drawingml/2006/main" noGrp="1"/>
          </p:cNvSpPr>
          <p:nvPr/>
        </p:nvSpPr>
        <p:spPr>
          <a:xfrm xmlns:a="http://schemas.openxmlformats.org/drawingml/2006/main">
            <a:off x="5562600" y="5524500"/>
            <a:ext cx="9067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132E38"/>
                </a:solidFill>
                <a:latin typeface="Aptos"/>
                <a:ea typeface="Aptos"/>
                <a:cs typeface="Aptos"/>
              </a:defRPr>
            </a:defPPr>
          </a:lstStyle>
          <a:p xmlns:a="http://schemas.openxmlformats.org/drawingml/2006/main">
            <a:pPr>
              <a:defRPr sz="2025" b="0">
                <a:solidFill>
                  <a:srgbClr val="132E38"/>
                </a:solidFill>
                <a:latin typeface="Aptos"/>
                <a:ea typeface="Aptos"/>
                <a:cs typeface="Aptos"/>
              </a:defRPr>
            </a:pPr>
            <a:r>
              <a:rPr sz="2025" b="0">
                <a:solidFill>
                  <a:srgbClr val="132E38"/>
                </a:solidFill>
                <a:latin typeface="Aptos"/>
                <a:ea typeface="Aptos"/>
                <a:cs typeface="Aptos"/>
              </a:rPr>
              <a:t>Drive readiness, website membership enforcement and readback</a:t>
            </a:r>
          </a:p>
        </p:txBody>
      </p:sp>
      <p:sp>
        <p:nvSpPr>
          <p:cNvPr id="22" name="text-175">
            <a:extLst xmlns:a="http://schemas.openxmlformats.org/drawingml/2006/main">
              <a:ext uri="{FF2B5EF4-FFF2-40B4-BE49-F238E27FC236}">
                <a16:creationId xmlns:a16="http://schemas.microsoft.com/office/drawing/2014/main" id="{CE475A13-11B6-4C61-AB8E-C6AFB96F25EC}"/>
              </a:ext>
            </a:extLst>
          </p:cNvPr>
          <p:cNvSpPr>
            <a:spLocks xmlns:a="http://schemas.openxmlformats.org/drawingml/2006/main" noGrp="1"/>
          </p:cNvSpPr>
          <p:nvPr/>
        </p:nvSpPr>
        <p:spPr>
          <a:xfrm xmlns:a="http://schemas.openxmlformats.org/drawingml/2006/main">
            <a:off x="609600" y="6019800"/>
            <a:ext cx="4095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1">
                <a:solidFill>
                  <a:srgbClr val="132E38"/>
                </a:solidFill>
                <a:latin typeface="Aptos"/>
                <a:ea typeface="Aptos"/>
                <a:cs typeface="Aptos"/>
              </a:defRPr>
            </a:defPPr>
          </a:lstStyle>
          <a:p xmlns:a="http://schemas.openxmlformats.org/drawingml/2006/main">
            <a:pPr>
              <a:defRPr sz="2025" b="1">
                <a:solidFill>
                  <a:srgbClr val="132E38"/>
                </a:solidFill>
                <a:latin typeface="Aptos"/>
                <a:ea typeface="Aptos"/>
                <a:cs typeface="Aptos"/>
              </a:defRPr>
            </a:pPr>
            <a:r>
              <a:rPr sz="2025" b="1">
                <a:solidFill>
                  <a:srgbClr val="132E38"/>
                </a:solidFill>
                <a:latin typeface="Aptos"/>
                <a:ea typeface="Aptos"/>
                <a:cs typeface="Aptos"/>
              </a:rPr>
              <a:t>Grants</a:t>
            </a:r>
          </a:p>
        </p:txBody>
      </p:sp>
      <p:sp>
        <p:nvSpPr>
          <p:cNvPr id="23" name="text-176">
            <a:extLst xmlns:a="http://schemas.openxmlformats.org/drawingml/2006/main">
              <a:ext uri="{FF2B5EF4-FFF2-40B4-BE49-F238E27FC236}">
                <a16:creationId xmlns:a16="http://schemas.microsoft.com/office/drawing/2014/main" id="{2F11B0E3-0F74-4E4F-9058-BFE4F934FE83}"/>
              </a:ext>
            </a:extLst>
          </p:cNvPr>
          <p:cNvSpPr>
            <a:spLocks xmlns:a="http://schemas.openxmlformats.org/drawingml/2006/main" noGrp="1"/>
          </p:cNvSpPr>
          <p:nvPr/>
        </p:nvSpPr>
        <p:spPr>
          <a:xfrm xmlns:a="http://schemas.openxmlformats.org/drawingml/2006/main">
            <a:off x="5562600" y="6019800"/>
            <a:ext cx="9067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132E38"/>
                </a:solidFill>
                <a:latin typeface="Aptos"/>
                <a:ea typeface="Aptos"/>
                <a:cs typeface="Aptos"/>
              </a:defRPr>
            </a:defPPr>
          </a:lstStyle>
          <a:p xmlns:a="http://schemas.openxmlformats.org/drawingml/2006/main">
            <a:pPr>
              <a:defRPr sz="2025" b="0">
                <a:solidFill>
                  <a:srgbClr val="132E38"/>
                </a:solidFill>
                <a:latin typeface="Aptos"/>
                <a:ea typeface="Aptos"/>
                <a:cs typeface="Aptos"/>
              </a:defRPr>
            </a:pPr>
            <a:r>
              <a:rPr sz="2025" b="0">
                <a:solidFill>
                  <a:srgbClr val="132E38"/>
                </a:solidFill>
                <a:latin typeface="Aptos"/>
                <a:ea typeface="Aptos"/>
                <a:cs typeface="Aptos"/>
              </a:rPr>
              <a:t>Consistent exporter, effective governance and native acceptance</a:t>
            </a:r>
          </a:p>
        </p:txBody>
      </p:sp>
      <p:sp>
        <p:nvSpPr>
          <p:cNvPr id="24" name="text-177">
            <a:extLst xmlns:a="http://schemas.openxmlformats.org/drawingml/2006/main">
              <a:ext uri="{FF2B5EF4-FFF2-40B4-BE49-F238E27FC236}">
                <a16:creationId xmlns:a16="http://schemas.microsoft.com/office/drawing/2014/main" id="{0C564A61-3706-4115-B199-5ACF009D80A3}"/>
              </a:ext>
            </a:extLst>
          </p:cNvPr>
          <p:cNvSpPr>
            <a:spLocks xmlns:a="http://schemas.openxmlformats.org/drawingml/2006/main" noGrp="1"/>
          </p:cNvSpPr>
          <p:nvPr/>
        </p:nvSpPr>
        <p:spPr>
          <a:xfrm xmlns:a="http://schemas.openxmlformats.org/drawingml/2006/main">
            <a:off x="609600" y="6515100"/>
            <a:ext cx="4095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1">
                <a:solidFill>
                  <a:srgbClr val="132E38"/>
                </a:solidFill>
                <a:latin typeface="Aptos"/>
                <a:ea typeface="Aptos"/>
                <a:cs typeface="Aptos"/>
              </a:defRPr>
            </a:defPPr>
          </a:lstStyle>
          <a:p xmlns:a="http://schemas.openxmlformats.org/drawingml/2006/main">
            <a:pPr>
              <a:defRPr sz="2025" b="1">
                <a:solidFill>
                  <a:srgbClr val="132E38"/>
                </a:solidFill>
                <a:latin typeface="Aptos"/>
                <a:ea typeface="Aptos"/>
                <a:cs typeface="Aptos"/>
              </a:defRPr>
            </a:pPr>
            <a:r>
              <a:rPr sz="2025" b="1">
                <a:solidFill>
                  <a:srgbClr val="132E38"/>
                </a:solidFill>
                <a:latin typeface="Aptos"/>
                <a:ea typeface="Aptos"/>
                <a:cs typeface="Aptos"/>
              </a:rPr>
              <a:t>Member agent</a:t>
            </a:r>
          </a:p>
        </p:txBody>
      </p:sp>
      <p:sp>
        <p:nvSpPr>
          <p:cNvPr id="25" name="text-178">
            <a:extLst xmlns:a="http://schemas.openxmlformats.org/drawingml/2006/main">
              <a:ext uri="{FF2B5EF4-FFF2-40B4-BE49-F238E27FC236}">
                <a16:creationId xmlns:a16="http://schemas.microsoft.com/office/drawing/2014/main" id="{FC28624C-BEF5-4686-A378-6743973804A6}"/>
              </a:ext>
            </a:extLst>
          </p:cNvPr>
          <p:cNvSpPr>
            <a:spLocks xmlns:a="http://schemas.openxmlformats.org/drawingml/2006/main" noGrp="1"/>
          </p:cNvSpPr>
          <p:nvPr/>
        </p:nvSpPr>
        <p:spPr>
          <a:xfrm xmlns:a="http://schemas.openxmlformats.org/drawingml/2006/main">
            <a:off x="5562600" y="6515100"/>
            <a:ext cx="9067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132E38"/>
                </a:solidFill>
                <a:latin typeface="Aptos"/>
                <a:ea typeface="Aptos"/>
                <a:cs typeface="Aptos"/>
              </a:defRPr>
            </a:defPPr>
          </a:lstStyle>
          <a:p xmlns:a="http://schemas.openxmlformats.org/drawingml/2006/main">
            <a:pPr>
              <a:defRPr sz="2025" b="0">
                <a:solidFill>
                  <a:srgbClr val="132E38"/>
                </a:solidFill>
                <a:latin typeface="Aptos"/>
                <a:ea typeface="Aptos"/>
                <a:cs typeface="Aptos"/>
              </a:defRPr>
            </a:pPr>
            <a:r>
              <a:rPr sz="2025" b="0">
                <a:solidFill>
                  <a:srgbClr val="132E38"/>
                </a:solidFill>
                <a:latin typeface="Aptos"/>
                <a:ea typeface="Aptos"/>
                <a:cs typeface="Aptos"/>
              </a:rPr>
              <a:t>Enrollment, runtime isolation and denied-action test</a:t>
            </a:r>
          </a:p>
        </p:txBody>
      </p:sp>
      <p:sp>
        <p:nvSpPr>
          <p:cNvPr id="26" name="text-179">
            <a:extLst xmlns:a="http://schemas.openxmlformats.org/drawingml/2006/main">
              <a:ext uri="{FF2B5EF4-FFF2-40B4-BE49-F238E27FC236}">
                <a16:creationId xmlns:a16="http://schemas.microsoft.com/office/drawing/2014/main" id="{50DFA41E-CB68-42BC-A7C4-C49DCF7FFBA8}"/>
              </a:ext>
            </a:extLst>
          </p:cNvPr>
          <p:cNvSpPr>
            <a:spLocks xmlns:a="http://schemas.openxmlformats.org/drawingml/2006/main" noGrp="1"/>
          </p:cNvSpPr>
          <p:nvPr/>
        </p:nvSpPr>
        <p:spPr>
          <a:xfrm xmlns:a="http://schemas.openxmlformats.org/drawingml/2006/main">
            <a:off x="609600" y="7010400"/>
            <a:ext cx="4095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1">
                <a:solidFill>
                  <a:srgbClr val="132E38"/>
                </a:solidFill>
                <a:latin typeface="Aptos"/>
                <a:ea typeface="Aptos"/>
                <a:cs typeface="Aptos"/>
              </a:defRPr>
            </a:defPPr>
          </a:lstStyle>
          <a:p xmlns:a="http://schemas.openxmlformats.org/drawingml/2006/main">
            <a:pPr>
              <a:defRPr sz="2025" b="1">
                <a:solidFill>
                  <a:srgbClr val="132E38"/>
                </a:solidFill>
                <a:latin typeface="Aptos"/>
                <a:ea typeface="Aptos"/>
                <a:cs typeface="Aptos"/>
              </a:defRPr>
            </a:pPr>
            <a:r>
              <a:rPr sz="2025" b="1">
                <a:solidFill>
                  <a:srgbClr val="132E38"/>
                </a:solidFill>
                <a:latin typeface="Aptos"/>
                <a:ea typeface="Aptos"/>
                <a:cs typeface="Aptos"/>
              </a:rPr>
              <a:t>Y2</a:t>
            </a:r>
          </a:p>
        </p:txBody>
      </p:sp>
      <p:sp>
        <p:nvSpPr>
          <p:cNvPr id="27" name="text-180">
            <a:extLst xmlns:a="http://schemas.openxmlformats.org/drawingml/2006/main">
              <a:ext uri="{FF2B5EF4-FFF2-40B4-BE49-F238E27FC236}">
                <a16:creationId xmlns:a16="http://schemas.microsoft.com/office/drawing/2014/main" id="{E22F9A24-3B4F-49D8-9AE0-C245A212122A}"/>
              </a:ext>
            </a:extLst>
          </p:cNvPr>
          <p:cNvSpPr>
            <a:spLocks xmlns:a="http://schemas.openxmlformats.org/drawingml/2006/main" noGrp="1"/>
          </p:cNvSpPr>
          <p:nvPr/>
        </p:nvSpPr>
        <p:spPr>
          <a:xfrm xmlns:a="http://schemas.openxmlformats.org/drawingml/2006/main">
            <a:off x="5562600" y="7010400"/>
            <a:ext cx="9067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132E38"/>
                </a:solidFill>
                <a:latin typeface="Aptos"/>
                <a:ea typeface="Aptos"/>
                <a:cs typeface="Aptos"/>
              </a:defRPr>
            </a:defPPr>
          </a:lstStyle>
          <a:p xmlns:a="http://schemas.openxmlformats.org/drawingml/2006/main">
            <a:pPr>
              <a:defRPr sz="2025" b="0">
                <a:solidFill>
                  <a:srgbClr val="132E38"/>
                </a:solidFill>
                <a:latin typeface="Aptos"/>
                <a:ea typeface="Aptos"/>
                <a:cs typeface="Aptos"/>
              </a:defRPr>
            </a:pPr>
            <a:r>
              <a:rPr sz="2025" b="0">
                <a:solidFill>
                  <a:srgbClr val="132E38"/>
                </a:solidFill>
                <a:latin typeface="Aptos"/>
                <a:ea typeface="Aptos"/>
                <a:cs typeface="Aptos"/>
              </a:rPr>
              <a:t>Interest mapping and deduplicated follow-up</a:t>
            </a:r>
          </a:p>
        </p:txBody>
      </p:sp>
    </p:spTree>
    <p:extLst>
      <p:ext uri="{BB962C8B-B14F-4D97-AF65-F5344CB8AC3E}">
        <p14:creationId xmlns:p14="http://schemas.microsoft.com/office/powerpoint/2010/main" val="80623228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2026-10-23T13:29:23.0010000Z</dcterms:created>
  <dcterms:modified xsi:type="dcterms:W3CDTF">2026-10-23T13:29:23.0010000Z</dcterms:modified>
</coreProperties>
</file>