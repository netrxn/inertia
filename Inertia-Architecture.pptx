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e75832e9db04696" /><Relationship Type="http://schemas.openxmlformats.org/officeDocument/2006/relationships/extended-properties" Target="/docProps/app.xml" Id="R4f86517d2f9e4d5a" /><Relationship Type="http://schemas.openxmlformats.org/officeDocument/2006/relationships/officeDocument" Target="/ppt/presentation.xml" Id="R5032eb21b4a74caa" /></Relationships>
</file>

<file path=ppt/presentation.xml><?xml version="1.0" encoding="utf-8"?>
<p:presentation xmlns:p="http://schemas.openxmlformats.org/presentationml/2006/main">
  <p:sldMasterIdLst>
    <p:sldMasterId xmlns:r="http://schemas.openxmlformats.org/officeDocument/2006/relationships" id="2147483648" r:id="Re67716fdfb124d9f"/>
  </p:sldMasterIdLst>
  <p:notesMasterIdLst>
    <p:notesMasterId xmlns:r="http://schemas.openxmlformats.org/officeDocument/2006/relationships" r:id="Rb0e20b83594f454a"/>
  </p:notesMasterIdLst>
  <p:sldIdLst>
    <p:sldId xmlns:r="http://schemas.openxmlformats.org/officeDocument/2006/relationships" id="256" r:id="R03eae314aa414ed0"/>
    <p:sldId xmlns:r="http://schemas.openxmlformats.org/officeDocument/2006/relationships" id="257" r:id="R676bf51815974a42"/>
    <p:sldId xmlns:r="http://schemas.openxmlformats.org/officeDocument/2006/relationships" id="258" r:id="Re773d7e86bd74a4d"/>
    <p:sldId xmlns:r="http://schemas.openxmlformats.org/officeDocument/2006/relationships" id="259" r:id="R9f0b67c8f5ea44e0"/>
    <p:sldId xmlns:r="http://schemas.openxmlformats.org/officeDocument/2006/relationships" id="260" r:id="Rd220d56f4e4d4fdc"/>
    <p:sldId xmlns:r="http://schemas.openxmlformats.org/officeDocument/2006/relationships" id="261" r:id="Rc6f1a977eefc4f00"/>
    <p:sldId xmlns:r="http://schemas.openxmlformats.org/officeDocument/2006/relationships" id="262" r:id="R936733b4d6944b04"/>
    <p:sldId xmlns:r="http://schemas.openxmlformats.org/officeDocument/2006/relationships" id="263" r:id="Rd103217cf543416a"/>
    <p:sldId xmlns:r="http://schemas.openxmlformats.org/officeDocument/2006/relationships" id="264" r:id="R114e4421ef5c4ec8"/>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11abc5f80d41b5" /><Relationship Type="http://schemas.openxmlformats.org/officeDocument/2006/relationships/slideMaster" Target="/ppt/slideMasters/slideMaster1.xml" Id="Re67716fdfb124d9f" /><Relationship Type="http://schemas.openxmlformats.org/officeDocument/2006/relationships/notesMaster" Target="/ppt/notesMasters/notesMaster1.xml" Id="Rb0e20b83594f454a" /><Relationship Type="http://schemas.openxmlformats.org/officeDocument/2006/relationships/presProps" Target="/ppt/presProps.xml" Id="Rb7af39aa90ef4289" /><Relationship Type="http://schemas.openxmlformats.org/officeDocument/2006/relationships/tableStyles" Target="/ppt/tableStyles.xml" Id="R8315a052ceb34f83" /><Relationship Type="http://schemas.openxmlformats.org/officeDocument/2006/relationships/slide" Target="/ppt/slides/slide1.xml" Id="R03eae314aa414ed0" /><Relationship Type="http://schemas.openxmlformats.org/officeDocument/2006/relationships/slide" Target="/ppt/slides/slide2.xml" Id="R676bf51815974a42" /><Relationship Type="http://schemas.openxmlformats.org/officeDocument/2006/relationships/slide" Target="/ppt/slides/slide3.xml" Id="Re773d7e86bd74a4d" /><Relationship Type="http://schemas.openxmlformats.org/officeDocument/2006/relationships/slide" Target="/ppt/slides/slide4.xml" Id="R9f0b67c8f5ea44e0" /><Relationship Type="http://schemas.openxmlformats.org/officeDocument/2006/relationships/slide" Target="/ppt/slides/slide5.xml" Id="Rd220d56f4e4d4fdc" /><Relationship Type="http://schemas.openxmlformats.org/officeDocument/2006/relationships/slide" Target="/ppt/slides/slide6.xml" Id="Rc6f1a977eefc4f00" /><Relationship Type="http://schemas.openxmlformats.org/officeDocument/2006/relationships/slide" Target="/ppt/slides/slide7.xml" Id="R936733b4d6944b04" /><Relationship Type="http://schemas.openxmlformats.org/officeDocument/2006/relationships/slide" Target="/ppt/slides/slide8.xml" Id="Rd103217cf543416a" /><Relationship Type="http://schemas.openxmlformats.org/officeDocument/2006/relationships/slide" Target="/ppt/slides/slide9.xml" Id="R114e4421ef5c4e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e535458ce74d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238cfe8d5e4b40" /><Relationship Type="http://schemas.openxmlformats.org/officeDocument/2006/relationships/notesMaster" Target="/ppt/notesMasters/notesMaster1.xml" Id="R8f1ad57f07a141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2cf90eb9d441e3" /><Relationship Type="http://schemas.openxmlformats.org/officeDocument/2006/relationships/notesMaster" Target="/ppt/notesMasters/notesMaster1.xml" Id="R3dd562190aee4f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9f7a70bab645ac" /><Relationship Type="http://schemas.openxmlformats.org/officeDocument/2006/relationships/notesMaster" Target="/ppt/notesMasters/notesMaster1.xml" Id="Rd6993d85011642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efff0daa8f514d23" /><Relationship Type="http://schemas.openxmlformats.org/officeDocument/2006/relationships/notesMaster" Target="/ppt/notesMasters/notesMaster1.xml" Id="R234e7c51b5cf43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87803dd2ca4171" /><Relationship Type="http://schemas.openxmlformats.org/officeDocument/2006/relationships/notesMaster" Target="/ppt/notesMasters/notesMaster1.xml" Id="R469a0a03da0544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54b7e3a03143e9" /><Relationship Type="http://schemas.openxmlformats.org/officeDocument/2006/relationships/notesMaster" Target="/ppt/notesMasters/notesMaster1.xml" Id="R57b368dd749f426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997a91a5114e61" /><Relationship Type="http://schemas.openxmlformats.org/officeDocument/2006/relationships/notesMaster" Target="/ppt/notesMasters/notesMaster1.xml" Id="R23e55f1abccb43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cc77369868d4c9e" /><Relationship Type="http://schemas.openxmlformats.org/officeDocument/2006/relationships/notesMaster" Target="/ppt/notesMasters/notesMaster1.xml" Id="Re5b1a0cf158b49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584689978d483b" /><Relationship Type="http://schemas.openxmlformats.org/officeDocument/2006/relationships/notesMaster" Target="/ppt/notesMasters/notesMaster1.xml" Id="R8d4a168b7b0d4c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§§1–3 and R-I01–R-I04, plan.md, and docs/implementation/live-handoff-checklist.md.</a:t>
            </a:r>
          </a:p>
          <a:p xmlns:a="http://schemas.openxmlformats.org/drawingml/2006/main">
            <a:r>
              <a:t/>
            </a:r>
          </a:p>
          <a:p xmlns:a="http://schemas.openxmlformats.org/drawingml/2006/main">
            <a:r>
              <a:t>Paperclip owns tasks, agents, runs, reviews and budgets. Buzz and the dashboard expose the same task and decision IDs. The bridge carries paired signed messages and native results. Inertia adapters connect domain services and the required partner graph.</a:t>
            </a:r>
          </a:p>
          <a:p xmlns:a="http://schemas.openxmlformats.org/drawingml/2006/main">
            <a:r>
              <a:t/>
            </a:r>
          </a:p>
          <a:p xmlns:a="http://schemas.openxmlformats.org/drawingml/2006/main">
            <a:r>
              <a:t>Next connections: live host/relay pairing, trusted intake sources, runtime enrollment and domain adapters. Dashed lines mark connections awaiting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§2 and R-C01–R-C05; Operational DAO partner graph design, 23 October 2026.</a:t>
            </a:r>
          </a:p>
          <a:p xmlns:a="http://schemas.openxmlformats.org/drawingml/2006/main">
            <a:r>
              <a:t/>
            </a:r>
          </a:p>
          <a:p xmlns:a="http://schemas.openxmlformats.org/drawingml/2006/main">
            <a:r>
              <a:t>The CEO agent prioritizes intake within configured authority and budgets. Paperclip checks dependencies and assigns exclusive checkout. Validation applies task criteria and required reviews. Failed criteria return work for revision.</a:t>
            </a:r>
          </a:p>
          <a:p xmlns:a="http://schemas.openxmlformats.org/drawingml/2006/main">
            <a:r>
              <a:t/>
            </a:r>
          </a:p>
          <a:p xmlns:a="http://schemas.openxmlformats.org/drawingml/2006/main">
            <a:r>
              <a:t>Research completion returns an answer and a durable knowledge receipt. Sufficient saved evidence permits a no-change receipt. Useful new evidence commits with history and projection outbox entries in PostgreSQL. Projection receipts track any pending graph refresh through reconciliation.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R-M01–R-M04 and R-F04; docs/integrations/dao-website-member-publication-proposal.md; dao-website-publication-v1.1-clarifications.md.</a:t>
            </a:r>
          </a:p>
          <a:p xmlns:a="http://schemas.openxmlformats.org/drawingml/2006/main">
            <a:r>
              <a:t/>
            </a:r>
          </a:p>
          <a:p xmlns:a="http://schemas.openxmlformats.org/drawingml/2006/main">
            <a:r>
              <a:t>Roundtable preserves original meeting sources, prepares a cleaned transcript and separate notes, and extracts source-linked candidates. Summary-only material produces notes and a missing-transcript task. Trusted admission retains exact evidence, revisions, audience and project/opportunity scope. Decisions and commitments require an authorized decision record. Published links return to the Paperclip task and Buzz thread.</a:t>
            </a:r>
          </a:p>
          <a:p xmlns:a="http://schemas.openxmlformats.org/drawingml/2006/main">
            <a:r>
              <a:t/>
            </a:r>
          </a:p>
          <a:p xmlns:a="http://schemas.openxmlformats.org/drawingml/2006/main">
            <a:r>
              <a:t>The objective intake/link/brief core is merged. Next: connect authorized Drive readiness, website membership/publication, action sources and trusted admission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R-G01–R-G04 and R-F01–R-F08; docs/development/funding-enhancement/spec.md; docs/development/native-grant-workflow.md; host-composition/paperclip-durable-funding-review/ACTIVATION-CONTRACT.md.</a:t>
            </a:r>
          </a:p>
          <a:p xmlns:a="http://schemas.openxmlformats.org/drawingml/2006/main">
            <a:r>
              <a:t/>
            </a:r>
          </a:p>
          <a:p xmlns:a="http://schemas.openxmlformats.org/drawingml/2006/main">
            <a:r>
              <a:t>Agents query saved partners, research gaps and save useful findings. Independent review checks claims and remaining work. The DAO meeting requests further preparation or advances a ready packet to authorized human signoff.</a:t>
            </a:r>
          </a:p>
          <a:p xmlns:a="http://schemas.openxmlformats.org/drawingml/2006/main">
            <a:r>
              <a:t/>
            </a:r>
          </a:p>
          <a:p xmlns:a="http://schemas.openxmlformats.org/drawingml/2006/main">
            <a:r>
              <a:t>The frozen direct-application packet binds exact content, attachments and review references to its required final Vocdoni vote. Verified approval opens the separately authorized manual submission path. An optional shortlist vote remains a distinct decision.</a:t>
            </a:r>
          </a:p>
          <a:p xmlns:a="http://schemas.openxmlformats.org/drawingml/2006/main">
            <a:r>
              <a:t/>
            </a:r>
          </a:p>
          <a:p xmlns:a="http://schemas.openxmlformats.org/drawingml/2006/main">
            <a:r>
              <a:t>Durable capture and the funding service implement exact-version authority accepted with the human verdict. Approval survives disconnect and later native changes. DFW confirms cancellation and rejects stale funding evidence. Production activation needs authenticated transport, receipt retention/archival, scoped roles/source access, qualified writer fencing and a real correction/cancel walkthrough. Grant submission and final-vote verification retain their separate authority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§2 and R-C01–R-C05; docs/implementation/live-handoff-checklist.md.</a:t>
            </a:r>
          </a:p>
          <a:p xmlns:a="http://schemas.openxmlformats.org/drawingml/2006/main">
            <a:r>
              <a:t/>
            </a:r>
          </a:p>
          <a:p xmlns:a="http://schemas.openxmlformats.org/drawingml/2006/main">
            <a:r>
              <a:t>An enrolled member agent receives an assigned task, authorized evidence and scoped tools in a sandbox and isolated worktree. It returns candidate evidence. Trusted services validate identity, task revision and source scope, then apply required reviews and accept the task update. A designated human supplies authenticated decisions when required. Database, admin and publisher credentials stay in trusted services.</a:t>
            </a:r>
          </a:p>
          <a:p xmlns:a="http://schemas.openxmlformats.org/drawingml/2006/main">
            <a:r>
              <a:t/>
            </a:r>
          </a:p>
          <a:p xmlns:a="http://schemas.openxmlformats.org/drawingml/2006/main">
            <a:r>
              <a:t>Next: qualify member enrollment, live runtime isolation and contribution adapters.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§5; docs/development/dao-data-consolidation.md; funding-enhancement/spec.md R-F04–R-F05; Operational DAO partner graph design, 23 October 2026.</a:t>
            </a:r>
          </a:p>
          <a:p xmlns:a="http://schemas.openxmlformats.org/drawingml/2006/main">
            <a:r>
              <a:t/>
            </a:r>
          </a:p>
          <a:p xmlns:a="http://schemas.openxmlformats.org/drawingml/2006/main">
            <a:r>
              <a:t>Authoritative evidence: PostgreSQL. Retrieval index: Helix. Work and decisions: Paperclip. Website and meeting services retain their records, canonical IDs and permissions. The research transaction writes admitted facts, history and a projection outbox together.</a:t>
            </a:r>
          </a:p>
          <a:p xmlns:a="http://schemas.openxmlformats.org/drawingml/2006/main">
            <a:r>
              <a:t/>
            </a:r>
          </a:p>
          <a:p xmlns:a="http://schemas.openxmlformats.org/drawingml/2006/main">
            <a:r>
              <a:t>Queries revalidate source revision, permissions and scope before returning names, contacts or evidence. Bounded authorized PG retrieval supports Helix recovery. Revocation takes effect at authoritative retrieval immediately.</a:t>
            </a:r>
          </a:p>
          <a:p xmlns:a="http://schemas.openxmlformats.org/drawingml/2006/main">
            <a:r>
              <a:t/>
            </a:r>
          </a:p>
          <a:p xmlns:a="http://schemas.openxmlformats.org/drawingml/2006/main">
            <a:r>
              <a:t>Disposable cloud PostgreSQL and PG-to-embedded-Helix rehearsal passed. Next: wire trusted sources, admit the inventory/backfill and qualify deployed graph services. Financial inputs retain period, accounting basis, currency and provenance. Production QuickBooks compatibility, cash evidence and spending authority require separate qualification. Broader 990 and semantic enrichment follow the core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Operational DAO partner graph design and John's partnership context, 23 October 2026; https://www.techfortworth.org/made-manufacturing-accelerator; https://moonshotus.com/; https://liquidacre.com/; https://hack.fwtx.city/; https://www.irs.gov/pub/irs-soi/eo_co.csv; https://apps.irs.gov/pub/epostcard/data-download-pub78.zip.</a:t>
            </a:r>
          </a:p>
          <a:p xmlns:a="http://schemas.openxmlformats.org/drawingml/2006/main">
            <a:r>
              <a:t/>
            </a:r>
          </a:p>
          <a:p xmlns:a="http://schemas.openxmlformats.org/drawingml/2006/main">
            <a:r>
              <a:t>Maintain organizations, people, organizational contact roles, programs, projects, events, work history and relationship owners from the authorized source inventory. Every fact retains source/revision/hash, exact evidence, dates, audience and project/opportunity scope. Identity resolution keeps unresolved records explicit.</a:t>
            </a:r>
          </a:p>
          <a:p xmlns:a="http://schemas.openxmlformats.org/drawingml/2006/main">
            <a:r>
              <a:t/>
            </a:r>
          </a:p>
          <a:p xmlns:a="http://schemas.openxmlformats.org/drawingml/2006/main">
            <a:r>
              <a:t>Query and revalidate existing evidence first, using bounded PG fallback when needed. Sufficient evidence yields an answer and no-change receipt. A zero-delta receipt completes the work without a graph write. Otherwise research missing/stale facts and commit useful findings, including discoveries from rejected opportunities. Durable PG receipts support idempotent projection, replay and recovery. Current admitted evidence supports graph claims. Evidenced relationships and an identified DAO owner support introduction paths.</a:t>
            </a:r>
          </a:p>
          <a:p xmlns:a="http://schemas.openxmlformats.org/drawingml/2006/main">
            <a:r>
              <a:t/>
            </a:r>
          </a:p>
          <a:p xmlns:a="http://schemas.openxmlformats.org/drawingml/2006/main">
            <a:r>
              <a:t>MADE is a TechFW program. Moonshot and LiquidAcre are existing collaborators. Moonshot's contracting entity and the spoken Liquid Acres alias still require identity resolution. Evidence establishes roles and delivery stage. October 30 closing-host work remains planned.</a:t>
            </a:r>
          </a:p>
          <a:p xmlns:a="http://schemas.openxmlformats.org/drawingml/2006/main">
            <a:r>
              <a:t/>
            </a:r>
          </a:p>
          <a:p xmlns:a="http://schemas.openxmlformats.org/drawingml/2006/main">
            <a:r>
              <a:t>DAO EIN 41-2815082 matches official IRS 501(c)(3)/public-charity records. The filing address, Fort Worth program geography, determination-letter attachment and funder-specific eligibility remain separate evidence fields. Lead/fiscal roles and commitments require opportunity-specific evidence and approval.</a:t>
            </a:r>
          </a:p>
          <a:p xmlns:a="http://schemas.openxmlformats.org/drawingml/2006/main">
            <a:r>
              <a:t/>
            </a:r>
          </a:p>
          <a:p xmlns:a="http://schemas.openxmlformats.org/drawingml/2006/main">
            <a:r>
              <a:t>Next: connect trusted source adapters, admit the inventory/backfill and qualify deployed graph refresh. The operational discovery loop reuses this research contract with bounded public search, official evidence capture and due rechecks.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docs/implementation/live-handoff-checklist.md; docs/integrations/dao-website-member-publication-proposal.md; docs/development/native-grant-workflow.md; spec.md R-Y01 and R-C01–R-C05; Operational DAO partner graph design, 23 October 2026.</a:t>
            </a:r>
          </a:p>
          <a:p xmlns:a="http://schemas.openxmlformats.org/drawingml/2006/main">
            <a:r>
              <a:t/>
            </a:r>
          </a:p>
          <a:p xmlns:a="http://schemas.openxmlformats.org/drawingml/2006/main">
            <a:r>
              <a:t>John owns website integration. Website reads enforce active membership. Funding human decisions and final-packet vote verification use separate adapters. The DFW knowledge service owns evidence admission/history and projection receipts. Website/meeting services retain source permissions. Inertia supplies source synchronization, graph projection and scoped queries. Paperclip schedules these jobs and assigns unresolved work. Y2 retains interest/source identity and links to existing work or a deduplicated follow-up.</a:t>
            </a:r>
          </a:p>
          <a:p xmlns:a="http://schemas.openxmlformats.org/drawingml/2006/main">
            <a:r>
              <a:t/>
            </a:r>
          </a:p>
          <a:p xmlns:a="http://schemas.openxmlformats.org/drawingml/2006/main">
            <a:r>
              <a:t>Next connections and component responsibilities appear in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plan.md and testing.md; docs/development/funding-enhancement/discovery-loop.md; docs/development/objective-intake.md; scripts/cloud-rehearsal/README.md; https://github.com/NetRxn/Inertia/pull/25; https://github.com/NetRxn/Inertia/pull/26; https://github.com/NetRxn/Inertia/pull/27; https://github.com/NetRxn/Inertia/pull/28; https://github.com/NetRxn/DFW-Gov-Fund/pull/44; https://github.com/NetRxn/DFW-Gov-Fund/pull/45; https://github.com/NetRxn/DFW-Gov-Fund/pull/46; https://github.com/NetRxn/DFW-Gov-Fund/pull/47; https://github.com/NetRxn/DFW-Gov-Fund/pull/49; https://github.com/NetRxn/DFW-Gov-Fund/pull/50; host-composition/paperclip-durable-funding-review/ACTIVATION-CONTRACT.md. Status: 24 October 2026.</a:t>
            </a:r>
          </a:p>
          <a:p xmlns:a="http://schemas.openxmlformats.org/drawingml/2006/main">
            <a:r>
              <a:t/>
            </a:r>
          </a:p>
          <a:p xmlns:a="http://schemas.openxmlformats.org/drawingml/2006/main">
            <a:r>
              <a:t>Merged cores now include drafting/gap preparation, scoped evidence and sanitized financial contracts, partner graph/research reuse, objective intake/links/briefs and cloud rehearsal tooling. The bounded October scout is complete. Its confidence overlay and separate July/manual/replay provenance are retained.</a:t>
            </a:r>
          </a:p>
          <a:p xmlns:a="http://schemas.openxmlformats.org/drawingml/2006/main">
            <a:r>
              <a:t/>
            </a:r>
          </a:p>
          <a:p xmlns:a="http://schemas.openxmlformats.org/drawingml/2006/main">
            <a:r>
              <a:t>Independent cloud rehearsal passed real domain PostgreSQL/PostGIS, native PostgreSQL service/membership/checkout/crash behavior and PG-to-embedded-Helix reuse. The actual-service synthetic meeting-answer-to-revised-brief workflow passed. npm audit and clean-package checks passed. Full HTTP/UI rehearsal needs an environment with working network-interface enumeration. Actual VPS/PPC2 enrollment and production deployment remain next work.</a:t>
            </a:r>
          </a:p>
          <a:p xmlns:a="http://schemas.openxmlformats.org/drawingml/2006/main">
            <a:r>
              <a:t/>
            </a:r>
          </a:p>
          <a:p xmlns:a="http://schemas.openxmlformats.org/drawingml/2006/main">
            <a:r>
              <a:t>Durable human acceptance and funding-service cancellation are implemented and independently qualified in isolated rehearsal. Real native PostgreSQL capture and DFW PostgreSQL behavior passed separately. Cross-service rehearsals used actual native transactions, synthetic file transport and DFW SQLite. Production transport, retention/archival, scoped permissions/source access and the human walkthrough remain activation gates. The composition stays disabled until those gates pass. Live final-vote verification retains its separate gate.</a:t>
            </a:r>
          </a:p>
          <a:p xmlns:a="http://schemas.openxmlformats.org/drawingml/2006/main">
            <a:r>
              <a:t/>
            </a:r>
          </a:p>
          <a:p xmlns:a="http://schemas.openxmlformats.org/drawingml/2006/main">
            <a:r>
              <a:t>The planned discovery loop queries saved knowledge, researches coverage gaps, validates official evidence, saves useful findings and produces prioritized briefs or deduplicated urgent alerts. Native tasks retain due rechecks and failed coverage. The daily profile remains disabled until actual agent/tool wiring, end-to-end rehearsal and recurring cadence approval. Broader 990 and optional semantic/vector enrichment follow separately.</a:t>
            </a:r>
          </a:p>
          <a:p xmlns:a="http://schemas.openxmlformats.org/drawingml/2006/main">
            <a:r>
              <a:t/>
            </a:r>
          </a:p>
          <a:p xmlns:a="http://schemas.openxmlformats.org/drawingml/2006/main">
            <a:r>
              <a:t>Connected demo outcomes remain website meeting publication, a reviewed direct-application packet with its required final vote, an accepted second-member contribution and research reused on a later run. Production financial-provider compatibility and trusted admission policy require qualification.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b021f226854ed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273b838d3e420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c01d139523f466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67bbf1e94b40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bde2bc7e477419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7c68c5f43349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19c727b4d5e4088" /><Relationship Type="http://schemas.openxmlformats.org/officeDocument/2006/relationships/slideLayout" Target="/ppt/slideLayouts/slideLayout1.xml" Id="R20b38ba70eb342b3" /><Relationship Type="http://schemas.openxmlformats.org/officeDocument/2006/relationships/slideLayout" Target="/ppt/slideLayouts/slideLayout2.xml" Id="Rd11476e6f4db4f52" /><Relationship Type="http://schemas.openxmlformats.org/officeDocument/2006/relationships/slideLayout" Target="/ppt/slideLayouts/slideLayout3.xml" Id="R5af7774cad524477" /><Relationship Type="http://schemas.openxmlformats.org/officeDocument/2006/relationships/slideLayout" Target="/ppt/slideLayouts/slideLayout4.xml" Id="Rd9c9b7a06dc94447" /><Relationship Type="http://schemas.openxmlformats.org/officeDocument/2006/relationships/slideLayout" Target="/ppt/slideLayouts/slideLayout5.xml" Id="Rf4e31d95c4da4466" /><Relationship Type="http://schemas.openxmlformats.org/officeDocument/2006/relationships/slideLayout" Target="/ppt/slideLayouts/slideLayout6.xml" Id="R91de7841eb0a44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b38ba70eb342b3"/>
    <p:sldLayoutId xmlns:r="http://schemas.openxmlformats.org/officeDocument/2006/relationships" id="2147483650" r:id="Rd11476e6f4db4f52"/>
    <p:sldLayoutId xmlns:r="http://schemas.openxmlformats.org/officeDocument/2006/relationships" id="2147483651" r:id="R5af7774cad524477"/>
    <p:sldLayoutId xmlns:r="http://schemas.openxmlformats.org/officeDocument/2006/relationships" id="2147483652" r:id="Rd9c9b7a06dc94447"/>
    <p:sldLayoutId xmlns:r="http://schemas.openxmlformats.org/officeDocument/2006/relationships" id="2147483653" r:id="Rf4e31d95c4da4466"/>
    <p:sldLayoutId xmlns:r="http://schemas.openxmlformats.org/officeDocument/2006/relationships" id="2147483654" r:id="R91de7841eb0a44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098bbe5633e4050" /><Relationship Type="http://schemas.openxmlformats.org/officeDocument/2006/relationships/notesSlide" Target="/ppt/notesSlides/notesSlide1.xml" Id="Rb380060625e243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3ebc1313af489c" /><Relationship Type="http://schemas.openxmlformats.org/officeDocument/2006/relationships/notesSlide" Target="/ppt/notesSlides/notesSlide2.xml" Id="R1ccc03dee56243c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889cf71e9834f5b" /><Relationship Type="http://schemas.openxmlformats.org/officeDocument/2006/relationships/notesSlide" Target="/ppt/notesSlides/notesSlide3.xml" Id="R742d16660d6148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ad2309a87834c68" /><Relationship Type="http://schemas.openxmlformats.org/officeDocument/2006/relationships/notesSlide" Target="/ppt/notesSlides/notesSlide4.xml" Id="R0c928a37102545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97d44cba9e8451d" /><Relationship Type="http://schemas.openxmlformats.org/officeDocument/2006/relationships/notesSlide" Target="/ppt/notesSlides/notesSlide5.xml" Id="R9c1246f6357449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2dbc4486f394fa9" /><Relationship Type="http://schemas.openxmlformats.org/officeDocument/2006/relationships/notesSlide" Target="/ppt/notesSlides/notesSlide6.xml" Id="R1e79946dd0d445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140551ca12247b8" /><Relationship Type="http://schemas.openxmlformats.org/officeDocument/2006/relationships/notesSlide" Target="/ppt/notesSlides/notesSlide7.xml" Id="R9c4a3542c48949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d22f8c1b45b42ec" /><Relationship Type="http://schemas.openxmlformats.org/officeDocument/2006/relationships/notesSlide" Target="/ppt/notesSlides/notesSlide8.xml" Id="Rf755ee4b8c4748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1251121ce94cce" /><Relationship Type="http://schemas.openxmlformats.org/officeDocument/2006/relationships/notesSlide" Target="/ppt/notesSlides/notesSlide9.xml" Id="R99c5302b5ef74bbd"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C3120CBA-2826-44C8-94CB-F07348FEA7CB}"/>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A6DE5ED5-9A3C-4374-86AD-43A47E7004C6}"/>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01B70731-45E5-470D-B4BB-F16F8402D9E0}"/>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Agent runtimes</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Central or member computers</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Domain data and actions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funding, Helix</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Vocdoni and Y2</a:t>
            </a:r>
          </a:p>
        </p:txBody>
      </p:sp>
      <p:cxnSp>
        <p:nvCxnSpPr>
          <p:cNvPr id="30" name="flow-29">
            <a:extLst xmlns:a="http://schemas.openxmlformats.org/drawingml/2006/main">
              <a:ext uri="{FF2B5EF4-FFF2-40B4-BE49-F238E27FC236}">
                <a16:creationId xmlns:a16="http://schemas.microsoft.com/office/drawing/2014/main" id="{8C091B80-C622-42DA-A009-93FF036A1267}"/>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9054FC2C-0002-4E13-A51A-7222044C9807}"/>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F42CA512-4975-4C1A-B259-B46282BE7931}"/>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3E3CF51B-F479-43FF-8544-3E0DE3B5B813}"/>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17507772-98B2-4512-B4A7-E4A0D3371618}"/>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FC620AFA-6BA6-43F0-91CD-C3EA0574AE65}"/>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D4F599FF-97B5-43B6-8F99-180E2FC82611}"/>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3AB93786-CD66-4B1E-A32D-851B001657D5}"/>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EED3E3F1-CF60-4F28-BE2F-7B8037750AC2}"/>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A5953D26-8AEE-4417-838F-CCAFCA89F157}"/>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68A424AA-DEEA-4C0D-9DD3-B8307F9A089B}"/>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CEO agent</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Prioritize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Central or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Validation</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Task criteria</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Required reviews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7E77EE6A-D4D8-40F7-A95F-1DC37AB7A59D}"/>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52FDB377-D333-44DF-A914-1CFE5000735D}"/>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42DCDD48-F720-41BE-8CA4-47E67C4031C2}"/>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FC0B672E-8C0B-463B-84AC-547B4A21A1F1}"/>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B640F174-F1E0-497D-9292-886BDA9A4790}"/>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317B2169-A795-454D-A65B-7120C58EE562}"/>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Proposed actions + sources</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DAO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Source job</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pending</a:t>
            </a:r>
          </a:p>
        </p:txBody>
      </p:sp>
      <p:cxnSp>
        <p:nvCxnSpPr>
          <p:cNvPr id="20" name="flow-88">
            <a:extLst xmlns:a="http://schemas.openxmlformats.org/drawingml/2006/main">
              <a:ext uri="{FF2B5EF4-FFF2-40B4-BE49-F238E27FC236}">
                <a16:creationId xmlns:a16="http://schemas.microsoft.com/office/drawing/2014/main" id="{7D9B7B94-4EBB-4DF0-85DD-066C6DE5CD32}"/>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B9C2B235-21EC-4B3A-8BEC-3075251078FD}"/>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1B55A4BE-0C7C-4C4D-88A0-6E5F6208D871}"/>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A7E9E000-2FBE-4EC2-BE5E-8CA255134ECA}"/>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5" name="flow-93">
            <a:extLst xmlns:a="http://schemas.openxmlformats.org/drawingml/2006/main">
              <a:ext uri="{FF2B5EF4-FFF2-40B4-BE49-F238E27FC236}">
                <a16:creationId xmlns:a16="http://schemas.microsoft.com/office/drawing/2014/main" id="{B6651FB7-F8F9-4373-9196-184B622A2782}"/>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6" name="flow-94">
            <a:extLst xmlns:a="http://schemas.openxmlformats.org/drawingml/2006/main">
              <a:ext uri="{FF2B5EF4-FFF2-40B4-BE49-F238E27FC236}">
                <a16:creationId xmlns:a16="http://schemas.microsoft.com/office/drawing/2014/main" id="{743C0879-2E0E-42EC-902E-E9E36EB928B3}"/>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Action intake</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wiring next</a:t>
            </a:r>
          </a:p>
        </p:txBody>
      </p:sp>
      <p:cxnSp>
        <p:nvCxnSpPr>
          <p:cNvPr id="28" name="flow-96">
            <a:extLst xmlns:a="http://schemas.openxmlformats.org/drawingml/2006/main">
              <a:ext uri="{FF2B5EF4-FFF2-40B4-BE49-F238E27FC236}">
                <a16:creationId xmlns:a16="http://schemas.microsoft.com/office/drawing/2014/main" id="{507793A7-002C-4DD6-B579-DDBBCD316DDF}"/>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D7F4B9D6-8C49-4324-B5C3-735A4C88913C}"/>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Core and publication client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3D1A79F3-E5EF-471C-8386-0A47F0BBCBA8}"/>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81BBABB7-3B1E-49A6-AAF3-2B11F74EB344}"/>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7427B4A4-47C9-42B7-9B79-6271F3458A25}"/>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ABCFD886-BD86-4E86-8609-8A068D05BDB0}"/>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8ACDD802-0FEA-4DEA-89E9-4BA6734ABAAA}"/>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Grant preparation and submission</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partners first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later work</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46BF9B33-9CCB-49BB-9D7C-871116C5E191}"/>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E47135E9-968E-44B3-9C3F-4F0333EB123D}"/>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5314AF79-BAEF-4D59-82B7-ECEAA3EDADD6}"/>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8B112F7F-2A59-4D7C-B48F-8FE0200477BB}"/>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DAO meeting</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Prepared brief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Project and next steps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signoff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Vocdoni vote</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packet</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Submit manually</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Authorized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submitter</a:t>
            </a:r>
          </a:p>
        </p:txBody>
      </p:sp>
      <p:cxnSp>
        <p:nvCxnSpPr>
          <p:cNvPr id="31" name="flow-130">
            <a:extLst xmlns:a="http://schemas.openxmlformats.org/drawingml/2006/main">
              <a:ext uri="{FF2B5EF4-FFF2-40B4-BE49-F238E27FC236}">
                <a16:creationId xmlns:a16="http://schemas.microsoft.com/office/drawing/2014/main" id="{37AE7F39-04A1-44E8-A668-EFB1DA347DFE}"/>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Ready for</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signoff</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Verified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approval</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Direct-application packet</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Human review adapter disabled</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Verifier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pending</a:t>
            </a:r>
          </a:p>
        </p:txBody>
      </p:sp>
      <p:cxnSp>
        <p:nvCxnSpPr>
          <p:cNvPr id="43" name="partner-flow-1">
            <a:extLst xmlns:a="http://schemas.openxmlformats.org/drawingml/2006/main">
              <a:ext uri="{FF2B5EF4-FFF2-40B4-BE49-F238E27FC236}">
                <a16:creationId xmlns:a16="http://schemas.microsoft.com/office/drawing/2014/main" id="{8C50AE15-C344-4114-8408-E3D463D49815}"/>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F847D156-086C-4D76-BD6A-0D204D87C04C}"/>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3E2F194F-C69A-41A1-83DF-C3C6881A3D7E}"/>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455FBE7F-8646-43FE-ABA5-462DDEEBEBF1}"/>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A1859A7E-8DE6-4351-A350-0C242B9D0073}"/>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Member contribution boundary</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Member environment</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Trusted services</a:t>
            </a:r>
          </a:p>
        </p:txBody>
      </p:sp>
      <p:cxnSp>
        <p:nvCxnSpPr>
          <p:cNvPr id="5" name="flow-142">
            <a:extLst xmlns:a="http://schemas.openxmlformats.org/drawingml/2006/main">
              <a:ext uri="{FF2B5EF4-FFF2-40B4-BE49-F238E27FC236}">
                <a16:creationId xmlns:a16="http://schemas.microsoft.com/office/drawing/2014/main" id="{D18FAB8B-9B1D-4CFC-B596-E9B959C813D2}"/>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Connects an approved agent</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Assigns the task and allowed inputs</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Member agent runtime</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Sandbox and isolated worktree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Task-scoped evidence and tools</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Server validation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Identity, task revision and source checks</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Review and acceptance</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Authorized task update</a:t>
            </a:r>
          </a:p>
        </p:txBody>
      </p:sp>
      <p:cxnSp>
        <p:nvCxnSpPr>
          <p:cNvPr id="21" name="flow-158">
            <a:extLst xmlns:a="http://schemas.openxmlformats.org/drawingml/2006/main">
              <a:ext uri="{FF2B5EF4-FFF2-40B4-BE49-F238E27FC236}">
                <a16:creationId xmlns:a16="http://schemas.microsoft.com/office/drawing/2014/main" id="{66349483-5A50-40B0-B266-21302A63AFCB}"/>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human reviewer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Supplies a decision when required</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8C9A3D5C-7BE3-4AF8-9C40-FB51EDBAD22C}"/>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41AC155E-C29D-4FBE-9125-71875122CF68}"/>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46B354BC-263C-4A31-AB01-93B52D5100DC}"/>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6E9984F7-475E-4988-8BD3-A0D2C5175F98}"/>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Draft result</a:t>
            </a:r>
          </a:p>
        </p:txBody>
      </p:sp>
      <p:cxnSp>
        <p:nvCxnSpPr>
          <p:cNvPr id="33" name="flow-169">
            <a:extLst xmlns:a="http://schemas.openxmlformats.org/drawingml/2006/main">
              <a:ext uri="{FF2B5EF4-FFF2-40B4-BE49-F238E27FC236}">
                <a16:creationId xmlns:a16="http://schemas.microsoft.com/office/drawing/2014/main" id="{FF5185BC-DC54-4EE1-B87B-EC47F60BD949}"/>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Validated evidence</a:t>
            </a:r>
          </a:p>
        </p:txBody>
      </p:sp>
      <p:cxnSp>
        <p:nvCxnSpPr>
          <p:cNvPr id="35" name="flow-171">
            <a:extLst xmlns:a="http://schemas.openxmlformats.org/drawingml/2006/main">
              <a:ext uri="{FF2B5EF4-FFF2-40B4-BE49-F238E27FC236}">
                <a16:creationId xmlns:a16="http://schemas.microsoft.com/office/drawing/2014/main" id="{B64E98BC-F4C7-4173-9032-9C1E8C8381CC}"/>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92BA4FDE-B06D-4423-8C76-41FB57E367FF}"/>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EB283368-94A3-45DC-B582-7DF3AEAEB353}"/>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AE8BA6A1-1C3B-49E0-A662-A56C3AABA7F2}"/>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600CE152-AE3D-46D4-A504-B5F6D7534253}"/>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C726FAEB-C2E6-4AA7-AFFC-1499C7D9E3D7}"/>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D1A4B1E5-77BC-4442-A91F-5D31790F5FF1}"/>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Database and publisher credentials stay in trusted services</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Meeting and funding records</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Research deltas and transactional outbox</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Evidence and graph cores merged</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Production integration next</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7053BFAA-4CC8-4864-BFDF-5911A6EB9E33}"/>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meetings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Read-only financial exports</a:t>
            </a:r>
          </a:p>
        </p:txBody>
      </p:sp>
      <p:cxnSp>
        <p:nvCxnSpPr>
          <p:cNvPr id="15" name="partner-flow-19">
            <a:extLst xmlns:a="http://schemas.openxmlformats.org/drawingml/2006/main">
              <a:ext uri="{FF2B5EF4-FFF2-40B4-BE49-F238E27FC236}">
                <a16:creationId xmlns:a16="http://schemas.microsoft.com/office/drawing/2014/main" id="{3C810182-40BC-457E-98DE-F040AB5F0D8D}"/>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Helix partner graph</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Indexed relationship queries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PG source and access revalidation</a:t>
            </a:r>
          </a:p>
        </p:txBody>
      </p:sp>
      <p:cxnSp>
        <p:nvCxnSpPr>
          <p:cNvPr id="20" name="partner-flow-24">
            <a:extLst xmlns:a="http://schemas.openxmlformats.org/drawingml/2006/main">
              <a:ext uri="{FF2B5EF4-FFF2-40B4-BE49-F238E27FC236}">
                <a16:creationId xmlns:a16="http://schemas.microsoft.com/office/drawing/2014/main" id="{2FF0F711-F536-4B8A-AD68-D7346A2A1B1B}"/>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CE6CCB48-8545-4F96-91F8-28E517050973}"/>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846A3AF9-44FE-4F69-8C01-7767FB217587}"/>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Projection integration next</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Broader 990 enrichment and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optional semantic search</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follow later</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Merged core, live integration next</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Partner graph and research reuse</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Merged core, live integration next</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PG access/source checks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Indexed partner queries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PG fallback</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Answer + knowledge delta</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PG evidence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Refresh Helix</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Idempotent projection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Versioned graph updates</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 and recovery</a:t>
            </a:r>
          </a:p>
        </p:txBody>
      </p:sp>
      <p:cxnSp>
        <p:nvCxnSpPr>
          <p:cNvPr id="16" name="partner-flow-45">
            <a:extLst xmlns:a="http://schemas.openxmlformats.org/drawingml/2006/main">
              <a:ext uri="{FF2B5EF4-FFF2-40B4-BE49-F238E27FC236}">
                <a16:creationId xmlns:a16="http://schemas.microsoft.com/office/drawing/2014/main" id="{A9B15B4F-E453-4BE4-B5B7-DB41D0C47AA4}"/>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213E47D0-76F3-43CA-ACA0-3BE813120F9E}"/>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F39F82FC-2DA1-4CB9-9D10-51547946F5F3}"/>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823279A2-F902-45C2-BED8-927CC8DB361E}"/>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BC3B5E22-C13A-4C15-B730-9AA440AE21F6}"/>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A0698FFB-354A-4754-9FDD-48431269D798}"/>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31AECDA0-1654-4C82-A21C-14E41BCEC69C}"/>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3A00E6D0-35AF-4C68-B73B-0E7B68940C86}"/>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B24AFD93-EFCA-4EBC-AFC1-6B1E5A6028B5}"/>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Indexed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Initial inventory: DAO, TechFW’s MADE program, Moonshot, LiquidAcre and HackFW</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3BACE6B9-C148-453B-B8BE-FE0D77EF2323}"/>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FA08A9B3-066A-4F3F-A7DE-375642552566}"/>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 access</a:t>
                      </a:r>
                    </a:p>
                    <a:p>
                      <a:r>
                        <a:rPr sz="1875" b="0">
                          <a:solidFill>
                            <a:srgbClr val="132E38"/>
                          </a:solidFill>
                          <a:latin typeface="Aptos"/>
                          <a:ea typeface="Aptos"/>
                          <a:cs typeface="Aptos"/>
                        </a:rPr>
                        <a:t>Connect the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John integrates the website endpoints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 the relay and members</a:t>
                      </a:r>
                    </a:p>
                    <a:p>
                      <a:r>
                        <a:rPr sz="1875" b="0">
                          <a:solidFill>
                            <a:srgbClr val="132E38"/>
                          </a:solidFill>
                          <a:latin typeface="Aptos"/>
                          <a:ea typeface="Aptos"/>
                          <a:cs typeface="Aptos"/>
                        </a:rPr>
                        <a:t>Verify requests and returned results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Funding / Vocdoni</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Human decisions and exact packet vote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Connect production review transport</a:t>
                      </a:r>
                    </a:p>
                    <a:p>
                      <a:r>
                        <a:rPr sz="1875" b="0">
                          <a:solidFill>
                            <a:srgbClr val="132E38"/>
                          </a:solidFill>
                          <a:latin typeface="Aptos"/>
                          <a:ea typeface="Aptos"/>
                          <a:cs typeface="Aptos"/>
                        </a:rPr>
                        <a:t>Verify the final vote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Helix</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Partner graph and research writeback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Connect trusted source adapters</a:t>
                      </a:r>
                    </a:p>
                    <a:p>
                      <a:r>
                        <a:rPr sz="1875" b="0">
                          <a:solidFill>
                            <a:srgbClr val="132E38"/>
                          </a:solidFill>
                          <a:latin typeface="Aptos"/>
                          <a:ea typeface="Aptos"/>
                          <a:cs typeface="Aptos"/>
                        </a:rPr>
                        <a:t>Qualify production PG and services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Y2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Relevant updates linked to existing work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Agree the update and follow-up contract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Paperclip / member runtime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Scoped task, isolated execution,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Enroll and qualify a second contributor</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Roadmap to the connected demo</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Newly merged</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Integration and rehearsal</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Core services and adapters</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Required before the demo</a:t>
            </a:r>
          </a:p>
        </p:txBody>
      </p:sp>
      <p:cxnSp>
        <p:nvCxnSpPr>
          <p:cNvPr id="9" name="flow-217">
            <a:extLst xmlns:a="http://schemas.openxmlformats.org/drawingml/2006/main">
              <a:ext uri="{FF2B5EF4-FFF2-40B4-BE49-F238E27FC236}">
                <a16:creationId xmlns:a16="http://schemas.microsoft.com/office/drawing/2014/main" id="{447003AE-9C1A-415B-8FFF-4148B3BA88B6}"/>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23E22D28-C01A-4B8F-A184-0E16FE5BC9A9}"/>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Roundtable core and client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Grant packet and vote binding</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Portable skills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October discovery and scout</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Public drafting and gap review</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Evidence and financial contracts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Helix graph and research reuse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Objective intake and briefs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Cloud rehearsal tooling</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Durable review and cancellation</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Trusted host and source wiring</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Operational discovery and alerts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Production PG and graph backfill</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Drive, website and financial inputs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Human review and final-vote checks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Live models and member enrollment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Deployment and Y2 integration</a:t>
            </a:r>
          </a:p>
        </p:txBody>
      </p:sp>
      <p:cxnSp>
        <p:nvCxnSpPr>
          <p:cNvPr id="14" name="flow-222">
            <a:extLst xmlns:a="http://schemas.openxmlformats.org/drawingml/2006/main">
              <a:ext uri="{FF2B5EF4-FFF2-40B4-BE49-F238E27FC236}">
                <a16:creationId xmlns:a16="http://schemas.microsoft.com/office/drawing/2014/main" id="{7082CDD1-641A-4414-9749-37D6EC064BD7}"/>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demo outcomes</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Reviewed grant packet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and final-packet vote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 second member agent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returns accepted work</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Saved partner evidence</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reused after new research</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2026-10-24T00:46:51.2380000Z</dcterms:created>
  <dcterms:modified xsi:type="dcterms:W3CDTF">2026-10-24T00:46:51.2390000Z</dcterms:modified>
</coreProperties>
</file>