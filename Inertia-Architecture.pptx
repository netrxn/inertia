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d1b4f0345e84c88" /><Relationship Type="http://schemas.openxmlformats.org/officeDocument/2006/relationships/extended-properties" Target="/docProps/app.xml" Id="R4b5d0fa53b6b4ef7" /><Relationship Type="http://schemas.openxmlformats.org/officeDocument/2006/relationships/officeDocument" Target="/ppt/presentation.xml" Id="R6d4bbefceb4941a0" /></Relationships>
</file>

<file path=ppt/presentation.xml><?xml version="1.0" encoding="utf-8"?>
<p:presentation xmlns:p="http://schemas.openxmlformats.org/presentationml/2006/main">
  <p:sldMasterIdLst>
    <p:sldMasterId xmlns:r="http://schemas.openxmlformats.org/officeDocument/2006/relationships" id="2147483648" r:id="R5e3ce0d235b54432"/>
  </p:sldMasterIdLst>
  <p:notesMasterIdLst>
    <p:notesMasterId xmlns:r="http://schemas.openxmlformats.org/officeDocument/2006/relationships" r:id="R4de93270790644b3"/>
  </p:notesMasterIdLst>
  <p:sldIdLst>
    <p:sldId xmlns:r="http://schemas.openxmlformats.org/officeDocument/2006/relationships" id="256" r:id="R2732d204445748e9"/>
    <p:sldId xmlns:r="http://schemas.openxmlformats.org/officeDocument/2006/relationships" id="257" r:id="R26731a1f10484fa6"/>
    <p:sldId xmlns:r="http://schemas.openxmlformats.org/officeDocument/2006/relationships" id="258" r:id="Rc0a8e38ce5f6436b"/>
    <p:sldId xmlns:r="http://schemas.openxmlformats.org/officeDocument/2006/relationships" id="259" r:id="R826a7a3dcd1b4353"/>
    <p:sldId xmlns:r="http://schemas.openxmlformats.org/officeDocument/2006/relationships" id="260" r:id="Rb6f8ee8409774d33"/>
    <p:sldId xmlns:r="http://schemas.openxmlformats.org/officeDocument/2006/relationships" id="261" r:id="R46af81d8aaf94481"/>
    <p:sldId xmlns:r="http://schemas.openxmlformats.org/officeDocument/2006/relationships" id="262" r:id="Re7326f7df2f14630"/>
    <p:sldId xmlns:r="http://schemas.openxmlformats.org/officeDocument/2006/relationships" id="263" r:id="R488cb08c01dd4e34"/>
    <p:sldId xmlns:r="http://schemas.openxmlformats.org/officeDocument/2006/relationships" id="264" r:id="Rbf421dd28b304bef"/>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fd3697e195b46f5" /><Relationship Type="http://schemas.openxmlformats.org/officeDocument/2006/relationships/slideMaster" Target="/ppt/slideMasters/slideMaster1.xml" Id="R5e3ce0d235b54432" /><Relationship Type="http://schemas.openxmlformats.org/officeDocument/2006/relationships/notesMaster" Target="/ppt/notesMasters/notesMaster1.xml" Id="R4de93270790644b3" /><Relationship Type="http://schemas.openxmlformats.org/officeDocument/2006/relationships/presProps" Target="/ppt/presProps.xml" Id="Ra5b8d77d6da64101" /><Relationship Type="http://schemas.openxmlformats.org/officeDocument/2006/relationships/tableStyles" Target="/ppt/tableStyles.xml" Id="Rb17629397d8b405a" /><Relationship Type="http://schemas.openxmlformats.org/officeDocument/2006/relationships/slide" Target="/ppt/slides/slide1.xml" Id="R2732d204445748e9" /><Relationship Type="http://schemas.openxmlformats.org/officeDocument/2006/relationships/slide" Target="/ppt/slides/slide2.xml" Id="R26731a1f10484fa6" /><Relationship Type="http://schemas.openxmlformats.org/officeDocument/2006/relationships/slide" Target="/ppt/slides/slide3.xml" Id="Rc0a8e38ce5f6436b" /><Relationship Type="http://schemas.openxmlformats.org/officeDocument/2006/relationships/slide" Target="/ppt/slides/slide4.xml" Id="R826a7a3dcd1b4353" /><Relationship Type="http://schemas.openxmlformats.org/officeDocument/2006/relationships/slide" Target="/ppt/slides/slide5.xml" Id="Rb6f8ee8409774d33" /><Relationship Type="http://schemas.openxmlformats.org/officeDocument/2006/relationships/slide" Target="/ppt/slides/slide6.xml" Id="R46af81d8aaf94481" /><Relationship Type="http://schemas.openxmlformats.org/officeDocument/2006/relationships/slide" Target="/ppt/slides/slide7.xml" Id="Re7326f7df2f14630" /><Relationship Type="http://schemas.openxmlformats.org/officeDocument/2006/relationships/slide" Target="/ppt/slides/slide8.xml" Id="R488cb08c01dd4e34" /><Relationship Type="http://schemas.openxmlformats.org/officeDocument/2006/relationships/slide" Target="/ppt/slides/slide9.xml" Id="Rbf421dd28b304be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f1572350f30436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8a4b255820d4160" /><Relationship Type="http://schemas.openxmlformats.org/officeDocument/2006/relationships/notesMaster" Target="/ppt/notesMasters/notesMaster1.xml" Id="R824934aa05474058" /></Relationships>
</file>

<file path=ppt/notesSlides/_rels/notesSlide2.xml.rels>&#65279;<?xml version="1.0" encoding="utf-8"?><Relationships xmlns="http://schemas.openxmlformats.org/package/2006/relationships"><Relationship Type="http://schemas.openxmlformats.org/officeDocument/2006/relationships/slide" Target="/ppt/slides/slide2.xml" Id="Re1b4408da1474a5a" /><Relationship Type="http://schemas.openxmlformats.org/officeDocument/2006/relationships/notesMaster" Target="/ppt/notesMasters/notesMaster1.xml" Id="R1ee50d0e2d1d4e7b" /></Relationships>
</file>

<file path=ppt/notesSlides/_rels/notesSlide3.xml.rels>&#65279;<?xml version="1.0" encoding="utf-8"?><Relationships xmlns="http://schemas.openxmlformats.org/package/2006/relationships"><Relationship Type="http://schemas.openxmlformats.org/officeDocument/2006/relationships/slide" Target="/ppt/slides/slide3.xml" Id="Rdfc7deb851f749c3" /><Relationship Type="http://schemas.openxmlformats.org/officeDocument/2006/relationships/notesMaster" Target="/ppt/notesMasters/notesMaster1.xml" Id="R778fff0586a24f07" /></Relationships>
</file>

<file path=ppt/notesSlides/_rels/notesSlide4.xml.rels>&#65279;<?xml version="1.0" encoding="utf-8"?><Relationships xmlns="http://schemas.openxmlformats.org/package/2006/relationships"><Relationship Type="http://schemas.openxmlformats.org/officeDocument/2006/relationships/slide" Target="/ppt/slides/slide4.xml" Id="R089279fab1f841ae" /><Relationship Type="http://schemas.openxmlformats.org/officeDocument/2006/relationships/notesMaster" Target="/ppt/notesMasters/notesMaster1.xml" Id="R189bb1be05224c05" /></Relationships>
</file>

<file path=ppt/notesSlides/_rels/notesSlide5.xml.rels>&#65279;<?xml version="1.0" encoding="utf-8"?><Relationships xmlns="http://schemas.openxmlformats.org/package/2006/relationships"><Relationship Type="http://schemas.openxmlformats.org/officeDocument/2006/relationships/slide" Target="/ppt/slides/slide5.xml" Id="R788afe87c3fa4e83" /><Relationship Type="http://schemas.openxmlformats.org/officeDocument/2006/relationships/notesMaster" Target="/ppt/notesMasters/notesMaster1.xml" Id="R972860513a5e486f" /></Relationships>
</file>

<file path=ppt/notesSlides/_rels/notesSlide6.xml.rels>&#65279;<?xml version="1.0" encoding="utf-8"?><Relationships xmlns="http://schemas.openxmlformats.org/package/2006/relationships"><Relationship Type="http://schemas.openxmlformats.org/officeDocument/2006/relationships/slide" Target="/ppt/slides/slide6.xml" Id="R39aa7b377cd049a9" /><Relationship Type="http://schemas.openxmlformats.org/officeDocument/2006/relationships/notesMaster" Target="/ppt/notesMasters/notesMaster1.xml" Id="R485ad7927ece48b0" /></Relationships>
</file>

<file path=ppt/notesSlides/_rels/notesSlide7.xml.rels>&#65279;<?xml version="1.0" encoding="utf-8"?><Relationships xmlns="http://schemas.openxmlformats.org/package/2006/relationships"><Relationship Type="http://schemas.openxmlformats.org/officeDocument/2006/relationships/slide" Target="/ppt/slides/slide7.xml" Id="Rfa84313d07714fd4" /><Relationship Type="http://schemas.openxmlformats.org/officeDocument/2006/relationships/notesMaster" Target="/ppt/notesMasters/notesMaster1.xml" Id="R294f337c1ad944c2" /></Relationships>
</file>

<file path=ppt/notesSlides/_rels/notesSlide8.xml.rels>&#65279;<?xml version="1.0" encoding="utf-8"?><Relationships xmlns="http://schemas.openxmlformats.org/package/2006/relationships"><Relationship Type="http://schemas.openxmlformats.org/officeDocument/2006/relationships/slide" Target="/ppt/slides/slide8.xml" Id="R10d6cfb265374208" /><Relationship Type="http://schemas.openxmlformats.org/officeDocument/2006/relationships/notesMaster" Target="/ppt/notesMasters/notesMaster1.xml" Id="R32da7f75940f444f" /></Relationships>
</file>

<file path=ppt/notesSlides/_rels/notesSlide9.xml.rels>&#65279;<?xml version="1.0" encoding="utf-8"?><Relationships xmlns="http://schemas.openxmlformats.org/package/2006/relationships"><Relationship Type="http://schemas.openxmlformats.org/officeDocument/2006/relationships/slide" Target="/ppt/slides/slide9.xml" Id="R8e113921691449da" /><Relationship Type="http://schemas.openxmlformats.org/officeDocument/2006/relationships/notesMaster" Target="/ppt/notesMasters/notesMaster1.xml" Id="R2f84d8ad844d457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§§1–3 and R-I01–R-I04, plan.md, and docs/implementation/live-handoff-checklist.md.</a:t>
            </a:r>
          </a:p>
          <a:p xmlns:a="http://schemas.openxmlformats.org/drawingml/2006/main">
            <a:r>
              <a:t/>
            </a:r>
          </a:p>
          <a:p xmlns:a="http://schemas.openxmlformats.org/drawingml/2006/main">
            <a:r>
              <a:t>Paperclip owns tasks, agents, runs, reviews and budgets. Buzz and the dashboard expose the same task and decision IDs. The bridge carries paired signed messages and native results. Inertia adapters connect domain services and the required partner graph.</a:t>
            </a:r>
          </a:p>
          <a:p xmlns:a="http://schemas.openxmlformats.org/drawingml/2006/main">
            <a:r>
              <a:t/>
            </a:r>
          </a:p>
          <a:p xmlns:a="http://schemas.openxmlformats.org/drawingml/2006/main">
            <a:r>
              <a:t>Next connections: live host/relay pairing, trusted intake sources, runtime enrollment and domain adapters. Dashed lines mark connections awaiting integration.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§2 and R-C01–R-C05; Operational DAO partner graph design, 23 October 2026.</a:t>
            </a:r>
          </a:p>
          <a:p xmlns:a="http://schemas.openxmlformats.org/drawingml/2006/main">
            <a:r>
              <a:t/>
            </a:r>
          </a:p>
          <a:p xmlns:a="http://schemas.openxmlformats.org/drawingml/2006/main">
            <a:r>
              <a:t>The CEO agent prioritizes intake within configured authority and budgets. Paperclip checks dependencies and assigns exclusive checkout. Validation applies task criteria and required reviews. Failed criteria return work for revision.</a:t>
            </a:r>
          </a:p>
          <a:p xmlns:a="http://schemas.openxmlformats.org/drawingml/2006/main">
            <a:r>
              <a:t/>
            </a:r>
          </a:p>
          <a:p xmlns:a="http://schemas.openxmlformats.org/drawingml/2006/main">
            <a:r>
              <a:t>Research completion returns an answer and a durable knowledge receipt. Sufficient saved evidence permits a no-change receipt. Useful new evidence commits with history and projection outbox entries in PostgreSQL. Projection receipts track any pending graph refresh through reconciliation.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R-M01–R-M04 and R-F04; docs/development/meeting-source-native-composition.md; docs/integrations/dao-website-member-publication-proposal.md; dao-website-publication-v1.1-clarifications.md; Needed-from-team.md NTF01, NTF03 and NTF05.</a:t>
            </a:r>
          </a:p>
          <a:p xmlns:a="http://schemas.openxmlformats.org/drawingml/2006/main">
            <a:r>
              <a:t/>
            </a:r>
          </a:p>
          <a:p xmlns:a="http://schemas.openxmlformats.org/drawingml/2006/main">
            <a:r>
              <a:t>The merged source job verifies Meet readiness and Drive identity/version before preparing a transcript and separate notes. It saves exact publication operations, reconciles uncertain outcomes and applies corrections through the existing website contract. New and corrected publications update one reference-only native follow-up. Summary-only sources retain a protected Drive reference and create missing-transcript work. Notes-only website output requires an approved server contract.</a:t>
            </a:r>
          </a:p>
          <a:p xmlns:a="http://schemas.openxmlformats.org/drawingml/2006/main">
            <a:r>
              <a:t/>
            </a:r>
          </a:p>
          <a:p xmlns:a="http://schemas.openxmlformats.org/drawingml/2006/main">
            <a:r>
              <a:t>Actual pinned native PostgreSQL qualification passed ownership, source/correction flow, native issue and website acknowledgment recovery, and WAL restart preservation. Source and website responses were synthetic. The job stays disabled until approved Drive/website access, installation capabilities, source retention, transport limits and a staging canary are qualified.</a:t>
            </a:r>
          </a:p>
          <a:p xmlns:a="http://schemas.openxmlformats.org/drawingml/2006/main">
            <a:r>
              <a:t/>
            </a:r>
          </a:p>
          <a:p xmlns:a="http://schemas.openxmlformats.org/drawingml/2006/main">
            <a:r>
              <a:t>Trusted knowledge admission retains exact evidence, revisions, audience and project/opportunity scope. Decisions and commitments require an authorized decision record. Published links return to shared Paperclip work and its Buzz 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R-G01–R-G04 and R-F01–R-F08; docs/development/funding-enhancement/spec.md; docs/development/native-grant-workflow.md; host-composition/paperclip-durable-funding-review/ACTIVATION-CONTRACT.md.</a:t>
            </a:r>
          </a:p>
          <a:p xmlns:a="http://schemas.openxmlformats.org/drawingml/2006/main">
            <a:r>
              <a:t/>
            </a:r>
          </a:p>
          <a:p xmlns:a="http://schemas.openxmlformats.org/drawingml/2006/main">
            <a:r>
              <a:t>Agents query saved partners, research gaps and save useful findings. Independent review checks claims and remaining work. The DAO meeting requests further preparation or advances a ready packet to authorized human signoff.</a:t>
            </a:r>
          </a:p>
          <a:p xmlns:a="http://schemas.openxmlformats.org/drawingml/2006/main">
            <a:r>
              <a:t/>
            </a:r>
          </a:p>
          <a:p xmlns:a="http://schemas.openxmlformats.org/drawingml/2006/main">
            <a:r>
              <a:t>The frozen direct-application packet binds exact content, attachments and review references to its required final Vocdoni vote. Verified approval opens the separately authorized manual submission path. An optional shortlist vote remains a distinct decision.</a:t>
            </a:r>
          </a:p>
          <a:p xmlns:a="http://schemas.openxmlformats.org/drawingml/2006/main">
            <a:r>
              <a:t/>
            </a:r>
          </a:p>
          <a:p xmlns:a="http://schemas.openxmlformats.org/drawingml/2006/main">
            <a:r>
              <a:t>Durable capture and the funding service implement exact-version authority accepted with the human verdict. Approval survives disconnect and later native changes. DFW confirms cancellation and rejects stale funding evidence. Production activation needs authenticated transport, receipt retention/archival, scoped roles/source access, qualified writer fencing and a real correction/cancel walkthrough. Grant submission and final-vote verification retain their separate authority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R-C01–R-C05; docs/development/member-contribution-boundary.md; Needed-from-team.md NTF11.</a:t>
            </a:r>
          </a:p>
          <a:p xmlns:a="http://schemas.openxmlformats.org/drawingml/2006/main">
            <a:r>
              <a:t/>
            </a:r>
          </a:p>
          <a:p xmlns:a="http://schemas.openxmlformats.org/drawingml/2006/main">
            <a:r>
              <a:t>The candidate library checks the authenticated member, exact execution attempt, enrollment, task revision, native run/checkout and artifact policy. It releases only server-curated inputs and stages immutable, untrusted candidate receipts. Exact retries converge and uncertain writes reconcile before returning a receipt. Actual pinned native services qualified candidate staging, revocation and recovery while tasks remained in progress.</a:t>
            </a:r>
          </a:p>
          <a:p xmlns:a="http://schemas.openxmlformats.org/drawingml/2006/main">
            <a:r>
              <a:t/>
            </a:r>
          </a:p>
          <a:p xmlns:a="http://schemas.openxmlformats.org/drawingml/2006/main">
            <a:r>
              <a:t>Engineering must provide authenticated ingress and a fresh, non-reusable authority for each execution attempt. It also owns provider/sandbox qualification, native review handoff and final acceptance with current authority checks in the owning native transaction. The team supplies the willing participant, chosen runtime, membership reference and approved task/data scope. Database and publisher credentials stay in trusted services.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§5; docs/development/dao-data-consolidation.md; funding-enhancement/spec.md R-F04–R-F05; Operational DAO partner graph design, 23 October 2026.</a:t>
            </a:r>
          </a:p>
          <a:p xmlns:a="http://schemas.openxmlformats.org/drawingml/2006/main">
            <a:r>
              <a:t/>
            </a:r>
          </a:p>
          <a:p xmlns:a="http://schemas.openxmlformats.org/drawingml/2006/main">
            <a:r>
              <a:t>Authoritative evidence: PostgreSQL. Retrieval index: Helix. Work and decisions: Paperclip. Website and meeting services retain their records, canonical IDs and permissions. The research transaction writes admitted facts, history and a projection outbox together.</a:t>
            </a:r>
          </a:p>
          <a:p xmlns:a="http://schemas.openxmlformats.org/drawingml/2006/main">
            <a:r>
              <a:t/>
            </a:r>
          </a:p>
          <a:p xmlns:a="http://schemas.openxmlformats.org/drawingml/2006/main">
            <a:r>
              <a:t>Queries revalidate source revision, permissions and scope before returning names, contacts or evidence. Bounded authorized PG retrieval supports Helix recovery. Revocation takes effect at authoritative retrieval immediately.</a:t>
            </a:r>
          </a:p>
          <a:p xmlns:a="http://schemas.openxmlformats.org/drawingml/2006/main">
            <a:r>
              <a:t/>
            </a:r>
          </a:p>
          <a:p xmlns:a="http://schemas.openxmlformats.org/drawingml/2006/main">
            <a:r>
              <a:t>Disposable cloud PostgreSQL and PG-to-embedded-Helix rehearsal passed. Next: wire trusted sources, admit the inventory/backfill and qualify deployed graph services. Financial inputs retain period, accounting basis, currency and provenance. Production QuickBooks compatibility, cash evidence and spending authority require separate qualification. Broader 990 and semantic enrichment follow the core graph.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Operational DAO partner graph design and John's partnership context, 23 October 2026; https://www.techfortworth.org/made-manufacturing-accelerator; https://moonshotus.com/; https://liquidacre.com/; https://hack.fwtx.city/; https://www.irs.gov/pub/irs-soi/eo_co.csv; https://apps.irs.gov/pub/epostcard/data-download-pub78.zip.</a:t>
            </a:r>
          </a:p>
          <a:p xmlns:a="http://schemas.openxmlformats.org/drawingml/2006/main">
            <a:r>
              <a:t/>
            </a:r>
          </a:p>
          <a:p xmlns:a="http://schemas.openxmlformats.org/drawingml/2006/main">
            <a:r>
              <a:t>Maintain organizations, people, organizational contact roles, programs, projects, events, work history and relationship owners from the authorized source inventory. Every fact retains source/revision/hash, exact evidence, dates, audience and project/opportunity scope. Identity resolution keeps unresolved records explicit.</a:t>
            </a:r>
          </a:p>
          <a:p xmlns:a="http://schemas.openxmlformats.org/drawingml/2006/main">
            <a:r>
              <a:t/>
            </a:r>
          </a:p>
          <a:p xmlns:a="http://schemas.openxmlformats.org/drawingml/2006/main">
            <a:r>
              <a:t>Query and revalidate existing evidence first, using bounded PG fallback when needed. Sufficient evidence yields an answer and no-change receipt. A zero-delta receipt completes the work without a graph write. Otherwise research missing/stale facts and commit useful findings, including discoveries from rejected opportunities. Durable PG receipts support idempotent projection, replay and recovery. Current admitted evidence supports graph claims. Evidenced relationships and an identified DAO owner support introduction paths.</a:t>
            </a:r>
          </a:p>
          <a:p xmlns:a="http://schemas.openxmlformats.org/drawingml/2006/main">
            <a:r>
              <a:t/>
            </a:r>
          </a:p>
          <a:p xmlns:a="http://schemas.openxmlformats.org/drawingml/2006/main">
            <a:r>
              <a:t>MADE is a TechFW program. Moonshot and LiquidAcre are existing collaborators. Moonshot's contracting entity and the spoken Liquid Acres alias still require identity resolution. Evidence establishes roles and delivery stage. October 30 closing-host work remains planned.</a:t>
            </a:r>
          </a:p>
          <a:p xmlns:a="http://schemas.openxmlformats.org/drawingml/2006/main">
            <a:r>
              <a:t/>
            </a:r>
          </a:p>
          <a:p xmlns:a="http://schemas.openxmlformats.org/drawingml/2006/main">
            <a:r>
              <a:t>DAO EIN 41-2815082 matches official IRS 501(c)(3)/public-charity records. The filing address, Fort Worth program geography, determination-letter attachment and funder-specific eligibility remain separate evidence fields. Lead/fiscal roles and commitments require opportunity-specific evidence and approval.</a:t>
            </a:r>
          </a:p>
          <a:p xmlns:a="http://schemas.openxmlformats.org/drawingml/2006/main">
            <a:r>
              <a:t/>
            </a:r>
          </a:p>
          <a:p xmlns:a="http://schemas.openxmlformats.org/drawingml/2006/main">
            <a:r>
              <a:t>Next: connect trusted source adapters, admit the inventory/backfill and qualify deployed graph refresh. The merged discovery foundation reuses this research contract with bounded source capture and due rechecks. Qualify the assigned research tools, admitted sources and live service path before activation.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docs/implementation/live-handoff-checklist.md; docs/integrations/dao-website-member-publication-proposal.md; docs/development/native-grant-workflow.md; spec.md R-Y01 and R-C01–R-C05; Operational DAO partner graph design, 23 October 2026.</a:t>
            </a:r>
          </a:p>
          <a:p xmlns:a="http://schemas.openxmlformats.org/drawingml/2006/main">
            <a:r>
              <a:t/>
            </a:r>
          </a:p>
          <a:p xmlns:a="http://schemas.openxmlformats.org/drawingml/2006/main">
            <a:r>
              <a:t>John owns website integration. Website reads enforce active membership. Funding human decisions and final-packet vote verification use separate adapters. The DFW knowledge service owns evidence admission/history and projection receipts. Website/meeting services retain source permissions. Inertia supplies source synchronization, graph projection and scoped queries. Paperclip schedules these jobs and assigns unresolved work. Y2 retains interest/source identity and links to existing work or a deduplicated follow-up.</a:t>
            </a:r>
          </a:p>
          <a:p xmlns:a="http://schemas.openxmlformats.org/drawingml/2006/main">
            <a:r>
              <a:t/>
            </a:r>
          </a:p>
          <a:p xmlns:a="http://schemas.openxmlformats.org/drawingml/2006/main">
            <a:r>
              <a:t>The source job and native meeting follow-up are merged. Confirm approved Drive examples/access, scoped issue capabilities and source retention, then qualify the real website/source path. Team inputs are tracked in Needed-from-team.md.</a:t>
            </a:r>
          </a:p>
          <a:p xmlns:a="http://schemas.openxmlformats.org/drawingml/2006/main">
            <a:r>
              <a:t/>
            </a:r>
          </a:p>
          <a:p xmlns:a="http://schemas.openxmlformats.org/drawingml/2006/main">
            <a:r>
              <a:t>Discovery uses the existing scout/diligence tasks and signed Buzz outbox. Its assigned issues need a host-resolvable active responsible member for native wake policy. NTF05 and NTF14 track runtime/tool access, scoped principals, the human audience and pilot budgets.</a:t>
            </a:r>
          </a:p>
          <a:p xmlns:a="http://schemas.openxmlformats.org/drawingml/2006/main">
            <a:r>
              <a:t/>
            </a:r>
          </a:p>
          <a:p xmlns:a="http://schemas.openxmlformats.org/drawingml/2006/main">
            <a:r>
              <a:t>Member candidate validation and immutable receipts are implemented. Trusted ingress, attempt-authority issuance, provider/sandbox qualification and native review/acceptance remain engineering work; NTF11 retains the participant and approved scope handoff.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Inertia spec.md, plan.md and testing.md; docs/development/funding-enhancement/discovery-loop.md; docs/development/funding-enhancement/discovery-host-composition.md; Needed-from-team.md; docs/development/objective-intake.md; scripts/cloud-rehearsal/README.md; https://github.com/NetRxn/Inertia/pull/25; https://github.com/NetRxn/Inertia/pull/26; https://github.com/NetRxn/Inertia/pull/27; https://github.com/NetRxn/Inertia/pull/28; https://github.com/NetRxn/DFW-Gov-Fund/pull/44; https://github.com/NetRxn/DFW-Gov-Fund/pull/45; https://github.com/NetRxn/DFW-Gov-Fund/pull/46; https://github.com/NetRxn/DFW-Gov-Fund/pull/47; https://github.com/NetRxn/DFW-Gov-Fund/pull/49; https://github.com/NetRxn/DFW-Gov-Fund/pull/50; host-composition/paperclip-durable-funding-review/ACTIVATION-CONTRACT.md; docs/development/member-contribution-boundary.md. Status: 24 October 2026.</a:t>
            </a:r>
          </a:p>
          <a:p xmlns:a="http://schemas.openxmlformats.org/drawingml/2006/main">
            <a:r>
              <a:t/>
            </a:r>
          </a:p>
          <a:p xmlns:a="http://schemas.openxmlformats.org/drawingml/2006/main">
            <a:r>
              <a:t>Merged cores now include meeting source/native follow-up, drafting/gap preparation, scoped evidence and sanitized financial contracts, partner graph/research reuse, objective intake/links/briefs and cloud rehearsal tooling. The bounded October scout is complete. Its confidence overlay and separate July/manual/replay provenance are retained.</a:t>
            </a:r>
          </a:p>
          <a:p xmlns:a="http://schemas.openxmlformats.org/drawingml/2006/main">
            <a:r>
              <a:t/>
            </a:r>
          </a:p>
          <a:p xmlns:a="http://schemas.openxmlformats.org/drawingml/2006/main">
            <a:r>
              <a:t>Independent cloud rehearsal passed real domain PostgreSQL/PostGIS, native PostgreSQL service/membership/checkout/crash behavior and PG-to-embedded-Helix reuse. The actual-service synthetic meeting-answer-to-revised-brief workflow passed. Meeting source/native composition also passed actual pinned native PostgreSQL recovery and WAL qualification with synthetic source/website responses. Real Drive/website access, scoped capabilities, retention and notes-only website behavior remain integration work. npm audit and clean-package checks passed. Full HTTP/UI rehearsal needs an environment with working network-interface enumeration. Actual VPS/PPC2 enrollment and production deployment remain next work.</a:t>
            </a:r>
          </a:p>
          <a:p xmlns:a="http://schemas.openxmlformats.org/drawingml/2006/main">
            <a:r>
              <a:t/>
            </a:r>
          </a:p>
          <a:p xmlns:a="http://schemas.openxmlformats.org/drawingml/2006/main">
            <a:r>
              <a:t>Durable human acceptance and funding-service cancellation are implemented and independently qualified in isolated rehearsal. Real native PostgreSQL capture and DFW PostgreSQL behavior passed separately. Cross-service rehearsals used actual native transactions, synthetic file transport and DFW SQLite. Production transport, retention/archival, scoped permissions/source access and the human walkthrough remain activation gates. The composition stays disabled until those gates pass. Live final-vote verification retains its separate gate.</a:t>
            </a:r>
          </a:p>
          <a:p xmlns:a="http://schemas.openxmlformats.org/drawingml/2006/main">
            <a:r>
              <a:t/>
            </a:r>
          </a:p>
          <a:p xmlns:a="http://schemas.openxmlformats.org/drawingml/2006/main">
            <a:r>
              <a:t>The merged discovery foundation queries saved knowledge, captures official sources and produces preliminary briefs and date alerts for qualified sources before packet signoff. New sponsors enter quarantine and independent exact-source identity review. Independent reviewers now submit complete current source quotes for deadline and benefit assessment. Conditional briefs preserve unknown cutoff, eligibility and fit; unresolved evidence stays with agent diligence. Urgent transport uses the configured Buzz audience and signed outbox; relay acceptance records transport acknowledgment. Actual-native and cold-DFW rehearsal passed with synthetic sources and relay. Activation needs real browser/model/tool qualification, active responsible-member mappings, source/runtime access and approved audience/budgets. Recurrence remains disabled pending measured rehearsal and cadence approval. Broader 990 and semantic enrichment follow separately.</a:t>
            </a:r>
          </a:p>
          <a:p xmlns:a="http://schemas.openxmlformats.org/drawingml/2006/main">
            <a:r>
              <a:t/>
            </a:r>
          </a:p>
          <a:p xmlns:a="http://schemas.openxmlformats.org/drawingml/2006/main">
            <a:r>
              <a:t>Connected demo outcomes remain website meeting publication, a reviewed direct-application packet with its required final vote, an accepted second-member contribution and research reused on a later run. Production financial-provider compatibility and trusted admission policy require qualification.</a:t>
            </a:r>
          </a:p>
          <a:p xmlns:a="http://schemas.openxmlformats.org/drawingml/2006/main">
            <a:r>
              <a:t/>
            </a:r>
          </a:p>
          <a:p xmlns:a="http://schemas.openxmlformats.org/drawingml/2006/main">
            <a:r>
              <a:t>Member candidate validation and replay are implemented and independently qualified on the combined native build. Engineering next connects authenticated ingress, non-reusable attempt authority, live provider execution and native review/acceptance. The second-member demonstration remains an activation goal.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d43d76f3a2f416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d0c3e6237f948b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773283876ff4eb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c32d3672e93444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7a75827d2d74c4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f897eae0dd44b9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A950BFC-217D-4774-A620-BEBEE0ED29B8}"/>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746DF64-0B39-41A7-9E28-4CF2841F3815}"/>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ABE3B87-8148-4C27-8BAF-DC41AB1A03EB}"/>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EBA59C-8BC5-4719-AAFB-4C721B407E47}"/>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5E92294-CC5F-4B36-AF96-9E55CDE00C5A}"/>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8E5A83E-7693-46A4-A5EE-8535B3A79973}"/>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098BAEE-66F5-488E-8CF8-8CA3CE38EB51}"/>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383F8B2-8DF4-4AE1-B211-52A168DF6CC4}"/>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A57D6E9-88D9-4BB7-9A8A-508C144DC90C}"/>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1A47CAD-E9AD-4DED-96D6-E8055D1321AB}"/>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defRPr/>
            </a:lvl1pPr>
            <a:lvl2pPr marL="666750" indent="-285750">
              <a:lnSpc>
                <a:spcPct val="110000"/>
              </a:lnSpc>
              <a:spcBef>
                <a:spcPts val="0"/>
              </a:spcBef>
              <a:spcAft>
                <a:spcPts val="1500"/>
              </a:spcAft>
              <a:buChar char="•"/>
              <a:defRPr/>
            </a:lvl2pPr>
            <a:lvl3pPr marL="1047750" indent="-285750">
              <a:lnSpc>
                <a:spcPct val="110000"/>
              </a:lnSpc>
              <a:spcBef>
                <a:spcPts val="0"/>
              </a:spcBef>
              <a:spcAft>
                <a:spcPts val="1500"/>
              </a:spcAft>
              <a:buChar char="•"/>
              <a:defRPr/>
            </a:lvl3pPr>
            <a:lvl4pPr marL="1428750" indent="-285750">
              <a:lnSpc>
                <a:spcPct val="110000"/>
              </a:lnSpc>
              <a:spcBef>
                <a:spcPts val="0"/>
              </a:spcBef>
              <a:spcAft>
                <a:spcPts val="1500"/>
              </a:spcAft>
              <a:buChar char="•"/>
              <a:defRPr/>
            </a:lvl4pPr>
            <a:lvl5pPr marL="1809750" indent="-285750">
              <a:lnSpc>
                <a:spcPct val="110000"/>
              </a:lnSpc>
              <a:spcBef>
                <a:spcPts val="0"/>
              </a:spcBef>
              <a:spcAft>
                <a:spcPts val="1500"/>
              </a:spcAft>
              <a:buChar char="•"/>
              <a:defRPr/>
            </a:lvl5pPr>
            <a:lvl6pPr marL="2190750" indent="-285750">
              <a:lnSpc>
                <a:spcPct val="110000"/>
              </a:lnSpc>
              <a:spcBef>
                <a:spcPts val="0"/>
              </a:spcBef>
              <a:spcAft>
                <a:spcPts val="1500"/>
              </a:spcAft>
              <a:buChar char="•"/>
              <a:defRPr/>
            </a:lvl6pPr>
            <a:lvl7pPr marL="2571750" indent="-285750">
              <a:lnSpc>
                <a:spcPct val="110000"/>
              </a:lnSpc>
              <a:spcBef>
                <a:spcPts val="0"/>
              </a:spcBef>
              <a:spcAft>
                <a:spcPts val="1500"/>
              </a:spcAft>
              <a:buChar char="•"/>
              <a:defRPr/>
            </a:lvl7pPr>
            <a:lvl8pPr marL="2952750" indent="-285750">
              <a:lnSpc>
                <a:spcPct val="110000"/>
              </a:lnSpc>
              <a:spcBef>
                <a:spcPts val="0"/>
              </a:spcBef>
              <a:spcAft>
                <a:spcPts val="1500"/>
              </a:spcAft>
              <a:buChar char="•"/>
              <a:defRPr/>
            </a:lvl8pPr>
            <a:lvl9pPr marL="3333750" indent="-285750">
              <a:lnSpc>
                <a:spcPct val="110000"/>
              </a:lnSpc>
              <a:spcBef>
                <a:spcPts val="0"/>
              </a:spcBef>
              <a:spcAft>
                <a:spcPts val="15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cc4340c0e29460f" /><Relationship Type="http://schemas.openxmlformats.org/officeDocument/2006/relationships/slideLayout" Target="/ppt/slideLayouts/slideLayout1.xml" Id="Rd13a80fc66ce4090" /><Relationship Type="http://schemas.openxmlformats.org/officeDocument/2006/relationships/slideLayout" Target="/ppt/slideLayouts/slideLayout2.xml" Id="Rd64e45b425b44dae" /><Relationship Type="http://schemas.openxmlformats.org/officeDocument/2006/relationships/slideLayout" Target="/ppt/slideLayouts/slideLayout3.xml" Id="R0f85ddb51d4f4209" /><Relationship Type="http://schemas.openxmlformats.org/officeDocument/2006/relationships/slideLayout" Target="/ppt/slideLayouts/slideLayout4.xml" Id="Rf56581445579435f" /><Relationship Type="http://schemas.openxmlformats.org/officeDocument/2006/relationships/slideLayout" Target="/ppt/slideLayouts/slideLayout5.xml" Id="R0a78effee79b4a6f" /><Relationship Type="http://schemas.openxmlformats.org/officeDocument/2006/relationships/slideLayout" Target="/ppt/slideLayouts/slideLayout6.xml" Id="R60495d1cb8444f3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13a80fc66ce4090"/>
    <p:sldLayoutId xmlns:r="http://schemas.openxmlformats.org/officeDocument/2006/relationships" id="2147483650" r:id="Rd64e45b425b44dae"/>
    <p:sldLayoutId xmlns:r="http://schemas.openxmlformats.org/officeDocument/2006/relationships" id="2147483651" r:id="R0f85ddb51d4f4209"/>
    <p:sldLayoutId xmlns:r="http://schemas.openxmlformats.org/officeDocument/2006/relationships" id="2147483652" r:id="Rf56581445579435f"/>
    <p:sldLayoutId xmlns:r="http://schemas.openxmlformats.org/officeDocument/2006/relationships" id="2147483653" r:id="R0a78effee79b4a6f"/>
    <p:sldLayoutId xmlns:r="http://schemas.openxmlformats.org/officeDocument/2006/relationships" id="2147483654" r:id="R60495d1cb8444f3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aa2ae6673da4952" /><Relationship Type="http://schemas.openxmlformats.org/officeDocument/2006/relationships/notesSlide" Target="/ppt/notesSlides/notesSlide1.xml" Id="R53febca19b7a456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dc3ae28e58747e0" /><Relationship Type="http://schemas.openxmlformats.org/officeDocument/2006/relationships/notesSlide" Target="/ppt/notesSlides/notesSlide2.xml" Id="R24e2bd1c5e034af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ad8d3eb02784c9d" /><Relationship Type="http://schemas.openxmlformats.org/officeDocument/2006/relationships/notesSlide" Target="/ppt/notesSlides/notesSlide3.xml" Id="R842c15644d4c449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abdf8f680c044f9" /><Relationship Type="http://schemas.openxmlformats.org/officeDocument/2006/relationships/notesSlide" Target="/ppt/notesSlides/notesSlide4.xml" Id="R08077732826c4fb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c63df65b3e84dfd" /><Relationship Type="http://schemas.openxmlformats.org/officeDocument/2006/relationships/notesSlide" Target="/ppt/notesSlides/notesSlide5.xml" Id="R671ac89bce3342c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fca2f5201044d9d" /><Relationship Type="http://schemas.openxmlformats.org/officeDocument/2006/relationships/notesSlide" Target="/ppt/notesSlides/notesSlide6.xml" Id="Rbb93fa1efdf142a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ee12dd1595c4241" /><Relationship Type="http://schemas.openxmlformats.org/officeDocument/2006/relationships/notesSlide" Target="/ppt/notesSlides/notesSlide7.xml" Id="R1a830e49ae41426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bdb8d4cf9b34ebc" /><Relationship Type="http://schemas.openxmlformats.org/officeDocument/2006/relationships/notesSlide" Target="/ppt/notesSlides/notesSlide8.xml" Id="Rdbac996683bf44a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33e7d83e47494d67" /><Relationship Type="http://schemas.openxmlformats.org/officeDocument/2006/relationships/notesSlide" Target="/ppt/notesSlides/notesSlide9.xml" Id="Ra0a1f21aff8a4789" /></Relationships>
</file>

<file path=ppt/slides/slide1.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9" name="">
            <a:extLst xmlns:a="http://schemas.openxmlformats.org/drawingml/2006/main">
              <a:ext uri="{FF2B5EF4-FFF2-40B4-BE49-F238E27FC236}">
                <a16:creationId xmlns:a16="http://schemas.microsoft.com/office/drawing/2014/main" id="{F2CC556C-2FBD-49FA-97AC-2CDC1E921185}"/>
              </a:ext>
            </a:extLst>
          </p:cNvPr>
          <p:cNvCxnSpPr>
            <a:stCxn xmlns:a="http://schemas.openxmlformats.org/drawingml/2006/main" id="23" idx="3"/>
            <a:endCxn xmlns:a="http://schemas.openxmlformats.org/drawingml/2006/main" id="26" idx="1"/>
          </p:cNvCxnSpPr>
          <p:nvPr/>
        </p:nvCxnSpPr>
        <p:spPr>
          <a:xfrm xmlns:a="http://schemas.openxmlformats.org/drawingml/2006/main">
            <a:off x="10001250" y="7215188"/>
            <a:ext cx="1333500" cy="0"/>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cxnSp>
        <p:nvCxnSpPr>
          <p:cNvPr id="32" name="">
            <a:extLst xmlns:a="http://schemas.openxmlformats.org/drawingml/2006/main">
              <a:ext uri="{FF2B5EF4-FFF2-40B4-BE49-F238E27FC236}">
                <a16:creationId xmlns:a16="http://schemas.microsoft.com/office/drawing/2014/main" id="{9308FDB0-5972-48A6-B22A-34E8C4F8EA2A}"/>
              </a:ext>
            </a:extLst>
          </p:cNvPr>
          <p:cNvCxnSpPr>
            <a:stCxn xmlns:a="http://schemas.openxmlformats.org/drawingml/2006/main" id="14" idx="3"/>
            <a:endCxn xmlns:a="http://schemas.openxmlformats.org/drawingml/2006/main" id="17" idx="1"/>
          </p:cNvCxnSpPr>
          <p:nvPr/>
        </p:nvCxnSpPr>
        <p:spPr>
          <a:xfrm xmlns:a="http://schemas.openxmlformats.org/drawingml/2006/main">
            <a:off x="3848100" y="4752975"/>
            <a:ext cx="13906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cxnSp>
        <p:nvCxnSpPr>
          <p:cNvPr id="29" name="">
            <a:extLst xmlns:a="http://schemas.openxmlformats.org/drawingml/2006/main">
              <a:ext uri="{FF2B5EF4-FFF2-40B4-BE49-F238E27FC236}">
                <a16:creationId xmlns:a16="http://schemas.microsoft.com/office/drawing/2014/main" id="{EC7741F9-488D-4101-A888-E3261CB92D49}"/>
              </a:ext>
            </a:extLst>
          </p:cNvPr>
          <p:cNvCxnSpPr>
            <a:stCxn xmlns:a="http://schemas.openxmlformats.org/drawingml/2006/main" id="5" idx="3"/>
            <a:endCxn xmlns:a="http://schemas.openxmlformats.org/drawingml/2006/main" id="8" idx="1"/>
          </p:cNvCxnSpPr>
          <p:nvPr/>
        </p:nvCxnSpPr>
        <p:spPr>
          <a:xfrm xmlns:a="http://schemas.openxmlformats.org/drawingml/2006/main">
            <a:off x="3848100" y="2595563"/>
            <a:ext cx="1390650" cy="0"/>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sp>
        <p:nvSpPr>
          <p:cNvPr id="41" name="text-1">
            <a:extLst xmlns:a="http://schemas.openxmlformats.org/drawingml/2006/main">
              <a:ext uri="{FF2B5EF4-FFF2-40B4-BE49-F238E27FC236}">
                <a16:creationId xmlns:a16="http://schemas.microsoft.com/office/drawing/2014/main" id="{B7CE4B36-16BE-4360-9692-71EDF529360C}"/>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Inertia system architecture</a:t>
            </a:r>
          </a:p>
        </p:txBody>
      </p:sp>
      <p:sp>
        <p:nvSpPr>
          <p:cNvPr id="2" name="text-2">
            <a:extLst xmlns:a="http://schemas.openxmlformats.org/drawingml/2006/main">
              <a:ext uri="{FF2B5EF4-FFF2-40B4-BE49-F238E27FC236}">
                <a16:creationId xmlns:a16="http://schemas.microsoft.com/office/drawing/2014/main" id="{24236926-B127-4705-A77F-226EA896E76D}"/>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1</a:t>
            </a:r>
          </a:p>
        </p:txBody>
      </p:sp>
      <p:sp>
        <p:nvSpPr>
          <p:cNvPr id="3" name="text-3">
            <a:extLst xmlns:a="http://schemas.openxmlformats.org/drawingml/2006/main">
              <a:ext uri="{FF2B5EF4-FFF2-40B4-BE49-F238E27FC236}">
                <a16:creationId xmlns:a16="http://schemas.microsoft.com/office/drawing/2014/main" id="{F9DA98B9-F8B5-4974-B26B-D47D5A4D35C5}"/>
              </a:ext>
            </a:extLst>
          </p:cNvPr>
          <p:cNvSpPr>
            <a:spLocks xmlns:a="http://schemas.openxmlformats.org/drawingml/2006/main" noGrp="1"/>
          </p:cNvSpPr>
          <p:nvPr/>
        </p:nvSpPr>
        <p:spPr>
          <a:xfrm xmlns:a="http://schemas.openxmlformats.org/drawingml/2006/main">
            <a:off x="609600" y="1285875"/>
            <a:ext cx="10477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Buzz and the dashboard share the same Paperclip tasks and decisions</a:t>
            </a:r>
          </a:p>
        </p:txBody>
      </p:sp>
      <p:sp>
        <p:nvSpPr>
          <p:cNvPr id="4" name="text-4">
            <a:extLst xmlns:a="http://schemas.openxmlformats.org/drawingml/2006/main">
              <a:ext uri="{FF2B5EF4-FFF2-40B4-BE49-F238E27FC236}">
                <a16:creationId xmlns:a16="http://schemas.microsoft.com/office/drawing/2014/main" id="{69DDC3A6-1E54-4A1E-83C4-3F0EC1DC3F63}"/>
              </a:ext>
            </a:extLst>
          </p:cNvPr>
          <p:cNvSpPr>
            <a:spLocks xmlns:a="http://schemas.openxmlformats.org/drawingml/2006/main" noGrp="1"/>
          </p:cNvSpPr>
          <p:nvPr/>
        </p:nvSpPr>
        <p:spPr>
          <a:xfrm xmlns:a="http://schemas.openxmlformats.org/drawingml/2006/main">
            <a:off x="11144250" y="1381125"/>
            <a:ext cx="34861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75" b="0">
                <a:solidFill>
                  <a:srgbClr val="4A6572"/>
                </a:solidFill>
                <a:latin typeface="Aptos"/>
                <a:ea typeface="Aptos"/>
                <a:cs typeface="Aptos"/>
              </a:defRPr>
            </a:defPPr>
          </a:lstStyle>
          <a:p xmlns:a="http://schemas.openxmlformats.org/drawingml/2006/main">
            <a:pPr algn="r">
              <a:buNone/>
              <a:defRPr sz="1575" b="0">
                <a:solidFill>
                  <a:srgbClr val="4A6572"/>
                </a:solidFill>
                <a:latin typeface="Aptos"/>
                <a:ea typeface="Aptos"/>
                <a:cs typeface="Aptos"/>
              </a:defRPr>
            </a:pPr>
            <a:r>
              <a:rPr sz="1575" b="0">
                <a:solidFill>
                  <a:srgbClr val="4A6572"/>
                </a:solidFill>
                <a:latin typeface="Aptos"/>
                <a:ea typeface="Aptos"/>
                <a:cs typeface="Aptos"/>
              </a:rPr>
              <a:t>Dashed: planned connection</a:t>
            </a:r>
          </a:p>
        </p:txBody>
      </p:sp>
      <p:sp>
        <p:nvSpPr>
          <p:cNvPr id="5" name="node-5">
            <a:extLst xmlns:a="http://schemas.openxmlformats.org/drawingml/2006/main">
              <a:ext uri="{FF2B5EF4-FFF2-40B4-BE49-F238E27FC236}">
                <a16:creationId xmlns:a16="http://schemas.microsoft.com/office/drawing/2014/main" id="{69CCB21F-23CF-4191-8D09-1DB8A0DD5563}"/>
              </a:ext>
            </a:extLst>
          </p:cNvPr>
          <p:cNvSpPr>
            <a:spLocks xmlns:a="http://schemas.openxmlformats.org/drawingml/2006/main" noGrp="1"/>
          </p:cNvSpPr>
          <p:nvPr/>
        </p:nvSpPr>
        <p:spPr>
          <a:xfrm xmlns:a="http://schemas.openxmlformats.org/drawingml/2006/main">
            <a:off x="609600" y="2095500"/>
            <a:ext cx="3238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6" name="text-6">
            <a:extLst xmlns:a="http://schemas.openxmlformats.org/drawingml/2006/main">
              <a:ext uri="{FF2B5EF4-FFF2-40B4-BE49-F238E27FC236}">
                <a16:creationId xmlns:a16="http://schemas.microsoft.com/office/drawing/2014/main" id="{A7B92B7D-E123-48A9-8EFB-23C469F6CBCE}"/>
              </a:ext>
            </a:extLst>
          </p:cNvPr>
          <p:cNvSpPr>
            <a:spLocks xmlns:a="http://schemas.openxmlformats.org/drawingml/2006/main" noGrp="1"/>
          </p:cNvSpPr>
          <p:nvPr/>
        </p:nvSpPr>
        <p:spPr>
          <a:xfrm xmlns:a="http://schemas.openxmlformats.org/drawingml/2006/main">
            <a:off x="800100" y="2257425"/>
            <a:ext cx="2857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Buzz</a:t>
            </a:r>
          </a:p>
        </p:txBody>
      </p:sp>
      <p:sp>
        <p:nvSpPr>
          <p:cNvPr id="7" name="text-7">
            <a:extLst xmlns:a="http://schemas.openxmlformats.org/drawingml/2006/main">
              <a:ext uri="{FF2B5EF4-FFF2-40B4-BE49-F238E27FC236}">
                <a16:creationId xmlns:a16="http://schemas.microsoft.com/office/drawing/2014/main" id="{0D2C7938-825D-495A-89F0-5854D0406273}"/>
              </a:ext>
            </a:extLst>
          </p:cNvPr>
          <p:cNvSpPr>
            <a:spLocks xmlns:a="http://schemas.openxmlformats.org/drawingml/2006/main" noGrp="1"/>
          </p:cNvSpPr>
          <p:nvPr/>
        </p:nvSpPr>
        <p:spPr>
          <a:xfrm xmlns:a="http://schemas.openxmlformats.org/drawingml/2006/main">
            <a:off x="800100" y="2653665"/>
            <a:ext cx="2857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Member conversation</a:t>
            </a:r>
          </a:p>
        </p:txBody>
      </p:sp>
      <p:sp>
        <p:nvSpPr>
          <p:cNvPr id="8" name="node-8">
            <a:extLst xmlns:a="http://schemas.openxmlformats.org/drawingml/2006/main">
              <a:ext uri="{FF2B5EF4-FFF2-40B4-BE49-F238E27FC236}">
                <a16:creationId xmlns:a16="http://schemas.microsoft.com/office/drawing/2014/main" id="{6B20E0A3-89C9-4055-AE19-DC9445A12328}"/>
              </a:ext>
            </a:extLst>
          </p:cNvPr>
          <p:cNvSpPr>
            <a:spLocks xmlns:a="http://schemas.openxmlformats.org/drawingml/2006/main" noGrp="1"/>
          </p:cNvSpPr>
          <p:nvPr/>
        </p:nvSpPr>
        <p:spPr>
          <a:xfrm xmlns:a="http://schemas.openxmlformats.org/drawingml/2006/main">
            <a:off x="5238750" y="2095500"/>
            <a:ext cx="3619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9" name="text-9">
            <a:extLst xmlns:a="http://schemas.openxmlformats.org/drawingml/2006/main">
              <a:ext uri="{FF2B5EF4-FFF2-40B4-BE49-F238E27FC236}">
                <a16:creationId xmlns:a16="http://schemas.microsoft.com/office/drawing/2014/main" id="{A021D6EF-569E-496F-81F5-D0DB49EA78EB}"/>
              </a:ext>
            </a:extLst>
          </p:cNvPr>
          <p:cNvSpPr>
            <a:spLocks xmlns:a="http://schemas.openxmlformats.org/drawingml/2006/main" noGrp="1"/>
          </p:cNvSpPr>
          <p:nvPr/>
        </p:nvSpPr>
        <p:spPr>
          <a:xfrm xmlns:a="http://schemas.openxmlformats.org/drawingml/2006/main">
            <a:off x="5429250" y="2257425"/>
            <a:ext cx="3238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Inertia bridge</a:t>
            </a:r>
          </a:p>
        </p:txBody>
      </p:sp>
      <p:sp>
        <p:nvSpPr>
          <p:cNvPr id="10" name="text-10">
            <a:extLst xmlns:a="http://schemas.openxmlformats.org/drawingml/2006/main">
              <a:ext uri="{FF2B5EF4-FFF2-40B4-BE49-F238E27FC236}">
                <a16:creationId xmlns:a16="http://schemas.microsoft.com/office/drawing/2014/main" id="{EE656676-69CD-4623-AEF1-B20847F0793E}"/>
              </a:ext>
            </a:extLst>
          </p:cNvPr>
          <p:cNvSpPr>
            <a:spLocks xmlns:a="http://schemas.openxmlformats.org/drawingml/2006/main" noGrp="1"/>
          </p:cNvSpPr>
          <p:nvPr/>
        </p:nvSpPr>
        <p:spPr>
          <a:xfrm xmlns:a="http://schemas.openxmlformats.org/drawingml/2006/main">
            <a:off x="5429250" y="2653665"/>
            <a:ext cx="3238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Paired signed messages</a:t>
            </a:r>
          </a:p>
        </p:txBody>
      </p:sp>
      <p:sp>
        <p:nvSpPr>
          <p:cNvPr id="11" name="node-11">
            <a:extLst xmlns:a="http://schemas.openxmlformats.org/drawingml/2006/main">
              <a:ext uri="{FF2B5EF4-FFF2-40B4-BE49-F238E27FC236}">
                <a16:creationId xmlns:a16="http://schemas.microsoft.com/office/drawing/2014/main" id="{250E6303-DBCA-42A9-9B5D-F09DC818F9B7}"/>
              </a:ext>
            </a:extLst>
          </p:cNvPr>
          <p:cNvSpPr>
            <a:spLocks xmlns:a="http://schemas.openxmlformats.org/drawingml/2006/main" noGrp="1"/>
          </p:cNvSpPr>
          <p:nvPr/>
        </p:nvSpPr>
        <p:spPr>
          <a:xfrm xmlns:a="http://schemas.openxmlformats.org/drawingml/2006/main">
            <a:off x="10572750" y="2095500"/>
            <a:ext cx="405765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2" name="text-12">
            <a:extLst xmlns:a="http://schemas.openxmlformats.org/drawingml/2006/main">
              <a:ext uri="{FF2B5EF4-FFF2-40B4-BE49-F238E27FC236}">
                <a16:creationId xmlns:a16="http://schemas.microsoft.com/office/drawing/2014/main" id="{F2D38B1D-791B-450A-B191-A7B914555C22}"/>
              </a:ext>
            </a:extLst>
          </p:cNvPr>
          <p:cNvSpPr>
            <a:spLocks xmlns:a="http://schemas.openxmlformats.org/drawingml/2006/main" noGrp="1"/>
          </p:cNvSpPr>
          <p:nvPr/>
        </p:nvSpPr>
        <p:spPr>
          <a:xfrm xmlns:a="http://schemas.openxmlformats.org/drawingml/2006/main">
            <a:off x="10763250" y="2257425"/>
            <a:ext cx="3676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 dashboard</a:t>
            </a:r>
          </a:p>
        </p:txBody>
      </p:sp>
      <p:sp>
        <p:nvSpPr>
          <p:cNvPr id="13" name="text-13">
            <a:extLst xmlns:a="http://schemas.openxmlformats.org/drawingml/2006/main">
              <a:ext uri="{FF2B5EF4-FFF2-40B4-BE49-F238E27FC236}">
                <a16:creationId xmlns:a16="http://schemas.microsoft.com/office/drawing/2014/main" id="{D333D555-A752-425F-A409-E66C9FBC4D50}"/>
              </a:ext>
            </a:extLst>
          </p:cNvPr>
          <p:cNvSpPr>
            <a:spLocks xmlns:a="http://schemas.openxmlformats.org/drawingml/2006/main" noGrp="1"/>
          </p:cNvSpPr>
          <p:nvPr/>
        </p:nvSpPr>
        <p:spPr>
          <a:xfrm xmlns:a="http://schemas.openxmlformats.org/drawingml/2006/main">
            <a:off x="10763250" y="2653665"/>
            <a:ext cx="3676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Member work and review</a:t>
            </a:r>
          </a:p>
        </p:txBody>
      </p:sp>
      <p:sp>
        <p:nvSpPr>
          <p:cNvPr id="14" name="node-14">
            <a:extLst xmlns:a="http://schemas.openxmlformats.org/drawingml/2006/main">
              <a:ext uri="{FF2B5EF4-FFF2-40B4-BE49-F238E27FC236}">
                <a16:creationId xmlns:a16="http://schemas.microsoft.com/office/drawing/2014/main" id="{C3A62294-0231-41DE-93F9-22A05292C251}"/>
              </a:ext>
            </a:extLst>
          </p:cNvPr>
          <p:cNvSpPr>
            <a:spLocks xmlns:a="http://schemas.openxmlformats.org/drawingml/2006/main" noGrp="1"/>
          </p:cNvSpPr>
          <p:nvPr/>
        </p:nvSpPr>
        <p:spPr>
          <a:xfrm xmlns:a="http://schemas.openxmlformats.org/drawingml/2006/main">
            <a:off x="609600" y="3905250"/>
            <a:ext cx="3238500" cy="16954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5" name="text-15">
            <a:extLst xmlns:a="http://schemas.openxmlformats.org/drawingml/2006/main">
              <a:ext uri="{FF2B5EF4-FFF2-40B4-BE49-F238E27FC236}">
                <a16:creationId xmlns:a16="http://schemas.microsoft.com/office/drawing/2014/main" id="{64E5FC67-B32F-4F3E-8DD1-A0F8E0133F96}"/>
              </a:ext>
            </a:extLst>
          </p:cNvPr>
          <p:cNvSpPr>
            <a:spLocks xmlns:a="http://schemas.openxmlformats.org/drawingml/2006/main" noGrp="1"/>
          </p:cNvSpPr>
          <p:nvPr/>
        </p:nvSpPr>
        <p:spPr>
          <a:xfrm xmlns:a="http://schemas.openxmlformats.org/drawingml/2006/main">
            <a:off x="800100" y="4067175"/>
            <a:ext cx="2857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Work intake</a:t>
            </a:r>
          </a:p>
        </p:txBody>
      </p:sp>
      <p:sp>
        <p:nvSpPr>
          <p:cNvPr id="16" name="text-16">
            <a:extLst xmlns:a="http://schemas.openxmlformats.org/drawingml/2006/main">
              <a:ext uri="{FF2B5EF4-FFF2-40B4-BE49-F238E27FC236}">
                <a16:creationId xmlns:a16="http://schemas.microsoft.com/office/drawing/2014/main" id="{74F3930C-FA5F-46DE-85BA-9EB376C5BA24}"/>
              </a:ext>
            </a:extLst>
          </p:cNvPr>
          <p:cNvSpPr>
            <a:spLocks xmlns:a="http://schemas.openxmlformats.org/drawingml/2006/main" noGrp="1"/>
          </p:cNvSpPr>
          <p:nvPr/>
        </p:nvSpPr>
        <p:spPr>
          <a:xfrm xmlns:a="http://schemas.openxmlformats.org/drawingml/2006/main">
            <a:off x="800100" y="4463415"/>
            <a:ext cx="2857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Meeting actions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Innovation bounties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Funding opportunities</a:t>
            </a:r>
          </a:p>
        </p:txBody>
      </p:sp>
      <p:sp>
        <p:nvSpPr>
          <p:cNvPr id="17" name="node-17">
            <a:extLst xmlns:a="http://schemas.openxmlformats.org/drawingml/2006/main">
              <a:ext uri="{FF2B5EF4-FFF2-40B4-BE49-F238E27FC236}">
                <a16:creationId xmlns:a16="http://schemas.microsoft.com/office/drawing/2014/main" id="{BB251451-BA4A-4657-B58A-009B6EFC7529}"/>
              </a:ext>
            </a:extLst>
          </p:cNvPr>
          <p:cNvSpPr>
            <a:spLocks xmlns:a="http://schemas.openxmlformats.org/drawingml/2006/main" noGrp="1"/>
          </p:cNvSpPr>
          <p:nvPr/>
        </p:nvSpPr>
        <p:spPr>
          <a:xfrm xmlns:a="http://schemas.openxmlformats.org/drawingml/2006/main">
            <a:off x="5238750" y="3905250"/>
            <a:ext cx="9391650" cy="16954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18" name="text-18">
            <a:extLst xmlns:a="http://schemas.openxmlformats.org/drawingml/2006/main">
              <a:ext uri="{FF2B5EF4-FFF2-40B4-BE49-F238E27FC236}">
                <a16:creationId xmlns:a16="http://schemas.microsoft.com/office/drawing/2014/main" id="{1337BF75-D48D-4FE9-9D9A-183EF3545EE5}"/>
              </a:ext>
            </a:extLst>
          </p:cNvPr>
          <p:cNvSpPr>
            <a:spLocks xmlns:a="http://schemas.openxmlformats.org/drawingml/2006/main" noGrp="1"/>
          </p:cNvSpPr>
          <p:nvPr/>
        </p:nvSpPr>
        <p:spPr>
          <a:xfrm xmlns:a="http://schemas.openxmlformats.org/drawingml/2006/main">
            <a:off x="5429250" y="4067175"/>
            <a:ext cx="901065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57D80"/>
                </a:solidFill>
                <a:latin typeface="Aptos"/>
                <a:ea typeface="Aptos"/>
                <a:cs typeface="Aptos"/>
              </a:defRPr>
            </a:defPPr>
          </a:lstStyle>
          <a:p xmlns:a="http://schemas.openxmlformats.org/drawingml/2006/main">
            <a:pPr algn="l">
              <a:buNone/>
              <a:defRPr sz="2550" b="1">
                <a:solidFill>
                  <a:srgbClr val="157D80"/>
                </a:solidFill>
                <a:latin typeface="Aptos"/>
                <a:ea typeface="Aptos"/>
                <a:cs typeface="Aptos"/>
              </a:defRPr>
            </a:pPr>
            <a:r>
              <a:rPr sz="2550" b="1">
                <a:solidFill>
                  <a:srgbClr val="157D80"/>
                </a:solidFill>
                <a:latin typeface="Aptos"/>
                <a:ea typeface="Aptos"/>
                <a:cs typeface="Aptos"/>
              </a:rPr>
              <a:t>Paperclip</a:t>
            </a:r>
          </a:p>
        </p:txBody>
      </p:sp>
      <p:sp>
        <p:nvSpPr>
          <p:cNvPr id="19" name="text-19">
            <a:extLst xmlns:a="http://schemas.openxmlformats.org/drawingml/2006/main">
              <a:ext uri="{FF2B5EF4-FFF2-40B4-BE49-F238E27FC236}">
                <a16:creationId xmlns:a16="http://schemas.microsoft.com/office/drawing/2014/main" id="{619CB2F8-B380-4583-AA37-924F9EA26148}"/>
              </a:ext>
            </a:extLst>
          </p:cNvPr>
          <p:cNvSpPr>
            <a:spLocks xmlns:a="http://schemas.openxmlformats.org/drawingml/2006/main" noGrp="1"/>
          </p:cNvSpPr>
          <p:nvPr/>
        </p:nvSpPr>
        <p:spPr>
          <a:xfrm xmlns:a="http://schemas.openxmlformats.org/drawingml/2006/main">
            <a:off x="5429250" y="4509897"/>
            <a:ext cx="9010650" cy="688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A6572"/>
                </a:solidFill>
                <a:latin typeface="Aptos"/>
                <a:ea typeface="Aptos"/>
                <a:cs typeface="Aptos"/>
              </a:defRPr>
            </a:defPPr>
          </a:lstStyle>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Tasks and agent hierarchy</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Delegation, reviews, hiring and budgets</a:t>
            </a:r>
          </a:p>
        </p:txBody>
      </p:sp>
      <p:sp>
        <p:nvSpPr>
          <p:cNvPr id="20" name="node-20">
            <a:extLst xmlns:a="http://schemas.openxmlformats.org/drawingml/2006/main">
              <a:ext uri="{FF2B5EF4-FFF2-40B4-BE49-F238E27FC236}">
                <a16:creationId xmlns:a16="http://schemas.microsoft.com/office/drawing/2014/main" id="{BF4E97B9-F442-4238-8217-E764BF994DEC}"/>
              </a:ext>
            </a:extLst>
          </p:cNvPr>
          <p:cNvSpPr>
            <a:spLocks xmlns:a="http://schemas.openxmlformats.org/drawingml/2006/main" noGrp="1"/>
          </p:cNvSpPr>
          <p:nvPr/>
        </p:nvSpPr>
        <p:spPr>
          <a:xfrm xmlns:a="http://schemas.openxmlformats.org/drawingml/2006/main">
            <a:off x="609600" y="6715125"/>
            <a:ext cx="400050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1" name="text-21">
            <a:extLst xmlns:a="http://schemas.openxmlformats.org/drawingml/2006/main">
              <a:ext uri="{FF2B5EF4-FFF2-40B4-BE49-F238E27FC236}">
                <a16:creationId xmlns:a16="http://schemas.microsoft.com/office/drawing/2014/main" id="{8078C0DE-5775-4C9C-A245-EFAEB50BA0B7}"/>
              </a:ext>
            </a:extLst>
          </p:cNvPr>
          <p:cNvSpPr>
            <a:spLocks xmlns:a="http://schemas.openxmlformats.org/drawingml/2006/main" noGrp="1"/>
          </p:cNvSpPr>
          <p:nvPr/>
        </p:nvSpPr>
        <p:spPr>
          <a:xfrm xmlns:a="http://schemas.openxmlformats.org/drawingml/2006/main">
            <a:off x="800100" y="6877050"/>
            <a:ext cx="3619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Agent runtimes</a:t>
            </a:r>
          </a:p>
        </p:txBody>
      </p:sp>
      <p:sp>
        <p:nvSpPr>
          <p:cNvPr id="22" name="text-22">
            <a:extLst xmlns:a="http://schemas.openxmlformats.org/drawingml/2006/main">
              <a:ext uri="{FF2B5EF4-FFF2-40B4-BE49-F238E27FC236}">
                <a16:creationId xmlns:a16="http://schemas.microsoft.com/office/drawing/2014/main" id="{05E3610C-1CD5-4363-9CD9-5257C21E5BDB}"/>
              </a:ext>
            </a:extLst>
          </p:cNvPr>
          <p:cNvSpPr>
            <a:spLocks xmlns:a="http://schemas.openxmlformats.org/drawingml/2006/main" noGrp="1"/>
          </p:cNvSpPr>
          <p:nvPr/>
        </p:nvSpPr>
        <p:spPr>
          <a:xfrm xmlns:a="http://schemas.openxmlformats.org/drawingml/2006/main">
            <a:off x="800100" y="7273290"/>
            <a:ext cx="36195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Central or member computers</a:t>
            </a:r>
          </a:p>
        </p:txBody>
      </p:sp>
      <p:sp>
        <p:nvSpPr>
          <p:cNvPr id="23" name="node-23">
            <a:extLst xmlns:a="http://schemas.openxmlformats.org/drawingml/2006/main">
              <a:ext uri="{FF2B5EF4-FFF2-40B4-BE49-F238E27FC236}">
                <a16:creationId xmlns:a16="http://schemas.microsoft.com/office/drawing/2014/main" id="{A6F0AA33-B7EB-4E10-A07A-24C84ADA2032}"/>
              </a:ext>
            </a:extLst>
          </p:cNvPr>
          <p:cNvSpPr>
            <a:spLocks xmlns:a="http://schemas.openxmlformats.org/drawingml/2006/main" noGrp="1"/>
          </p:cNvSpPr>
          <p:nvPr/>
        </p:nvSpPr>
        <p:spPr>
          <a:xfrm xmlns:a="http://schemas.openxmlformats.org/drawingml/2006/main">
            <a:off x="6477000" y="6715125"/>
            <a:ext cx="3524250" cy="1000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4" name="text-24">
            <a:extLst xmlns:a="http://schemas.openxmlformats.org/drawingml/2006/main">
              <a:ext uri="{FF2B5EF4-FFF2-40B4-BE49-F238E27FC236}">
                <a16:creationId xmlns:a16="http://schemas.microsoft.com/office/drawing/2014/main" id="{27658274-C5C2-4410-A8EB-6C16CC265416}"/>
              </a:ext>
            </a:extLst>
          </p:cNvPr>
          <p:cNvSpPr>
            <a:spLocks xmlns:a="http://schemas.openxmlformats.org/drawingml/2006/main" noGrp="1"/>
          </p:cNvSpPr>
          <p:nvPr/>
        </p:nvSpPr>
        <p:spPr>
          <a:xfrm xmlns:a="http://schemas.openxmlformats.org/drawingml/2006/main">
            <a:off x="6667500" y="6877050"/>
            <a:ext cx="31432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Inertia adapters</a:t>
            </a:r>
          </a:p>
        </p:txBody>
      </p:sp>
      <p:sp>
        <p:nvSpPr>
          <p:cNvPr id="25" name="text-25">
            <a:extLst xmlns:a="http://schemas.openxmlformats.org/drawingml/2006/main">
              <a:ext uri="{FF2B5EF4-FFF2-40B4-BE49-F238E27FC236}">
                <a16:creationId xmlns:a16="http://schemas.microsoft.com/office/drawing/2014/main" id="{262CCD23-6037-45FE-83A7-0087132737D1}"/>
              </a:ext>
            </a:extLst>
          </p:cNvPr>
          <p:cNvSpPr>
            <a:spLocks xmlns:a="http://schemas.openxmlformats.org/drawingml/2006/main" noGrp="1"/>
          </p:cNvSpPr>
          <p:nvPr/>
        </p:nvSpPr>
        <p:spPr>
          <a:xfrm xmlns:a="http://schemas.openxmlformats.org/drawingml/2006/main">
            <a:off x="6667500" y="7273290"/>
            <a:ext cx="31432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Domain data and actions</a:t>
            </a:r>
          </a:p>
        </p:txBody>
      </p:sp>
      <p:sp>
        <p:nvSpPr>
          <p:cNvPr id="26" name="node-26">
            <a:extLst xmlns:a="http://schemas.openxmlformats.org/drawingml/2006/main">
              <a:ext uri="{FF2B5EF4-FFF2-40B4-BE49-F238E27FC236}">
                <a16:creationId xmlns:a16="http://schemas.microsoft.com/office/drawing/2014/main" id="{1C23E5E4-3A87-4441-8E93-3EA5234F59E5}"/>
              </a:ext>
            </a:extLst>
          </p:cNvPr>
          <p:cNvSpPr>
            <a:spLocks xmlns:a="http://schemas.openxmlformats.org/drawingml/2006/main" noGrp="1"/>
          </p:cNvSpPr>
          <p:nvPr/>
        </p:nvSpPr>
        <p:spPr>
          <a:xfrm xmlns:a="http://schemas.openxmlformats.org/drawingml/2006/main">
            <a:off x="11334750" y="6524625"/>
            <a:ext cx="32956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7" name="text-27">
            <a:extLst xmlns:a="http://schemas.openxmlformats.org/drawingml/2006/main">
              <a:ext uri="{FF2B5EF4-FFF2-40B4-BE49-F238E27FC236}">
                <a16:creationId xmlns:a16="http://schemas.microsoft.com/office/drawing/2014/main" id="{21BAD4B0-7A98-47D5-9740-717FC4380448}"/>
              </a:ext>
            </a:extLst>
          </p:cNvPr>
          <p:cNvSpPr>
            <a:spLocks xmlns:a="http://schemas.openxmlformats.org/drawingml/2006/main" noGrp="1"/>
          </p:cNvSpPr>
          <p:nvPr/>
        </p:nvSpPr>
        <p:spPr>
          <a:xfrm xmlns:a="http://schemas.openxmlformats.org/drawingml/2006/main">
            <a:off x="11525250" y="6686550"/>
            <a:ext cx="2914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Connected services</a:t>
            </a:r>
          </a:p>
        </p:txBody>
      </p:sp>
      <p:sp>
        <p:nvSpPr>
          <p:cNvPr id="28" name="text-28">
            <a:extLst xmlns:a="http://schemas.openxmlformats.org/drawingml/2006/main">
              <a:ext uri="{FF2B5EF4-FFF2-40B4-BE49-F238E27FC236}">
                <a16:creationId xmlns:a16="http://schemas.microsoft.com/office/drawing/2014/main" id="{ED6A295F-7F8D-4F0F-B1F4-4EAECCFA9D3A}"/>
              </a:ext>
            </a:extLst>
          </p:cNvPr>
          <p:cNvSpPr>
            <a:spLocks xmlns:a="http://schemas.openxmlformats.org/drawingml/2006/main" noGrp="1"/>
          </p:cNvSpPr>
          <p:nvPr/>
        </p:nvSpPr>
        <p:spPr>
          <a:xfrm xmlns:a="http://schemas.openxmlformats.org/drawingml/2006/main">
            <a:off x="11525250" y="7082790"/>
            <a:ext cx="29146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Website, funding, Helix</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Vocdoni and Y2</a:t>
            </a:r>
          </a:p>
        </p:txBody>
      </p:sp>
      <p:cxnSp>
        <p:nvCxnSpPr>
          <p:cNvPr id="30" name="flow-29">
            <a:extLst xmlns:a="http://schemas.openxmlformats.org/drawingml/2006/main">
              <a:ext uri="{FF2B5EF4-FFF2-40B4-BE49-F238E27FC236}">
                <a16:creationId xmlns:a16="http://schemas.microsoft.com/office/drawing/2014/main" id="{CC551E53-B51A-413F-B10F-A026A982F66B}"/>
              </a:ext>
            </a:extLst>
          </p:cNvPr>
          <p:cNvCxnSpPr/>
          <p:nvPr/>
        </p:nvCxnSpPr>
        <p:spPr>
          <a:xfrm xmlns:a="http://schemas.openxmlformats.org/drawingml/2006/main" flipH="0" flipV="0">
            <a:off x="7048500" y="3095625"/>
            <a:ext cx="0" cy="809625"/>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cxnSp>
        <p:nvCxnSpPr>
          <p:cNvPr id="31" name="flow-30">
            <a:extLst xmlns:a="http://schemas.openxmlformats.org/drawingml/2006/main">
              <a:ext uri="{FF2B5EF4-FFF2-40B4-BE49-F238E27FC236}">
                <a16:creationId xmlns:a16="http://schemas.microsoft.com/office/drawing/2014/main" id="{1216BD79-AD2E-4D0A-8BF5-796D9D002A17}"/>
              </a:ext>
            </a:extLst>
          </p:cNvPr>
          <p:cNvCxnSpPr/>
          <p:nvPr/>
        </p:nvCxnSpPr>
        <p:spPr>
          <a:xfrm xmlns:a="http://schemas.openxmlformats.org/drawingml/2006/main" flipH="0" flipV="0">
            <a:off x="12601575" y="3095625"/>
            <a:ext cx="0" cy="809625"/>
          </a:xfrm>
          <a:prstGeom xmlns:a="http://schemas.openxmlformats.org/drawingml/2006/main" prst="straightConnector1">
            <a:avLst/>
          </a:prstGeom>
          <a:ln xmlns:a="http://schemas.openxmlformats.org/drawingml/2006/main" w="23813">
            <a:solidFill>
              <a:srgbClr val="157D80"/>
            </a:solidFill>
            <a:prstDash val="solid"/>
            <a:headEnd type="triangle" w="med" len="med"/>
            <a:tailEnd type="triangle" w="med" len="med"/>
          </a:ln>
        </p:spPr>
      </p:cxnSp>
      <p:sp>
        <p:nvSpPr>
          <p:cNvPr id="33" name="text-31">
            <a:extLst xmlns:a="http://schemas.openxmlformats.org/drawingml/2006/main">
              <a:ext uri="{FF2B5EF4-FFF2-40B4-BE49-F238E27FC236}">
                <a16:creationId xmlns:a16="http://schemas.microsoft.com/office/drawing/2014/main" id="{FB36DD03-443E-41F8-AB74-9B6526223C5B}"/>
              </a:ext>
            </a:extLst>
          </p:cNvPr>
          <p:cNvSpPr>
            <a:spLocks xmlns:a="http://schemas.openxmlformats.org/drawingml/2006/main" noGrp="1"/>
          </p:cNvSpPr>
          <p:nvPr/>
        </p:nvSpPr>
        <p:spPr>
          <a:xfrm xmlns:a="http://schemas.openxmlformats.org/drawingml/2006/main">
            <a:off x="3838575" y="4362450"/>
            <a:ext cx="14001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Planned</a:t>
            </a:r>
          </a:p>
        </p:txBody>
      </p:sp>
      <p:cxnSp>
        <p:nvCxnSpPr>
          <p:cNvPr id="34" name="flow-32">
            <a:extLst xmlns:a="http://schemas.openxmlformats.org/drawingml/2006/main">
              <a:ext uri="{FF2B5EF4-FFF2-40B4-BE49-F238E27FC236}">
                <a16:creationId xmlns:a16="http://schemas.microsoft.com/office/drawing/2014/main" id="{D7F93970-F225-4598-A42C-A4B92C616A17}"/>
              </a:ext>
            </a:extLst>
          </p:cNvPr>
          <p:cNvCxnSpPr/>
          <p:nvPr/>
        </p:nvCxnSpPr>
        <p:spPr>
          <a:xfrm xmlns:a="http://schemas.openxmlformats.org/drawingml/2006/main" flipH="0" flipV="0">
            <a:off x="6429375" y="5600700"/>
            <a:ext cx="0" cy="590550"/>
          </a:xfrm>
          <a:prstGeom xmlns:a="http://schemas.openxmlformats.org/drawingml/2006/main" prst="straightConnector1">
            <a:avLst/>
          </a:prstGeom>
          <a:ln xmlns:a="http://schemas.openxmlformats.org/drawingml/2006/main" w="23813">
            <a:solidFill>
              <a:srgbClr val="157D80"/>
            </a:solidFill>
            <a:prstDash val="dash"/>
            <a:headEnd type="triangle" w="med" len="med"/>
          </a:ln>
        </p:spPr>
      </p:cxnSp>
      <p:cxnSp>
        <p:nvCxnSpPr>
          <p:cNvPr id="35" name="flow-33">
            <a:extLst xmlns:a="http://schemas.openxmlformats.org/drawingml/2006/main">
              <a:ext uri="{FF2B5EF4-FFF2-40B4-BE49-F238E27FC236}">
                <a16:creationId xmlns:a16="http://schemas.microsoft.com/office/drawing/2014/main" id="{116FBAE3-6DE7-4724-9FB6-74463C44399D}"/>
              </a:ext>
            </a:extLst>
          </p:cNvPr>
          <p:cNvCxnSpPr/>
          <p:nvPr/>
        </p:nvCxnSpPr>
        <p:spPr>
          <a:xfrm xmlns:a="http://schemas.openxmlformats.org/drawingml/2006/main" flipH="1" flipV="0">
            <a:off x="2609850" y="6191250"/>
            <a:ext cx="381952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36" name="flow-34">
            <a:extLst xmlns:a="http://schemas.openxmlformats.org/drawingml/2006/main">
              <a:ext uri="{FF2B5EF4-FFF2-40B4-BE49-F238E27FC236}">
                <a16:creationId xmlns:a16="http://schemas.microsoft.com/office/drawing/2014/main" id="{95586601-9CB6-4A86-A16C-73D2852D00EF}"/>
              </a:ext>
            </a:extLst>
          </p:cNvPr>
          <p:cNvCxnSpPr/>
          <p:nvPr/>
        </p:nvCxnSpPr>
        <p:spPr>
          <a:xfrm xmlns:a="http://schemas.openxmlformats.org/drawingml/2006/main" flipH="0" flipV="0">
            <a:off x="2609850" y="6191250"/>
            <a:ext cx="0" cy="523875"/>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7" name="text-35">
            <a:extLst xmlns:a="http://schemas.openxmlformats.org/drawingml/2006/main">
              <a:ext uri="{FF2B5EF4-FFF2-40B4-BE49-F238E27FC236}">
                <a16:creationId xmlns:a16="http://schemas.microsoft.com/office/drawing/2014/main" id="{CA8A2620-AED6-48E1-8F91-2001D1F4038A}"/>
              </a:ext>
            </a:extLst>
          </p:cNvPr>
          <p:cNvSpPr>
            <a:spLocks xmlns:a="http://schemas.openxmlformats.org/drawingml/2006/main" noGrp="1"/>
          </p:cNvSpPr>
          <p:nvPr/>
        </p:nvSpPr>
        <p:spPr>
          <a:xfrm xmlns:a="http://schemas.openxmlformats.org/drawingml/2006/main">
            <a:off x="2762250" y="5781675"/>
            <a:ext cx="3143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Assigned work / results</a:t>
            </a:r>
          </a:p>
        </p:txBody>
      </p:sp>
      <p:cxnSp>
        <p:nvCxnSpPr>
          <p:cNvPr id="38" name="flow-36">
            <a:extLst xmlns:a="http://schemas.openxmlformats.org/drawingml/2006/main">
              <a:ext uri="{FF2B5EF4-FFF2-40B4-BE49-F238E27FC236}">
                <a16:creationId xmlns:a16="http://schemas.microsoft.com/office/drawing/2014/main" id="{57797733-D8CA-4958-808F-A0726DE98AA3}"/>
              </a:ext>
            </a:extLst>
          </p:cNvPr>
          <p:cNvCxnSpPr/>
          <p:nvPr/>
        </p:nvCxnSpPr>
        <p:spPr>
          <a:xfrm xmlns:a="http://schemas.openxmlformats.org/drawingml/2006/main" flipH="0" flipV="0">
            <a:off x="8239125" y="5600700"/>
            <a:ext cx="0" cy="1114425"/>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sp>
        <p:nvSpPr>
          <p:cNvPr id="40" name="text-37">
            <a:extLst xmlns:a="http://schemas.openxmlformats.org/drawingml/2006/main">
              <a:ext uri="{FF2B5EF4-FFF2-40B4-BE49-F238E27FC236}">
                <a16:creationId xmlns:a16="http://schemas.microsoft.com/office/drawing/2014/main" id="{0B6444DF-FC92-4250-A766-2EEB47BA7645}"/>
              </a:ext>
            </a:extLst>
          </p:cNvPr>
          <p:cNvSpPr>
            <a:spLocks xmlns:a="http://schemas.openxmlformats.org/drawingml/2006/main" noGrp="1"/>
          </p:cNvSpPr>
          <p:nvPr/>
        </p:nvSpPr>
        <p:spPr>
          <a:xfrm xmlns:a="http://schemas.openxmlformats.org/drawingml/2006/main">
            <a:off x="9991725" y="6867525"/>
            <a:ext cx="13525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Data / actions</a:t>
            </a:r>
          </a:p>
        </p:txBody>
      </p:sp>
    </p:spTree>
    <p:extLst>
      <p:ext uri="{BB962C8B-B14F-4D97-AF65-F5344CB8AC3E}">
        <p14:creationId xmlns:p14="http://schemas.microsoft.com/office/powerpoint/2010/main" val="687993816"/>
      </p:ext>
    </p:extLst>
  </p:cSld>
</p:sld>
</file>

<file path=ppt/slides/slide2.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5" name="">
            <a:extLst xmlns:a="http://schemas.openxmlformats.org/drawingml/2006/main">
              <a:ext uri="{FF2B5EF4-FFF2-40B4-BE49-F238E27FC236}">
                <a16:creationId xmlns:a16="http://schemas.microsoft.com/office/drawing/2014/main" id="{10287671-85DE-4E27-A357-47342C93EA06}"/>
              </a:ext>
            </a:extLst>
          </p:cNvPr>
          <p:cNvCxnSpPr>
            <a:stCxn xmlns:a="http://schemas.openxmlformats.org/drawingml/2006/main" id="22" idx="1"/>
            <a:endCxn xmlns:a="http://schemas.openxmlformats.org/drawingml/2006/main" id="25" idx="3"/>
          </p:cNvCxnSpPr>
          <p:nvPr/>
        </p:nvCxnSpPr>
        <p:spPr>
          <a:xfrm xmlns:a="http://schemas.openxmlformats.org/drawingml/2006/main" flipH="1">
            <a:off x="5467350" y="6905625"/>
            <a:ext cx="45339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1" name="">
            <a:extLst xmlns:a="http://schemas.openxmlformats.org/drawingml/2006/main">
              <a:ext uri="{FF2B5EF4-FFF2-40B4-BE49-F238E27FC236}">
                <a16:creationId xmlns:a16="http://schemas.microsoft.com/office/drawing/2014/main" id="{ECAFA72F-B794-498D-BF27-3BB175101A45}"/>
              </a:ext>
            </a:extLst>
          </p:cNvPr>
          <p:cNvCxnSpPr>
            <a:stCxn xmlns:a="http://schemas.openxmlformats.org/drawingml/2006/main" id="12" idx="3"/>
            <a:endCxn xmlns:a="http://schemas.openxmlformats.org/drawingml/2006/main" id="15" idx="1"/>
          </p:cNvCxnSpPr>
          <p:nvPr/>
        </p:nvCxnSpPr>
        <p:spPr>
          <a:xfrm xmlns:a="http://schemas.openxmlformats.org/drawingml/2006/main">
            <a:off x="11744325"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20" name="">
            <a:extLst xmlns:a="http://schemas.openxmlformats.org/drawingml/2006/main">
              <a:ext uri="{FF2B5EF4-FFF2-40B4-BE49-F238E27FC236}">
                <a16:creationId xmlns:a16="http://schemas.microsoft.com/office/drawing/2014/main" id="{C7652AB2-D035-4D5E-8530-1682B3CEAD3C}"/>
              </a:ext>
            </a:extLst>
          </p:cNvPr>
          <p:cNvCxnSpPr>
            <a:stCxn xmlns:a="http://schemas.openxmlformats.org/drawingml/2006/main" id="9" idx="3"/>
            <a:endCxn xmlns:a="http://schemas.openxmlformats.org/drawingml/2006/main" id="12" idx="1"/>
          </p:cNvCxnSpPr>
          <p:nvPr/>
        </p:nvCxnSpPr>
        <p:spPr>
          <a:xfrm xmlns:a="http://schemas.openxmlformats.org/drawingml/2006/main">
            <a:off x="8858250"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9" name="">
            <a:extLst xmlns:a="http://schemas.openxmlformats.org/drawingml/2006/main">
              <a:ext uri="{FF2B5EF4-FFF2-40B4-BE49-F238E27FC236}">
                <a16:creationId xmlns:a16="http://schemas.microsoft.com/office/drawing/2014/main" id="{A4E66A3D-BD1E-410C-8C84-3591655EDAD1}"/>
              </a:ext>
            </a:extLst>
          </p:cNvPr>
          <p:cNvCxnSpPr>
            <a:stCxn xmlns:a="http://schemas.openxmlformats.org/drawingml/2006/main" id="6" idx="3"/>
            <a:endCxn xmlns:a="http://schemas.openxmlformats.org/drawingml/2006/main" id="9" idx="1"/>
          </p:cNvCxnSpPr>
          <p:nvPr/>
        </p:nvCxnSpPr>
        <p:spPr>
          <a:xfrm xmlns:a="http://schemas.openxmlformats.org/drawingml/2006/main">
            <a:off x="5972175"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8" name="">
            <a:extLst xmlns:a="http://schemas.openxmlformats.org/drawingml/2006/main">
              <a:ext uri="{FF2B5EF4-FFF2-40B4-BE49-F238E27FC236}">
                <a16:creationId xmlns:a16="http://schemas.microsoft.com/office/drawing/2014/main" id="{925C269E-0BA9-486D-AA23-C8FDA489F7AD}"/>
              </a:ext>
            </a:extLst>
          </p:cNvPr>
          <p:cNvCxnSpPr>
            <a:stCxn xmlns:a="http://schemas.openxmlformats.org/drawingml/2006/main" id="3" idx="3"/>
            <a:endCxn xmlns:a="http://schemas.openxmlformats.org/drawingml/2006/main" id="6" idx="1"/>
          </p:cNvCxnSpPr>
          <p:nvPr/>
        </p:nvCxnSpPr>
        <p:spPr>
          <a:xfrm xmlns:a="http://schemas.openxmlformats.org/drawingml/2006/main">
            <a:off x="3086100" y="3262313"/>
            <a:ext cx="409575"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8" name="text-38">
            <a:extLst xmlns:a="http://schemas.openxmlformats.org/drawingml/2006/main">
              <a:ext uri="{FF2B5EF4-FFF2-40B4-BE49-F238E27FC236}">
                <a16:creationId xmlns:a16="http://schemas.microsoft.com/office/drawing/2014/main" id="{CC4861A8-D8F9-4A96-9F29-F1767A644393}"/>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Task lifecycle</a:t>
            </a:r>
          </a:p>
        </p:txBody>
      </p:sp>
      <p:sp>
        <p:nvSpPr>
          <p:cNvPr id="2" name="text-39">
            <a:extLst xmlns:a="http://schemas.openxmlformats.org/drawingml/2006/main">
              <a:ext uri="{FF2B5EF4-FFF2-40B4-BE49-F238E27FC236}">
                <a16:creationId xmlns:a16="http://schemas.microsoft.com/office/drawing/2014/main" id="{BCC5EE8F-603B-44DE-A3CF-E9160245542C}"/>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2</a:t>
            </a:r>
          </a:p>
        </p:txBody>
      </p:sp>
      <p:sp>
        <p:nvSpPr>
          <p:cNvPr id="3" name="node-40">
            <a:extLst xmlns:a="http://schemas.openxmlformats.org/drawingml/2006/main">
              <a:ext uri="{FF2B5EF4-FFF2-40B4-BE49-F238E27FC236}">
                <a16:creationId xmlns:a16="http://schemas.microsoft.com/office/drawing/2014/main" id="{F9DC9AB3-A9AA-4197-8E5F-6861652CB79A}"/>
              </a:ext>
            </a:extLst>
          </p:cNvPr>
          <p:cNvSpPr>
            <a:spLocks xmlns:a="http://schemas.openxmlformats.org/drawingml/2006/main" noGrp="1"/>
          </p:cNvSpPr>
          <p:nvPr/>
        </p:nvSpPr>
        <p:spPr>
          <a:xfrm xmlns:a="http://schemas.openxmlformats.org/drawingml/2006/main">
            <a:off x="60960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41">
            <a:extLst xmlns:a="http://schemas.openxmlformats.org/drawingml/2006/main">
              <a:ext uri="{FF2B5EF4-FFF2-40B4-BE49-F238E27FC236}">
                <a16:creationId xmlns:a16="http://schemas.microsoft.com/office/drawing/2014/main" id="{B686920C-78F5-4DD1-A028-7FAE9C9254A4}"/>
              </a:ext>
            </a:extLst>
          </p:cNvPr>
          <p:cNvSpPr>
            <a:spLocks xmlns:a="http://schemas.openxmlformats.org/drawingml/2006/main" noGrp="1"/>
          </p:cNvSpPr>
          <p:nvPr/>
        </p:nvSpPr>
        <p:spPr>
          <a:xfrm xmlns:a="http://schemas.openxmlformats.org/drawingml/2006/main">
            <a:off x="800100"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Task intake</a:t>
            </a:r>
          </a:p>
        </p:txBody>
      </p:sp>
      <p:sp>
        <p:nvSpPr>
          <p:cNvPr id="5" name="text-42">
            <a:extLst xmlns:a="http://schemas.openxmlformats.org/drawingml/2006/main">
              <a:ext uri="{FF2B5EF4-FFF2-40B4-BE49-F238E27FC236}">
                <a16:creationId xmlns:a16="http://schemas.microsoft.com/office/drawing/2014/main" id="{42584B02-B1B3-48E8-A52E-C40A2202F804}"/>
              </a:ext>
            </a:extLst>
          </p:cNvPr>
          <p:cNvSpPr>
            <a:spLocks xmlns:a="http://schemas.openxmlformats.org/drawingml/2006/main" noGrp="1"/>
          </p:cNvSpPr>
          <p:nvPr/>
        </p:nvSpPr>
        <p:spPr>
          <a:xfrm xmlns:a="http://schemas.openxmlformats.org/drawingml/2006/main">
            <a:off x="800100" y="2987040"/>
            <a:ext cx="2095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Objective and</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source</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Done criteria</a:t>
            </a:r>
          </a:p>
        </p:txBody>
      </p:sp>
      <p:sp>
        <p:nvSpPr>
          <p:cNvPr id="6" name="node-43">
            <a:extLst xmlns:a="http://schemas.openxmlformats.org/drawingml/2006/main">
              <a:ext uri="{FF2B5EF4-FFF2-40B4-BE49-F238E27FC236}">
                <a16:creationId xmlns:a16="http://schemas.microsoft.com/office/drawing/2014/main" id="{419435F1-5638-445F-9B5F-1401A1E7A1B7}"/>
              </a:ext>
            </a:extLst>
          </p:cNvPr>
          <p:cNvSpPr>
            <a:spLocks xmlns:a="http://schemas.openxmlformats.org/drawingml/2006/main" noGrp="1"/>
          </p:cNvSpPr>
          <p:nvPr/>
        </p:nvSpPr>
        <p:spPr>
          <a:xfrm xmlns:a="http://schemas.openxmlformats.org/drawingml/2006/main">
            <a:off x="3495675"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44">
            <a:extLst xmlns:a="http://schemas.openxmlformats.org/drawingml/2006/main">
              <a:ext uri="{FF2B5EF4-FFF2-40B4-BE49-F238E27FC236}">
                <a16:creationId xmlns:a16="http://schemas.microsoft.com/office/drawing/2014/main" id="{303EC00A-0E83-4A4E-A129-0848D5EDE435}"/>
              </a:ext>
            </a:extLst>
          </p:cNvPr>
          <p:cNvSpPr>
            <a:spLocks xmlns:a="http://schemas.openxmlformats.org/drawingml/2006/main" noGrp="1"/>
          </p:cNvSpPr>
          <p:nvPr/>
        </p:nvSpPr>
        <p:spPr>
          <a:xfrm xmlns:a="http://schemas.openxmlformats.org/drawingml/2006/main">
            <a:off x="3686175"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CEO agent</a:t>
            </a:r>
          </a:p>
        </p:txBody>
      </p:sp>
      <p:sp>
        <p:nvSpPr>
          <p:cNvPr id="8" name="text-45">
            <a:extLst xmlns:a="http://schemas.openxmlformats.org/drawingml/2006/main">
              <a:ext uri="{FF2B5EF4-FFF2-40B4-BE49-F238E27FC236}">
                <a16:creationId xmlns:a16="http://schemas.microsoft.com/office/drawing/2014/main" id="{53F419D5-F8B6-4641-8B9B-A5B482A2284D}"/>
              </a:ext>
            </a:extLst>
          </p:cNvPr>
          <p:cNvSpPr>
            <a:spLocks xmlns:a="http://schemas.openxmlformats.org/drawingml/2006/main" noGrp="1"/>
          </p:cNvSpPr>
          <p:nvPr/>
        </p:nvSpPr>
        <p:spPr>
          <a:xfrm xmlns:a="http://schemas.openxmlformats.org/drawingml/2006/main">
            <a:off x="3686175" y="2987040"/>
            <a:ext cx="209550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Prioritize</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Delegate</a:t>
            </a:r>
          </a:p>
        </p:txBody>
      </p:sp>
      <p:sp>
        <p:nvSpPr>
          <p:cNvPr id="9" name="node-46">
            <a:extLst xmlns:a="http://schemas.openxmlformats.org/drawingml/2006/main">
              <a:ext uri="{FF2B5EF4-FFF2-40B4-BE49-F238E27FC236}">
                <a16:creationId xmlns:a16="http://schemas.microsoft.com/office/drawing/2014/main" id="{1589C988-1BBC-4EAE-B3C8-802250EAB29D}"/>
              </a:ext>
            </a:extLst>
          </p:cNvPr>
          <p:cNvSpPr>
            <a:spLocks xmlns:a="http://schemas.openxmlformats.org/drawingml/2006/main" noGrp="1"/>
          </p:cNvSpPr>
          <p:nvPr/>
        </p:nvSpPr>
        <p:spPr>
          <a:xfrm xmlns:a="http://schemas.openxmlformats.org/drawingml/2006/main">
            <a:off x="638175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47">
            <a:extLst xmlns:a="http://schemas.openxmlformats.org/drawingml/2006/main">
              <a:ext uri="{FF2B5EF4-FFF2-40B4-BE49-F238E27FC236}">
                <a16:creationId xmlns:a16="http://schemas.microsoft.com/office/drawing/2014/main" id="{D115F70E-0C7D-4548-9706-7F75A23D09C1}"/>
              </a:ext>
            </a:extLst>
          </p:cNvPr>
          <p:cNvSpPr>
            <a:spLocks xmlns:a="http://schemas.openxmlformats.org/drawingml/2006/main" noGrp="1"/>
          </p:cNvSpPr>
          <p:nvPr/>
        </p:nvSpPr>
        <p:spPr>
          <a:xfrm xmlns:a="http://schemas.openxmlformats.org/drawingml/2006/main">
            <a:off x="6572250" y="2590800"/>
            <a:ext cx="20955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Claim task</a:t>
            </a:r>
          </a:p>
        </p:txBody>
      </p:sp>
      <p:sp>
        <p:nvSpPr>
          <p:cNvPr id="11" name="text-48">
            <a:extLst xmlns:a="http://schemas.openxmlformats.org/drawingml/2006/main">
              <a:ext uri="{FF2B5EF4-FFF2-40B4-BE49-F238E27FC236}">
                <a16:creationId xmlns:a16="http://schemas.microsoft.com/office/drawing/2014/main" id="{290BEB40-602D-41B7-A1A7-0BF1B6FCB946}"/>
              </a:ext>
            </a:extLst>
          </p:cNvPr>
          <p:cNvSpPr>
            <a:spLocks xmlns:a="http://schemas.openxmlformats.org/drawingml/2006/main" noGrp="1"/>
          </p:cNvSpPr>
          <p:nvPr/>
        </p:nvSpPr>
        <p:spPr>
          <a:xfrm xmlns:a="http://schemas.openxmlformats.org/drawingml/2006/main">
            <a:off x="6572250" y="2975420"/>
            <a:ext cx="20955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Dependencies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Exclusive</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checkout</a:t>
            </a:r>
          </a:p>
        </p:txBody>
      </p:sp>
      <p:sp>
        <p:nvSpPr>
          <p:cNvPr id="12" name="node-49">
            <a:extLst xmlns:a="http://schemas.openxmlformats.org/drawingml/2006/main">
              <a:ext uri="{FF2B5EF4-FFF2-40B4-BE49-F238E27FC236}">
                <a16:creationId xmlns:a16="http://schemas.microsoft.com/office/drawing/2014/main" id="{E531CC32-C727-4F28-8BE8-8C62CDAD3FF2}"/>
              </a:ext>
            </a:extLst>
          </p:cNvPr>
          <p:cNvSpPr>
            <a:spLocks xmlns:a="http://schemas.openxmlformats.org/drawingml/2006/main" noGrp="1"/>
          </p:cNvSpPr>
          <p:nvPr/>
        </p:nvSpPr>
        <p:spPr>
          <a:xfrm xmlns:a="http://schemas.openxmlformats.org/drawingml/2006/main">
            <a:off x="9267825"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text-50">
            <a:extLst xmlns:a="http://schemas.openxmlformats.org/drawingml/2006/main">
              <a:ext uri="{FF2B5EF4-FFF2-40B4-BE49-F238E27FC236}">
                <a16:creationId xmlns:a16="http://schemas.microsoft.com/office/drawing/2014/main" id="{4658FEF7-BFCE-4681-80F5-2A81631E2B9B}"/>
              </a:ext>
            </a:extLst>
          </p:cNvPr>
          <p:cNvSpPr>
            <a:spLocks xmlns:a="http://schemas.openxmlformats.org/drawingml/2006/main" noGrp="1"/>
          </p:cNvSpPr>
          <p:nvPr/>
        </p:nvSpPr>
        <p:spPr>
          <a:xfrm xmlns:a="http://schemas.openxmlformats.org/drawingml/2006/main">
            <a:off x="9458325" y="2590800"/>
            <a:ext cx="20955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Execution</a:t>
            </a:r>
          </a:p>
        </p:txBody>
      </p:sp>
      <p:sp>
        <p:nvSpPr>
          <p:cNvPr id="14" name="text-51">
            <a:extLst xmlns:a="http://schemas.openxmlformats.org/drawingml/2006/main">
              <a:ext uri="{FF2B5EF4-FFF2-40B4-BE49-F238E27FC236}">
                <a16:creationId xmlns:a16="http://schemas.microsoft.com/office/drawing/2014/main" id="{43B20822-3855-4EE4-A5DD-D6E64F3DDD04}"/>
              </a:ext>
            </a:extLst>
          </p:cNvPr>
          <p:cNvSpPr>
            <a:spLocks xmlns:a="http://schemas.openxmlformats.org/drawingml/2006/main" noGrp="1"/>
          </p:cNvSpPr>
          <p:nvPr/>
        </p:nvSpPr>
        <p:spPr>
          <a:xfrm xmlns:a="http://schemas.openxmlformats.org/drawingml/2006/main">
            <a:off x="9458325" y="2987040"/>
            <a:ext cx="2095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Central or member</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Scoped tools</a:t>
            </a:r>
          </a:p>
        </p:txBody>
      </p:sp>
      <p:sp>
        <p:nvSpPr>
          <p:cNvPr id="15" name="node-52">
            <a:extLst xmlns:a="http://schemas.openxmlformats.org/drawingml/2006/main">
              <a:ext uri="{FF2B5EF4-FFF2-40B4-BE49-F238E27FC236}">
                <a16:creationId xmlns:a16="http://schemas.microsoft.com/office/drawing/2014/main" id="{30E4C43E-2E31-489D-9560-642DE15DA0AC}"/>
              </a:ext>
            </a:extLst>
          </p:cNvPr>
          <p:cNvSpPr>
            <a:spLocks xmlns:a="http://schemas.openxmlformats.org/drawingml/2006/main" noGrp="1"/>
          </p:cNvSpPr>
          <p:nvPr/>
        </p:nvSpPr>
        <p:spPr>
          <a:xfrm xmlns:a="http://schemas.openxmlformats.org/drawingml/2006/main">
            <a:off x="12153900" y="2428875"/>
            <a:ext cx="2476500" cy="166687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6" name="text-53">
            <a:extLst xmlns:a="http://schemas.openxmlformats.org/drawingml/2006/main">
              <a:ext uri="{FF2B5EF4-FFF2-40B4-BE49-F238E27FC236}">
                <a16:creationId xmlns:a16="http://schemas.microsoft.com/office/drawing/2014/main" id="{135E2039-3505-4B72-A57A-45D38DF21F63}"/>
              </a:ext>
            </a:extLst>
          </p:cNvPr>
          <p:cNvSpPr>
            <a:spLocks xmlns:a="http://schemas.openxmlformats.org/drawingml/2006/main" noGrp="1"/>
          </p:cNvSpPr>
          <p:nvPr/>
        </p:nvSpPr>
        <p:spPr>
          <a:xfrm xmlns:a="http://schemas.openxmlformats.org/drawingml/2006/main">
            <a:off x="12344400" y="2590800"/>
            <a:ext cx="20955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Validation</a:t>
            </a:r>
          </a:p>
        </p:txBody>
      </p:sp>
      <p:sp>
        <p:nvSpPr>
          <p:cNvPr id="17" name="text-54">
            <a:extLst xmlns:a="http://schemas.openxmlformats.org/drawingml/2006/main">
              <a:ext uri="{FF2B5EF4-FFF2-40B4-BE49-F238E27FC236}">
                <a16:creationId xmlns:a16="http://schemas.microsoft.com/office/drawing/2014/main" id="{55F523B3-596B-48BE-9314-9D537DD16637}"/>
              </a:ext>
            </a:extLst>
          </p:cNvPr>
          <p:cNvSpPr>
            <a:spLocks xmlns:a="http://schemas.openxmlformats.org/drawingml/2006/main" noGrp="1"/>
          </p:cNvSpPr>
          <p:nvPr/>
        </p:nvSpPr>
        <p:spPr>
          <a:xfrm xmlns:a="http://schemas.openxmlformats.org/drawingml/2006/main">
            <a:off x="12344400" y="2963799"/>
            <a:ext cx="20955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Task criteria</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Required reviews</a:t>
            </a:r>
          </a:p>
        </p:txBody>
      </p:sp>
      <p:sp>
        <p:nvSpPr>
          <p:cNvPr id="22" name="node-55">
            <a:extLst xmlns:a="http://schemas.openxmlformats.org/drawingml/2006/main">
              <a:ext uri="{FF2B5EF4-FFF2-40B4-BE49-F238E27FC236}">
                <a16:creationId xmlns:a16="http://schemas.microsoft.com/office/drawing/2014/main" id="{663BE0D1-67E5-4068-936C-A95F4A1EF56E}"/>
              </a:ext>
            </a:extLst>
          </p:cNvPr>
          <p:cNvSpPr>
            <a:spLocks xmlns:a="http://schemas.openxmlformats.org/drawingml/2006/main" noGrp="1"/>
          </p:cNvSpPr>
          <p:nvPr/>
        </p:nvSpPr>
        <p:spPr>
          <a:xfrm xmlns:a="http://schemas.openxmlformats.org/drawingml/2006/main">
            <a:off x="10001250" y="6238875"/>
            <a:ext cx="4629150" cy="1333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3" name="text-56">
            <a:extLst xmlns:a="http://schemas.openxmlformats.org/drawingml/2006/main">
              <a:ext uri="{FF2B5EF4-FFF2-40B4-BE49-F238E27FC236}">
                <a16:creationId xmlns:a16="http://schemas.microsoft.com/office/drawing/2014/main" id="{D0EFF5A5-57A7-4E35-87C2-1AD53161D689}"/>
              </a:ext>
            </a:extLst>
          </p:cNvPr>
          <p:cNvSpPr>
            <a:spLocks xmlns:a="http://schemas.openxmlformats.org/drawingml/2006/main" noGrp="1"/>
          </p:cNvSpPr>
          <p:nvPr/>
        </p:nvSpPr>
        <p:spPr>
          <a:xfrm xmlns:a="http://schemas.openxmlformats.org/drawingml/2006/main">
            <a:off x="10191750" y="6400800"/>
            <a:ext cx="42481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Accepted result</a:t>
            </a:r>
          </a:p>
        </p:txBody>
      </p:sp>
      <p:sp>
        <p:nvSpPr>
          <p:cNvPr id="24" name="text-57">
            <a:extLst xmlns:a="http://schemas.openxmlformats.org/drawingml/2006/main">
              <a:ext uri="{FF2B5EF4-FFF2-40B4-BE49-F238E27FC236}">
                <a16:creationId xmlns:a16="http://schemas.microsoft.com/office/drawing/2014/main" id="{990DFB01-A5DA-457F-9C0C-E1DE4C380FC1}"/>
              </a:ext>
            </a:extLst>
          </p:cNvPr>
          <p:cNvSpPr>
            <a:spLocks xmlns:a="http://schemas.openxmlformats.org/drawingml/2006/main" noGrp="1"/>
          </p:cNvSpPr>
          <p:nvPr/>
        </p:nvSpPr>
        <p:spPr>
          <a:xfrm xmlns:a="http://schemas.openxmlformats.org/drawingml/2006/main">
            <a:off x="10191750" y="6797040"/>
            <a:ext cx="42481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Task status and output links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Research delta when applicable</a:t>
            </a:r>
          </a:p>
        </p:txBody>
      </p:sp>
      <p:sp>
        <p:nvSpPr>
          <p:cNvPr id="25" name="node-58">
            <a:extLst xmlns:a="http://schemas.openxmlformats.org/drawingml/2006/main">
              <a:ext uri="{FF2B5EF4-FFF2-40B4-BE49-F238E27FC236}">
                <a16:creationId xmlns:a16="http://schemas.microsoft.com/office/drawing/2014/main" id="{46E5DF68-39F5-4F13-A294-67F1259B992E}"/>
              </a:ext>
            </a:extLst>
          </p:cNvPr>
          <p:cNvSpPr>
            <a:spLocks xmlns:a="http://schemas.openxmlformats.org/drawingml/2006/main" noGrp="1"/>
          </p:cNvSpPr>
          <p:nvPr/>
        </p:nvSpPr>
        <p:spPr>
          <a:xfrm xmlns:a="http://schemas.openxmlformats.org/drawingml/2006/main">
            <a:off x="609600" y="6238875"/>
            <a:ext cx="4857750" cy="133350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6" name="text-59">
            <a:extLst xmlns:a="http://schemas.openxmlformats.org/drawingml/2006/main">
              <a:ext uri="{FF2B5EF4-FFF2-40B4-BE49-F238E27FC236}">
                <a16:creationId xmlns:a16="http://schemas.microsoft.com/office/drawing/2014/main" id="{A363D15D-73F2-4FB2-988C-7B2323075AB3}"/>
              </a:ext>
            </a:extLst>
          </p:cNvPr>
          <p:cNvSpPr>
            <a:spLocks xmlns:a="http://schemas.openxmlformats.org/drawingml/2006/main" noGrp="1"/>
          </p:cNvSpPr>
          <p:nvPr/>
        </p:nvSpPr>
        <p:spPr>
          <a:xfrm xmlns:a="http://schemas.openxmlformats.org/drawingml/2006/main">
            <a:off x="800100" y="6400800"/>
            <a:ext cx="4476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Buzz and dashboard</a:t>
            </a:r>
          </a:p>
        </p:txBody>
      </p:sp>
      <p:sp>
        <p:nvSpPr>
          <p:cNvPr id="27" name="text-60">
            <a:extLst xmlns:a="http://schemas.openxmlformats.org/drawingml/2006/main">
              <a:ext uri="{FF2B5EF4-FFF2-40B4-BE49-F238E27FC236}">
                <a16:creationId xmlns:a16="http://schemas.microsoft.com/office/drawing/2014/main" id="{D4BFCCCC-37B6-4F15-B327-1FDEC4B1AE65}"/>
              </a:ext>
            </a:extLst>
          </p:cNvPr>
          <p:cNvSpPr>
            <a:spLocks xmlns:a="http://schemas.openxmlformats.org/drawingml/2006/main" noGrp="1"/>
          </p:cNvSpPr>
          <p:nvPr/>
        </p:nvSpPr>
        <p:spPr>
          <a:xfrm xmlns:a="http://schemas.openxmlformats.org/drawingml/2006/main">
            <a:off x="800100" y="6797040"/>
            <a:ext cx="4476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Result returned to the member</a:t>
            </a:r>
          </a:p>
        </p:txBody>
      </p:sp>
      <p:cxnSp>
        <p:nvCxnSpPr>
          <p:cNvPr id="28" name="flow-61">
            <a:extLst xmlns:a="http://schemas.openxmlformats.org/drawingml/2006/main">
              <a:ext uri="{FF2B5EF4-FFF2-40B4-BE49-F238E27FC236}">
                <a16:creationId xmlns:a16="http://schemas.microsoft.com/office/drawing/2014/main" id="{3DB5733C-5FB3-4B68-A04E-DEE2F220C191}"/>
              </a:ext>
            </a:extLst>
          </p:cNvPr>
          <p:cNvCxnSpPr/>
          <p:nvPr/>
        </p:nvCxnSpPr>
        <p:spPr>
          <a:xfrm xmlns:a="http://schemas.openxmlformats.org/drawingml/2006/main" flipH="0" flipV="0">
            <a:off x="13392150" y="4095750"/>
            <a:ext cx="0" cy="214312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9" name="text-62">
            <a:extLst xmlns:a="http://schemas.openxmlformats.org/drawingml/2006/main">
              <a:ext uri="{FF2B5EF4-FFF2-40B4-BE49-F238E27FC236}">
                <a16:creationId xmlns:a16="http://schemas.microsoft.com/office/drawing/2014/main" id="{9F64CB67-FB88-4F77-9442-AA27C71FE1F5}"/>
              </a:ext>
            </a:extLst>
          </p:cNvPr>
          <p:cNvSpPr>
            <a:spLocks xmlns:a="http://schemas.openxmlformats.org/drawingml/2006/main" noGrp="1"/>
          </p:cNvSpPr>
          <p:nvPr/>
        </p:nvSpPr>
        <p:spPr>
          <a:xfrm xmlns:a="http://schemas.openxmlformats.org/drawingml/2006/main">
            <a:off x="13515975" y="4733925"/>
            <a:ext cx="11049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Pass</a:t>
            </a:r>
          </a:p>
        </p:txBody>
      </p:sp>
      <p:cxnSp>
        <p:nvCxnSpPr>
          <p:cNvPr id="30" name="flow-63">
            <a:extLst xmlns:a="http://schemas.openxmlformats.org/drawingml/2006/main">
              <a:ext uri="{FF2B5EF4-FFF2-40B4-BE49-F238E27FC236}">
                <a16:creationId xmlns:a16="http://schemas.microsoft.com/office/drawing/2014/main" id="{08668D5E-A6BE-4962-BA85-2B397B52594E}"/>
              </a:ext>
            </a:extLst>
          </p:cNvPr>
          <p:cNvCxnSpPr/>
          <p:nvPr/>
        </p:nvCxnSpPr>
        <p:spPr>
          <a:xfrm xmlns:a="http://schemas.openxmlformats.org/drawingml/2006/main" flipH="1" flipV="0">
            <a:off x="11849100" y="3476625"/>
            <a:ext cx="3048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31" name="flow-64">
            <a:extLst xmlns:a="http://schemas.openxmlformats.org/drawingml/2006/main">
              <a:ext uri="{FF2B5EF4-FFF2-40B4-BE49-F238E27FC236}">
                <a16:creationId xmlns:a16="http://schemas.microsoft.com/office/drawing/2014/main" id="{B75F1FD4-C02A-44C5-9E64-05EC4EA99E6A}"/>
              </a:ext>
            </a:extLst>
          </p:cNvPr>
          <p:cNvCxnSpPr/>
          <p:nvPr/>
        </p:nvCxnSpPr>
        <p:spPr>
          <a:xfrm xmlns:a="http://schemas.openxmlformats.org/drawingml/2006/main" flipH="0" flipV="0">
            <a:off x="11849100" y="3476625"/>
            <a:ext cx="0" cy="1333500"/>
          </a:xfrm>
          <a:prstGeom xmlns:a="http://schemas.openxmlformats.org/drawingml/2006/main" prst="straightConnector1">
            <a:avLst/>
          </a:prstGeom>
          <a:ln xmlns:a="http://schemas.openxmlformats.org/drawingml/2006/main" w="23813">
            <a:solidFill>
              <a:srgbClr val="157D80"/>
            </a:solidFill>
            <a:prstDash val="solid"/>
          </a:ln>
        </p:spPr>
      </p:cxnSp>
      <p:cxnSp>
        <p:nvCxnSpPr>
          <p:cNvPr id="32" name="flow-65">
            <a:extLst xmlns:a="http://schemas.openxmlformats.org/drawingml/2006/main">
              <a:ext uri="{FF2B5EF4-FFF2-40B4-BE49-F238E27FC236}">
                <a16:creationId xmlns:a16="http://schemas.microsoft.com/office/drawing/2014/main" id="{FF36DB5C-928D-4444-9A6D-6880C45134B2}"/>
              </a:ext>
            </a:extLst>
          </p:cNvPr>
          <p:cNvCxnSpPr/>
          <p:nvPr/>
        </p:nvCxnSpPr>
        <p:spPr>
          <a:xfrm xmlns:a="http://schemas.openxmlformats.org/drawingml/2006/main" flipH="1" flipV="0">
            <a:off x="10506075" y="4810125"/>
            <a:ext cx="1343025"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33" name="flow-66">
            <a:extLst xmlns:a="http://schemas.openxmlformats.org/drawingml/2006/main">
              <a:ext uri="{FF2B5EF4-FFF2-40B4-BE49-F238E27FC236}">
                <a16:creationId xmlns:a16="http://schemas.microsoft.com/office/drawing/2014/main" id="{CDEF0BF4-6CAD-4ABC-9B95-6147440D2B48}"/>
              </a:ext>
            </a:extLst>
          </p:cNvPr>
          <p:cNvCxnSpPr/>
          <p:nvPr/>
        </p:nvCxnSpPr>
        <p:spPr>
          <a:xfrm xmlns:a="http://schemas.openxmlformats.org/drawingml/2006/main" flipH="0" flipV="1">
            <a:off x="10506075" y="4095750"/>
            <a:ext cx="0" cy="71437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4" name="text-67">
            <a:extLst xmlns:a="http://schemas.openxmlformats.org/drawingml/2006/main">
              <a:ext uri="{FF2B5EF4-FFF2-40B4-BE49-F238E27FC236}">
                <a16:creationId xmlns:a16="http://schemas.microsoft.com/office/drawing/2014/main" id="{1AACC4BC-58E4-403D-8B9C-C75FA2EEA14D}"/>
              </a:ext>
            </a:extLst>
          </p:cNvPr>
          <p:cNvSpPr>
            <a:spLocks xmlns:a="http://schemas.openxmlformats.org/drawingml/2006/main" noGrp="1"/>
          </p:cNvSpPr>
          <p:nvPr/>
        </p:nvSpPr>
        <p:spPr>
          <a:xfrm xmlns:a="http://schemas.openxmlformats.org/drawingml/2006/main">
            <a:off x="10287000" y="5000625"/>
            <a:ext cx="2190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Rework</a:t>
            </a:r>
          </a:p>
        </p:txBody>
      </p:sp>
      <p:sp>
        <p:nvSpPr>
          <p:cNvPr id="36" name="text-68">
            <a:extLst xmlns:a="http://schemas.openxmlformats.org/drawingml/2006/main">
              <a:ext uri="{FF2B5EF4-FFF2-40B4-BE49-F238E27FC236}">
                <a16:creationId xmlns:a16="http://schemas.microsoft.com/office/drawing/2014/main" id="{5104DC9F-8377-421B-AFC8-D54B51D6D4DF}"/>
              </a:ext>
            </a:extLst>
          </p:cNvPr>
          <p:cNvSpPr>
            <a:spLocks xmlns:a="http://schemas.openxmlformats.org/drawingml/2006/main" noGrp="1"/>
          </p:cNvSpPr>
          <p:nvPr/>
        </p:nvSpPr>
        <p:spPr>
          <a:xfrm xmlns:a="http://schemas.openxmlformats.org/drawingml/2006/main">
            <a:off x="5905500" y="6534150"/>
            <a:ext cx="3429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0">
                <a:solidFill>
                  <a:srgbClr val="4A6572"/>
                </a:solidFill>
                <a:latin typeface="Aptos"/>
                <a:ea typeface="Aptos"/>
                <a:cs typeface="Aptos"/>
              </a:defRPr>
            </a:defPPr>
          </a:lstStyle>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Publish result and status</a:t>
            </a:r>
          </a:p>
        </p:txBody>
      </p:sp>
      <p:sp>
        <p:nvSpPr>
          <p:cNvPr id="37" name="text-69">
            <a:extLst xmlns:a="http://schemas.openxmlformats.org/drawingml/2006/main">
              <a:ext uri="{FF2B5EF4-FFF2-40B4-BE49-F238E27FC236}">
                <a16:creationId xmlns:a16="http://schemas.microsoft.com/office/drawing/2014/main" id="{8D519C09-2176-4484-8FB9-5BA7173AB996}"/>
              </a:ext>
            </a:extLst>
          </p:cNvPr>
          <p:cNvSpPr>
            <a:spLocks xmlns:a="http://schemas.openxmlformats.org/drawingml/2006/main" noGrp="1"/>
          </p:cNvSpPr>
          <p:nvPr/>
        </p:nvSpPr>
        <p:spPr>
          <a:xfrm xmlns:a="http://schemas.openxmlformats.org/drawingml/2006/main">
            <a:off x="3495675" y="4429125"/>
            <a:ext cx="6191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Paperclip applies hiring and budget policy</a:t>
            </a:r>
          </a:p>
        </p:txBody>
      </p:sp>
    </p:spTree>
    <p:extLst>
      <p:ext uri="{BB962C8B-B14F-4D97-AF65-F5344CB8AC3E}">
        <p14:creationId xmlns:p14="http://schemas.microsoft.com/office/powerpoint/2010/main" val="497893197"/>
      </p:ext>
    </p:extLst>
  </p:cSld>
</p:sld>
</file>

<file path=ppt/slides/slide3.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18" name="">
            <a:extLst xmlns:a="http://schemas.openxmlformats.org/drawingml/2006/main">
              <a:ext uri="{FF2B5EF4-FFF2-40B4-BE49-F238E27FC236}">
                <a16:creationId xmlns:a16="http://schemas.microsoft.com/office/drawing/2014/main" id="{FDBF6BE9-C935-4884-8826-CCE7C39D491F}"/>
              </a:ext>
            </a:extLst>
          </p:cNvPr>
          <p:cNvCxnSpPr>
            <a:stCxn xmlns:a="http://schemas.openxmlformats.org/drawingml/2006/main" id="3" idx="3"/>
            <a:endCxn xmlns:a="http://schemas.openxmlformats.org/drawingml/2006/main" id="6" idx="1"/>
          </p:cNvCxnSpPr>
          <p:nvPr/>
        </p:nvCxnSpPr>
        <p:spPr>
          <a:xfrm xmlns:a="http://schemas.openxmlformats.org/drawingml/2006/main">
            <a:off x="3752850" y="4191000"/>
            <a:ext cx="15240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4" name="text-70">
            <a:extLst xmlns:a="http://schemas.openxmlformats.org/drawingml/2006/main">
              <a:ext uri="{FF2B5EF4-FFF2-40B4-BE49-F238E27FC236}">
                <a16:creationId xmlns:a16="http://schemas.microsoft.com/office/drawing/2014/main" id="{B2A23D7F-822E-4D30-8FE5-929C0A22B702}"/>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Roundtable meeting flow</a:t>
            </a:r>
          </a:p>
        </p:txBody>
      </p:sp>
      <p:sp>
        <p:nvSpPr>
          <p:cNvPr id="2" name="text-71">
            <a:extLst xmlns:a="http://schemas.openxmlformats.org/drawingml/2006/main">
              <a:ext uri="{FF2B5EF4-FFF2-40B4-BE49-F238E27FC236}">
                <a16:creationId xmlns:a16="http://schemas.microsoft.com/office/drawing/2014/main" id="{C18A7868-8FE3-4B5A-AC56-052268CBB6A0}"/>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3</a:t>
            </a:r>
          </a:p>
        </p:txBody>
      </p:sp>
      <p:sp>
        <p:nvSpPr>
          <p:cNvPr id="3" name="node-72">
            <a:extLst xmlns:a="http://schemas.openxmlformats.org/drawingml/2006/main">
              <a:ext uri="{FF2B5EF4-FFF2-40B4-BE49-F238E27FC236}">
                <a16:creationId xmlns:a16="http://schemas.microsoft.com/office/drawing/2014/main" id="{48B6EF01-C26A-40F7-9F96-CC60CBECABB9}"/>
              </a:ext>
            </a:extLst>
          </p:cNvPr>
          <p:cNvSpPr>
            <a:spLocks xmlns:a="http://schemas.openxmlformats.org/drawingml/2006/main" noGrp="1"/>
          </p:cNvSpPr>
          <p:nvPr/>
        </p:nvSpPr>
        <p:spPr>
          <a:xfrm xmlns:a="http://schemas.openxmlformats.org/drawingml/2006/main">
            <a:off x="609600" y="3476625"/>
            <a:ext cx="31432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73">
            <a:extLst xmlns:a="http://schemas.openxmlformats.org/drawingml/2006/main">
              <a:ext uri="{FF2B5EF4-FFF2-40B4-BE49-F238E27FC236}">
                <a16:creationId xmlns:a16="http://schemas.microsoft.com/office/drawing/2014/main" id="{360B14EF-AC43-450E-868A-66596794CCCB}"/>
              </a:ext>
            </a:extLst>
          </p:cNvPr>
          <p:cNvSpPr>
            <a:spLocks xmlns:a="http://schemas.openxmlformats.org/drawingml/2006/main" noGrp="1"/>
          </p:cNvSpPr>
          <p:nvPr/>
        </p:nvSpPr>
        <p:spPr>
          <a:xfrm xmlns:a="http://schemas.openxmlformats.org/drawingml/2006/main">
            <a:off x="800100" y="3638550"/>
            <a:ext cx="27622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Meet / Gemini</a:t>
            </a:r>
          </a:p>
        </p:txBody>
      </p:sp>
      <p:sp>
        <p:nvSpPr>
          <p:cNvPr id="5" name="text-74">
            <a:extLst xmlns:a="http://schemas.openxmlformats.org/drawingml/2006/main">
              <a:ext uri="{FF2B5EF4-FFF2-40B4-BE49-F238E27FC236}">
                <a16:creationId xmlns:a16="http://schemas.microsoft.com/office/drawing/2014/main" id="{7F5F2247-2FF0-4963-8B57-A313F1CB1AEE}"/>
              </a:ext>
            </a:extLst>
          </p:cNvPr>
          <p:cNvSpPr>
            <a:spLocks xmlns:a="http://schemas.openxmlformats.org/drawingml/2006/main" noGrp="1"/>
          </p:cNvSpPr>
          <p:nvPr/>
        </p:nvSpPr>
        <p:spPr>
          <a:xfrm xmlns:a="http://schemas.openxmlformats.org/drawingml/2006/main">
            <a:off x="800100" y="4046411"/>
            <a:ext cx="276225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Recording and outputs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in organization Drive</a:t>
            </a:r>
          </a:p>
        </p:txBody>
      </p:sp>
      <p:sp>
        <p:nvSpPr>
          <p:cNvPr id="6" name="node-75">
            <a:extLst xmlns:a="http://schemas.openxmlformats.org/drawingml/2006/main">
              <a:ext uri="{FF2B5EF4-FFF2-40B4-BE49-F238E27FC236}">
                <a16:creationId xmlns:a16="http://schemas.microsoft.com/office/drawing/2014/main" id="{29DD215B-B94F-41A7-ABD8-7575B741ED8C}"/>
              </a:ext>
            </a:extLst>
          </p:cNvPr>
          <p:cNvSpPr>
            <a:spLocks xmlns:a="http://schemas.openxmlformats.org/drawingml/2006/main" noGrp="1"/>
          </p:cNvSpPr>
          <p:nvPr/>
        </p:nvSpPr>
        <p:spPr>
          <a:xfrm xmlns:a="http://schemas.openxmlformats.org/drawingml/2006/main">
            <a:off x="5276850" y="3476625"/>
            <a:ext cx="34290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7" name="text-76">
            <a:extLst xmlns:a="http://schemas.openxmlformats.org/drawingml/2006/main">
              <a:ext uri="{FF2B5EF4-FFF2-40B4-BE49-F238E27FC236}">
                <a16:creationId xmlns:a16="http://schemas.microsoft.com/office/drawing/2014/main" id="{65BB40F9-76A4-4C35-90C7-23AB19EBA9B0}"/>
              </a:ext>
            </a:extLst>
          </p:cNvPr>
          <p:cNvSpPr>
            <a:spLocks xmlns:a="http://schemas.openxmlformats.org/drawingml/2006/main" noGrp="1"/>
          </p:cNvSpPr>
          <p:nvPr/>
        </p:nvSpPr>
        <p:spPr>
          <a:xfrm xmlns:a="http://schemas.openxmlformats.org/drawingml/2006/main">
            <a:off x="5467350" y="3638550"/>
            <a:ext cx="3048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Roundtable</a:t>
            </a:r>
          </a:p>
        </p:txBody>
      </p:sp>
      <p:sp>
        <p:nvSpPr>
          <p:cNvPr id="8" name="text-77">
            <a:extLst xmlns:a="http://schemas.openxmlformats.org/drawingml/2006/main">
              <a:ext uri="{FF2B5EF4-FFF2-40B4-BE49-F238E27FC236}">
                <a16:creationId xmlns:a16="http://schemas.microsoft.com/office/drawing/2014/main" id="{E27993DC-C3C4-4B85-B4F9-55A9D27F7A5D}"/>
              </a:ext>
            </a:extLst>
          </p:cNvPr>
          <p:cNvSpPr>
            <a:spLocks xmlns:a="http://schemas.openxmlformats.org/drawingml/2006/main" noGrp="1"/>
          </p:cNvSpPr>
          <p:nvPr/>
        </p:nvSpPr>
        <p:spPr>
          <a:xfrm xmlns:a="http://schemas.openxmlformats.org/drawingml/2006/main">
            <a:off x="5467350" y="4034790"/>
            <a:ext cx="304800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Clean transcript</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Extract notes and actions</a:t>
            </a:r>
          </a:p>
        </p:txBody>
      </p:sp>
      <p:sp>
        <p:nvSpPr>
          <p:cNvPr id="9" name="node-78">
            <a:extLst xmlns:a="http://schemas.openxmlformats.org/drawingml/2006/main">
              <a:ext uri="{FF2B5EF4-FFF2-40B4-BE49-F238E27FC236}">
                <a16:creationId xmlns:a16="http://schemas.microsoft.com/office/drawing/2014/main" id="{4010F8E3-71EF-46BE-A94C-E5B0D5A64B03}"/>
              </a:ext>
            </a:extLst>
          </p:cNvPr>
          <p:cNvSpPr>
            <a:spLocks xmlns:a="http://schemas.openxmlformats.org/drawingml/2006/main" noGrp="1"/>
          </p:cNvSpPr>
          <p:nvPr/>
        </p:nvSpPr>
        <p:spPr>
          <a:xfrm xmlns:a="http://schemas.openxmlformats.org/drawingml/2006/main">
            <a:off x="10915650" y="1952625"/>
            <a:ext cx="3714750" cy="1238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79">
            <a:extLst xmlns:a="http://schemas.openxmlformats.org/drawingml/2006/main">
              <a:ext uri="{FF2B5EF4-FFF2-40B4-BE49-F238E27FC236}">
                <a16:creationId xmlns:a16="http://schemas.microsoft.com/office/drawing/2014/main" id="{6CFF752D-8DC2-4D3E-B78A-9044ED5AD97D}"/>
              </a:ext>
            </a:extLst>
          </p:cNvPr>
          <p:cNvSpPr>
            <a:spLocks xmlns:a="http://schemas.openxmlformats.org/drawingml/2006/main" noGrp="1"/>
          </p:cNvSpPr>
          <p:nvPr/>
        </p:nvSpPr>
        <p:spPr>
          <a:xfrm xmlns:a="http://schemas.openxmlformats.org/drawingml/2006/main">
            <a:off x="11106150" y="2114550"/>
            <a:ext cx="3333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Member website</a:t>
            </a:r>
          </a:p>
        </p:txBody>
      </p:sp>
      <p:sp>
        <p:nvSpPr>
          <p:cNvPr id="11" name="text-80">
            <a:extLst xmlns:a="http://schemas.openxmlformats.org/drawingml/2006/main">
              <a:ext uri="{FF2B5EF4-FFF2-40B4-BE49-F238E27FC236}">
                <a16:creationId xmlns:a16="http://schemas.microsoft.com/office/drawing/2014/main" id="{A6882D56-D19A-444B-AB63-E402019146C9}"/>
              </a:ext>
            </a:extLst>
          </p:cNvPr>
          <p:cNvSpPr>
            <a:spLocks xmlns:a="http://schemas.openxmlformats.org/drawingml/2006/main" noGrp="1"/>
          </p:cNvSpPr>
          <p:nvPr/>
        </p:nvSpPr>
        <p:spPr>
          <a:xfrm xmlns:a="http://schemas.openxmlformats.org/drawingml/2006/main">
            <a:off x="11106150" y="2510790"/>
            <a:ext cx="3333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Transcript + separate notes</a:t>
            </a:r>
          </a:p>
        </p:txBody>
      </p:sp>
      <p:sp>
        <p:nvSpPr>
          <p:cNvPr id="12" name="node-81">
            <a:extLst xmlns:a="http://schemas.openxmlformats.org/drawingml/2006/main">
              <a:ext uri="{FF2B5EF4-FFF2-40B4-BE49-F238E27FC236}">
                <a16:creationId xmlns:a16="http://schemas.microsoft.com/office/drawing/2014/main" id="{44742EBF-EDD7-4520-8410-48E1919730C7}"/>
              </a:ext>
            </a:extLst>
          </p:cNvPr>
          <p:cNvSpPr>
            <a:spLocks xmlns:a="http://schemas.openxmlformats.org/drawingml/2006/main" noGrp="1"/>
          </p:cNvSpPr>
          <p:nvPr/>
        </p:nvSpPr>
        <p:spPr>
          <a:xfrm xmlns:a="http://schemas.openxmlformats.org/drawingml/2006/main">
            <a:off x="10915650" y="4191000"/>
            <a:ext cx="3714750" cy="11430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text-82">
            <a:extLst xmlns:a="http://schemas.openxmlformats.org/drawingml/2006/main">
              <a:ext uri="{FF2B5EF4-FFF2-40B4-BE49-F238E27FC236}">
                <a16:creationId xmlns:a16="http://schemas.microsoft.com/office/drawing/2014/main" id="{646F40F9-0907-4915-9054-2D8F4CC6F753}"/>
              </a:ext>
            </a:extLst>
          </p:cNvPr>
          <p:cNvSpPr>
            <a:spLocks xmlns:a="http://schemas.openxmlformats.org/drawingml/2006/main" noGrp="1"/>
          </p:cNvSpPr>
          <p:nvPr/>
        </p:nvSpPr>
        <p:spPr>
          <a:xfrm xmlns:a="http://schemas.openxmlformats.org/drawingml/2006/main">
            <a:off x="11106150" y="4352925"/>
            <a:ext cx="33337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 tasks</a:t>
            </a:r>
          </a:p>
        </p:txBody>
      </p:sp>
      <p:sp>
        <p:nvSpPr>
          <p:cNvPr id="14" name="text-83">
            <a:extLst xmlns:a="http://schemas.openxmlformats.org/drawingml/2006/main">
              <a:ext uri="{FF2B5EF4-FFF2-40B4-BE49-F238E27FC236}">
                <a16:creationId xmlns:a16="http://schemas.microsoft.com/office/drawing/2014/main" id="{9D610905-2C51-4E42-A12D-618A5810B610}"/>
              </a:ext>
            </a:extLst>
          </p:cNvPr>
          <p:cNvSpPr>
            <a:spLocks xmlns:a="http://schemas.openxmlformats.org/drawingml/2006/main" noGrp="1"/>
          </p:cNvSpPr>
          <p:nvPr/>
        </p:nvSpPr>
        <p:spPr>
          <a:xfrm xmlns:a="http://schemas.openxmlformats.org/drawingml/2006/main">
            <a:off x="11106150" y="4749165"/>
            <a:ext cx="33337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Source-linked follow-up</a:t>
            </a:r>
          </a:p>
        </p:txBody>
      </p:sp>
      <p:sp>
        <p:nvSpPr>
          <p:cNvPr id="15" name="node-84">
            <a:extLst xmlns:a="http://schemas.openxmlformats.org/drawingml/2006/main">
              <a:ext uri="{FF2B5EF4-FFF2-40B4-BE49-F238E27FC236}">
                <a16:creationId xmlns:a16="http://schemas.microsoft.com/office/drawing/2014/main" id="{A50885F1-EE6E-4428-A028-0ADA08DEFDDB}"/>
              </a:ext>
            </a:extLst>
          </p:cNvPr>
          <p:cNvSpPr>
            <a:spLocks xmlns:a="http://schemas.openxmlformats.org/drawingml/2006/main" noGrp="1"/>
          </p:cNvSpPr>
          <p:nvPr/>
        </p:nvSpPr>
        <p:spPr>
          <a:xfrm xmlns:a="http://schemas.openxmlformats.org/drawingml/2006/main">
            <a:off x="10915650" y="6429375"/>
            <a:ext cx="3714750" cy="1238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6" name="text-85">
            <a:extLst xmlns:a="http://schemas.openxmlformats.org/drawingml/2006/main">
              <a:ext uri="{FF2B5EF4-FFF2-40B4-BE49-F238E27FC236}">
                <a16:creationId xmlns:a16="http://schemas.microsoft.com/office/drawing/2014/main" id="{58465C16-802D-4D8F-BE8B-73188D189D05}"/>
              </a:ext>
            </a:extLst>
          </p:cNvPr>
          <p:cNvSpPr>
            <a:spLocks xmlns:a="http://schemas.openxmlformats.org/drawingml/2006/main" noGrp="1"/>
          </p:cNvSpPr>
          <p:nvPr/>
        </p:nvSpPr>
        <p:spPr>
          <a:xfrm xmlns:a="http://schemas.openxmlformats.org/drawingml/2006/main">
            <a:off x="11106150" y="6591300"/>
            <a:ext cx="333375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DAO knowledge</a:t>
            </a:r>
          </a:p>
        </p:txBody>
      </p:sp>
      <p:sp>
        <p:nvSpPr>
          <p:cNvPr id="17" name="text-86">
            <a:extLst xmlns:a="http://schemas.openxmlformats.org/drawingml/2006/main">
              <a:ext uri="{FF2B5EF4-FFF2-40B4-BE49-F238E27FC236}">
                <a16:creationId xmlns:a16="http://schemas.microsoft.com/office/drawing/2014/main" id="{FEA54449-E996-4E81-8FC7-F70151FA6996}"/>
              </a:ext>
            </a:extLst>
          </p:cNvPr>
          <p:cNvSpPr>
            <a:spLocks xmlns:a="http://schemas.openxmlformats.org/drawingml/2006/main" noGrp="1"/>
          </p:cNvSpPr>
          <p:nvPr/>
        </p:nvSpPr>
        <p:spPr>
          <a:xfrm xmlns:a="http://schemas.openxmlformats.org/drawingml/2006/main">
            <a:off x="11106150" y="6964299"/>
            <a:ext cx="3333750" cy="64236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Reviewed facts and</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decisions</a:t>
            </a:r>
          </a:p>
        </p:txBody>
      </p:sp>
      <p:sp>
        <p:nvSpPr>
          <p:cNvPr id="19" name="text-87">
            <a:extLst xmlns:a="http://schemas.openxmlformats.org/drawingml/2006/main">
              <a:ext uri="{FF2B5EF4-FFF2-40B4-BE49-F238E27FC236}">
                <a16:creationId xmlns:a16="http://schemas.microsoft.com/office/drawing/2014/main" id="{21D85B3C-1AF9-42B1-A1BC-265472954D05}"/>
              </a:ext>
            </a:extLst>
          </p:cNvPr>
          <p:cNvSpPr>
            <a:spLocks xmlns:a="http://schemas.openxmlformats.org/drawingml/2006/main" noGrp="1"/>
          </p:cNvSpPr>
          <p:nvPr/>
        </p:nvSpPr>
        <p:spPr>
          <a:xfrm xmlns:a="http://schemas.openxmlformats.org/drawingml/2006/main">
            <a:off x="3752850" y="3571875"/>
            <a:ext cx="1524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Drive access</a:t>
            </a:r>
          </a:p>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needed</a:t>
            </a:r>
          </a:p>
        </p:txBody>
      </p:sp>
      <p:cxnSp>
        <p:nvCxnSpPr>
          <p:cNvPr id="20" name="flow-88">
            <a:extLst xmlns:a="http://schemas.openxmlformats.org/drawingml/2006/main">
              <a:ext uri="{FF2B5EF4-FFF2-40B4-BE49-F238E27FC236}">
                <a16:creationId xmlns:a16="http://schemas.microsoft.com/office/drawing/2014/main" id="{90FD3FC6-D090-407E-9927-AB70A50120E1}"/>
              </a:ext>
            </a:extLst>
          </p:cNvPr>
          <p:cNvCxnSpPr/>
          <p:nvPr/>
        </p:nvCxnSpPr>
        <p:spPr>
          <a:xfrm xmlns:a="http://schemas.openxmlformats.org/drawingml/2006/main" flipH="0" flipV="0">
            <a:off x="8705850" y="3810000"/>
            <a:ext cx="9525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1" name="flow-89">
            <a:extLst xmlns:a="http://schemas.openxmlformats.org/drawingml/2006/main">
              <a:ext uri="{FF2B5EF4-FFF2-40B4-BE49-F238E27FC236}">
                <a16:creationId xmlns:a16="http://schemas.microsoft.com/office/drawing/2014/main" id="{9D414016-4AE9-4DF8-91ED-449A34E6FF8B}"/>
              </a:ext>
            </a:extLst>
          </p:cNvPr>
          <p:cNvCxnSpPr/>
          <p:nvPr/>
        </p:nvCxnSpPr>
        <p:spPr>
          <a:xfrm xmlns:a="http://schemas.openxmlformats.org/drawingml/2006/main" flipH="0" flipV="1">
            <a:off x="9658350" y="2571750"/>
            <a:ext cx="0" cy="1238250"/>
          </a:xfrm>
          <a:prstGeom xmlns:a="http://schemas.openxmlformats.org/drawingml/2006/main" prst="straightConnector1">
            <a:avLst/>
          </a:prstGeom>
          <a:ln xmlns:a="http://schemas.openxmlformats.org/drawingml/2006/main" w="23813">
            <a:solidFill>
              <a:srgbClr val="157D80"/>
            </a:solidFill>
            <a:prstDash val="dash"/>
          </a:ln>
        </p:spPr>
      </p:cxnSp>
      <p:cxnSp>
        <p:nvCxnSpPr>
          <p:cNvPr id="22" name="flow-90">
            <a:extLst xmlns:a="http://schemas.openxmlformats.org/drawingml/2006/main">
              <a:ext uri="{FF2B5EF4-FFF2-40B4-BE49-F238E27FC236}">
                <a16:creationId xmlns:a16="http://schemas.microsoft.com/office/drawing/2014/main" id="{171425A0-10D7-4922-885A-01D6996630A6}"/>
              </a:ext>
            </a:extLst>
          </p:cNvPr>
          <p:cNvCxnSpPr/>
          <p:nvPr/>
        </p:nvCxnSpPr>
        <p:spPr>
          <a:xfrm xmlns:a="http://schemas.openxmlformats.org/drawingml/2006/main" flipH="0" flipV="0">
            <a:off x="9658350" y="2571750"/>
            <a:ext cx="12573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23" name="text-91">
            <a:extLst xmlns:a="http://schemas.openxmlformats.org/drawingml/2006/main">
              <a:ext uri="{FF2B5EF4-FFF2-40B4-BE49-F238E27FC236}">
                <a16:creationId xmlns:a16="http://schemas.microsoft.com/office/drawing/2014/main" id="{F40C7129-223D-4550-8938-7E09F56D003E}"/>
              </a:ext>
            </a:extLst>
          </p:cNvPr>
          <p:cNvSpPr>
            <a:spLocks xmlns:a="http://schemas.openxmlformats.org/drawingml/2006/main" noGrp="1"/>
          </p:cNvSpPr>
          <p:nvPr/>
        </p:nvSpPr>
        <p:spPr>
          <a:xfrm xmlns:a="http://schemas.openxmlformats.org/drawingml/2006/main">
            <a:off x="8858250" y="2000250"/>
            <a:ext cx="1952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Publish and</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read back</a:t>
            </a:r>
          </a:p>
        </p:txBody>
      </p:sp>
      <p:cxnSp>
        <p:nvCxnSpPr>
          <p:cNvPr id="24" name="flow-92">
            <a:extLst xmlns:a="http://schemas.openxmlformats.org/drawingml/2006/main">
              <a:ext uri="{FF2B5EF4-FFF2-40B4-BE49-F238E27FC236}">
                <a16:creationId xmlns:a16="http://schemas.microsoft.com/office/drawing/2014/main" id="{D996C47B-D5F6-4ABB-98C2-6CAEE001E309}"/>
              </a:ext>
            </a:extLst>
          </p:cNvPr>
          <p:cNvCxnSpPr/>
          <p:nvPr/>
        </p:nvCxnSpPr>
        <p:spPr>
          <a:xfrm xmlns:a="http://schemas.openxmlformats.org/drawingml/2006/main" flipH="0" flipV="0">
            <a:off x="8705850" y="4476750"/>
            <a:ext cx="100965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25" name="flow-93">
            <a:extLst xmlns:a="http://schemas.openxmlformats.org/drawingml/2006/main">
              <a:ext uri="{FF2B5EF4-FFF2-40B4-BE49-F238E27FC236}">
                <a16:creationId xmlns:a16="http://schemas.microsoft.com/office/drawing/2014/main" id="{CEC7B0CC-B168-42B5-8327-7285BD73004B}"/>
              </a:ext>
            </a:extLst>
          </p:cNvPr>
          <p:cNvCxnSpPr/>
          <p:nvPr/>
        </p:nvCxnSpPr>
        <p:spPr>
          <a:xfrm xmlns:a="http://schemas.openxmlformats.org/drawingml/2006/main" flipH="0" flipV="0">
            <a:off x="9715500" y="4476750"/>
            <a:ext cx="0" cy="285750"/>
          </a:xfrm>
          <a:prstGeom xmlns:a="http://schemas.openxmlformats.org/drawingml/2006/main" prst="straightConnector1">
            <a:avLst/>
          </a:prstGeom>
          <a:ln xmlns:a="http://schemas.openxmlformats.org/drawingml/2006/main" w="23813">
            <a:solidFill>
              <a:srgbClr val="157D80"/>
            </a:solidFill>
            <a:prstDash val="solid"/>
          </a:ln>
        </p:spPr>
      </p:cxnSp>
      <p:cxnSp>
        <p:nvCxnSpPr>
          <p:cNvPr id="26" name="flow-94">
            <a:extLst xmlns:a="http://schemas.openxmlformats.org/drawingml/2006/main">
              <a:ext uri="{FF2B5EF4-FFF2-40B4-BE49-F238E27FC236}">
                <a16:creationId xmlns:a16="http://schemas.microsoft.com/office/drawing/2014/main" id="{0D442C91-6D28-4718-88A5-365345CFE4CA}"/>
              </a:ext>
            </a:extLst>
          </p:cNvPr>
          <p:cNvCxnSpPr/>
          <p:nvPr/>
        </p:nvCxnSpPr>
        <p:spPr>
          <a:xfrm xmlns:a="http://schemas.openxmlformats.org/drawingml/2006/main" flipH="0" flipV="0">
            <a:off x="9715500" y="4762500"/>
            <a:ext cx="12001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7" name="text-95">
            <a:extLst xmlns:a="http://schemas.openxmlformats.org/drawingml/2006/main">
              <a:ext uri="{FF2B5EF4-FFF2-40B4-BE49-F238E27FC236}">
                <a16:creationId xmlns:a16="http://schemas.microsoft.com/office/drawing/2014/main" id="{883D4F9A-276C-4500-A828-357D051BA112}"/>
              </a:ext>
            </a:extLst>
          </p:cNvPr>
          <p:cNvSpPr>
            <a:spLocks xmlns:a="http://schemas.openxmlformats.org/drawingml/2006/main" noGrp="1"/>
          </p:cNvSpPr>
          <p:nvPr/>
        </p:nvSpPr>
        <p:spPr>
          <a:xfrm xmlns:a="http://schemas.openxmlformats.org/drawingml/2006/main">
            <a:off x="8782050" y="4991100"/>
            <a:ext cx="2000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Native follow-up</a:t>
            </a:r>
          </a:p>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implemented</a:t>
            </a:r>
          </a:p>
        </p:txBody>
      </p:sp>
      <p:cxnSp>
        <p:nvCxnSpPr>
          <p:cNvPr id="28" name="flow-96">
            <a:extLst xmlns:a="http://schemas.openxmlformats.org/drawingml/2006/main">
              <a:ext uri="{FF2B5EF4-FFF2-40B4-BE49-F238E27FC236}">
                <a16:creationId xmlns:a16="http://schemas.microsoft.com/office/drawing/2014/main" id="{25A284C1-6226-4F55-81E6-2631C0C43E12}"/>
              </a:ext>
            </a:extLst>
          </p:cNvPr>
          <p:cNvCxnSpPr/>
          <p:nvPr/>
        </p:nvCxnSpPr>
        <p:spPr>
          <a:xfrm xmlns:a="http://schemas.openxmlformats.org/drawingml/2006/main" flipH="0" flipV="0">
            <a:off x="6991350" y="4905375"/>
            <a:ext cx="0" cy="2143125"/>
          </a:xfrm>
          <a:prstGeom xmlns:a="http://schemas.openxmlformats.org/drawingml/2006/main" prst="straightConnector1">
            <a:avLst/>
          </a:prstGeom>
          <a:ln xmlns:a="http://schemas.openxmlformats.org/drawingml/2006/main" w="23813">
            <a:solidFill>
              <a:srgbClr val="157D80"/>
            </a:solidFill>
            <a:prstDash val="dash"/>
          </a:ln>
        </p:spPr>
      </p:cxnSp>
      <p:cxnSp>
        <p:nvCxnSpPr>
          <p:cNvPr id="29" name="flow-97">
            <a:extLst xmlns:a="http://schemas.openxmlformats.org/drawingml/2006/main">
              <a:ext uri="{FF2B5EF4-FFF2-40B4-BE49-F238E27FC236}">
                <a16:creationId xmlns:a16="http://schemas.microsoft.com/office/drawing/2014/main" id="{033F1FD7-724C-4024-80F2-357B094C2B4F}"/>
              </a:ext>
            </a:extLst>
          </p:cNvPr>
          <p:cNvCxnSpPr/>
          <p:nvPr/>
        </p:nvCxnSpPr>
        <p:spPr>
          <a:xfrm xmlns:a="http://schemas.openxmlformats.org/drawingml/2006/main" flipH="0" flipV="0">
            <a:off x="6991350" y="7048500"/>
            <a:ext cx="392430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0" name="text-98">
            <a:extLst xmlns:a="http://schemas.openxmlformats.org/drawingml/2006/main">
              <a:ext uri="{FF2B5EF4-FFF2-40B4-BE49-F238E27FC236}">
                <a16:creationId xmlns:a16="http://schemas.microsoft.com/office/drawing/2014/main" id="{F5B98C40-24F0-45BB-8990-CEF695E0114B}"/>
              </a:ext>
            </a:extLst>
          </p:cNvPr>
          <p:cNvSpPr>
            <a:spLocks xmlns:a="http://schemas.openxmlformats.org/drawingml/2006/main" noGrp="1"/>
          </p:cNvSpPr>
          <p:nvPr/>
        </p:nvSpPr>
        <p:spPr>
          <a:xfrm xmlns:a="http://schemas.openxmlformats.org/drawingml/2006/main">
            <a:off x="7400925" y="6238875"/>
            <a:ext cx="304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Trusted admission</a:t>
            </a:r>
          </a:p>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integration pending</a:t>
            </a:r>
          </a:p>
        </p:txBody>
      </p:sp>
      <p:sp>
        <p:nvSpPr>
          <p:cNvPr id="31" name="text-99">
            <a:extLst xmlns:a="http://schemas.openxmlformats.org/drawingml/2006/main">
              <a:ext uri="{FF2B5EF4-FFF2-40B4-BE49-F238E27FC236}">
                <a16:creationId xmlns:a16="http://schemas.microsoft.com/office/drawing/2014/main" id="{5E897F6B-4556-4565-AD9C-6795FFD5AD46}"/>
              </a:ext>
            </a:extLst>
          </p:cNvPr>
          <p:cNvSpPr>
            <a:spLocks xmlns:a="http://schemas.openxmlformats.org/drawingml/2006/main" noGrp="1"/>
          </p:cNvSpPr>
          <p:nvPr/>
        </p:nvSpPr>
        <p:spPr>
          <a:xfrm xmlns:a="http://schemas.openxmlformats.org/drawingml/2006/main">
            <a:off x="10915650" y="3314700"/>
            <a:ext cx="3714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Website integration pending</a:t>
            </a:r>
          </a:p>
        </p:txBody>
      </p:sp>
      <p:sp>
        <p:nvSpPr>
          <p:cNvPr id="32" name="text-100">
            <a:extLst xmlns:a="http://schemas.openxmlformats.org/drawingml/2006/main">
              <a:ext uri="{FF2B5EF4-FFF2-40B4-BE49-F238E27FC236}">
                <a16:creationId xmlns:a16="http://schemas.microsoft.com/office/drawing/2014/main" id="{1E7F887D-5A28-464A-BE1E-D2CA24D6C050}"/>
              </a:ext>
            </a:extLst>
          </p:cNvPr>
          <p:cNvSpPr>
            <a:spLocks xmlns:a="http://schemas.openxmlformats.org/drawingml/2006/main" noGrp="1"/>
          </p:cNvSpPr>
          <p:nvPr/>
        </p:nvSpPr>
        <p:spPr>
          <a:xfrm xmlns:a="http://schemas.openxmlformats.org/drawingml/2006/main">
            <a:off x="609600" y="6191250"/>
            <a:ext cx="5143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57D80"/>
                </a:solidFill>
                <a:latin typeface="Aptos"/>
                <a:ea typeface="Aptos"/>
                <a:cs typeface="Aptos"/>
              </a:defRPr>
            </a:defPPr>
          </a:lstStyle>
          <a:p xmlns:a="http://schemas.openxmlformats.org/drawingml/2006/main">
            <a:pPr algn="l">
              <a:buNone/>
              <a:defRPr sz="2025" b="1">
                <a:solidFill>
                  <a:srgbClr val="157D80"/>
                </a:solidFill>
                <a:latin typeface="Aptos"/>
                <a:ea typeface="Aptos"/>
                <a:cs typeface="Aptos"/>
              </a:defRPr>
            </a:pPr>
            <a:r>
              <a:rPr sz="2025" b="1">
                <a:solidFill>
                  <a:srgbClr val="157D80"/>
                </a:solidFill>
                <a:latin typeface="Aptos"/>
                <a:ea typeface="Aptos"/>
                <a:cs typeface="Aptos"/>
              </a:rPr>
              <a:t>Source and native follow-up merged</a:t>
            </a:r>
          </a:p>
        </p:txBody>
      </p:sp>
      <p:sp>
        <p:nvSpPr>
          <p:cNvPr id="33" name="text-101">
            <a:extLst xmlns:a="http://schemas.openxmlformats.org/drawingml/2006/main">
              <a:ext uri="{FF2B5EF4-FFF2-40B4-BE49-F238E27FC236}">
                <a16:creationId xmlns:a16="http://schemas.microsoft.com/office/drawing/2014/main" id="{93FCA38A-0E4C-42C5-97D3-3F720990DDE6}"/>
              </a:ext>
            </a:extLst>
          </p:cNvPr>
          <p:cNvSpPr>
            <a:spLocks xmlns:a="http://schemas.openxmlformats.org/drawingml/2006/main" noGrp="1"/>
          </p:cNvSpPr>
          <p:nvPr/>
        </p:nvSpPr>
        <p:spPr>
          <a:xfrm xmlns:a="http://schemas.openxmlformats.org/drawingml/2006/main">
            <a:off x="609600" y="6734175"/>
            <a:ext cx="51435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Published links return to the</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Paperclip task and Buzz thread</a:t>
            </a:r>
          </a:p>
        </p:txBody>
      </p:sp>
    </p:spTree>
    <p:extLst>
      <p:ext uri="{BB962C8B-B14F-4D97-AF65-F5344CB8AC3E}">
        <p14:creationId xmlns:p14="http://schemas.microsoft.com/office/powerpoint/2010/main" val="1180322789"/>
      </p:ext>
    </p:extLst>
  </p:cSld>
</p:sld>
</file>

<file path=ppt/slides/slide4.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35" name="">
            <a:extLst xmlns:a="http://schemas.openxmlformats.org/drawingml/2006/main">
              <a:ext uri="{FF2B5EF4-FFF2-40B4-BE49-F238E27FC236}">
                <a16:creationId xmlns:a16="http://schemas.microsoft.com/office/drawing/2014/main" id="{4976A6EF-CB1D-4713-AA4C-7A07885C3206}"/>
              </a:ext>
            </a:extLst>
          </p:cNvPr>
          <p:cNvCxnSpPr>
            <a:stCxn xmlns:a="http://schemas.openxmlformats.org/drawingml/2006/main" id="25" idx="1"/>
            <a:endCxn xmlns:a="http://schemas.openxmlformats.org/drawingml/2006/main" id="28" idx="3"/>
          </p:cNvCxnSpPr>
          <p:nvPr/>
        </p:nvCxnSpPr>
        <p:spPr>
          <a:xfrm xmlns:a="http://schemas.openxmlformats.org/drawingml/2006/main" flipH="1">
            <a:off x="3181350" y="6429375"/>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34" name="">
            <a:extLst xmlns:a="http://schemas.openxmlformats.org/drawingml/2006/main">
              <a:ext uri="{FF2B5EF4-FFF2-40B4-BE49-F238E27FC236}">
                <a16:creationId xmlns:a16="http://schemas.microsoft.com/office/drawing/2014/main" id="{6B19A4DE-2240-4C60-8ED2-C92C52FC628F}"/>
              </a:ext>
            </a:extLst>
          </p:cNvPr>
          <p:cNvCxnSpPr>
            <a:stCxn xmlns:a="http://schemas.openxmlformats.org/drawingml/2006/main" id="22" idx="1"/>
            <a:endCxn xmlns:a="http://schemas.openxmlformats.org/drawingml/2006/main" id="25" idx="3"/>
          </p:cNvCxnSpPr>
          <p:nvPr/>
        </p:nvCxnSpPr>
        <p:spPr>
          <a:xfrm xmlns:a="http://schemas.openxmlformats.org/drawingml/2006/main" flipH="1">
            <a:off x="6381750" y="6429375"/>
            <a:ext cx="9525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33" name="">
            <a:extLst xmlns:a="http://schemas.openxmlformats.org/drawingml/2006/main">
              <a:ext uri="{FF2B5EF4-FFF2-40B4-BE49-F238E27FC236}">
                <a16:creationId xmlns:a16="http://schemas.microsoft.com/office/drawing/2014/main" id="{1E391E25-C876-4B35-96F8-59EB7204988A}"/>
              </a:ext>
            </a:extLst>
          </p:cNvPr>
          <p:cNvCxnSpPr>
            <a:stCxn xmlns:a="http://schemas.openxmlformats.org/drawingml/2006/main" id="19" idx="1"/>
            <a:endCxn xmlns:a="http://schemas.openxmlformats.org/drawingml/2006/main" id="22" idx="3"/>
          </p:cNvCxnSpPr>
          <p:nvPr/>
        </p:nvCxnSpPr>
        <p:spPr>
          <a:xfrm xmlns:a="http://schemas.openxmlformats.org/drawingml/2006/main" flipH="1">
            <a:off x="10153650" y="6429375"/>
            <a:ext cx="9906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3" name="">
            <a:extLst xmlns:a="http://schemas.openxmlformats.org/drawingml/2006/main">
              <a:ext uri="{FF2B5EF4-FFF2-40B4-BE49-F238E27FC236}">
                <a16:creationId xmlns:a16="http://schemas.microsoft.com/office/drawing/2014/main" id="{19130EEE-A3E3-49C6-B192-A2BAADA80B64}"/>
              </a:ext>
            </a:extLst>
          </p:cNvPr>
          <p:cNvCxnSpPr>
            <a:stCxn xmlns:a="http://schemas.openxmlformats.org/drawingml/2006/main" id="6" idx="3"/>
            <a:endCxn xmlns:a="http://schemas.openxmlformats.org/drawingml/2006/main" id="9" idx="1"/>
          </p:cNvCxnSpPr>
          <p:nvPr/>
        </p:nvCxnSpPr>
        <p:spPr>
          <a:xfrm xmlns:a="http://schemas.openxmlformats.org/drawingml/2006/main">
            <a:off x="8896350" y="2952750"/>
            <a:ext cx="13906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2" name="">
            <a:extLst xmlns:a="http://schemas.openxmlformats.org/drawingml/2006/main">
              <a:ext uri="{FF2B5EF4-FFF2-40B4-BE49-F238E27FC236}">
                <a16:creationId xmlns:a16="http://schemas.microsoft.com/office/drawing/2014/main" id="{CC00D0D6-B04E-404B-A8D7-578C96BD7DE9}"/>
              </a:ext>
            </a:extLst>
          </p:cNvPr>
          <p:cNvCxnSpPr>
            <a:stCxn xmlns:a="http://schemas.openxmlformats.org/drawingml/2006/main" id="3" idx="3"/>
            <a:endCxn xmlns:a="http://schemas.openxmlformats.org/drawingml/2006/main" id="6" idx="1"/>
          </p:cNvCxnSpPr>
          <p:nvPr/>
        </p:nvCxnSpPr>
        <p:spPr>
          <a:xfrm xmlns:a="http://schemas.openxmlformats.org/drawingml/2006/main">
            <a:off x="3676650" y="2952750"/>
            <a:ext cx="11811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42" name="text-102">
            <a:extLst xmlns:a="http://schemas.openxmlformats.org/drawingml/2006/main">
              <a:ext uri="{FF2B5EF4-FFF2-40B4-BE49-F238E27FC236}">
                <a16:creationId xmlns:a16="http://schemas.microsoft.com/office/drawing/2014/main" id="{0CFDCA0A-F589-4598-B2CE-CAEC54FF1065}"/>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Grant preparation and submission</a:t>
            </a:r>
          </a:p>
        </p:txBody>
      </p:sp>
      <p:sp>
        <p:nvSpPr>
          <p:cNvPr id="2" name="text-103">
            <a:extLst xmlns:a="http://schemas.openxmlformats.org/drawingml/2006/main">
              <a:ext uri="{FF2B5EF4-FFF2-40B4-BE49-F238E27FC236}">
                <a16:creationId xmlns:a16="http://schemas.microsoft.com/office/drawing/2014/main" id="{C5CCC50F-80C0-4663-B0D7-176E5D9DE13A}"/>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4</a:t>
            </a:r>
          </a:p>
        </p:txBody>
      </p:sp>
      <p:sp>
        <p:nvSpPr>
          <p:cNvPr id="3" name="node-104">
            <a:extLst xmlns:a="http://schemas.openxmlformats.org/drawingml/2006/main">
              <a:ext uri="{FF2B5EF4-FFF2-40B4-BE49-F238E27FC236}">
                <a16:creationId xmlns:a16="http://schemas.microsoft.com/office/drawing/2014/main" id="{243EBB9E-910A-4AB8-B55E-F99A9D67977E}"/>
              </a:ext>
            </a:extLst>
          </p:cNvPr>
          <p:cNvSpPr>
            <a:spLocks xmlns:a="http://schemas.openxmlformats.org/drawingml/2006/main" noGrp="1"/>
          </p:cNvSpPr>
          <p:nvPr/>
        </p:nvSpPr>
        <p:spPr>
          <a:xfrm xmlns:a="http://schemas.openxmlformats.org/drawingml/2006/main">
            <a:off x="609600" y="2095500"/>
            <a:ext cx="306705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4" name="text-105">
            <a:extLst xmlns:a="http://schemas.openxmlformats.org/drawingml/2006/main">
              <a:ext uri="{FF2B5EF4-FFF2-40B4-BE49-F238E27FC236}">
                <a16:creationId xmlns:a16="http://schemas.microsoft.com/office/drawing/2014/main" id="{ED34AFFB-7132-46CB-9D41-9BF924792E66}"/>
              </a:ext>
            </a:extLst>
          </p:cNvPr>
          <p:cNvSpPr>
            <a:spLocks xmlns:a="http://schemas.openxmlformats.org/drawingml/2006/main" noGrp="1"/>
          </p:cNvSpPr>
          <p:nvPr/>
        </p:nvSpPr>
        <p:spPr>
          <a:xfrm xmlns:a="http://schemas.openxmlformats.org/drawingml/2006/main">
            <a:off x="800100" y="2257425"/>
            <a:ext cx="268605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Grant inputs</a:t>
            </a:r>
          </a:p>
        </p:txBody>
      </p:sp>
      <p:sp>
        <p:nvSpPr>
          <p:cNvPr id="5" name="text-106">
            <a:extLst xmlns:a="http://schemas.openxmlformats.org/drawingml/2006/main">
              <a:ext uri="{FF2B5EF4-FFF2-40B4-BE49-F238E27FC236}">
                <a16:creationId xmlns:a16="http://schemas.microsoft.com/office/drawing/2014/main" id="{A056FFDC-33BE-4CD8-A9BF-11B1C291CF74}"/>
              </a:ext>
            </a:extLst>
          </p:cNvPr>
          <p:cNvSpPr>
            <a:spLocks xmlns:a="http://schemas.openxmlformats.org/drawingml/2006/main" noGrp="1"/>
          </p:cNvSpPr>
          <p:nvPr/>
        </p:nvSpPr>
        <p:spPr>
          <a:xfrm xmlns:a="http://schemas.openxmlformats.org/drawingml/2006/main">
            <a:off x="800100" y="2642045"/>
            <a:ext cx="2686050" cy="94449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Public grant sources</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DAO projects and</a:t>
            </a:r>
          </a:p>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finances</a:t>
            </a:r>
          </a:p>
        </p:txBody>
      </p:sp>
      <p:sp>
        <p:nvSpPr>
          <p:cNvPr id="6" name="node-107">
            <a:extLst xmlns:a="http://schemas.openxmlformats.org/drawingml/2006/main">
              <a:ext uri="{FF2B5EF4-FFF2-40B4-BE49-F238E27FC236}">
                <a16:creationId xmlns:a16="http://schemas.microsoft.com/office/drawing/2014/main" id="{B8893988-81E1-4360-8A1A-45D5EF38DD33}"/>
              </a:ext>
            </a:extLst>
          </p:cNvPr>
          <p:cNvSpPr>
            <a:spLocks xmlns:a="http://schemas.openxmlformats.org/drawingml/2006/main" noGrp="1"/>
          </p:cNvSpPr>
          <p:nvPr/>
        </p:nvSpPr>
        <p:spPr>
          <a:xfrm xmlns:a="http://schemas.openxmlformats.org/drawingml/2006/main">
            <a:off x="4857750" y="2095500"/>
            <a:ext cx="403860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108">
            <a:extLst xmlns:a="http://schemas.openxmlformats.org/drawingml/2006/main">
              <a:ext uri="{FF2B5EF4-FFF2-40B4-BE49-F238E27FC236}">
                <a16:creationId xmlns:a16="http://schemas.microsoft.com/office/drawing/2014/main" id="{5DB87517-8795-4E0D-ABEA-DD1739E98B76}"/>
              </a:ext>
            </a:extLst>
          </p:cNvPr>
          <p:cNvSpPr>
            <a:spLocks xmlns:a="http://schemas.openxmlformats.org/drawingml/2006/main" noGrp="1"/>
          </p:cNvSpPr>
          <p:nvPr/>
        </p:nvSpPr>
        <p:spPr>
          <a:xfrm xmlns:a="http://schemas.openxmlformats.org/drawingml/2006/main">
            <a:off x="5048250" y="2257425"/>
            <a:ext cx="365760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Research and draft</a:t>
            </a:r>
          </a:p>
        </p:txBody>
      </p:sp>
      <p:sp>
        <p:nvSpPr>
          <p:cNvPr id="8" name="text-109">
            <a:extLst xmlns:a="http://schemas.openxmlformats.org/drawingml/2006/main">
              <a:ext uri="{FF2B5EF4-FFF2-40B4-BE49-F238E27FC236}">
                <a16:creationId xmlns:a16="http://schemas.microsoft.com/office/drawing/2014/main" id="{479E62EC-C2D9-4823-A667-D6071BDDDA1B}"/>
              </a:ext>
            </a:extLst>
          </p:cNvPr>
          <p:cNvSpPr>
            <a:spLocks xmlns:a="http://schemas.openxmlformats.org/drawingml/2006/main" noGrp="1"/>
          </p:cNvSpPr>
          <p:nvPr/>
        </p:nvSpPr>
        <p:spPr>
          <a:xfrm xmlns:a="http://schemas.openxmlformats.org/drawingml/2006/main">
            <a:off x="5048250" y="2665286"/>
            <a:ext cx="3657600" cy="90963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Query saved partners first</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Research gaps and save useful</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findings for later work</a:t>
            </a:r>
          </a:p>
        </p:txBody>
      </p:sp>
      <p:sp>
        <p:nvSpPr>
          <p:cNvPr id="9" name="node-110">
            <a:extLst xmlns:a="http://schemas.openxmlformats.org/drawingml/2006/main">
              <a:ext uri="{FF2B5EF4-FFF2-40B4-BE49-F238E27FC236}">
                <a16:creationId xmlns:a16="http://schemas.microsoft.com/office/drawing/2014/main" id="{1E646A86-DDF0-4B46-8696-399E3D821A93}"/>
              </a:ext>
            </a:extLst>
          </p:cNvPr>
          <p:cNvSpPr>
            <a:spLocks xmlns:a="http://schemas.openxmlformats.org/drawingml/2006/main" noGrp="1"/>
          </p:cNvSpPr>
          <p:nvPr/>
        </p:nvSpPr>
        <p:spPr>
          <a:xfrm xmlns:a="http://schemas.openxmlformats.org/drawingml/2006/main">
            <a:off x="10287000" y="2095500"/>
            <a:ext cx="4343400" cy="1714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111">
            <a:extLst xmlns:a="http://schemas.openxmlformats.org/drawingml/2006/main">
              <a:ext uri="{FF2B5EF4-FFF2-40B4-BE49-F238E27FC236}">
                <a16:creationId xmlns:a16="http://schemas.microsoft.com/office/drawing/2014/main" id="{61AB3BE5-BE9F-4E89-B3A1-7AFF2C4FA2B4}"/>
              </a:ext>
            </a:extLst>
          </p:cNvPr>
          <p:cNvSpPr>
            <a:spLocks xmlns:a="http://schemas.openxmlformats.org/drawingml/2006/main" noGrp="1"/>
          </p:cNvSpPr>
          <p:nvPr/>
        </p:nvSpPr>
        <p:spPr>
          <a:xfrm xmlns:a="http://schemas.openxmlformats.org/drawingml/2006/main">
            <a:off x="10477500" y="2257425"/>
            <a:ext cx="39624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Independent agent review</a:t>
            </a:r>
          </a:p>
        </p:txBody>
      </p:sp>
      <p:sp>
        <p:nvSpPr>
          <p:cNvPr id="11" name="text-112">
            <a:extLst xmlns:a="http://schemas.openxmlformats.org/drawingml/2006/main">
              <a:ext uri="{FF2B5EF4-FFF2-40B4-BE49-F238E27FC236}">
                <a16:creationId xmlns:a16="http://schemas.microsoft.com/office/drawing/2014/main" id="{1B9100BC-6361-4C72-A713-B01F7E7C2065}"/>
              </a:ext>
            </a:extLst>
          </p:cNvPr>
          <p:cNvSpPr>
            <a:spLocks xmlns:a="http://schemas.openxmlformats.org/drawingml/2006/main" noGrp="1"/>
          </p:cNvSpPr>
          <p:nvPr/>
        </p:nvSpPr>
        <p:spPr>
          <a:xfrm xmlns:a="http://schemas.openxmlformats.org/drawingml/2006/main">
            <a:off x="10477500" y="2642045"/>
            <a:ext cx="396240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Claims, route and remaining gaps</a:t>
            </a:r>
          </a:p>
        </p:txBody>
      </p:sp>
      <p:cxnSp>
        <p:nvCxnSpPr>
          <p:cNvPr id="14" name="flow-113">
            <a:extLst xmlns:a="http://schemas.openxmlformats.org/drawingml/2006/main">
              <a:ext uri="{FF2B5EF4-FFF2-40B4-BE49-F238E27FC236}">
                <a16:creationId xmlns:a16="http://schemas.microsoft.com/office/drawing/2014/main" id="{148BD751-8735-4D9D-9351-7F40335BCF03}"/>
              </a:ext>
            </a:extLst>
          </p:cNvPr>
          <p:cNvCxnSpPr/>
          <p:nvPr/>
        </p:nvCxnSpPr>
        <p:spPr>
          <a:xfrm xmlns:a="http://schemas.openxmlformats.org/drawingml/2006/main" flipH="1" flipV="0">
            <a:off x="9620250" y="3333750"/>
            <a:ext cx="66675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15" name="flow-114">
            <a:extLst xmlns:a="http://schemas.openxmlformats.org/drawingml/2006/main">
              <a:ext uri="{FF2B5EF4-FFF2-40B4-BE49-F238E27FC236}">
                <a16:creationId xmlns:a16="http://schemas.microsoft.com/office/drawing/2014/main" id="{61C4F464-9138-46BA-909E-F8BD8B858762}"/>
              </a:ext>
            </a:extLst>
          </p:cNvPr>
          <p:cNvCxnSpPr/>
          <p:nvPr/>
        </p:nvCxnSpPr>
        <p:spPr>
          <a:xfrm xmlns:a="http://schemas.openxmlformats.org/drawingml/2006/main" flipH="0" flipV="0">
            <a:off x="9620250" y="3333750"/>
            <a:ext cx="0" cy="1104900"/>
          </a:xfrm>
          <a:prstGeom xmlns:a="http://schemas.openxmlformats.org/drawingml/2006/main" prst="straightConnector1">
            <a:avLst/>
          </a:prstGeom>
          <a:ln xmlns:a="http://schemas.openxmlformats.org/drawingml/2006/main" w="23813">
            <a:solidFill>
              <a:srgbClr val="157D80"/>
            </a:solidFill>
            <a:prstDash val="solid"/>
          </a:ln>
        </p:spPr>
      </p:cxnSp>
      <p:cxnSp>
        <p:nvCxnSpPr>
          <p:cNvPr id="16" name="flow-115">
            <a:extLst xmlns:a="http://schemas.openxmlformats.org/drawingml/2006/main">
              <a:ext uri="{FF2B5EF4-FFF2-40B4-BE49-F238E27FC236}">
                <a16:creationId xmlns:a16="http://schemas.microsoft.com/office/drawing/2014/main" id="{71E53580-7331-4B8D-9B55-A66F1AE093A2}"/>
              </a:ext>
            </a:extLst>
          </p:cNvPr>
          <p:cNvCxnSpPr/>
          <p:nvPr/>
        </p:nvCxnSpPr>
        <p:spPr>
          <a:xfrm xmlns:a="http://schemas.openxmlformats.org/drawingml/2006/main" flipH="1" flipV="0">
            <a:off x="6877050" y="4438650"/>
            <a:ext cx="27432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17" name="flow-116">
            <a:extLst xmlns:a="http://schemas.openxmlformats.org/drawingml/2006/main">
              <a:ext uri="{FF2B5EF4-FFF2-40B4-BE49-F238E27FC236}">
                <a16:creationId xmlns:a16="http://schemas.microsoft.com/office/drawing/2014/main" id="{7DDD52AF-6783-4F79-9DC1-999B31A3B1B5}"/>
              </a:ext>
            </a:extLst>
          </p:cNvPr>
          <p:cNvCxnSpPr/>
          <p:nvPr/>
        </p:nvCxnSpPr>
        <p:spPr>
          <a:xfrm xmlns:a="http://schemas.openxmlformats.org/drawingml/2006/main" flipH="0" flipV="1">
            <a:off x="6877050" y="3810000"/>
            <a:ext cx="0" cy="6286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18" name="text-117">
            <a:extLst xmlns:a="http://schemas.openxmlformats.org/drawingml/2006/main">
              <a:ext uri="{FF2B5EF4-FFF2-40B4-BE49-F238E27FC236}">
                <a16:creationId xmlns:a16="http://schemas.microsoft.com/office/drawing/2014/main" id="{EFEB626B-0F9E-43CE-88A2-7BA0DDD522EB}"/>
              </a:ext>
            </a:extLst>
          </p:cNvPr>
          <p:cNvSpPr>
            <a:spLocks xmlns:a="http://schemas.openxmlformats.org/drawingml/2006/main" noGrp="1"/>
          </p:cNvSpPr>
          <p:nvPr/>
        </p:nvSpPr>
        <p:spPr>
          <a:xfrm xmlns:a="http://schemas.openxmlformats.org/drawingml/2006/main">
            <a:off x="7477125" y="4543425"/>
            <a:ext cx="2286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More agent work</a:t>
            </a:r>
          </a:p>
        </p:txBody>
      </p:sp>
      <p:sp>
        <p:nvSpPr>
          <p:cNvPr id="19" name="node-118">
            <a:extLst xmlns:a="http://schemas.openxmlformats.org/drawingml/2006/main">
              <a:ext uri="{FF2B5EF4-FFF2-40B4-BE49-F238E27FC236}">
                <a16:creationId xmlns:a16="http://schemas.microsoft.com/office/drawing/2014/main" id="{9F842685-5DAC-4B02-8E7E-5BDF3E780EAC}"/>
              </a:ext>
            </a:extLst>
          </p:cNvPr>
          <p:cNvSpPr>
            <a:spLocks xmlns:a="http://schemas.openxmlformats.org/drawingml/2006/main" noGrp="1"/>
          </p:cNvSpPr>
          <p:nvPr/>
        </p:nvSpPr>
        <p:spPr>
          <a:xfrm xmlns:a="http://schemas.openxmlformats.org/drawingml/2006/main">
            <a:off x="11144250" y="5715000"/>
            <a:ext cx="34861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0" name="text-119">
            <a:extLst xmlns:a="http://schemas.openxmlformats.org/drawingml/2006/main">
              <a:ext uri="{FF2B5EF4-FFF2-40B4-BE49-F238E27FC236}">
                <a16:creationId xmlns:a16="http://schemas.microsoft.com/office/drawing/2014/main" id="{4BC2D4D1-08FF-4F46-8DCF-C352B32855CF}"/>
              </a:ext>
            </a:extLst>
          </p:cNvPr>
          <p:cNvSpPr>
            <a:spLocks xmlns:a="http://schemas.openxmlformats.org/drawingml/2006/main" noGrp="1"/>
          </p:cNvSpPr>
          <p:nvPr/>
        </p:nvSpPr>
        <p:spPr>
          <a:xfrm xmlns:a="http://schemas.openxmlformats.org/drawingml/2006/main">
            <a:off x="11334750" y="5876925"/>
            <a:ext cx="310515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32E38"/>
                </a:solidFill>
                <a:latin typeface="Aptos"/>
                <a:ea typeface="Aptos"/>
                <a:cs typeface="Aptos"/>
              </a:defRPr>
            </a:defPPr>
          </a:lstStyle>
          <a:p xmlns:a="http://schemas.openxmlformats.org/drawingml/2006/main">
            <a:pPr algn="l">
              <a:buNone/>
              <a:defRPr sz="2175" b="1">
                <a:solidFill>
                  <a:srgbClr val="132E38"/>
                </a:solidFill>
                <a:latin typeface="Aptos"/>
                <a:ea typeface="Aptos"/>
                <a:cs typeface="Aptos"/>
              </a:defRPr>
            </a:pPr>
            <a:r>
              <a:rPr sz="2175" b="1">
                <a:solidFill>
                  <a:srgbClr val="132E38"/>
                </a:solidFill>
                <a:latin typeface="Aptos"/>
                <a:ea typeface="Aptos"/>
                <a:cs typeface="Aptos"/>
              </a:rPr>
              <a:t>DAO meeting</a:t>
            </a:r>
          </a:p>
        </p:txBody>
      </p:sp>
      <p:sp>
        <p:nvSpPr>
          <p:cNvPr id="21" name="text-120">
            <a:extLst xmlns:a="http://schemas.openxmlformats.org/drawingml/2006/main">
              <a:ext uri="{FF2B5EF4-FFF2-40B4-BE49-F238E27FC236}">
                <a16:creationId xmlns:a16="http://schemas.microsoft.com/office/drawing/2014/main" id="{A6D4E028-A7D5-454D-96E6-E4C4B75F12B8}"/>
              </a:ext>
            </a:extLst>
          </p:cNvPr>
          <p:cNvSpPr>
            <a:spLocks xmlns:a="http://schemas.openxmlformats.org/drawingml/2006/main" noGrp="1"/>
          </p:cNvSpPr>
          <p:nvPr/>
        </p:nvSpPr>
        <p:spPr>
          <a:xfrm xmlns:a="http://schemas.openxmlformats.org/drawingml/2006/main">
            <a:off x="11334750" y="6261545"/>
            <a:ext cx="31051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Prepared brief</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Project and next steps</a:t>
            </a:r>
          </a:p>
        </p:txBody>
      </p:sp>
      <p:sp>
        <p:nvSpPr>
          <p:cNvPr id="22" name="node-121">
            <a:extLst xmlns:a="http://schemas.openxmlformats.org/drawingml/2006/main">
              <a:ext uri="{FF2B5EF4-FFF2-40B4-BE49-F238E27FC236}">
                <a16:creationId xmlns:a16="http://schemas.microsoft.com/office/drawing/2014/main" id="{FA8AC29E-61EB-45EB-B6C8-2BCE32663803}"/>
              </a:ext>
            </a:extLst>
          </p:cNvPr>
          <p:cNvSpPr>
            <a:spLocks xmlns:a="http://schemas.openxmlformats.org/drawingml/2006/main" noGrp="1"/>
          </p:cNvSpPr>
          <p:nvPr/>
        </p:nvSpPr>
        <p:spPr>
          <a:xfrm xmlns:a="http://schemas.openxmlformats.org/drawingml/2006/main">
            <a:off x="7334250" y="5715000"/>
            <a:ext cx="28194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3" name="text-122">
            <a:extLst xmlns:a="http://schemas.openxmlformats.org/drawingml/2006/main">
              <a:ext uri="{FF2B5EF4-FFF2-40B4-BE49-F238E27FC236}">
                <a16:creationId xmlns:a16="http://schemas.microsoft.com/office/drawing/2014/main" id="{7AC51754-927D-46DA-A8E9-6125F29BA8DD}"/>
              </a:ext>
            </a:extLst>
          </p:cNvPr>
          <p:cNvSpPr>
            <a:spLocks xmlns:a="http://schemas.openxmlformats.org/drawingml/2006/main" noGrp="1"/>
          </p:cNvSpPr>
          <p:nvPr/>
        </p:nvSpPr>
        <p:spPr>
          <a:xfrm xmlns:a="http://schemas.openxmlformats.org/drawingml/2006/main">
            <a:off x="7524750" y="5876925"/>
            <a:ext cx="24384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Frozen packet</a:t>
            </a:r>
          </a:p>
        </p:txBody>
      </p:sp>
      <p:sp>
        <p:nvSpPr>
          <p:cNvPr id="24" name="text-123">
            <a:extLst xmlns:a="http://schemas.openxmlformats.org/drawingml/2006/main">
              <a:ext uri="{FF2B5EF4-FFF2-40B4-BE49-F238E27FC236}">
                <a16:creationId xmlns:a16="http://schemas.microsoft.com/office/drawing/2014/main" id="{CB5DED80-66DE-4716-A0AE-A722CC3AA67B}"/>
              </a:ext>
            </a:extLst>
          </p:cNvPr>
          <p:cNvSpPr>
            <a:spLocks xmlns:a="http://schemas.openxmlformats.org/drawingml/2006/main" noGrp="1"/>
          </p:cNvSpPr>
          <p:nvPr/>
        </p:nvSpPr>
        <p:spPr>
          <a:xfrm xmlns:a="http://schemas.openxmlformats.org/drawingml/2006/main">
            <a:off x="7524750" y="6273165"/>
            <a:ext cx="24384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Human signoff</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Exact final version</a:t>
            </a:r>
          </a:p>
        </p:txBody>
      </p:sp>
      <p:sp>
        <p:nvSpPr>
          <p:cNvPr id="25" name="node-124">
            <a:extLst xmlns:a="http://schemas.openxmlformats.org/drawingml/2006/main">
              <a:ext uri="{FF2B5EF4-FFF2-40B4-BE49-F238E27FC236}">
                <a16:creationId xmlns:a16="http://schemas.microsoft.com/office/drawing/2014/main" id="{4C51BAE0-587F-4C3C-ACD9-4E1BED203F43}"/>
              </a:ext>
            </a:extLst>
          </p:cNvPr>
          <p:cNvSpPr>
            <a:spLocks xmlns:a="http://schemas.openxmlformats.org/drawingml/2006/main" noGrp="1"/>
          </p:cNvSpPr>
          <p:nvPr/>
        </p:nvSpPr>
        <p:spPr>
          <a:xfrm xmlns:a="http://schemas.openxmlformats.org/drawingml/2006/main">
            <a:off x="4133850" y="5715000"/>
            <a:ext cx="2247900" cy="1428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26" name="text-125">
            <a:extLst xmlns:a="http://schemas.openxmlformats.org/drawingml/2006/main">
              <a:ext uri="{FF2B5EF4-FFF2-40B4-BE49-F238E27FC236}">
                <a16:creationId xmlns:a16="http://schemas.microsoft.com/office/drawing/2014/main" id="{384D3A4B-A8AB-47DD-9D77-AE738CD4E22F}"/>
              </a:ext>
            </a:extLst>
          </p:cNvPr>
          <p:cNvSpPr>
            <a:spLocks xmlns:a="http://schemas.openxmlformats.org/drawingml/2006/main" noGrp="1"/>
          </p:cNvSpPr>
          <p:nvPr/>
        </p:nvSpPr>
        <p:spPr>
          <a:xfrm xmlns:a="http://schemas.openxmlformats.org/drawingml/2006/main">
            <a:off x="4324350" y="5876925"/>
            <a:ext cx="1866900" cy="37509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Vocdoni vote</a:t>
            </a:r>
          </a:p>
        </p:txBody>
      </p:sp>
      <p:sp>
        <p:nvSpPr>
          <p:cNvPr id="27" name="text-126">
            <a:extLst xmlns:a="http://schemas.openxmlformats.org/drawingml/2006/main">
              <a:ext uri="{FF2B5EF4-FFF2-40B4-BE49-F238E27FC236}">
                <a16:creationId xmlns:a16="http://schemas.microsoft.com/office/drawing/2014/main" id="{107675A0-919F-41DE-AAEF-D4DFB13DCF15}"/>
              </a:ext>
            </a:extLst>
          </p:cNvPr>
          <p:cNvSpPr>
            <a:spLocks xmlns:a="http://schemas.openxmlformats.org/drawingml/2006/main" noGrp="1"/>
          </p:cNvSpPr>
          <p:nvPr/>
        </p:nvSpPr>
        <p:spPr>
          <a:xfrm xmlns:a="http://schemas.openxmlformats.org/drawingml/2006/main">
            <a:off x="4324350" y="6261545"/>
            <a:ext cx="18669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Exact final</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packet</a:t>
            </a:r>
          </a:p>
        </p:txBody>
      </p:sp>
      <p:sp>
        <p:nvSpPr>
          <p:cNvPr id="28" name="node-127">
            <a:extLst xmlns:a="http://schemas.openxmlformats.org/drawingml/2006/main">
              <a:ext uri="{FF2B5EF4-FFF2-40B4-BE49-F238E27FC236}">
                <a16:creationId xmlns:a16="http://schemas.microsoft.com/office/drawing/2014/main" id="{E16D1775-C9F2-42FA-AB98-1540EE9065AD}"/>
              </a:ext>
            </a:extLst>
          </p:cNvPr>
          <p:cNvSpPr>
            <a:spLocks xmlns:a="http://schemas.openxmlformats.org/drawingml/2006/main" noGrp="1"/>
          </p:cNvSpPr>
          <p:nvPr/>
        </p:nvSpPr>
        <p:spPr>
          <a:xfrm xmlns:a="http://schemas.openxmlformats.org/drawingml/2006/main">
            <a:off x="609600" y="5715000"/>
            <a:ext cx="2571750" cy="1428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9" name="text-128">
            <a:extLst xmlns:a="http://schemas.openxmlformats.org/drawingml/2006/main">
              <a:ext uri="{FF2B5EF4-FFF2-40B4-BE49-F238E27FC236}">
                <a16:creationId xmlns:a16="http://schemas.microsoft.com/office/drawing/2014/main" id="{7E52FC67-E43F-4C35-B7BA-24C19BDB32B0}"/>
              </a:ext>
            </a:extLst>
          </p:cNvPr>
          <p:cNvSpPr>
            <a:spLocks xmlns:a="http://schemas.openxmlformats.org/drawingml/2006/main" noGrp="1"/>
          </p:cNvSpPr>
          <p:nvPr/>
        </p:nvSpPr>
        <p:spPr>
          <a:xfrm xmlns:a="http://schemas.openxmlformats.org/drawingml/2006/main">
            <a:off x="800100" y="5876925"/>
            <a:ext cx="219075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Submit manually</a:t>
            </a:r>
          </a:p>
        </p:txBody>
      </p:sp>
      <p:sp>
        <p:nvSpPr>
          <p:cNvPr id="30" name="text-129">
            <a:extLst xmlns:a="http://schemas.openxmlformats.org/drawingml/2006/main">
              <a:ext uri="{FF2B5EF4-FFF2-40B4-BE49-F238E27FC236}">
                <a16:creationId xmlns:a16="http://schemas.microsoft.com/office/drawing/2014/main" id="{AE079C70-A68D-40A3-A610-4CC77754893B}"/>
              </a:ext>
            </a:extLst>
          </p:cNvPr>
          <p:cNvSpPr>
            <a:spLocks xmlns:a="http://schemas.openxmlformats.org/drawingml/2006/main" noGrp="1"/>
          </p:cNvSpPr>
          <p:nvPr/>
        </p:nvSpPr>
        <p:spPr>
          <a:xfrm xmlns:a="http://schemas.openxmlformats.org/drawingml/2006/main">
            <a:off x="800100" y="6249924"/>
            <a:ext cx="2190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Authorized</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submitter</a:t>
            </a:r>
          </a:p>
        </p:txBody>
      </p:sp>
      <p:cxnSp>
        <p:nvCxnSpPr>
          <p:cNvPr id="31" name="flow-130">
            <a:extLst xmlns:a="http://schemas.openxmlformats.org/drawingml/2006/main">
              <a:ext uri="{FF2B5EF4-FFF2-40B4-BE49-F238E27FC236}">
                <a16:creationId xmlns:a16="http://schemas.microsoft.com/office/drawing/2014/main" id="{9AE42BFD-C926-4708-99C5-D5BF4F77B9B2}"/>
              </a:ext>
            </a:extLst>
          </p:cNvPr>
          <p:cNvCxnSpPr/>
          <p:nvPr/>
        </p:nvCxnSpPr>
        <p:spPr>
          <a:xfrm xmlns:a="http://schemas.openxmlformats.org/drawingml/2006/main" flipH="0" flipV="0">
            <a:off x="12458700" y="3810000"/>
            <a:ext cx="0" cy="190500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32" name="text-131">
            <a:extLst xmlns:a="http://schemas.openxmlformats.org/drawingml/2006/main">
              <a:ext uri="{FF2B5EF4-FFF2-40B4-BE49-F238E27FC236}">
                <a16:creationId xmlns:a16="http://schemas.microsoft.com/office/drawing/2014/main" id="{407AE19C-2BCD-4565-B970-02C8CD5E1896}"/>
              </a:ext>
            </a:extLst>
          </p:cNvPr>
          <p:cNvSpPr>
            <a:spLocks xmlns:a="http://schemas.openxmlformats.org/drawingml/2006/main" noGrp="1"/>
          </p:cNvSpPr>
          <p:nvPr/>
        </p:nvSpPr>
        <p:spPr>
          <a:xfrm xmlns:a="http://schemas.openxmlformats.org/drawingml/2006/main">
            <a:off x="12620625" y="4476750"/>
            <a:ext cx="17621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Decision ready</a:t>
            </a:r>
          </a:p>
        </p:txBody>
      </p:sp>
      <p:sp>
        <p:nvSpPr>
          <p:cNvPr id="36" name="text-132">
            <a:extLst xmlns:a="http://schemas.openxmlformats.org/drawingml/2006/main">
              <a:ext uri="{FF2B5EF4-FFF2-40B4-BE49-F238E27FC236}">
                <a16:creationId xmlns:a16="http://schemas.microsoft.com/office/drawing/2014/main" id="{9DA9E401-9AD4-49AC-89B2-7A63AD784203}"/>
              </a:ext>
            </a:extLst>
          </p:cNvPr>
          <p:cNvSpPr>
            <a:spLocks xmlns:a="http://schemas.openxmlformats.org/drawingml/2006/main" noGrp="1"/>
          </p:cNvSpPr>
          <p:nvPr/>
        </p:nvSpPr>
        <p:spPr>
          <a:xfrm xmlns:a="http://schemas.openxmlformats.org/drawingml/2006/main">
            <a:off x="10163175" y="5838825"/>
            <a:ext cx="9715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stStyle>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Ready for</a:t>
            </a:r>
          </a:p>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signoff</a:t>
            </a:r>
          </a:p>
        </p:txBody>
      </p:sp>
      <p:sp>
        <p:nvSpPr>
          <p:cNvPr id="37" name="text-133">
            <a:extLst xmlns:a="http://schemas.openxmlformats.org/drawingml/2006/main">
              <a:ext uri="{FF2B5EF4-FFF2-40B4-BE49-F238E27FC236}">
                <a16:creationId xmlns:a16="http://schemas.microsoft.com/office/drawing/2014/main" id="{AB036D78-5FB2-47EB-8303-4CF70A022978}"/>
              </a:ext>
            </a:extLst>
          </p:cNvPr>
          <p:cNvSpPr>
            <a:spLocks xmlns:a="http://schemas.openxmlformats.org/drawingml/2006/main" noGrp="1"/>
          </p:cNvSpPr>
          <p:nvPr/>
        </p:nvSpPr>
        <p:spPr>
          <a:xfrm xmlns:a="http://schemas.openxmlformats.org/drawingml/2006/main">
            <a:off x="3190875" y="5876925"/>
            <a:ext cx="933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stStyle>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Verified</a:t>
            </a:r>
          </a:p>
          <a:p xmlns:a="http://schemas.openxmlformats.org/drawingml/2006/main">
            <a:pPr algn="ctr">
              <a:buNone/>
              <a:defRPr sz="1500" b="0">
                <a:solidFill>
                  <a:srgbClr val="4A6572"/>
                </a:solidFill>
                <a:latin typeface="Aptos"/>
                <a:ea typeface="Aptos"/>
                <a:cs typeface="Aptos"/>
              </a:defRPr>
            </a:pPr>
            <a:r>
              <a:rPr sz="1500" b="0">
                <a:solidFill>
                  <a:srgbClr val="4A6572"/>
                </a:solidFill>
                <a:latin typeface="Aptos"/>
                <a:ea typeface="Aptos"/>
                <a:cs typeface="Aptos"/>
              </a:rPr>
              <a:t>approval</a:t>
            </a:r>
          </a:p>
        </p:txBody>
      </p:sp>
      <p:sp>
        <p:nvSpPr>
          <p:cNvPr id="38" name="text-134">
            <a:extLst xmlns:a="http://schemas.openxmlformats.org/drawingml/2006/main">
              <a:ext uri="{FF2B5EF4-FFF2-40B4-BE49-F238E27FC236}">
                <a16:creationId xmlns:a16="http://schemas.microsoft.com/office/drawing/2014/main" id="{BD177FED-A278-49EE-AB9F-19D73E7498B2}"/>
              </a:ext>
            </a:extLst>
          </p:cNvPr>
          <p:cNvSpPr>
            <a:spLocks xmlns:a="http://schemas.openxmlformats.org/drawingml/2006/main" noGrp="1"/>
          </p:cNvSpPr>
          <p:nvPr/>
        </p:nvSpPr>
        <p:spPr>
          <a:xfrm xmlns:a="http://schemas.openxmlformats.org/drawingml/2006/main">
            <a:off x="9477375" y="1362075"/>
            <a:ext cx="51530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Further preparation: agents research and revise</a:t>
            </a:r>
          </a:p>
        </p:txBody>
      </p:sp>
      <p:sp>
        <p:nvSpPr>
          <p:cNvPr id="39" name="text-135">
            <a:extLst xmlns:a="http://schemas.openxmlformats.org/drawingml/2006/main">
              <a:ext uri="{FF2B5EF4-FFF2-40B4-BE49-F238E27FC236}">
                <a16:creationId xmlns:a16="http://schemas.microsoft.com/office/drawing/2014/main" id="{0C8BBC42-EB9D-4419-9032-DDC4D99C3ECA}"/>
              </a:ext>
            </a:extLst>
          </p:cNvPr>
          <p:cNvSpPr>
            <a:spLocks xmlns:a="http://schemas.openxmlformats.org/drawingml/2006/main" noGrp="1"/>
          </p:cNvSpPr>
          <p:nvPr/>
        </p:nvSpPr>
        <p:spPr>
          <a:xfrm xmlns:a="http://schemas.openxmlformats.org/drawingml/2006/main">
            <a:off x="609600" y="5200650"/>
            <a:ext cx="95440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4A6572"/>
                </a:solidFill>
                <a:latin typeface="Aptos"/>
                <a:ea typeface="Aptos"/>
                <a:cs typeface="Aptos"/>
              </a:defRPr>
            </a:defPPr>
          </a:lstStyle>
          <a:p xmlns:a="http://schemas.openxmlformats.org/drawingml/2006/main">
            <a:pPr algn="l">
              <a:buNone/>
              <a:defRPr sz="1875" b="1">
                <a:solidFill>
                  <a:srgbClr val="4A6572"/>
                </a:solidFill>
                <a:latin typeface="Aptos"/>
                <a:ea typeface="Aptos"/>
                <a:cs typeface="Aptos"/>
              </a:defRPr>
            </a:pPr>
            <a:r>
              <a:rPr sz="1875" b="1">
                <a:solidFill>
                  <a:srgbClr val="4A6572"/>
                </a:solidFill>
                <a:latin typeface="Aptos"/>
                <a:ea typeface="Aptos"/>
                <a:cs typeface="Aptos"/>
              </a:rPr>
              <a:t>Direct-application packet</a:t>
            </a:r>
          </a:p>
        </p:txBody>
      </p:sp>
      <p:sp>
        <p:nvSpPr>
          <p:cNvPr id="40" name="text-136">
            <a:extLst xmlns:a="http://schemas.openxmlformats.org/drawingml/2006/main">
              <a:ext uri="{FF2B5EF4-FFF2-40B4-BE49-F238E27FC236}">
                <a16:creationId xmlns:a16="http://schemas.microsoft.com/office/drawing/2014/main" id="{9925D15F-C41E-4FE0-B915-4A4A89B35D40}"/>
              </a:ext>
            </a:extLst>
          </p:cNvPr>
          <p:cNvSpPr>
            <a:spLocks xmlns:a="http://schemas.openxmlformats.org/drawingml/2006/main" noGrp="1"/>
          </p:cNvSpPr>
          <p:nvPr/>
        </p:nvSpPr>
        <p:spPr>
          <a:xfrm xmlns:a="http://schemas.openxmlformats.org/drawingml/2006/main">
            <a:off x="7334250" y="7334250"/>
            <a:ext cx="28194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4A6572"/>
                </a:solidFill>
                <a:latin typeface="Aptos"/>
                <a:ea typeface="Aptos"/>
                <a:cs typeface="Aptos"/>
              </a:defRPr>
            </a:defPPr>
          </a:lstStyle>
          <a:p xmlns:a="http://schemas.openxmlformats.org/drawingml/2006/main">
            <a:pPr algn="ctr">
              <a:buNone/>
              <a:defRPr sz="1575" b="0">
                <a:solidFill>
                  <a:srgbClr val="4A6572"/>
                </a:solidFill>
                <a:latin typeface="Aptos"/>
                <a:ea typeface="Aptos"/>
                <a:cs typeface="Aptos"/>
              </a:defRPr>
            </a:pPr>
            <a:r>
              <a:rPr sz="1575" b="0">
                <a:solidFill>
                  <a:srgbClr val="4A6572"/>
                </a:solidFill>
                <a:latin typeface="Aptos"/>
                <a:ea typeface="Aptos"/>
                <a:cs typeface="Aptos"/>
              </a:rPr>
              <a:t>Human review adapter disabled</a:t>
            </a:r>
          </a:p>
        </p:txBody>
      </p:sp>
      <p:sp>
        <p:nvSpPr>
          <p:cNvPr id="41" name="text-137">
            <a:extLst xmlns:a="http://schemas.openxmlformats.org/drawingml/2006/main">
              <a:ext uri="{FF2B5EF4-FFF2-40B4-BE49-F238E27FC236}">
                <a16:creationId xmlns:a16="http://schemas.microsoft.com/office/drawing/2014/main" id="{15DFB048-0BD5-4557-A211-977566F775CB}"/>
              </a:ext>
            </a:extLst>
          </p:cNvPr>
          <p:cNvSpPr>
            <a:spLocks xmlns:a="http://schemas.openxmlformats.org/drawingml/2006/main" noGrp="1"/>
          </p:cNvSpPr>
          <p:nvPr/>
        </p:nvSpPr>
        <p:spPr>
          <a:xfrm xmlns:a="http://schemas.openxmlformats.org/drawingml/2006/main">
            <a:off x="3190875" y="6572250"/>
            <a:ext cx="9334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4A6572"/>
                </a:solidFill>
                <a:latin typeface="Aptos"/>
                <a:ea typeface="Aptos"/>
                <a:cs typeface="Aptos"/>
              </a:defRPr>
            </a:defPPr>
          </a:lstStyle>
          <a:p xmlns:a="http://schemas.openxmlformats.org/drawingml/2006/main">
            <a:pPr algn="ctr">
              <a:buNone/>
              <a:defRPr sz="1575" b="0">
                <a:solidFill>
                  <a:srgbClr val="4A6572"/>
                </a:solidFill>
                <a:latin typeface="Aptos"/>
                <a:ea typeface="Aptos"/>
                <a:cs typeface="Aptos"/>
              </a:defRPr>
            </a:pPr>
            <a:r>
              <a:rPr sz="1500" b="0">
                <a:solidFill>
                  <a:srgbClr val="4A6572"/>
                </a:solidFill>
                <a:latin typeface="Aptos"/>
                <a:ea typeface="Aptos"/>
                <a:cs typeface="Aptos"/>
              </a:rPr>
              <a:t>Verifier</a:t>
            </a:r>
          </a:p>
          <a:p xmlns:a="http://schemas.openxmlformats.org/drawingml/2006/main">
            <a:pPr algn="ctr">
              <a:buNone/>
              <a:defRPr sz="1575" b="0">
                <a:solidFill>
                  <a:srgbClr val="4A6572"/>
                </a:solidFill>
                <a:latin typeface="Aptos"/>
                <a:ea typeface="Aptos"/>
                <a:cs typeface="Aptos"/>
              </a:defRPr>
            </a:pPr>
            <a:r>
              <a:rPr sz="1500" b="0">
                <a:solidFill>
                  <a:srgbClr val="4A6572"/>
                </a:solidFill>
                <a:latin typeface="Aptos"/>
                <a:ea typeface="Aptos"/>
                <a:cs typeface="Aptos"/>
              </a:rPr>
              <a:t>pending</a:t>
            </a:r>
          </a:p>
        </p:txBody>
      </p:sp>
      <p:cxnSp>
        <p:nvCxnSpPr>
          <p:cNvPr id="43" name="partner-flow-1">
            <a:extLst xmlns:a="http://schemas.openxmlformats.org/drawingml/2006/main">
              <a:ext uri="{FF2B5EF4-FFF2-40B4-BE49-F238E27FC236}">
                <a16:creationId xmlns:a16="http://schemas.microsoft.com/office/drawing/2014/main" id="{2EE74050-9140-4D98-9195-7222082EF0A5}"/>
              </a:ext>
            </a:extLst>
          </p:cNvPr>
          <p:cNvCxnSpPr/>
          <p:nvPr/>
        </p:nvCxnSpPr>
        <p:spPr>
          <a:xfrm xmlns:a="http://schemas.openxmlformats.org/drawingml/2006/main" flipH="0" flipV="0">
            <a:off x="14630400" y="6553200"/>
            <a:ext cx="2286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44" name="partner-flow-2">
            <a:extLst xmlns:a="http://schemas.openxmlformats.org/drawingml/2006/main">
              <a:ext uri="{FF2B5EF4-FFF2-40B4-BE49-F238E27FC236}">
                <a16:creationId xmlns:a16="http://schemas.microsoft.com/office/drawing/2014/main" id="{739D2C01-9424-44CD-A648-01F678C8463E}"/>
              </a:ext>
            </a:extLst>
          </p:cNvPr>
          <p:cNvCxnSpPr/>
          <p:nvPr/>
        </p:nvCxnSpPr>
        <p:spPr>
          <a:xfrm xmlns:a="http://schemas.openxmlformats.org/drawingml/2006/main" flipH="0" flipV="1">
            <a:off x="14859000" y="1695450"/>
            <a:ext cx="0" cy="4857750"/>
          </a:xfrm>
          <a:prstGeom xmlns:a="http://schemas.openxmlformats.org/drawingml/2006/main" prst="straightConnector1">
            <a:avLst/>
          </a:prstGeom>
          <a:ln xmlns:a="http://schemas.openxmlformats.org/drawingml/2006/main" w="23813">
            <a:solidFill>
              <a:srgbClr val="157D80"/>
            </a:solidFill>
            <a:prstDash val="solid"/>
          </a:ln>
        </p:spPr>
      </p:cxnSp>
      <p:cxnSp>
        <p:nvCxnSpPr>
          <p:cNvPr id="45" name="partner-flow-3">
            <a:extLst xmlns:a="http://schemas.openxmlformats.org/drawingml/2006/main">
              <a:ext uri="{FF2B5EF4-FFF2-40B4-BE49-F238E27FC236}">
                <a16:creationId xmlns:a16="http://schemas.microsoft.com/office/drawing/2014/main" id="{C4BC747C-25CD-4B47-A9CB-A56979A7A092}"/>
              </a:ext>
            </a:extLst>
          </p:cNvPr>
          <p:cNvCxnSpPr/>
          <p:nvPr/>
        </p:nvCxnSpPr>
        <p:spPr>
          <a:xfrm xmlns:a="http://schemas.openxmlformats.org/drawingml/2006/main" flipH="1" flipV="0">
            <a:off x="6877050" y="1695450"/>
            <a:ext cx="798195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46" name="partner-flow-4">
            <a:extLst xmlns:a="http://schemas.openxmlformats.org/drawingml/2006/main">
              <a:ext uri="{FF2B5EF4-FFF2-40B4-BE49-F238E27FC236}">
                <a16:creationId xmlns:a16="http://schemas.microsoft.com/office/drawing/2014/main" id="{4C6DD1CF-E478-447E-99C5-D3FE43C59AD6}"/>
              </a:ext>
            </a:extLst>
          </p:cNvPr>
          <p:cNvCxnSpPr/>
          <p:nvPr/>
        </p:nvCxnSpPr>
        <p:spPr>
          <a:xfrm xmlns:a="http://schemas.openxmlformats.org/drawingml/2006/main" flipH="0" flipV="0">
            <a:off x="6877050" y="1695450"/>
            <a:ext cx="0" cy="4000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Tree>
    <p:extLst>
      <p:ext uri="{BB962C8B-B14F-4D97-AF65-F5344CB8AC3E}">
        <p14:creationId xmlns:p14="http://schemas.microsoft.com/office/powerpoint/2010/main" val="987652033"/>
      </p:ext>
    </p:extLst>
  </p:cSld>
</p:sld>
</file>

<file path=ppt/slides/slide5.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cxnSp>
        <p:nvCxnSpPr>
          <p:cNvPr id="25" name="">
            <a:extLst xmlns:a="http://schemas.openxmlformats.org/drawingml/2006/main">
              <a:ext uri="{FF2B5EF4-FFF2-40B4-BE49-F238E27FC236}">
                <a16:creationId xmlns:a16="http://schemas.microsoft.com/office/drawing/2014/main" id="{86E81405-94C6-423B-B2C0-5BDA496A6AD7}"/>
              </a:ext>
            </a:extLst>
          </p:cNvPr>
          <p:cNvCxnSpPr>
            <a:stCxn xmlns:a="http://schemas.openxmlformats.org/drawingml/2006/main" id="6" idx="2"/>
            <a:endCxn xmlns:a="http://schemas.openxmlformats.org/drawingml/2006/main" id="12" idx="0"/>
          </p:cNvCxnSpPr>
          <p:nvPr/>
        </p:nvCxnSpPr>
        <p:spPr>
          <a:xfrm xmlns:a="http://schemas.openxmlformats.org/drawingml/2006/main">
            <a:off x="3276600" y="3048000"/>
            <a:ext cx="0" cy="95250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45" name="text-138">
            <a:extLst xmlns:a="http://schemas.openxmlformats.org/drawingml/2006/main">
              <a:ext uri="{FF2B5EF4-FFF2-40B4-BE49-F238E27FC236}">
                <a16:creationId xmlns:a16="http://schemas.microsoft.com/office/drawing/2014/main" id="{F29F621C-8FAF-423D-9FC3-16354B35E826}"/>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Member contribution boundary</a:t>
            </a:r>
          </a:p>
        </p:txBody>
      </p:sp>
      <p:sp>
        <p:nvSpPr>
          <p:cNvPr id="2" name="text-139">
            <a:extLst xmlns:a="http://schemas.openxmlformats.org/drawingml/2006/main">
              <a:ext uri="{FF2B5EF4-FFF2-40B4-BE49-F238E27FC236}">
                <a16:creationId xmlns:a16="http://schemas.microsoft.com/office/drawing/2014/main" id="{E747250E-AA79-449D-9677-76DC6CBA6B8E}"/>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5</a:t>
            </a:r>
          </a:p>
        </p:txBody>
      </p:sp>
      <p:sp>
        <p:nvSpPr>
          <p:cNvPr id="3" name="text-140">
            <a:extLst xmlns:a="http://schemas.openxmlformats.org/drawingml/2006/main">
              <a:ext uri="{FF2B5EF4-FFF2-40B4-BE49-F238E27FC236}">
                <a16:creationId xmlns:a16="http://schemas.microsoft.com/office/drawing/2014/main" id="{7A7E4CD1-1F12-49FA-9D87-32E4C440717D}"/>
              </a:ext>
            </a:extLst>
          </p:cNvPr>
          <p:cNvSpPr>
            <a:spLocks xmlns:a="http://schemas.openxmlformats.org/drawingml/2006/main" noGrp="1"/>
          </p:cNvSpPr>
          <p:nvPr/>
        </p:nvSpPr>
        <p:spPr>
          <a:xfrm xmlns:a="http://schemas.openxmlformats.org/drawingml/2006/main">
            <a:off x="609600" y="1524000"/>
            <a:ext cx="5715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Member environment</a:t>
            </a:r>
          </a:p>
        </p:txBody>
      </p:sp>
      <p:sp>
        <p:nvSpPr>
          <p:cNvPr id="4" name="text-141">
            <a:extLst xmlns:a="http://schemas.openxmlformats.org/drawingml/2006/main">
              <a:ext uri="{FF2B5EF4-FFF2-40B4-BE49-F238E27FC236}">
                <a16:creationId xmlns:a16="http://schemas.microsoft.com/office/drawing/2014/main" id="{0A7A6768-D04D-4EB2-B114-8051BB68BCDB}"/>
              </a:ext>
            </a:extLst>
          </p:cNvPr>
          <p:cNvSpPr>
            <a:spLocks xmlns:a="http://schemas.openxmlformats.org/drawingml/2006/main" noGrp="1"/>
          </p:cNvSpPr>
          <p:nvPr/>
        </p:nvSpPr>
        <p:spPr>
          <a:xfrm xmlns:a="http://schemas.openxmlformats.org/drawingml/2006/main">
            <a:off x="8667750" y="1524000"/>
            <a:ext cx="59626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75" b="1">
                <a:solidFill>
                  <a:srgbClr val="157D80"/>
                </a:solidFill>
                <a:latin typeface="Aptos"/>
                <a:ea typeface="Aptos"/>
                <a:cs typeface="Aptos"/>
              </a:defRPr>
            </a:defPPr>
          </a:lstStyle>
          <a:p xmlns:a="http://schemas.openxmlformats.org/drawingml/2006/main">
            <a:pPr algn="l">
              <a:buNone/>
              <a:defRPr sz="2175" b="1">
                <a:solidFill>
                  <a:srgbClr val="157D80"/>
                </a:solidFill>
                <a:latin typeface="Aptos"/>
                <a:ea typeface="Aptos"/>
                <a:cs typeface="Aptos"/>
              </a:defRPr>
            </a:pPr>
            <a:r>
              <a:rPr sz="2175" b="1">
                <a:solidFill>
                  <a:srgbClr val="157D80"/>
                </a:solidFill>
                <a:latin typeface="Aptos"/>
                <a:ea typeface="Aptos"/>
                <a:cs typeface="Aptos"/>
              </a:rPr>
              <a:t>Trusted services</a:t>
            </a:r>
          </a:p>
        </p:txBody>
      </p:sp>
      <p:cxnSp>
        <p:nvCxnSpPr>
          <p:cNvPr id="5" name="flow-142">
            <a:extLst xmlns:a="http://schemas.openxmlformats.org/drawingml/2006/main">
              <a:ext uri="{FF2B5EF4-FFF2-40B4-BE49-F238E27FC236}">
                <a16:creationId xmlns:a16="http://schemas.microsoft.com/office/drawing/2014/main" id="{859AE66F-A02D-45D5-807B-5735957AAC1C}"/>
              </a:ext>
            </a:extLst>
          </p:cNvPr>
          <p:cNvCxnSpPr/>
          <p:nvPr/>
        </p:nvCxnSpPr>
        <p:spPr>
          <a:xfrm xmlns:a="http://schemas.openxmlformats.org/drawingml/2006/main" flipH="0" flipV="0">
            <a:off x="7572375" y="1524000"/>
            <a:ext cx="0" cy="4429125"/>
          </a:xfrm>
          <a:prstGeom xmlns:a="http://schemas.openxmlformats.org/drawingml/2006/main" prst="straightConnector1">
            <a:avLst/>
          </a:prstGeom>
          <a:ln xmlns:a="http://schemas.openxmlformats.org/drawingml/2006/main" w="19050">
            <a:solidFill>
              <a:srgbClr val="B8CACC"/>
            </a:solidFill>
            <a:prstDash val="dash"/>
          </a:ln>
        </p:spPr>
      </p:cxnSp>
      <p:sp>
        <p:nvSpPr>
          <p:cNvPr id="6" name="node-143">
            <a:extLst xmlns:a="http://schemas.openxmlformats.org/drawingml/2006/main">
              <a:ext uri="{FF2B5EF4-FFF2-40B4-BE49-F238E27FC236}">
                <a16:creationId xmlns:a16="http://schemas.microsoft.com/office/drawing/2014/main" id="{670FBB46-2829-4FB0-8A51-6352E0A6A168}"/>
              </a:ext>
            </a:extLst>
          </p:cNvPr>
          <p:cNvSpPr>
            <a:spLocks xmlns:a="http://schemas.openxmlformats.org/drawingml/2006/main" noGrp="1"/>
          </p:cNvSpPr>
          <p:nvPr/>
        </p:nvSpPr>
        <p:spPr>
          <a:xfrm xmlns:a="http://schemas.openxmlformats.org/drawingml/2006/main">
            <a:off x="609600" y="2095500"/>
            <a:ext cx="533400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7" name="text-144">
            <a:extLst xmlns:a="http://schemas.openxmlformats.org/drawingml/2006/main">
              <a:ext uri="{FF2B5EF4-FFF2-40B4-BE49-F238E27FC236}">
                <a16:creationId xmlns:a16="http://schemas.microsoft.com/office/drawing/2014/main" id="{D412DD50-6237-46B2-9297-1826E3FE376F}"/>
              </a:ext>
            </a:extLst>
          </p:cNvPr>
          <p:cNvSpPr>
            <a:spLocks xmlns:a="http://schemas.openxmlformats.org/drawingml/2006/main" noGrp="1"/>
          </p:cNvSpPr>
          <p:nvPr/>
        </p:nvSpPr>
        <p:spPr>
          <a:xfrm xmlns:a="http://schemas.openxmlformats.org/drawingml/2006/main">
            <a:off x="800100" y="2257425"/>
            <a:ext cx="4953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DAO member</a:t>
            </a:r>
          </a:p>
        </p:txBody>
      </p:sp>
      <p:sp>
        <p:nvSpPr>
          <p:cNvPr id="8" name="text-145">
            <a:extLst xmlns:a="http://schemas.openxmlformats.org/drawingml/2006/main">
              <a:ext uri="{FF2B5EF4-FFF2-40B4-BE49-F238E27FC236}">
                <a16:creationId xmlns:a16="http://schemas.microsoft.com/office/drawing/2014/main" id="{97400006-7081-4BD6-A2E3-B028E7CA150F}"/>
              </a:ext>
            </a:extLst>
          </p:cNvPr>
          <p:cNvSpPr>
            <a:spLocks xmlns:a="http://schemas.openxmlformats.org/drawingml/2006/main" noGrp="1"/>
          </p:cNvSpPr>
          <p:nvPr/>
        </p:nvSpPr>
        <p:spPr>
          <a:xfrm xmlns:a="http://schemas.openxmlformats.org/drawingml/2006/main">
            <a:off x="800100" y="2653665"/>
            <a:ext cx="495300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Connects an approved agent</a:t>
            </a:r>
          </a:p>
        </p:txBody>
      </p:sp>
      <p:sp>
        <p:nvSpPr>
          <p:cNvPr id="9" name="node-146">
            <a:extLst xmlns:a="http://schemas.openxmlformats.org/drawingml/2006/main">
              <a:ext uri="{FF2B5EF4-FFF2-40B4-BE49-F238E27FC236}">
                <a16:creationId xmlns:a16="http://schemas.microsoft.com/office/drawing/2014/main" id="{22BC9DDC-08A1-48EB-885B-D525D1EFF4C7}"/>
              </a:ext>
            </a:extLst>
          </p:cNvPr>
          <p:cNvSpPr>
            <a:spLocks xmlns:a="http://schemas.openxmlformats.org/drawingml/2006/main" noGrp="1"/>
          </p:cNvSpPr>
          <p:nvPr/>
        </p:nvSpPr>
        <p:spPr>
          <a:xfrm xmlns:a="http://schemas.openxmlformats.org/drawingml/2006/main">
            <a:off x="8667750" y="2095500"/>
            <a:ext cx="596265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0" name="text-147">
            <a:extLst xmlns:a="http://schemas.openxmlformats.org/drawingml/2006/main">
              <a:ext uri="{FF2B5EF4-FFF2-40B4-BE49-F238E27FC236}">
                <a16:creationId xmlns:a16="http://schemas.microsoft.com/office/drawing/2014/main" id="{5F27C879-6F9D-4D8C-81AB-A2BFF66F6528}"/>
              </a:ext>
            </a:extLst>
          </p:cNvPr>
          <p:cNvSpPr>
            <a:spLocks xmlns:a="http://schemas.openxmlformats.org/drawingml/2006/main" noGrp="1"/>
          </p:cNvSpPr>
          <p:nvPr/>
        </p:nvSpPr>
        <p:spPr>
          <a:xfrm xmlns:a="http://schemas.openxmlformats.org/drawingml/2006/main">
            <a:off x="8858250" y="2257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Paperclip</a:t>
            </a:r>
          </a:p>
        </p:txBody>
      </p:sp>
      <p:sp>
        <p:nvSpPr>
          <p:cNvPr id="11" name="text-148">
            <a:extLst xmlns:a="http://schemas.openxmlformats.org/drawingml/2006/main">
              <a:ext uri="{FF2B5EF4-FFF2-40B4-BE49-F238E27FC236}">
                <a16:creationId xmlns:a16="http://schemas.microsoft.com/office/drawing/2014/main" id="{CA8CF7DA-1641-42C4-80D2-A71D2A1DCC31}"/>
              </a:ext>
            </a:extLst>
          </p:cNvPr>
          <p:cNvSpPr>
            <a:spLocks xmlns:a="http://schemas.openxmlformats.org/drawingml/2006/main" noGrp="1"/>
          </p:cNvSpPr>
          <p:nvPr/>
        </p:nvSpPr>
        <p:spPr>
          <a:xfrm xmlns:a="http://schemas.openxmlformats.org/drawingml/2006/main">
            <a:off x="8858250" y="2653665"/>
            <a:ext cx="558165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Assigns the task and allowed inputs</a:t>
            </a:r>
          </a:p>
        </p:txBody>
      </p:sp>
      <p:sp>
        <p:nvSpPr>
          <p:cNvPr id="12" name="node-149">
            <a:extLst xmlns:a="http://schemas.openxmlformats.org/drawingml/2006/main">
              <a:ext uri="{FF2B5EF4-FFF2-40B4-BE49-F238E27FC236}">
                <a16:creationId xmlns:a16="http://schemas.microsoft.com/office/drawing/2014/main" id="{91738657-1749-4C2F-9707-9F82FCC3EB39}"/>
              </a:ext>
            </a:extLst>
          </p:cNvPr>
          <p:cNvSpPr>
            <a:spLocks xmlns:a="http://schemas.openxmlformats.org/drawingml/2006/main" noGrp="1"/>
          </p:cNvSpPr>
          <p:nvPr/>
        </p:nvSpPr>
        <p:spPr>
          <a:xfrm xmlns:a="http://schemas.openxmlformats.org/drawingml/2006/main">
            <a:off x="609600" y="4000500"/>
            <a:ext cx="5334000" cy="1714500"/>
          </a:xfrm>
          <a:prstGeom xmlns:a="http://schemas.openxmlformats.org/drawingml/2006/main" prst="rect">
            <a:avLst/>
          </a:prstGeom>
          <a:solidFill xmlns:a="http://schemas.openxmlformats.org/drawingml/2006/main">
            <a:srgbClr val="FFFAF0"/>
          </a:solidFill>
          <a:ln xmlns:a="http://schemas.openxmlformats.org/drawingml/2006/main" w="17145">
            <a:solidFill>
              <a:srgbClr val="B1853E"/>
            </a:solidFill>
            <a:prstDash val="dash"/>
          </a:ln>
        </p:spPr>
      </p:sp>
      <p:sp>
        <p:nvSpPr>
          <p:cNvPr id="13" name="text-150">
            <a:extLst xmlns:a="http://schemas.openxmlformats.org/drawingml/2006/main">
              <a:ext uri="{FF2B5EF4-FFF2-40B4-BE49-F238E27FC236}">
                <a16:creationId xmlns:a16="http://schemas.microsoft.com/office/drawing/2014/main" id="{D8D22021-32A3-41FC-80BF-ABD2E0863BF6}"/>
              </a:ext>
            </a:extLst>
          </p:cNvPr>
          <p:cNvSpPr>
            <a:spLocks xmlns:a="http://schemas.openxmlformats.org/drawingml/2006/main" noGrp="1"/>
          </p:cNvSpPr>
          <p:nvPr/>
        </p:nvSpPr>
        <p:spPr>
          <a:xfrm xmlns:a="http://schemas.openxmlformats.org/drawingml/2006/main">
            <a:off x="800100" y="4162425"/>
            <a:ext cx="495300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57D80"/>
                </a:solidFill>
                <a:latin typeface="Aptos"/>
                <a:ea typeface="Aptos"/>
                <a:cs typeface="Aptos"/>
              </a:defRPr>
            </a:defPPr>
          </a:lstStyle>
          <a:p xmlns:a="http://schemas.openxmlformats.org/drawingml/2006/main">
            <a:pPr algn="l">
              <a:buNone/>
              <a:defRPr sz="2325" b="1">
                <a:solidFill>
                  <a:srgbClr val="157D80"/>
                </a:solidFill>
                <a:latin typeface="Aptos"/>
                <a:ea typeface="Aptos"/>
                <a:cs typeface="Aptos"/>
              </a:defRPr>
            </a:pPr>
            <a:r>
              <a:rPr sz="2325" b="1">
                <a:solidFill>
                  <a:srgbClr val="157D80"/>
                </a:solidFill>
                <a:latin typeface="Aptos"/>
                <a:ea typeface="Aptos"/>
                <a:cs typeface="Aptos"/>
              </a:rPr>
              <a:t>Member agent runtime</a:t>
            </a:r>
          </a:p>
        </p:txBody>
      </p:sp>
      <p:sp>
        <p:nvSpPr>
          <p:cNvPr id="14" name="text-151">
            <a:extLst xmlns:a="http://schemas.openxmlformats.org/drawingml/2006/main">
              <a:ext uri="{FF2B5EF4-FFF2-40B4-BE49-F238E27FC236}">
                <a16:creationId xmlns:a16="http://schemas.microsoft.com/office/drawing/2014/main" id="{AF6A64F3-128E-4170-A24A-6C9D6DB0251C}"/>
              </a:ext>
            </a:extLst>
          </p:cNvPr>
          <p:cNvSpPr>
            <a:spLocks xmlns:a="http://schemas.openxmlformats.org/drawingml/2006/main" noGrp="1"/>
          </p:cNvSpPr>
          <p:nvPr/>
        </p:nvSpPr>
        <p:spPr>
          <a:xfrm xmlns:a="http://schemas.openxmlformats.org/drawingml/2006/main">
            <a:off x="800100" y="4570286"/>
            <a:ext cx="4953000" cy="66560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Sandbox and isolated worktree</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Live enrollment and execution next</a:t>
            </a:r>
          </a:p>
        </p:txBody>
      </p:sp>
      <p:sp>
        <p:nvSpPr>
          <p:cNvPr id="15" name="node-152">
            <a:extLst xmlns:a="http://schemas.openxmlformats.org/drawingml/2006/main">
              <a:ext uri="{FF2B5EF4-FFF2-40B4-BE49-F238E27FC236}">
                <a16:creationId xmlns:a16="http://schemas.microsoft.com/office/drawing/2014/main" id="{D5765F57-CB74-478D-9B28-C7F938AD02C2}"/>
              </a:ext>
            </a:extLst>
          </p:cNvPr>
          <p:cNvSpPr>
            <a:spLocks xmlns:a="http://schemas.openxmlformats.org/drawingml/2006/main" noGrp="1"/>
          </p:cNvSpPr>
          <p:nvPr/>
        </p:nvSpPr>
        <p:spPr>
          <a:xfrm xmlns:a="http://schemas.openxmlformats.org/drawingml/2006/main">
            <a:off x="8667750" y="4000500"/>
            <a:ext cx="5962650" cy="12382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16" name="text-153">
            <a:extLst xmlns:a="http://schemas.openxmlformats.org/drawingml/2006/main">
              <a:ext uri="{FF2B5EF4-FFF2-40B4-BE49-F238E27FC236}">
                <a16:creationId xmlns:a16="http://schemas.microsoft.com/office/drawing/2014/main" id="{25BAE476-D051-4A95-BC6B-956ECA4478E2}"/>
              </a:ext>
            </a:extLst>
          </p:cNvPr>
          <p:cNvSpPr>
            <a:spLocks xmlns:a="http://schemas.openxmlformats.org/drawingml/2006/main" noGrp="1"/>
          </p:cNvSpPr>
          <p:nvPr/>
        </p:nvSpPr>
        <p:spPr>
          <a:xfrm xmlns:a="http://schemas.openxmlformats.org/drawingml/2006/main">
            <a:off x="8858250" y="4162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Candidate validation</a:t>
            </a:r>
          </a:p>
        </p:txBody>
      </p:sp>
      <p:sp>
        <p:nvSpPr>
          <p:cNvPr id="17" name="text-154">
            <a:extLst xmlns:a="http://schemas.openxmlformats.org/drawingml/2006/main">
              <a:ext uri="{FF2B5EF4-FFF2-40B4-BE49-F238E27FC236}">
                <a16:creationId xmlns:a16="http://schemas.microsoft.com/office/drawing/2014/main" id="{F11BB3A0-ECF0-41B5-B3CD-BC71552C93EB}"/>
              </a:ext>
            </a:extLst>
          </p:cNvPr>
          <p:cNvSpPr>
            <a:spLocks xmlns:a="http://schemas.openxmlformats.org/drawingml/2006/main" noGrp="1"/>
          </p:cNvSpPr>
          <p:nvPr/>
        </p:nvSpPr>
        <p:spPr>
          <a:xfrm xmlns:a="http://schemas.openxmlformats.org/drawingml/2006/main">
            <a:off x="8858250" y="4558665"/>
            <a:ext cx="5581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Identity, attempt, task and artifact checks</a:t>
            </a:r>
          </a:p>
        </p:txBody>
      </p:sp>
      <p:sp>
        <p:nvSpPr>
          <p:cNvPr id="18" name="node-155">
            <a:extLst xmlns:a="http://schemas.openxmlformats.org/drawingml/2006/main">
              <a:ext uri="{FF2B5EF4-FFF2-40B4-BE49-F238E27FC236}">
                <a16:creationId xmlns:a16="http://schemas.microsoft.com/office/drawing/2014/main" id="{D21E1D51-8C9A-47B9-B1E4-DB9FC38BEA0C}"/>
              </a:ext>
            </a:extLst>
          </p:cNvPr>
          <p:cNvSpPr>
            <a:spLocks xmlns:a="http://schemas.openxmlformats.org/drawingml/2006/main" noGrp="1"/>
          </p:cNvSpPr>
          <p:nvPr/>
        </p:nvSpPr>
        <p:spPr>
          <a:xfrm xmlns:a="http://schemas.openxmlformats.org/drawingml/2006/main">
            <a:off x="8667750" y="6286500"/>
            <a:ext cx="5962650" cy="1333500"/>
          </a:xfrm>
          <a:prstGeom xmlns:a="http://schemas.openxmlformats.org/drawingml/2006/main" prst="rect">
            <a:avLst/>
          </a:prstGeom>
          <a:solidFill xmlns:a="http://schemas.openxmlformats.org/drawingml/2006/main">
            <a:srgbClr val="FFFAF0"/>
          </a:solidFill>
          <a:ln xmlns:a="http://schemas.openxmlformats.org/drawingml/2006/main" w="17145">
            <a:solidFill>
              <a:srgbClr val="B1853E"/>
            </a:solidFill>
            <a:prstDash val="dash"/>
          </a:ln>
        </p:spPr>
      </p:sp>
      <p:sp>
        <p:nvSpPr>
          <p:cNvPr id="19" name="text-156">
            <a:extLst xmlns:a="http://schemas.openxmlformats.org/drawingml/2006/main">
              <a:ext uri="{FF2B5EF4-FFF2-40B4-BE49-F238E27FC236}">
                <a16:creationId xmlns:a16="http://schemas.microsoft.com/office/drawing/2014/main" id="{AFCF249E-1085-4474-8A12-407CBA559FDA}"/>
              </a:ext>
            </a:extLst>
          </p:cNvPr>
          <p:cNvSpPr>
            <a:spLocks xmlns:a="http://schemas.openxmlformats.org/drawingml/2006/main" noGrp="1"/>
          </p:cNvSpPr>
          <p:nvPr/>
        </p:nvSpPr>
        <p:spPr>
          <a:xfrm xmlns:a="http://schemas.openxmlformats.org/drawingml/2006/main">
            <a:off x="8858250" y="6448425"/>
            <a:ext cx="55816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Review and acceptance</a:t>
            </a:r>
          </a:p>
        </p:txBody>
      </p:sp>
      <p:sp>
        <p:nvSpPr>
          <p:cNvPr id="20" name="text-157">
            <a:extLst xmlns:a="http://schemas.openxmlformats.org/drawingml/2006/main">
              <a:ext uri="{FF2B5EF4-FFF2-40B4-BE49-F238E27FC236}">
                <a16:creationId xmlns:a16="http://schemas.microsoft.com/office/drawing/2014/main" id="{A480B314-118F-4395-B774-59C14B986408}"/>
              </a:ext>
            </a:extLst>
          </p:cNvPr>
          <p:cNvSpPr>
            <a:spLocks xmlns:a="http://schemas.openxmlformats.org/drawingml/2006/main" noGrp="1"/>
          </p:cNvSpPr>
          <p:nvPr/>
        </p:nvSpPr>
        <p:spPr>
          <a:xfrm xmlns:a="http://schemas.openxmlformats.org/drawingml/2006/main">
            <a:off x="8858250" y="6844665"/>
            <a:ext cx="5581650" cy="34023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A6572"/>
                </a:solidFill>
                <a:latin typeface="Aptos"/>
                <a:ea typeface="Aptos"/>
                <a:cs typeface="Aptos"/>
              </a:defRPr>
            </a:defPPr>
          </a:lstStyle>
          <a:p xmlns:a="http://schemas.openxmlformats.org/drawingml/2006/main">
            <a:pPr algn="l">
              <a:buNone/>
              <a:defRPr sz="1950" b="0">
                <a:solidFill>
                  <a:srgbClr val="4A6572"/>
                </a:solidFill>
                <a:latin typeface="Aptos"/>
                <a:ea typeface="Aptos"/>
                <a:cs typeface="Aptos"/>
              </a:defRPr>
            </a:pPr>
            <a:r>
              <a:rPr sz="1950" b="0">
                <a:solidFill>
                  <a:srgbClr val="4A6572"/>
                </a:solidFill>
                <a:latin typeface="Aptos"/>
                <a:ea typeface="Aptos"/>
                <a:cs typeface="Aptos"/>
              </a:rPr>
              <a:t>Native integration next</a:t>
            </a:r>
          </a:p>
        </p:txBody>
      </p:sp>
      <p:cxnSp>
        <p:nvCxnSpPr>
          <p:cNvPr id="21" name="flow-158">
            <a:extLst xmlns:a="http://schemas.openxmlformats.org/drawingml/2006/main">
              <a:ext uri="{FF2B5EF4-FFF2-40B4-BE49-F238E27FC236}">
                <a16:creationId xmlns:a16="http://schemas.microsoft.com/office/drawing/2014/main" id="{D0A4EEFB-8808-47DF-9BE4-A6EFA9E58FB5}"/>
              </a:ext>
            </a:extLst>
          </p:cNvPr>
          <p:cNvCxnSpPr/>
          <p:nvPr/>
        </p:nvCxnSpPr>
        <p:spPr>
          <a:xfrm xmlns:a="http://schemas.openxmlformats.org/drawingml/2006/main" flipH="0" flipV="0">
            <a:off x="609600" y="6477000"/>
            <a:ext cx="5334000" cy="0"/>
          </a:xfrm>
          <a:prstGeom xmlns:a="http://schemas.openxmlformats.org/drawingml/2006/main" prst="straightConnector1">
            <a:avLst/>
          </a:prstGeom>
          <a:ln xmlns:a="http://schemas.openxmlformats.org/drawingml/2006/main" w="14288">
            <a:solidFill>
              <a:srgbClr val="B8CACC"/>
            </a:solidFill>
            <a:prstDash val="solid"/>
          </a:ln>
        </p:spPr>
      </p:cxnSp>
      <p:sp>
        <p:nvSpPr>
          <p:cNvPr id="22" name="node-159">
            <a:extLst xmlns:a="http://schemas.openxmlformats.org/drawingml/2006/main">
              <a:ext uri="{FF2B5EF4-FFF2-40B4-BE49-F238E27FC236}">
                <a16:creationId xmlns:a16="http://schemas.microsoft.com/office/drawing/2014/main" id="{3F5888FB-B549-4744-94BD-55682478694E}"/>
              </a:ext>
            </a:extLst>
          </p:cNvPr>
          <p:cNvSpPr>
            <a:spLocks xmlns:a="http://schemas.openxmlformats.org/drawingml/2006/main" noGrp="1"/>
          </p:cNvSpPr>
          <p:nvPr/>
        </p:nvSpPr>
        <p:spPr>
          <a:xfrm xmlns:a="http://schemas.openxmlformats.org/drawingml/2006/main">
            <a:off x="609600" y="6858000"/>
            <a:ext cx="5334000" cy="95250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23" name="text-160">
            <a:extLst xmlns:a="http://schemas.openxmlformats.org/drawingml/2006/main">
              <a:ext uri="{FF2B5EF4-FFF2-40B4-BE49-F238E27FC236}">
                <a16:creationId xmlns:a16="http://schemas.microsoft.com/office/drawing/2014/main" id="{3174332F-933D-4987-A5E2-7FD7CE8CCE5B}"/>
              </a:ext>
            </a:extLst>
          </p:cNvPr>
          <p:cNvSpPr>
            <a:spLocks xmlns:a="http://schemas.openxmlformats.org/drawingml/2006/main" noGrp="1"/>
          </p:cNvSpPr>
          <p:nvPr/>
        </p:nvSpPr>
        <p:spPr>
          <a:xfrm xmlns:a="http://schemas.openxmlformats.org/drawingml/2006/main">
            <a:off x="800100" y="7019925"/>
            <a:ext cx="495300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Authorized human reviewer</a:t>
            </a:r>
          </a:p>
        </p:txBody>
      </p:sp>
      <p:sp>
        <p:nvSpPr>
          <p:cNvPr id="24" name="text-161">
            <a:extLst xmlns:a="http://schemas.openxmlformats.org/drawingml/2006/main">
              <a:ext uri="{FF2B5EF4-FFF2-40B4-BE49-F238E27FC236}">
                <a16:creationId xmlns:a16="http://schemas.microsoft.com/office/drawing/2014/main" id="{A8076791-798E-48B1-A2E5-CE4A60DD5732}"/>
              </a:ext>
            </a:extLst>
          </p:cNvPr>
          <p:cNvSpPr>
            <a:spLocks xmlns:a="http://schemas.openxmlformats.org/drawingml/2006/main" noGrp="1"/>
          </p:cNvSpPr>
          <p:nvPr/>
        </p:nvSpPr>
        <p:spPr>
          <a:xfrm xmlns:a="http://schemas.openxmlformats.org/drawingml/2006/main">
            <a:off x="800100" y="7416165"/>
            <a:ext cx="4953000" cy="3286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Supplies a decision when required</a:t>
            </a:r>
          </a:p>
        </p:txBody>
      </p:sp>
      <p:sp>
        <p:nvSpPr>
          <p:cNvPr id="26" name="text-162">
            <a:extLst xmlns:a="http://schemas.openxmlformats.org/drawingml/2006/main">
              <a:ext uri="{FF2B5EF4-FFF2-40B4-BE49-F238E27FC236}">
                <a16:creationId xmlns:a16="http://schemas.microsoft.com/office/drawing/2014/main" id="{8FAC1491-4EBE-4CA9-902B-BD9860A34112}"/>
              </a:ext>
            </a:extLst>
          </p:cNvPr>
          <p:cNvSpPr>
            <a:spLocks xmlns:a="http://schemas.openxmlformats.org/drawingml/2006/main" noGrp="1"/>
          </p:cNvSpPr>
          <p:nvPr/>
        </p:nvSpPr>
        <p:spPr>
          <a:xfrm xmlns:a="http://schemas.openxmlformats.org/drawingml/2006/main">
            <a:off x="609600" y="3381375"/>
            <a:ext cx="2286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A6572"/>
                </a:solidFill>
                <a:latin typeface="Aptos"/>
                <a:ea typeface="Aptos"/>
                <a:cs typeface="Aptos"/>
              </a:defRPr>
            </a:defPPr>
          </a:lstStyle>
          <a:p xmlns:a="http://schemas.openxmlformats.org/drawingml/2006/main">
            <a:pPr algn="l">
              <a:buNone/>
              <a:defRPr sz="1650" b="0">
                <a:solidFill>
                  <a:srgbClr val="4A6572"/>
                </a:solidFill>
                <a:latin typeface="Aptos"/>
                <a:ea typeface="Aptos"/>
                <a:cs typeface="Aptos"/>
              </a:defRPr>
            </a:pPr>
            <a:r>
              <a:rPr sz="1650" b="0">
                <a:solidFill>
                  <a:srgbClr val="4A6572"/>
                </a:solidFill>
                <a:latin typeface="Aptos"/>
                <a:ea typeface="Aptos"/>
                <a:cs typeface="Aptos"/>
              </a:rPr>
              <a:t>Operates agent</a:t>
            </a:r>
          </a:p>
        </p:txBody>
      </p:sp>
      <p:cxnSp>
        <p:nvCxnSpPr>
          <p:cNvPr id="27" name="flow-163">
            <a:extLst xmlns:a="http://schemas.openxmlformats.org/drawingml/2006/main">
              <a:ext uri="{FF2B5EF4-FFF2-40B4-BE49-F238E27FC236}">
                <a16:creationId xmlns:a16="http://schemas.microsoft.com/office/drawing/2014/main" id="{E861DA4B-4845-48E9-B9A1-73275C411058}"/>
              </a:ext>
            </a:extLst>
          </p:cNvPr>
          <p:cNvCxnSpPr/>
          <p:nvPr/>
        </p:nvCxnSpPr>
        <p:spPr>
          <a:xfrm xmlns:a="http://schemas.openxmlformats.org/drawingml/2006/main" flipH="0" flipV="0">
            <a:off x="11649075" y="3048000"/>
            <a:ext cx="0" cy="285750"/>
          </a:xfrm>
          <a:prstGeom xmlns:a="http://schemas.openxmlformats.org/drawingml/2006/main" prst="straightConnector1">
            <a:avLst/>
          </a:prstGeom>
          <a:ln xmlns:a="http://schemas.openxmlformats.org/drawingml/2006/main" w="23813">
            <a:solidFill>
              <a:srgbClr val="157D80"/>
            </a:solidFill>
            <a:prstDash val="dash"/>
          </a:ln>
        </p:spPr>
      </p:cxnSp>
      <p:cxnSp>
        <p:nvCxnSpPr>
          <p:cNvPr id="28" name="flow-164">
            <a:extLst xmlns:a="http://schemas.openxmlformats.org/drawingml/2006/main">
              <a:ext uri="{FF2B5EF4-FFF2-40B4-BE49-F238E27FC236}">
                <a16:creationId xmlns:a16="http://schemas.microsoft.com/office/drawing/2014/main" id="{F5A2EB2C-855D-4850-A35B-5E581775762E}"/>
              </a:ext>
            </a:extLst>
          </p:cNvPr>
          <p:cNvCxnSpPr/>
          <p:nvPr/>
        </p:nvCxnSpPr>
        <p:spPr>
          <a:xfrm xmlns:a="http://schemas.openxmlformats.org/drawingml/2006/main" flipH="1" flipV="0">
            <a:off x="5524500" y="3333750"/>
            <a:ext cx="612457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9" name="flow-165">
            <a:extLst xmlns:a="http://schemas.openxmlformats.org/drawingml/2006/main">
              <a:ext uri="{FF2B5EF4-FFF2-40B4-BE49-F238E27FC236}">
                <a16:creationId xmlns:a16="http://schemas.microsoft.com/office/drawing/2014/main" id="{4FFAE719-4C77-4766-B766-C76BBAA07764}"/>
              </a:ext>
            </a:extLst>
          </p:cNvPr>
          <p:cNvCxnSpPr/>
          <p:nvPr/>
        </p:nvCxnSpPr>
        <p:spPr>
          <a:xfrm xmlns:a="http://schemas.openxmlformats.org/drawingml/2006/main" flipH="0" flipV="0">
            <a:off x="5524500" y="3333750"/>
            <a:ext cx="0" cy="66675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0" name="text-166">
            <a:extLst xmlns:a="http://schemas.openxmlformats.org/drawingml/2006/main">
              <a:ext uri="{FF2B5EF4-FFF2-40B4-BE49-F238E27FC236}">
                <a16:creationId xmlns:a16="http://schemas.microsoft.com/office/drawing/2014/main" id="{E6B5B663-D67C-44ED-A170-D1DE7DFCA2FF}"/>
              </a:ext>
            </a:extLst>
          </p:cNvPr>
          <p:cNvSpPr>
            <a:spLocks xmlns:a="http://schemas.openxmlformats.org/drawingml/2006/main" noGrp="1"/>
          </p:cNvSpPr>
          <p:nvPr/>
        </p:nvSpPr>
        <p:spPr>
          <a:xfrm xmlns:a="http://schemas.openxmlformats.org/drawingml/2006/main">
            <a:off x="6810375" y="3486150"/>
            <a:ext cx="4000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Task and scoped inputs</a:t>
            </a:r>
          </a:p>
        </p:txBody>
      </p:sp>
      <p:cxnSp>
        <p:nvCxnSpPr>
          <p:cNvPr id="31" name="flow-167">
            <a:extLst xmlns:a="http://schemas.openxmlformats.org/drawingml/2006/main">
              <a:ext uri="{FF2B5EF4-FFF2-40B4-BE49-F238E27FC236}">
                <a16:creationId xmlns:a16="http://schemas.microsoft.com/office/drawing/2014/main" id="{4F4A29F4-5A75-4A9A-ACAD-5FE523567CDD}"/>
              </a:ext>
            </a:extLst>
          </p:cNvPr>
          <p:cNvCxnSpPr/>
          <p:nvPr/>
        </p:nvCxnSpPr>
        <p:spPr>
          <a:xfrm xmlns:a="http://schemas.openxmlformats.org/drawingml/2006/main" flipH="0" flipV="0">
            <a:off x="5943600" y="4619625"/>
            <a:ext cx="27241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2" name="text-168">
            <a:extLst xmlns:a="http://schemas.openxmlformats.org/drawingml/2006/main">
              <a:ext uri="{FF2B5EF4-FFF2-40B4-BE49-F238E27FC236}">
                <a16:creationId xmlns:a16="http://schemas.microsoft.com/office/drawing/2014/main" id="{F84520EC-E863-4A8F-AF40-29B485646290}"/>
              </a:ext>
            </a:extLst>
          </p:cNvPr>
          <p:cNvSpPr>
            <a:spLocks xmlns:a="http://schemas.openxmlformats.org/drawingml/2006/main" noGrp="1"/>
          </p:cNvSpPr>
          <p:nvPr/>
        </p:nvSpPr>
        <p:spPr>
          <a:xfrm xmlns:a="http://schemas.openxmlformats.org/drawingml/2006/main">
            <a:off x="5953125" y="4181475"/>
            <a:ext cx="27146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Draft result</a:t>
            </a:r>
          </a:p>
        </p:txBody>
      </p:sp>
      <p:cxnSp>
        <p:nvCxnSpPr>
          <p:cNvPr id="33" name="flow-169">
            <a:extLst xmlns:a="http://schemas.openxmlformats.org/drawingml/2006/main">
              <a:ext uri="{FF2B5EF4-FFF2-40B4-BE49-F238E27FC236}">
                <a16:creationId xmlns:a16="http://schemas.microsoft.com/office/drawing/2014/main" id="{EC7DDB2E-1145-4C66-9470-0A8E3BE6190D}"/>
              </a:ext>
            </a:extLst>
          </p:cNvPr>
          <p:cNvCxnSpPr/>
          <p:nvPr/>
        </p:nvCxnSpPr>
        <p:spPr>
          <a:xfrm xmlns:a="http://schemas.openxmlformats.org/drawingml/2006/main" flipH="0" flipV="0">
            <a:off x="11649075" y="5238750"/>
            <a:ext cx="0" cy="104775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4" name="text-170">
            <a:extLst xmlns:a="http://schemas.openxmlformats.org/drawingml/2006/main">
              <a:ext uri="{FF2B5EF4-FFF2-40B4-BE49-F238E27FC236}">
                <a16:creationId xmlns:a16="http://schemas.microsoft.com/office/drawing/2014/main" id="{0E6C5580-1AD7-4322-9075-D2C63DF3DD12}"/>
              </a:ext>
            </a:extLst>
          </p:cNvPr>
          <p:cNvSpPr>
            <a:spLocks xmlns:a="http://schemas.openxmlformats.org/drawingml/2006/main" noGrp="1"/>
          </p:cNvSpPr>
          <p:nvPr/>
        </p:nvSpPr>
        <p:spPr>
          <a:xfrm xmlns:a="http://schemas.openxmlformats.org/drawingml/2006/main">
            <a:off x="11811000" y="5562600"/>
            <a:ext cx="261937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Saved candidate</a:t>
            </a:r>
          </a:p>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Review handoff next</a:t>
            </a:r>
          </a:p>
        </p:txBody>
      </p:sp>
      <p:cxnSp>
        <p:nvCxnSpPr>
          <p:cNvPr id="35" name="flow-171">
            <a:extLst xmlns:a="http://schemas.openxmlformats.org/drawingml/2006/main">
              <a:ext uri="{FF2B5EF4-FFF2-40B4-BE49-F238E27FC236}">
                <a16:creationId xmlns:a16="http://schemas.microsoft.com/office/drawing/2014/main" id="{9743F637-A6A5-4226-A24E-BE9DF8D49AF9}"/>
              </a:ext>
            </a:extLst>
          </p:cNvPr>
          <p:cNvCxnSpPr/>
          <p:nvPr/>
        </p:nvCxnSpPr>
        <p:spPr>
          <a:xfrm xmlns:a="http://schemas.openxmlformats.org/drawingml/2006/main" flipH="0" flipV="0">
            <a:off x="5943600" y="7334250"/>
            <a:ext cx="20574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36" name="flow-172">
            <a:extLst xmlns:a="http://schemas.openxmlformats.org/drawingml/2006/main">
              <a:ext uri="{FF2B5EF4-FFF2-40B4-BE49-F238E27FC236}">
                <a16:creationId xmlns:a16="http://schemas.microsoft.com/office/drawing/2014/main" id="{0487D37B-C33D-419E-9B91-8F3BE9DF6DF9}"/>
              </a:ext>
            </a:extLst>
          </p:cNvPr>
          <p:cNvCxnSpPr/>
          <p:nvPr/>
        </p:nvCxnSpPr>
        <p:spPr>
          <a:xfrm xmlns:a="http://schemas.openxmlformats.org/drawingml/2006/main" flipH="0" flipV="1">
            <a:off x="8001000" y="7048500"/>
            <a:ext cx="0" cy="285750"/>
          </a:xfrm>
          <a:prstGeom xmlns:a="http://schemas.openxmlformats.org/drawingml/2006/main" prst="straightConnector1">
            <a:avLst/>
          </a:prstGeom>
          <a:ln xmlns:a="http://schemas.openxmlformats.org/drawingml/2006/main" w="23813">
            <a:solidFill>
              <a:srgbClr val="157D80"/>
            </a:solidFill>
            <a:prstDash val="dash"/>
          </a:ln>
        </p:spPr>
      </p:cxnSp>
      <p:cxnSp>
        <p:nvCxnSpPr>
          <p:cNvPr id="37" name="flow-173">
            <a:extLst xmlns:a="http://schemas.openxmlformats.org/drawingml/2006/main">
              <a:ext uri="{FF2B5EF4-FFF2-40B4-BE49-F238E27FC236}">
                <a16:creationId xmlns:a16="http://schemas.microsoft.com/office/drawing/2014/main" id="{9245F350-9661-41C5-A84A-EAABE9D2D4F0}"/>
              </a:ext>
            </a:extLst>
          </p:cNvPr>
          <p:cNvCxnSpPr/>
          <p:nvPr/>
        </p:nvCxnSpPr>
        <p:spPr>
          <a:xfrm xmlns:a="http://schemas.openxmlformats.org/drawingml/2006/main" flipH="0" flipV="0">
            <a:off x="8001000" y="7048500"/>
            <a:ext cx="666750" cy="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38" name="text-174">
            <a:extLst xmlns:a="http://schemas.openxmlformats.org/drawingml/2006/main">
              <a:ext uri="{FF2B5EF4-FFF2-40B4-BE49-F238E27FC236}">
                <a16:creationId xmlns:a16="http://schemas.microsoft.com/office/drawing/2014/main" id="{65185635-6E97-4319-86B5-A25279CD6FF4}"/>
              </a:ext>
            </a:extLst>
          </p:cNvPr>
          <p:cNvSpPr>
            <a:spLocks xmlns:a="http://schemas.openxmlformats.org/drawingml/2006/main" noGrp="1"/>
          </p:cNvSpPr>
          <p:nvPr/>
        </p:nvSpPr>
        <p:spPr>
          <a:xfrm xmlns:a="http://schemas.openxmlformats.org/drawingml/2006/main">
            <a:off x="5962650" y="7486650"/>
            <a:ext cx="26860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Authenticated decision</a:t>
            </a:r>
          </a:p>
        </p:txBody>
      </p:sp>
      <p:cxnSp>
        <p:nvCxnSpPr>
          <p:cNvPr id="39" name="flow-175">
            <a:extLst xmlns:a="http://schemas.openxmlformats.org/drawingml/2006/main">
              <a:ext uri="{FF2B5EF4-FFF2-40B4-BE49-F238E27FC236}">
                <a16:creationId xmlns:a16="http://schemas.microsoft.com/office/drawing/2014/main" id="{990AC02A-23C9-427A-BC76-D4F6DBD93D6F}"/>
              </a:ext>
            </a:extLst>
          </p:cNvPr>
          <p:cNvCxnSpPr/>
          <p:nvPr/>
        </p:nvCxnSpPr>
        <p:spPr>
          <a:xfrm xmlns:a="http://schemas.openxmlformats.org/drawingml/2006/main" flipH="1" flipV="0">
            <a:off x="6953250" y="6572250"/>
            <a:ext cx="171450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40" name="flow-176">
            <a:extLst xmlns:a="http://schemas.openxmlformats.org/drawingml/2006/main">
              <a:ext uri="{FF2B5EF4-FFF2-40B4-BE49-F238E27FC236}">
                <a16:creationId xmlns:a16="http://schemas.microsoft.com/office/drawing/2014/main" id="{85DFC6C0-B1F4-44ED-A008-6808345A3073}"/>
              </a:ext>
            </a:extLst>
          </p:cNvPr>
          <p:cNvCxnSpPr/>
          <p:nvPr/>
        </p:nvCxnSpPr>
        <p:spPr>
          <a:xfrm xmlns:a="http://schemas.openxmlformats.org/drawingml/2006/main" flipH="0" flipV="1">
            <a:off x="6953250" y="6096000"/>
            <a:ext cx="0" cy="476250"/>
          </a:xfrm>
          <a:prstGeom xmlns:a="http://schemas.openxmlformats.org/drawingml/2006/main" prst="straightConnector1">
            <a:avLst/>
          </a:prstGeom>
          <a:ln xmlns:a="http://schemas.openxmlformats.org/drawingml/2006/main" w="23813">
            <a:solidFill>
              <a:srgbClr val="157D80"/>
            </a:solidFill>
            <a:prstDash val="dash"/>
          </a:ln>
        </p:spPr>
      </p:cxnSp>
      <p:cxnSp>
        <p:nvCxnSpPr>
          <p:cNvPr id="41" name="flow-177">
            <a:extLst xmlns:a="http://schemas.openxmlformats.org/drawingml/2006/main">
              <a:ext uri="{FF2B5EF4-FFF2-40B4-BE49-F238E27FC236}">
                <a16:creationId xmlns:a16="http://schemas.microsoft.com/office/drawing/2014/main" id="{BB981CBA-718D-40B5-A2A6-1E5120660BE8}"/>
              </a:ext>
            </a:extLst>
          </p:cNvPr>
          <p:cNvCxnSpPr/>
          <p:nvPr/>
        </p:nvCxnSpPr>
        <p:spPr>
          <a:xfrm xmlns:a="http://schemas.openxmlformats.org/drawingml/2006/main" flipH="1" flipV="0">
            <a:off x="3276600" y="6096000"/>
            <a:ext cx="3676650" cy="0"/>
          </a:xfrm>
          <a:prstGeom xmlns:a="http://schemas.openxmlformats.org/drawingml/2006/main" prst="straightConnector1">
            <a:avLst/>
          </a:prstGeom>
          <a:ln xmlns:a="http://schemas.openxmlformats.org/drawingml/2006/main" w="23813">
            <a:solidFill>
              <a:srgbClr val="157D80"/>
            </a:solidFill>
            <a:prstDash val="dash"/>
          </a:ln>
        </p:spPr>
      </p:cxnSp>
      <p:cxnSp>
        <p:nvCxnSpPr>
          <p:cNvPr id="42" name="flow-178">
            <a:extLst xmlns:a="http://schemas.openxmlformats.org/drawingml/2006/main">
              <a:ext uri="{FF2B5EF4-FFF2-40B4-BE49-F238E27FC236}">
                <a16:creationId xmlns:a16="http://schemas.microsoft.com/office/drawing/2014/main" id="{97FCC60A-03AE-4FF5-9195-199D77EA3064}"/>
              </a:ext>
            </a:extLst>
          </p:cNvPr>
          <p:cNvCxnSpPr/>
          <p:nvPr/>
        </p:nvCxnSpPr>
        <p:spPr>
          <a:xfrm xmlns:a="http://schemas.openxmlformats.org/drawingml/2006/main" flipH="0" flipV="1">
            <a:off x="3276600" y="5715000"/>
            <a:ext cx="0" cy="38100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43" name="text-179">
            <a:extLst xmlns:a="http://schemas.openxmlformats.org/drawingml/2006/main">
              <a:ext uri="{FF2B5EF4-FFF2-40B4-BE49-F238E27FC236}">
                <a16:creationId xmlns:a16="http://schemas.microsoft.com/office/drawing/2014/main" id="{6E205FF5-3FA6-42A6-87B4-6B5E7ADC8FD7}"/>
              </a:ext>
            </a:extLst>
          </p:cNvPr>
          <p:cNvSpPr>
            <a:spLocks xmlns:a="http://schemas.openxmlformats.org/drawingml/2006/main" noGrp="1"/>
          </p:cNvSpPr>
          <p:nvPr/>
        </p:nvSpPr>
        <p:spPr>
          <a:xfrm xmlns:a="http://schemas.openxmlformats.org/drawingml/2006/main">
            <a:off x="3524250" y="5743575"/>
            <a:ext cx="395287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650" b="0">
                <a:solidFill>
                  <a:srgbClr val="4A6572"/>
                </a:solidFill>
                <a:latin typeface="Aptos"/>
                <a:ea typeface="Aptos"/>
                <a:cs typeface="Aptos"/>
              </a:defRPr>
            </a:defPPr>
          </a:lstStyle>
          <a:p xmlns:a="http://schemas.openxmlformats.org/drawingml/2006/main">
            <a:pPr algn="ctr">
              <a:buNone/>
              <a:defRPr sz="1650" b="0">
                <a:solidFill>
                  <a:srgbClr val="4A6572"/>
                </a:solidFill>
                <a:latin typeface="Aptos"/>
                <a:ea typeface="Aptos"/>
                <a:cs typeface="Aptos"/>
              </a:defRPr>
            </a:pPr>
            <a:r>
              <a:rPr sz="1650" b="0">
                <a:solidFill>
                  <a:srgbClr val="4A6572"/>
                </a:solidFill>
                <a:latin typeface="Aptos"/>
                <a:ea typeface="Aptos"/>
                <a:cs typeface="Aptos"/>
              </a:rPr>
              <a:t>Review outcome and status</a:t>
            </a:r>
          </a:p>
        </p:txBody>
      </p:sp>
      <p:sp>
        <p:nvSpPr>
          <p:cNvPr id="44" name="text-180">
            <a:extLst xmlns:a="http://schemas.openxmlformats.org/drawingml/2006/main">
              <a:ext uri="{FF2B5EF4-FFF2-40B4-BE49-F238E27FC236}">
                <a16:creationId xmlns:a16="http://schemas.microsoft.com/office/drawing/2014/main" id="{1F0AA695-3B38-49A1-8C17-8965F132185A}"/>
              </a:ext>
            </a:extLst>
          </p:cNvPr>
          <p:cNvSpPr>
            <a:spLocks xmlns:a="http://schemas.openxmlformats.org/drawingml/2006/main" noGrp="1"/>
          </p:cNvSpPr>
          <p:nvPr/>
        </p:nvSpPr>
        <p:spPr>
          <a:xfrm xmlns:a="http://schemas.openxmlformats.org/drawingml/2006/main">
            <a:off x="8667750" y="7781925"/>
            <a:ext cx="5962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A6572"/>
                </a:solidFill>
                <a:latin typeface="Aptos"/>
                <a:ea typeface="Aptos"/>
                <a:cs typeface="Aptos"/>
              </a:defRPr>
            </a:defPPr>
          </a:lstStyle>
          <a:p xmlns:a="http://schemas.openxmlformats.org/drawingml/2006/main">
            <a:pPr algn="l">
              <a:buNone/>
              <a:defRPr sz="1650" b="0">
                <a:solidFill>
                  <a:srgbClr val="4A6572"/>
                </a:solidFill>
                <a:latin typeface="Aptos"/>
                <a:ea typeface="Aptos"/>
                <a:cs typeface="Aptos"/>
              </a:defRPr>
            </a:pPr>
            <a:r>
              <a:rPr sz="1650" b="0">
                <a:solidFill>
                  <a:srgbClr val="4A6572"/>
                </a:solidFill>
                <a:latin typeface="Aptos"/>
                <a:ea typeface="Aptos"/>
                <a:cs typeface="Aptos"/>
              </a:rPr>
              <a:t>Database and publisher credentials stay in trusted services</a:t>
            </a:r>
          </a:p>
        </p:txBody>
      </p:sp>
    </p:spTree>
    <p:extLst>
      <p:ext uri="{BB962C8B-B14F-4D97-AF65-F5344CB8AC3E}">
        <p14:creationId xmlns:p14="http://schemas.microsoft.com/office/powerpoint/2010/main" val="102572277"/>
      </p:ext>
    </p:extLst>
  </p:cSld>
</p:sld>
</file>

<file path=ppt/slides/slide6.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26" name="partner-text-5">
            <a:extLst xmlns:a="http://schemas.openxmlformats.org/drawingml/2006/main">
              <a:ext uri="{FF2B5EF4-FFF2-40B4-BE49-F238E27FC236}">
                <a16:creationId xmlns:a16="http://schemas.microsoft.com/office/drawing/2014/main" id="{1067F892-217F-4415-86E4-B916739061EA}"/>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Data ownership and reuse</a:t>
            </a:r>
          </a:p>
        </p:txBody>
      </p:sp>
      <p:sp>
        <p:nvSpPr>
          <p:cNvPr id="2" name="partner-text-6">
            <a:extLst xmlns:a="http://schemas.openxmlformats.org/drawingml/2006/main">
              <a:ext uri="{FF2B5EF4-FFF2-40B4-BE49-F238E27FC236}">
                <a16:creationId xmlns:a16="http://schemas.microsoft.com/office/drawing/2014/main" id="{4C46B285-902D-45A5-8701-BCF159024C48}"/>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6</a:t>
            </a:r>
          </a:p>
        </p:txBody>
      </p:sp>
      <p:sp>
        <p:nvSpPr>
          <p:cNvPr id="3" name="partner-node-7">
            <a:extLst xmlns:a="http://schemas.openxmlformats.org/drawingml/2006/main">
              <a:ext uri="{FF2B5EF4-FFF2-40B4-BE49-F238E27FC236}">
                <a16:creationId xmlns:a16="http://schemas.microsoft.com/office/drawing/2014/main" id="{5B9C0445-710F-469D-BD64-157D96B54070}"/>
              </a:ext>
            </a:extLst>
          </p:cNvPr>
          <p:cNvSpPr>
            <a:spLocks xmlns:a="http://schemas.openxmlformats.org/drawingml/2006/main" noGrp="1"/>
          </p:cNvSpPr>
          <p:nvPr/>
        </p:nvSpPr>
        <p:spPr>
          <a:xfrm xmlns:a="http://schemas.openxmlformats.org/drawingml/2006/main">
            <a:off x="609600" y="2095500"/>
            <a:ext cx="6096000" cy="29527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4" name="partner-text-8">
            <a:extLst xmlns:a="http://schemas.openxmlformats.org/drawingml/2006/main">
              <a:ext uri="{FF2B5EF4-FFF2-40B4-BE49-F238E27FC236}">
                <a16:creationId xmlns:a16="http://schemas.microsoft.com/office/drawing/2014/main" id="{FC2147B6-4013-4CA6-AD65-EF2E73FDB406}"/>
              </a:ext>
            </a:extLst>
          </p:cNvPr>
          <p:cNvSpPr>
            <a:spLocks xmlns:a="http://schemas.openxmlformats.org/drawingml/2006/main" noGrp="1"/>
          </p:cNvSpPr>
          <p:nvPr/>
        </p:nvSpPr>
        <p:spPr>
          <a:xfrm xmlns:a="http://schemas.openxmlformats.org/drawingml/2006/main">
            <a:off x="800100" y="2257425"/>
            <a:ext cx="571500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57D80"/>
                </a:solidFill>
                <a:latin typeface="Aptos"/>
                <a:ea typeface="Aptos"/>
                <a:cs typeface="Aptos"/>
              </a:defRPr>
            </a:defPPr>
          </a:lstStyle>
          <a:p xmlns:a="http://schemas.openxmlformats.org/drawingml/2006/main">
            <a:pPr algn="l">
              <a:buNone/>
              <a:defRPr sz="2550" b="1">
                <a:solidFill>
                  <a:srgbClr val="157D80"/>
                </a:solidFill>
                <a:latin typeface="Aptos"/>
                <a:ea typeface="Aptos"/>
                <a:cs typeface="Aptos"/>
              </a:defRPr>
            </a:pPr>
            <a:r>
              <a:rPr sz="2550" b="1">
                <a:solidFill>
                  <a:srgbClr val="157D80"/>
                </a:solidFill>
                <a:latin typeface="Aptos"/>
                <a:ea typeface="Aptos"/>
                <a:cs typeface="Aptos"/>
              </a:rPr>
              <a:t>Existing DAO PostgreSQL</a:t>
            </a:r>
          </a:p>
        </p:txBody>
      </p:sp>
      <p:sp>
        <p:nvSpPr>
          <p:cNvPr id="5" name="partner-text-9">
            <a:extLst xmlns:a="http://schemas.openxmlformats.org/drawingml/2006/main">
              <a:ext uri="{FF2B5EF4-FFF2-40B4-BE49-F238E27FC236}">
                <a16:creationId xmlns:a16="http://schemas.microsoft.com/office/drawing/2014/main" id="{C1D4A151-31F2-47CC-A4A2-A69DB6BF266E}"/>
              </a:ext>
            </a:extLst>
          </p:cNvPr>
          <p:cNvSpPr>
            <a:spLocks xmlns:a="http://schemas.openxmlformats.org/drawingml/2006/main" noGrp="1"/>
          </p:cNvSpPr>
          <p:nvPr/>
        </p:nvSpPr>
        <p:spPr>
          <a:xfrm xmlns:a="http://schemas.openxmlformats.org/drawingml/2006/main">
            <a:off x="800100" y="2700147"/>
            <a:ext cx="5715000" cy="98888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Meeting and funding records</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Authoritative evidence and history</a:t>
            </a:r>
          </a:p>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Research deltas and transactional outbox</a:t>
            </a:r>
          </a:p>
        </p:txBody>
      </p:sp>
      <p:sp>
        <p:nvSpPr>
          <p:cNvPr id="6" name="partner-text-10">
            <a:extLst xmlns:a="http://schemas.openxmlformats.org/drawingml/2006/main">
              <a:ext uri="{FF2B5EF4-FFF2-40B4-BE49-F238E27FC236}">
                <a16:creationId xmlns:a16="http://schemas.microsoft.com/office/drawing/2014/main" id="{2B3DA934-7754-4803-868E-B601DE404917}"/>
              </a:ext>
            </a:extLst>
          </p:cNvPr>
          <p:cNvSpPr>
            <a:spLocks xmlns:a="http://schemas.openxmlformats.org/drawingml/2006/main" noGrp="1"/>
          </p:cNvSpPr>
          <p:nvPr/>
        </p:nvSpPr>
        <p:spPr>
          <a:xfrm xmlns:a="http://schemas.openxmlformats.org/drawingml/2006/main">
            <a:off x="800100" y="4219575"/>
            <a:ext cx="5715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Evidence and graph cores merged</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Production integration next</a:t>
            </a:r>
          </a:p>
        </p:txBody>
      </p:sp>
      <p:sp>
        <p:nvSpPr>
          <p:cNvPr id="7" name="partner-node-11">
            <a:extLst xmlns:a="http://schemas.openxmlformats.org/drawingml/2006/main">
              <a:ext uri="{FF2B5EF4-FFF2-40B4-BE49-F238E27FC236}">
                <a16:creationId xmlns:a16="http://schemas.microsoft.com/office/drawing/2014/main" id="{2077BE8B-76C5-4B87-9960-9733451C3FB0}"/>
              </a:ext>
            </a:extLst>
          </p:cNvPr>
          <p:cNvSpPr>
            <a:spLocks xmlns:a="http://schemas.openxmlformats.org/drawingml/2006/main" noGrp="1"/>
          </p:cNvSpPr>
          <p:nvPr/>
        </p:nvSpPr>
        <p:spPr>
          <a:xfrm xmlns:a="http://schemas.openxmlformats.org/drawingml/2006/main">
            <a:off x="9810750" y="2095500"/>
            <a:ext cx="4819650" cy="29527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8" name="partner-text-12">
            <a:extLst xmlns:a="http://schemas.openxmlformats.org/drawingml/2006/main">
              <a:ext uri="{FF2B5EF4-FFF2-40B4-BE49-F238E27FC236}">
                <a16:creationId xmlns:a16="http://schemas.microsoft.com/office/drawing/2014/main" id="{8CB56043-F187-4D29-A770-033355FC966F}"/>
              </a:ext>
            </a:extLst>
          </p:cNvPr>
          <p:cNvSpPr>
            <a:spLocks xmlns:a="http://schemas.openxmlformats.org/drawingml/2006/main" noGrp="1"/>
          </p:cNvSpPr>
          <p:nvPr/>
        </p:nvSpPr>
        <p:spPr>
          <a:xfrm xmlns:a="http://schemas.openxmlformats.org/drawingml/2006/main">
            <a:off x="10001250" y="2257425"/>
            <a:ext cx="4438650" cy="43319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550" b="1">
                <a:solidFill>
                  <a:srgbClr val="132E38"/>
                </a:solidFill>
                <a:latin typeface="Aptos"/>
                <a:ea typeface="Aptos"/>
                <a:cs typeface="Aptos"/>
              </a:defRPr>
            </a:defPPr>
          </a:lstStyle>
          <a:p xmlns:a="http://schemas.openxmlformats.org/drawingml/2006/main">
            <a:pPr algn="l">
              <a:buNone/>
              <a:defRPr sz="2550" b="1">
                <a:solidFill>
                  <a:srgbClr val="132E38"/>
                </a:solidFill>
                <a:latin typeface="Aptos"/>
                <a:ea typeface="Aptos"/>
                <a:cs typeface="Aptos"/>
              </a:defRPr>
            </a:pPr>
            <a:r>
              <a:rPr sz="2550" b="1">
                <a:solidFill>
                  <a:srgbClr val="132E38"/>
                </a:solidFill>
                <a:latin typeface="Aptos"/>
                <a:ea typeface="Aptos"/>
                <a:cs typeface="Aptos"/>
              </a:rPr>
              <a:t>Paperclip database</a:t>
            </a:r>
          </a:p>
        </p:txBody>
      </p:sp>
      <p:sp>
        <p:nvSpPr>
          <p:cNvPr id="9" name="partner-text-13">
            <a:extLst xmlns:a="http://schemas.openxmlformats.org/drawingml/2006/main">
              <a:ext uri="{FF2B5EF4-FFF2-40B4-BE49-F238E27FC236}">
                <a16:creationId xmlns:a16="http://schemas.microsoft.com/office/drawing/2014/main" id="{D61F985A-692C-4C66-82E1-CC6E05726C50}"/>
              </a:ext>
            </a:extLst>
          </p:cNvPr>
          <p:cNvSpPr>
            <a:spLocks xmlns:a="http://schemas.openxmlformats.org/drawingml/2006/main" noGrp="1"/>
          </p:cNvSpPr>
          <p:nvPr/>
        </p:nvSpPr>
        <p:spPr>
          <a:xfrm xmlns:a="http://schemas.openxmlformats.org/drawingml/2006/main">
            <a:off x="10001250" y="2700147"/>
            <a:ext cx="4438650" cy="1023747"/>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A6572"/>
                </a:solidFill>
                <a:latin typeface="Aptos"/>
                <a:ea typeface="Aptos"/>
                <a:cs typeface="Aptos"/>
              </a:defRPr>
            </a:defPPr>
          </a:lstStyle>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Tasks and agents</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Runs and review decisions</a:t>
            </a:r>
          </a:p>
          <a:p xmlns:a="http://schemas.openxmlformats.org/drawingml/2006/main">
            <a:pPr algn="l">
              <a:buNone/>
              <a:defRPr sz="2100" b="0">
                <a:solidFill>
                  <a:srgbClr val="4A6572"/>
                </a:solidFill>
                <a:latin typeface="Aptos"/>
                <a:ea typeface="Aptos"/>
                <a:cs typeface="Aptos"/>
              </a:defRPr>
            </a:pPr>
            <a:r>
              <a:rPr sz="2100" b="0">
                <a:solidFill>
                  <a:srgbClr val="4A6572"/>
                </a:solidFill>
                <a:latin typeface="Aptos"/>
                <a:ea typeface="Aptos"/>
                <a:cs typeface="Aptos"/>
              </a:rPr>
              <a:t>Bridge transport state</a:t>
            </a:r>
          </a:p>
        </p:txBody>
      </p:sp>
      <p:cxnSp>
        <p:nvCxnSpPr>
          <p:cNvPr id="10" name="partner-flow-14">
            <a:extLst xmlns:a="http://schemas.openxmlformats.org/drawingml/2006/main">
              <a:ext uri="{FF2B5EF4-FFF2-40B4-BE49-F238E27FC236}">
                <a16:creationId xmlns:a16="http://schemas.microsoft.com/office/drawing/2014/main" id="{C1FB5187-2091-4B2F-B26A-FF2429B1FA00}"/>
              </a:ext>
            </a:extLst>
          </p:cNvPr>
          <p:cNvCxnSpPr/>
          <p:nvPr/>
        </p:nvCxnSpPr>
        <p:spPr>
          <a:xfrm xmlns:a="http://schemas.openxmlformats.org/drawingml/2006/main" flipH="0" flipV="0">
            <a:off x="6705600" y="3571875"/>
            <a:ext cx="3105150" cy="0"/>
          </a:xfrm>
          <a:prstGeom xmlns:a="http://schemas.openxmlformats.org/drawingml/2006/main" prst="straightConnector1">
            <a:avLst/>
          </a:prstGeom>
          <a:ln xmlns:a="http://schemas.openxmlformats.org/drawingml/2006/main" w="23813">
            <a:solidFill>
              <a:srgbClr val="157D80"/>
            </a:solidFill>
            <a:prstDash val="dash"/>
            <a:headEnd type="triangle" w="med" len="med"/>
            <a:tailEnd type="triangle" w="med" len="med"/>
          </a:ln>
        </p:spPr>
      </p:cxnSp>
      <p:sp>
        <p:nvSpPr>
          <p:cNvPr id="11" name="partner-text-15">
            <a:extLst xmlns:a="http://schemas.openxmlformats.org/drawingml/2006/main">
              <a:ext uri="{FF2B5EF4-FFF2-40B4-BE49-F238E27FC236}">
                <a16:creationId xmlns:a16="http://schemas.microsoft.com/office/drawing/2014/main" id="{C491AAC4-2C05-425E-8C24-66B765396D23}"/>
              </a:ext>
            </a:extLst>
          </p:cNvPr>
          <p:cNvSpPr>
            <a:spLocks xmlns:a="http://schemas.openxmlformats.org/drawingml/2006/main" noGrp="1"/>
          </p:cNvSpPr>
          <p:nvPr/>
        </p:nvSpPr>
        <p:spPr>
          <a:xfrm xmlns:a="http://schemas.openxmlformats.org/drawingml/2006/main">
            <a:off x="6724650" y="2647950"/>
            <a:ext cx="3067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Service adapters</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Task links and decisions</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Planned</a:t>
            </a:r>
          </a:p>
        </p:txBody>
      </p:sp>
      <p:sp>
        <p:nvSpPr>
          <p:cNvPr id="12" name="partner-node-16">
            <a:extLst xmlns:a="http://schemas.openxmlformats.org/drawingml/2006/main">
              <a:ext uri="{FF2B5EF4-FFF2-40B4-BE49-F238E27FC236}">
                <a16:creationId xmlns:a16="http://schemas.microsoft.com/office/drawing/2014/main" id="{351ADE2D-DFB6-4D38-B172-A87C9EA52074}"/>
              </a:ext>
            </a:extLst>
          </p:cNvPr>
          <p:cNvSpPr>
            <a:spLocks xmlns:a="http://schemas.openxmlformats.org/drawingml/2006/main" noGrp="1"/>
          </p:cNvSpPr>
          <p:nvPr/>
        </p:nvSpPr>
        <p:spPr>
          <a:xfrm xmlns:a="http://schemas.openxmlformats.org/drawingml/2006/main">
            <a:off x="609600" y="6334125"/>
            <a:ext cx="39052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3" name="partner-text-17">
            <a:extLst xmlns:a="http://schemas.openxmlformats.org/drawingml/2006/main">
              <a:ext uri="{FF2B5EF4-FFF2-40B4-BE49-F238E27FC236}">
                <a16:creationId xmlns:a16="http://schemas.microsoft.com/office/drawing/2014/main" id="{83E0CD4A-84F4-428A-999E-A3E75AE180FA}"/>
              </a:ext>
            </a:extLst>
          </p:cNvPr>
          <p:cNvSpPr>
            <a:spLocks xmlns:a="http://schemas.openxmlformats.org/drawingml/2006/main" noGrp="1"/>
          </p:cNvSpPr>
          <p:nvPr/>
        </p:nvSpPr>
        <p:spPr>
          <a:xfrm xmlns:a="http://schemas.openxmlformats.org/drawingml/2006/main">
            <a:off x="800100" y="6496050"/>
            <a:ext cx="35242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Domain sources</a:t>
            </a:r>
          </a:p>
        </p:txBody>
      </p:sp>
      <p:sp>
        <p:nvSpPr>
          <p:cNvPr id="14" name="partner-text-18">
            <a:extLst xmlns:a="http://schemas.openxmlformats.org/drawingml/2006/main">
              <a:ext uri="{FF2B5EF4-FFF2-40B4-BE49-F238E27FC236}">
                <a16:creationId xmlns:a16="http://schemas.microsoft.com/office/drawing/2014/main" id="{CECD3974-669C-49A8-8E62-F8664E29BEEB}"/>
              </a:ext>
            </a:extLst>
          </p:cNvPr>
          <p:cNvSpPr>
            <a:spLocks xmlns:a="http://schemas.openxmlformats.org/drawingml/2006/main" noGrp="1"/>
          </p:cNvSpPr>
          <p:nvPr/>
        </p:nvSpPr>
        <p:spPr>
          <a:xfrm xmlns:a="http://schemas.openxmlformats.org/drawingml/2006/main">
            <a:off x="800100" y="6903911"/>
            <a:ext cx="3524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Website, meetings and Y2</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Read-only financial exports</a:t>
            </a:r>
          </a:p>
        </p:txBody>
      </p:sp>
      <p:cxnSp>
        <p:nvCxnSpPr>
          <p:cNvPr id="15" name="partner-flow-19">
            <a:extLst xmlns:a="http://schemas.openxmlformats.org/drawingml/2006/main">
              <a:ext uri="{FF2B5EF4-FFF2-40B4-BE49-F238E27FC236}">
                <a16:creationId xmlns:a16="http://schemas.microsoft.com/office/drawing/2014/main" id="{C6D5B310-1D15-45BE-BFE7-6709B47B9A84}"/>
              </a:ext>
            </a:extLst>
          </p:cNvPr>
          <p:cNvCxnSpPr/>
          <p:nvPr/>
        </p:nvCxnSpPr>
        <p:spPr>
          <a:xfrm xmlns:a="http://schemas.openxmlformats.org/drawingml/2006/main" flipH="0" flipV="1">
            <a:off x="2562225" y="5048250"/>
            <a:ext cx="0" cy="1285875"/>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16" name="partner-text-20">
            <a:extLst xmlns:a="http://schemas.openxmlformats.org/drawingml/2006/main">
              <a:ext uri="{FF2B5EF4-FFF2-40B4-BE49-F238E27FC236}">
                <a16:creationId xmlns:a16="http://schemas.microsoft.com/office/drawing/2014/main" id="{D4AF4276-834B-49C1-8998-2EBDC8092811}"/>
              </a:ext>
            </a:extLst>
          </p:cNvPr>
          <p:cNvSpPr>
            <a:spLocks xmlns:a="http://schemas.openxmlformats.org/drawingml/2006/main" noGrp="1"/>
          </p:cNvSpPr>
          <p:nvPr/>
        </p:nvSpPr>
        <p:spPr>
          <a:xfrm xmlns:a="http://schemas.openxmlformats.org/drawingml/2006/main">
            <a:off x="609600" y="5572125"/>
            <a:ext cx="1809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Adapters pending</a:t>
            </a:r>
          </a:p>
        </p:txBody>
      </p:sp>
      <p:sp>
        <p:nvSpPr>
          <p:cNvPr id="17" name="partner-node-21">
            <a:extLst xmlns:a="http://schemas.openxmlformats.org/drawingml/2006/main">
              <a:ext uri="{FF2B5EF4-FFF2-40B4-BE49-F238E27FC236}">
                <a16:creationId xmlns:a16="http://schemas.microsoft.com/office/drawing/2014/main" id="{B9D80B4C-AC07-4902-93B4-B88A11A647C2}"/>
              </a:ext>
            </a:extLst>
          </p:cNvPr>
          <p:cNvSpPr>
            <a:spLocks xmlns:a="http://schemas.openxmlformats.org/drawingml/2006/main" noGrp="1"/>
          </p:cNvSpPr>
          <p:nvPr/>
        </p:nvSpPr>
        <p:spPr>
          <a:xfrm xmlns:a="http://schemas.openxmlformats.org/drawingml/2006/main">
            <a:off x="9810750" y="6334125"/>
            <a:ext cx="4819650" cy="1381125"/>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dash"/>
          </a:ln>
        </p:spPr>
      </p:sp>
      <p:sp>
        <p:nvSpPr>
          <p:cNvPr id="18" name="partner-text-22">
            <a:extLst xmlns:a="http://schemas.openxmlformats.org/drawingml/2006/main">
              <a:ext uri="{FF2B5EF4-FFF2-40B4-BE49-F238E27FC236}">
                <a16:creationId xmlns:a16="http://schemas.microsoft.com/office/drawing/2014/main" id="{5A6817F6-D0E2-4D90-9F17-8E6A464ACEFA}"/>
              </a:ext>
            </a:extLst>
          </p:cNvPr>
          <p:cNvSpPr>
            <a:spLocks xmlns:a="http://schemas.openxmlformats.org/drawingml/2006/main" noGrp="1"/>
          </p:cNvSpPr>
          <p:nvPr/>
        </p:nvSpPr>
        <p:spPr>
          <a:xfrm xmlns:a="http://schemas.openxmlformats.org/drawingml/2006/main">
            <a:off x="10001250" y="6496050"/>
            <a:ext cx="4438650" cy="3983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325" b="1">
                <a:solidFill>
                  <a:srgbClr val="132E38"/>
                </a:solidFill>
                <a:latin typeface="Aptos"/>
                <a:ea typeface="Aptos"/>
                <a:cs typeface="Aptos"/>
              </a:defRPr>
            </a:defPPr>
          </a:lstStyle>
          <a:p xmlns:a="http://schemas.openxmlformats.org/drawingml/2006/main">
            <a:pPr algn="l">
              <a:buNone/>
              <a:defRPr sz="2325" b="1">
                <a:solidFill>
                  <a:srgbClr val="132E38"/>
                </a:solidFill>
                <a:latin typeface="Aptos"/>
                <a:ea typeface="Aptos"/>
                <a:cs typeface="Aptos"/>
              </a:defRPr>
            </a:pPr>
            <a:r>
              <a:rPr sz="2325" b="1">
                <a:solidFill>
                  <a:srgbClr val="132E38"/>
                </a:solidFill>
                <a:latin typeface="Aptos"/>
                <a:ea typeface="Aptos"/>
                <a:cs typeface="Aptos"/>
              </a:rPr>
              <a:t>Helix partner graph</a:t>
            </a:r>
          </a:p>
        </p:txBody>
      </p:sp>
      <p:sp>
        <p:nvSpPr>
          <p:cNvPr id="19" name="partner-text-23">
            <a:extLst xmlns:a="http://schemas.openxmlformats.org/drawingml/2006/main">
              <a:ext uri="{FF2B5EF4-FFF2-40B4-BE49-F238E27FC236}">
                <a16:creationId xmlns:a16="http://schemas.microsoft.com/office/drawing/2014/main" id="{125E7553-4239-4D03-B7C1-20303550273E}"/>
              </a:ext>
            </a:extLst>
          </p:cNvPr>
          <p:cNvSpPr>
            <a:spLocks xmlns:a="http://schemas.openxmlformats.org/drawingml/2006/main" noGrp="1"/>
          </p:cNvSpPr>
          <p:nvPr/>
        </p:nvSpPr>
        <p:spPr>
          <a:xfrm xmlns:a="http://schemas.openxmlformats.org/drawingml/2006/main">
            <a:off x="10001250" y="6903911"/>
            <a:ext cx="44386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Indexed relationship queries</a:t>
            </a:r>
          </a:p>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PG source and access revalidation</a:t>
            </a:r>
          </a:p>
        </p:txBody>
      </p:sp>
      <p:cxnSp>
        <p:nvCxnSpPr>
          <p:cNvPr id="20" name="partner-flow-24">
            <a:extLst xmlns:a="http://schemas.openxmlformats.org/drawingml/2006/main">
              <a:ext uri="{FF2B5EF4-FFF2-40B4-BE49-F238E27FC236}">
                <a16:creationId xmlns:a16="http://schemas.microsoft.com/office/drawing/2014/main" id="{688DCCBC-6817-4A75-95D4-22D8396A0E54}"/>
              </a:ext>
            </a:extLst>
          </p:cNvPr>
          <p:cNvCxnSpPr/>
          <p:nvPr/>
        </p:nvCxnSpPr>
        <p:spPr>
          <a:xfrm xmlns:a="http://schemas.openxmlformats.org/drawingml/2006/main" flipH="0" flipV="0">
            <a:off x="5715000" y="5048250"/>
            <a:ext cx="0" cy="714375"/>
          </a:xfrm>
          <a:prstGeom xmlns:a="http://schemas.openxmlformats.org/drawingml/2006/main" prst="straightConnector1">
            <a:avLst/>
          </a:prstGeom>
          <a:ln xmlns:a="http://schemas.openxmlformats.org/drawingml/2006/main" w="23813">
            <a:solidFill>
              <a:srgbClr val="157D80"/>
            </a:solidFill>
            <a:prstDash val="dash"/>
          </a:ln>
        </p:spPr>
      </p:cxnSp>
      <p:cxnSp>
        <p:nvCxnSpPr>
          <p:cNvPr id="21" name="partner-flow-25">
            <a:extLst xmlns:a="http://schemas.openxmlformats.org/drawingml/2006/main">
              <a:ext uri="{FF2B5EF4-FFF2-40B4-BE49-F238E27FC236}">
                <a16:creationId xmlns:a16="http://schemas.microsoft.com/office/drawing/2014/main" id="{C52DC936-70A5-4C5F-A32D-7D31CD24644C}"/>
              </a:ext>
            </a:extLst>
          </p:cNvPr>
          <p:cNvCxnSpPr/>
          <p:nvPr/>
        </p:nvCxnSpPr>
        <p:spPr>
          <a:xfrm xmlns:a="http://schemas.openxmlformats.org/drawingml/2006/main" flipH="0" flipV="0">
            <a:off x="5715000" y="5762625"/>
            <a:ext cx="6505575" cy="0"/>
          </a:xfrm>
          <a:prstGeom xmlns:a="http://schemas.openxmlformats.org/drawingml/2006/main" prst="straightConnector1">
            <a:avLst/>
          </a:prstGeom>
          <a:ln xmlns:a="http://schemas.openxmlformats.org/drawingml/2006/main" w="23813">
            <a:solidFill>
              <a:srgbClr val="157D80"/>
            </a:solidFill>
            <a:prstDash val="dash"/>
          </a:ln>
        </p:spPr>
      </p:cxnSp>
      <p:cxnSp>
        <p:nvCxnSpPr>
          <p:cNvPr id="22" name="partner-flow-26">
            <a:extLst xmlns:a="http://schemas.openxmlformats.org/drawingml/2006/main">
              <a:ext uri="{FF2B5EF4-FFF2-40B4-BE49-F238E27FC236}">
                <a16:creationId xmlns:a16="http://schemas.microsoft.com/office/drawing/2014/main" id="{BD26B45E-DFC7-485C-A8C8-8E005339C3C1}"/>
              </a:ext>
            </a:extLst>
          </p:cNvPr>
          <p:cNvCxnSpPr/>
          <p:nvPr/>
        </p:nvCxnSpPr>
        <p:spPr>
          <a:xfrm xmlns:a="http://schemas.openxmlformats.org/drawingml/2006/main" flipH="0" flipV="0">
            <a:off x="12220575" y="5762625"/>
            <a:ext cx="0" cy="571500"/>
          </a:xfrm>
          <a:prstGeom xmlns:a="http://schemas.openxmlformats.org/drawingml/2006/main" prst="straightConnector1">
            <a:avLst/>
          </a:prstGeom>
          <a:ln xmlns:a="http://schemas.openxmlformats.org/drawingml/2006/main" w="23813">
            <a:solidFill>
              <a:srgbClr val="157D80"/>
            </a:solidFill>
            <a:prstDash val="dash"/>
            <a:tailEnd type="triangle" w="med" len="med"/>
          </a:ln>
        </p:spPr>
      </p:cxnSp>
      <p:sp>
        <p:nvSpPr>
          <p:cNvPr id="23" name="partner-text-27">
            <a:extLst xmlns:a="http://schemas.openxmlformats.org/drawingml/2006/main">
              <a:ext uri="{FF2B5EF4-FFF2-40B4-BE49-F238E27FC236}">
                <a16:creationId xmlns:a16="http://schemas.microsoft.com/office/drawing/2014/main" id="{597B8127-3B37-4AED-BFCE-07B971A0F383}"/>
              </a:ext>
            </a:extLst>
          </p:cNvPr>
          <p:cNvSpPr>
            <a:spLocks xmlns:a="http://schemas.openxmlformats.org/drawingml/2006/main" noGrp="1"/>
          </p:cNvSpPr>
          <p:nvPr/>
        </p:nvSpPr>
        <p:spPr>
          <a:xfrm xmlns:a="http://schemas.openxmlformats.org/drawingml/2006/main">
            <a:off x="7200900" y="5172075"/>
            <a:ext cx="3905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00" b="0">
                <a:solidFill>
                  <a:srgbClr val="4A6572"/>
                </a:solidFill>
                <a:latin typeface="Aptos"/>
                <a:ea typeface="Aptos"/>
                <a:cs typeface="Aptos"/>
              </a:defRPr>
            </a:defPPr>
          </a:lstStyle>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Transactional outbox</a:t>
            </a:r>
          </a:p>
          <a:p xmlns:a="http://schemas.openxmlformats.org/drawingml/2006/main">
            <a:pPr algn="ctr">
              <a:buNone/>
              <a:defRPr sz="1800" b="0">
                <a:solidFill>
                  <a:srgbClr val="4A6572"/>
                </a:solidFill>
                <a:latin typeface="Aptos"/>
                <a:ea typeface="Aptos"/>
                <a:cs typeface="Aptos"/>
              </a:defRPr>
            </a:pPr>
            <a:r>
              <a:rPr sz="1800" b="0">
                <a:solidFill>
                  <a:srgbClr val="4A6572"/>
                </a:solidFill>
                <a:latin typeface="Aptos"/>
                <a:ea typeface="Aptos"/>
                <a:cs typeface="Aptos"/>
              </a:rPr>
              <a:t>Projection integration next</a:t>
            </a:r>
          </a:p>
        </p:txBody>
      </p:sp>
      <p:sp>
        <p:nvSpPr>
          <p:cNvPr id="24" name="partner-text-28">
            <a:extLst xmlns:a="http://schemas.openxmlformats.org/drawingml/2006/main">
              <a:ext uri="{FF2B5EF4-FFF2-40B4-BE49-F238E27FC236}">
                <a16:creationId xmlns:a16="http://schemas.microsoft.com/office/drawing/2014/main" id="{75011ED0-C4B7-41DF-B653-DB10117B2406}"/>
              </a:ext>
            </a:extLst>
          </p:cNvPr>
          <p:cNvSpPr>
            <a:spLocks xmlns:a="http://schemas.openxmlformats.org/drawingml/2006/main" noGrp="1"/>
          </p:cNvSpPr>
          <p:nvPr/>
        </p:nvSpPr>
        <p:spPr>
          <a:xfrm xmlns:a="http://schemas.openxmlformats.org/drawingml/2006/main">
            <a:off x="4905375" y="6572250"/>
            <a:ext cx="428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0">
                <a:solidFill>
                  <a:srgbClr val="4A6572"/>
                </a:solidFill>
                <a:latin typeface="Aptos"/>
                <a:ea typeface="Aptos"/>
                <a:cs typeface="Aptos"/>
              </a:defRPr>
            </a:defPPr>
          </a:lstStyle>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Broader 990 enrichment and</a:t>
            </a:r>
          </a:p>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optional semantic search</a:t>
            </a:r>
          </a:p>
          <a:p xmlns:a="http://schemas.openxmlformats.org/drawingml/2006/main">
            <a:pPr algn="ctr">
              <a:buNone/>
              <a:defRPr sz="1875" b="0">
                <a:solidFill>
                  <a:srgbClr val="4A6572"/>
                </a:solidFill>
                <a:latin typeface="Aptos"/>
                <a:ea typeface="Aptos"/>
                <a:cs typeface="Aptos"/>
              </a:defRPr>
            </a:pPr>
            <a:r>
              <a:rPr sz="1875" b="0">
                <a:solidFill>
                  <a:srgbClr val="4A6572"/>
                </a:solidFill>
                <a:latin typeface="Aptos"/>
                <a:ea typeface="Aptos"/>
                <a:cs typeface="Aptos"/>
              </a:rPr>
              <a:t>follow later</a:t>
            </a:r>
          </a:p>
        </p:txBody>
      </p:sp>
      <p:sp>
        <p:nvSpPr>
          <p:cNvPr id="25" name="partner-text-29">
            <a:extLst xmlns:a="http://schemas.openxmlformats.org/drawingml/2006/main">
              <a:ext uri="{FF2B5EF4-FFF2-40B4-BE49-F238E27FC236}">
                <a16:creationId xmlns:a16="http://schemas.microsoft.com/office/drawing/2014/main" id="{C2939154-352F-43C8-BBEC-DB3542370E00}"/>
              </a:ext>
            </a:extLst>
          </p:cNvPr>
          <p:cNvSpPr>
            <a:spLocks xmlns:a="http://schemas.openxmlformats.org/drawingml/2006/main" noGrp="1"/>
          </p:cNvSpPr>
          <p:nvPr/>
        </p:nvSpPr>
        <p:spPr>
          <a:xfrm xmlns:a="http://schemas.openxmlformats.org/drawingml/2006/main">
            <a:off x="9810750" y="7781925"/>
            <a:ext cx="4819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A6572"/>
                </a:solidFill>
                <a:latin typeface="Aptos"/>
                <a:ea typeface="Aptos"/>
                <a:cs typeface="Aptos"/>
              </a:defRPr>
            </a:defPPr>
          </a:lstStyle>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Merged core, live integration next</a:t>
            </a:r>
          </a:p>
        </p:txBody>
      </p:sp>
    </p:spTree>
    <p:extLst>
      <p:ext uri="{BB962C8B-B14F-4D97-AF65-F5344CB8AC3E}">
        <p14:creationId xmlns:p14="http://schemas.microsoft.com/office/powerpoint/2010/main" val="2108005505"/>
      </p:ext>
    </p:extLst>
  </p:cSld>
</p:sld>
</file>

<file path=ppt/slides/slide7.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31" name="partner-text-30">
            <a:extLst xmlns:a="http://schemas.openxmlformats.org/drawingml/2006/main">
              <a:ext uri="{FF2B5EF4-FFF2-40B4-BE49-F238E27FC236}">
                <a16:creationId xmlns:a16="http://schemas.microsoft.com/office/drawing/2014/main" id="{D9F6F098-606C-4753-8F35-53882B59748D}"/>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Partner graph and research reuse</a:t>
            </a:r>
          </a:p>
        </p:txBody>
      </p:sp>
      <p:sp>
        <p:nvSpPr>
          <p:cNvPr id="2" name="partner-text-31">
            <a:extLst xmlns:a="http://schemas.openxmlformats.org/drawingml/2006/main">
              <a:ext uri="{FF2B5EF4-FFF2-40B4-BE49-F238E27FC236}">
                <a16:creationId xmlns:a16="http://schemas.microsoft.com/office/drawing/2014/main" id="{3C2D60C0-D3F6-4417-BBFD-1D96437A9D33}"/>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7</a:t>
            </a:r>
          </a:p>
        </p:txBody>
      </p:sp>
      <p:sp>
        <p:nvSpPr>
          <p:cNvPr id="3" name="partner-text-32">
            <a:extLst xmlns:a="http://schemas.openxmlformats.org/drawingml/2006/main">
              <a:ext uri="{FF2B5EF4-FFF2-40B4-BE49-F238E27FC236}">
                <a16:creationId xmlns:a16="http://schemas.microsoft.com/office/drawing/2014/main" id="{236CDD3D-5A11-42C1-B333-FC684E731BD1}"/>
              </a:ext>
            </a:extLst>
          </p:cNvPr>
          <p:cNvSpPr>
            <a:spLocks xmlns:a="http://schemas.openxmlformats.org/drawingml/2006/main" noGrp="1"/>
          </p:cNvSpPr>
          <p:nvPr/>
        </p:nvSpPr>
        <p:spPr>
          <a:xfrm xmlns:a="http://schemas.openxmlformats.org/drawingml/2006/main">
            <a:off x="609600" y="1381125"/>
            <a:ext cx="140208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4A6572"/>
                </a:solidFill>
                <a:latin typeface="Aptos"/>
                <a:ea typeface="Aptos"/>
                <a:cs typeface="Aptos"/>
              </a:defRPr>
            </a:defPPr>
          </a:lstStyle>
          <a:p xmlns:a="http://schemas.openxmlformats.org/drawingml/2006/main">
            <a:pPr algn="l">
              <a:buNone/>
              <a:defRPr sz="2025" b="0">
                <a:solidFill>
                  <a:srgbClr val="4A6572"/>
                </a:solidFill>
                <a:latin typeface="Aptos"/>
                <a:ea typeface="Aptos"/>
                <a:cs typeface="Aptos"/>
              </a:defRPr>
            </a:pPr>
            <a:r>
              <a:rPr sz="2025" b="0">
                <a:solidFill>
                  <a:srgbClr val="4A6572"/>
                </a:solidFill>
                <a:latin typeface="Aptos"/>
                <a:ea typeface="Aptos"/>
                <a:cs typeface="Aptos"/>
              </a:rPr>
              <a:t>Merged core, live integration next</a:t>
            </a:r>
          </a:p>
        </p:txBody>
      </p:sp>
      <p:sp>
        <p:nvSpPr>
          <p:cNvPr id="4" name="partner-node-33">
            <a:extLst xmlns:a="http://schemas.openxmlformats.org/drawingml/2006/main">
              <a:ext uri="{FF2B5EF4-FFF2-40B4-BE49-F238E27FC236}">
                <a16:creationId xmlns:a16="http://schemas.microsoft.com/office/drawing/2014/main" id="{9A2E6CB0-9202-4C48-BBE8-BE2D900D5049}"/>
              </a:ext>
            </a:extLst>
          </p:cNvPr>
          <p:cNvSpPr>
            <a:spLocks xmlns:a="http://schemas.openxmlformats.org/drawingml/2006/main" noGrp="1"/>
          </p:cNvSpPr>
          <p:nvPr/>
        </p:nvSpPr>
        <p:spPr>
          <a:xfrm xmlns:a="http://schemas.openxmlformats.org/drawingml/2006/main">
            <a:off x="609600" y="2714625"/>
            <a:ext cx="3276600" cy="1619250"/>
          </a:xfrm>
          <a:prstGeom xmlns:a="http://schemas.openxmlformats.org/drawingml/2006/main" prst="rect">
            <a:avLst/>
          </a:prstGeom>
          <a:solidFill xmlns:a="http://schemas.openxmlformats.org/drawingml/2006/main">
            <a:srgbClr val="E7F1EE"/>
          </a:solidFill>
          <a:ln xmlns:a="http://schemas.openxmlformats.org/drawingml/2006/main" w="17145">
            <a:solidFill>
              <a:srgbClr val="157D80"/>
            </a:solidFill>
            <a:prstDash val="solid"/>
          </a:ln>
        </p:spPr>
      </p:sp>
      <p:sp>
        <p:nvSpPr>
          <p:cNvPr id="5" name="partner-text-34">
            <a:extLst xmlns:a="http://schemas.openxmlformats.org/drawingml/2006/main">
              <a:ext uri="{FF2B5EF4-FFF2-40B4-BE49-F238E27FC236}">
                <a16:creationId xmlns:a16="http://schemas.microsoft.com/office/drawing/2014/main" id="{49CF5225-6E8C-464F-80B5-D2620C4047FA}"/>
              </a:ext>
            </a:extLst>
          </p:cNvPr>
          <p:cNvSpPr>
            <a:spLocks xmlns:a="http://schemas.openxmlformats.org/drawingml/2006/main" noGrp="1"/>
          </p:cNvSpPr>
          <p:nvPr/>
        </p:nvSpPr>
        <p:spPr>
          <a:xfrm xmlns:a="http://schemas.openxmlformats.org/drawingml/2006/main">
            <a:off x="8001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57D80"/>
                </a:solidFill>
                <a:latin typeface="Aptos"/>
                <a:ea typeface="Aptos"/>
                <a:cs typeface="Aptos"/>
              </a:defRPr>
            </a:defPPr>
          </a:lstStyle>
          <a:p xmlns:a="http://schemas.openxmlformats.org/drawingml/2006/main">
            <a:pPr algn="l">
              <a:buNone/>
              <a:defRPr sz="2100" b="1">
                <a:solidFill>
                  <a:srgbClr val="157D80"/>
                </a:solidFill>
                <a:latin typeface="Aptos"/>
                <a:ea typeface="Aptos"/>
                <a:cs typeface="Aptos"/>
              </a:defRPr>
            </a:pPr>
            <a:r>
              <a:rPr sz="2100" b="1">
                <a:solidFill>
                  <a:srgbClr val="157D80"/>
                </a:solidFill>
                <a:latin typeface="Aptos"/>
                <a:ea typeface="Aptos"/>
                <a:cs typeface="Aptos"/>
              </a:rPr>
              <a:t>Query saved context</a:t>
            </a:r>
          </a:p>
        </p:txBody>
      </p:sp>
      <p:sp>
        <p:nvSpPr>
          <p:cNvPr id="6" name="partner-text-35">
            <a:extLst xmlns:a="http://schemas.openxmlformats.org/drawingml/2006/main">
              <a:ext uri="{FF2B5EF4-FFF2-40B4-BE49-F238E27FC236}">
                <a16:creationId xmlns:a16="http://schemas.microsoft.com/office/drawing/2014/main" id="{70DCBAF5-39BD-4A28-9819-D6963985ABB1}"/>
              </a:ext>
            </a:extLst>
          </p:cNvPr>
          <p:cNvSpPr>
            <a:spLocks xmlns:a="http://schemas.openxmlformats.org/drawingml/2006/main" noGrp="1"/>
          </p:cNvSpPr>
          <p:nvPr/>
        </p:nvSpPr>
        <p:spPr>
          <a:xfrm xmlns:a="http://schemas.openxmlformats.org/drawingml/2006/main">
            <a:off x="800100" y="3249549"/>
            <a:ext cx="2895600" cy="8494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A6572"/>
                </a:solidFill>
                <a:latin typeface="Aptos"/>
                <a:ea typeface="Aptos"/>
                <a:cs typeface="Aptos"/>
              </a:defRPr>
            </a:defPPr>
          </a:lstStyle>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PG access/source checks</a:t>
            </a:r>
          </a:p>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Indexed partner queries</a:t>
            </a:r>
          </a:p>
          <a:p xmlns:a="http://schemas.openxmlformats.org/drawingml/2006/main">
            <a:pPr algn="l">
              <a:buNone/>
              <a:defRPr sz="1725" b="0">
                <a:solidFill>
                  <a:srgbClr val="4A6572"/>
                </a:solidFill>
                <a:latin typeface="Aptos"/>
                <a:ea typeface="Aptos"/>
                <a:cs typeface="Aptos"/>
              </a:defRPr>
            </a:pPr>
            <a:r>
              <a:rPr sz="1725" b="0">
                <a:solidFill>
                  <a:srgbClr val="4A6572"/>
                </a:solidFill>
                <a:latin typeface="Aptos"/>
                <a:ea typeface="Aptos"/>
                <a:cs typeface="Aptos"/>
              </a:rPr>
              <a:t>Bounded PG fallback</a:t>
            </a:r>
          </a:p>
        </p:txBody>
      </p:sp>
      <p:sp>
        <p:nvSpPr>
          <p:cNvPr id="7" name="partner-node-36">
            <a:extLst xmlns:a="http://schemas.openxmlformats.org/drawingml/2006/main">
              <a:ext uri="{FF2B5EF4-FFF2-40B4-BE49-F238E27FC236}">
                <a16:creationId xmlns:a16="http://schemas.microsoft.com/office/drawing/2014/main" id="{7EEA0802-5C4F-4EEF-A5C5-DFFC1E0EB808}"/>
              </a:ext>
            </a:extLst>
          </p:cNvPr>
          <p:cNvSpPr>
            <a:spLocks xmlns:a="http://schemas.openxmlformats.org/drawingml/2006/main" noGrp="1"/>
          </p:cNvSpPr>
          <p:nvPr/>
        </p:nvSpPr>
        <p:spPr>
          <a:xfrm xmlns:a="http://schemas.openxmlformats.org/drawingml/2006/main">
            <a:off x="41910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8" name="partner-text-37">
            <a:extLst xmlns:a="http://schemas.openxmlformats.org/drawingml/2006/main">
              <a:ext uri="{FF2B5EF4-FFF2-40B4-BE49-F238E27FC236}">
                <a16:creationId xmlns:a16="http://schemas.microsoft.com/office/drawing/2014/main" id="{E577B525-C5A8-4FCD-930C-B7E12A8A6EF2}"/>
              </a:ext>
            </a:extLst>
          </p:cNvPr>
          <p:cNvSpPr>
            <a:spLocks xmlns:a="http://schemas.openxmlformats.org/drawingml/2006/main" noGrp="1"/>
          </p:cNvSpPr>
          <p:nvPr/>
        </p:nvSpPr>
        <p:spPr>
          <a:xfrm xmlns:a="http://schemas.openxmlformats.org/drawingml/2006/main">
            <a:off x="43815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Research if needed</a:t>
            </a:r>
          </a:p>
        </p:txBody>
      </p:sp>
      <p:sp>
        <p:nvSpPr>
          <p:cNvPr id="9" name="partner-text-38">
            <a:extLst xmlns:a="http://schemas.openxmlformats.org/drawingml/2006/main">
              <a:ext uri="{FF2B5EF4-FFF2-40B4-BE49-F238E27FC236}">
                <a16:creationId xmlns:a16="http://schemas.microsoft.com/office/drawing/2014/main" id="{44B9CCB7-3C35-49B1-8343-092B948E5F01}"/>
              </a:ext>
            </a:extLst>
          </p:cNvPr>
          <p:cNvSpPr>
            <a:spLocks xmlns:a="http://schemas.openxmlformats.org/drawingml/2006/main" noGrp="1"/>
          </p:cNvSpPr>
          <p:nvPr/>
        </p:nvSpPr>
        <p:spPr>
          <a:xfrm xmlns:a="http://schemas.openxmlformats.org/drawingml/2006/main">
            <a:off x="43815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Missing or stale evidence</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Useful discoveries even</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when a grant is rejected</a:t>
            </a:r>
          </a:p>
        </p:txBody>
      </p:sp>
      <p:sp>
        <p:nvSpPr>
          <p:cNvPr id="10" name="partner-node-39">
            <a:extLst xmlns:a="http://schemas.openxmlformats.org/drawingml/2006/main">
              <a:ext uri="{FF2B5EF4-FFF2-40B4-BE49-F238E27FC236}">
                <a16:creationId xmlns:a16="http://schemas.microsoft.com/office/drawing/2014/main" id="{D429AD53-CC8C-45D3-B23A-C737E7F7E7F1}"/>
              </a:ext>
            </a:extLst>
          </p:cNvPr>
          <p:cNvSpPr>
            <a:spLocks xmlns:a="http://schemas.openxmlformats.org/drawingml/2006/main" noGrp="1"/>
          </p:cNvSpPr>
          <p:nvPr/>
        </p:nvSpPr>
        <p:spPr>
          <a:xfrm xmlns:a="http://schemas.openxmlformats.org/drawingml/2006/main">
            <a:off x="77724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1" name="partner-text-40">
            <a:extLst xmlns:a="http://schemas.openxmlformats.org/drawingml/2006/main">
              <a:ext uri="{FF2B5EF4-FFF2-40B4-BE49-F238E27FC236}">
                <a16:creationId xmlns:a16="http://schemas.microsoft.com/office/drawing/2014/main" id="{1D3BA00C-2FEA-4227-B497-BB9471D7ADA0}"/>
              </a:ext>
            </a:extLst>
          </p:cNvPr>
          <p:cNvSpPr>
            <a:spLocks xmlns:a="http://schemas.openxmlformats.org/drawingml/2006/main" noGrp="1"/>
          </p:cNvSpPr>
          <p:nvPr/>
        </p:nvSpPr>
        <p:spPr>
          <a:xfrm xmlns:a="http://schemas.openxmlformats.org/drawingml/2006/main">
            <a:off x="79629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Commit findings</a:t>
            </a:r>
          </a:p>
        </p:txBody>
      </p:sp>
      <p:sp>
        <p:nvSpPr>
          <p:cNvPr id="12" name="partner-text-41">
            <a:extLst xmlns:a="http://schemas.openxmlformats.org/drawingml/2006/main">
              <a:ext uri="{FF2B5EF4-FFF2-40B4-BE49-F238E27FC236}">
                <a16:creationId xmlns:a16="http://schemas.microsoft.com/office/drawing/2014/main" id="{199F4A86-0AB5-4AFC-9256-DA9CB7E27484}"/>
              </a:ext>
            </a:extLst>
          </p:cNvPr>
          <p:cNvSpPr>
            <a:spLocks xmlns:a="http://schemas.openxmlformats.org/drawingml/2006/main" noGrp="1"/>
          </p:cNvSpPr>
          <p:nvPr/>
        </p:nvSpPr>
        <p:spPr>
          <a:xfrm xmlns:a="http://schemas.openxmlformats.org/drawingml/2006/main">
            <a:off x="79629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Answer + knowledge delta</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PG evidence and history</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Transactional outbox</a:t>
            </a:r>
          </a:p>
        </p:txBody>
      </p:sp>
      <p:sp>
        <p:nvSpPr>
          <p:cNvPr id="13" name="partner-node-42">
            <a:extLst xmlns:a="http://schemas.openxmlformats.org/drawingml/2006/main">
              <a:ext uri="{FF2B5EF4-FFF2-40B4-BE49-F238E27FC236}">
                <a16:creationId xmlns:a16="http://schemas.microsoft.com/office/drawing/2014/main" id="{725762E5-9C2F-46E4-9E2C-11BC4A5B8BA5}"/>
              </a:ext>
            </a:extLst>
          </p:cNvPr>
          <p:cNvSpPr>
            <a:spLocks xmlns:a="http://schemas.openxmlformats.org/drawingml/2006/main" noGrp="1"/>
          </p:cNvSpPr>
          <p:nvPr/>
        </p:nvSpPr>
        <p:spPr>
          <a:xfrm xmlns:a="http://schemas.openxmlformats.org/drawingml/2006/main">
            <a:off x="11353800" y="2714625"/>
            <a:ext cx="3276600" cy="1619250"/>
          </a:xfrm>
          <a:prstGeom xmlns:a="http://schemas.openxmlformats.org/drawingml/2006/main" prst="rect">
            <a:avLst/>
          </a:prstGeom>
          <a:solidFill xmlns:a="http://schemas.openxmlformats.org/drawingml/2006/main">
            <a:srgbClr val="FFFFFF"/>
          </a:solidFill>
          <a:ln xmlns:a="http://schemas.openxmlformats.org/drawingml/2006/main" w="17145">
            <a:solidFill>
              <a:srgbClr val="B8CACC"/>
            </a:solidFill>
            <a:prstDash val="solid"/>
          </a:ln>
        </p:spPr>
      </p:sp>
      <p:sp>
        <p:nvSpPr>
          <p:cNvPr id="14" name="partner-text-43">
            <a:extLst xmlns:a="http://schemas.openxmlformats.org/drawingml/2006/main">
              <a:ext uri="{FF2B5EF4-FFF2-40B4-BE49-F238E27FC236}">
                <a16:creationId xmlns:a16="http://schemas.microsoft.com/office/drawing/2014/main" id="{FA83D5FD-D167-4295-B601-2EF89F1459D6}"/>
              </a:ext>
            </a:extLst>
          </p:cNvPr>
          <p:cNvSpPr>
            <a:spLocks xmlns:a="http://schemas.openxmlformats.org/drawingml/2006/main" noGrp="1"/>
          </p:cNvSpPr>
          <p:nvPr/>
        </p:nvSpPr>
        <p:spPr>
          <a:xfrm xmlns:a="http://schemas.openxmlformats.org/drawingml/2006/main">
            <a:off x="11544300" y="2876550"/>
            <a:ext cx="2895600" cy="36347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132E38"/>
                </a:solidFill>
                <a:latin typeface="Aptos"/>
                <a:ea typeface="Aptos"/>
                <a:cs typeface="Aptos"/>
              </a:defRPr>
            </a:defPPr>
          </a:lstStyle>
          <a:p xmlns:a="http://schemas.openxmlformats.org/drawingml/2006/main">
            <a:pPr algn="l">
              <a:buNone/>
              <a:defRPr sz="2100" b="1">
                <a:solidFill>
                  <a:srgbClr val="132E38"/>
                </a:solidFill>
                <a:latin typeface="Aptos"/>
                <a:ea typeface="Aptos"/>
                <a:cs typeface="Aptos"/>
              </a:defRPr>
            </a:pPr>
            <a:r>
              <a:rPr sz="2100" b="1">
                <a:solidFill>
                  <a:srgbClr val="132E38"/>
                </a:solidFill>
                <a:latin typeface="Aptos"/>
                <a:ea typeface="Aptos"/>
                <a:cs typeface="Aptos"/>
              </a:rPr>
              <a:t>Refresh Helix</a:t>
            </a:r>
          </a:p>
        </p:txBody>
      </p:sp>
      <p:sp>
        <p:nvSpPr>
          <p:cNvPr id="15" name="partner-text-44">
            <a:extLst xmlns:a="http://schemas.openxmlformats.org/drawingml/2006/main">
              <a:ext uri="{FF2B5EF4-FFF2-40B4-BE49-F238E27FC236}">
                <a16:creationId xmlns:a16="http://schemas.microsoft.com/office/drawing/2014/main" id="{B3C6C51B-A494-4A97-B1DA-4149A0C66C01}"/>
              </a:ext>
            </a:extLst>
          </p:cNvPr>
          <p:cNvSpPr>
            <a:spLocks xmlns:a="http://schemas.openxmlformats.org/drawingml/2006/main" noGrp="1"/>
          </p:cNvSpPr>
          <p:nvPr/>
        </p:nvSpPr>
        <p:spPr>
          <a:xfrm xmlns:a="http://schemas.openxmlformats.org/drawingml/2006/main">
            <a:off x="11544300" y="3249549"/>
            <a:ext cx="2895600" cy="88430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Idempotent projection</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Versioned graph updates</a:t>
            </a:r>
          </a:p>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Replay and recovery</a:t>
            </a:r>
          </a:p>
        </p:txBody>
      </p:sp>
      <p:cxnSp>
        <p:nvCxnSpPr>
          <p:cNvPr id="16" name="partner-flow-45">
            <a:extLst xmlns:a="http://schemas.openxmlformats.org/drawingml/2006/main">
              <a:ext uri="{FF2B5EF4-FFF2-40B4-BE49-F238E27FC236}">
                <a16:creationId xmlns:a16="http://schemas.microsoft.com/office/drawing/2014/main" id="{97E60165-6DBA-4CE5-ADB4-8F5BC04CB5C4}"/>
              </a:ext>
            </a:extLst>
          </p:cNvPr>
          <p:cNvCxnSpPr/>
          <p:nvPr/>
        </p:nvCxnSpPr>
        <p:spPr>
          <a:xfrm xmlns:a="http://schemas.openxmlformats.org/drawingml/2006/main" flipH="0" flipV="0">
            <a:off x="38862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7" name="partner-flow-46">
            <a:extLst xmlns:a="http://schemas.openxmlformats.org/drawingml/2006/main">
              <a:ext uri="{FF2B5EF4-FFF2-40B4-BE49-F238E27FC236}">
                <a16:creationId xmlns:a16="http://schemas.microsoft.com/office/drawing/2014/main" id="{AA8592C8-2180-44A1-93B2-F1157510F9F1}"/>
              </a:ext>
            </a:extLst>
          </p:cNvPr>
          <p:cNvCxnSpPr/>
          <p:nvPr/>
        </p:nvCxnSpPr>
        <p:spPr>
          <a:xfrm xmlns:a="http://schemas.openxmlformats.org/drawingml/2006/main" flipH="0" flipV="0">
            <a:off x="74676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8" name="partner-flow-47">
            <a:extLst xmlns:a="http://schemas.openxmlformats.org/drawingml/2006/main">
              <a:ext uri="{FF2B5EF4-FFF2-40B4-BE49-F238E27FC236}">
                <a16:creationId xmlns:a16="http://schemas.microsoft.com/office/drawing/2014/main" id="{EB3D61D6-5EF2-4322-8A24-2B2DF5A8E929}"/>
              </a:ext>
            </a:extLst>
          </p:cNvPr>
          <p:cNvCxnSpPr/>
          <p:nvPr/>
        </p:nvCxnSpPr>
        <p:spPr>
          <a:xfrm xmlns:a="http://schemas.openxmlformats.org/drawingml/2006/main" flipH="0" flipV="0">
            <a:off x="11049000" y="3524250"/>
            <a:ext cx="30480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9" name="partner-flow-48">
            <a:extLst xmlns:a="http://schemas.openxmlformats.org/drawingml/2006/main">
              <a:ext uri="{FF2B5EF4-FFF2-40B4-BE49-F238E27FC236}">
                <a16:creationId xmlns:a16="http://schemas.microsoft.com/office/drawing/2014/main" id="{B3EBBFBE-5872-42F2-A644-D5B19C4266F2}"/>
              </a:ext>
            </a:extLst>
          </p:cNvPr>
          <p:cNvCxnSpPr/>
          <p:nvPr/>
        </p:nvCxnSpPr>
        <p:spPr>
          <a:xfrm xmlns:a="http://schemas.openxmlformats.org/drawingml/2006/main" flipH="0" flipV="1">
            <a:off x="2247900" y="2238375"/>
            <a:ext cx="0" cy="476250"/>
          </a:xfrm>
          <a:prstGeom xmlns:a="http://schemas.openxmlformats.org/drawingml/2006/main" prst="straightConnector1">
            <a:avLst/>
          </a:prstGeom>
          <a:ln xmlns:a="http://schemas.openxmlformats.org/drawingml/2006/main" w="23813">
            <a:solidFill>
              <a:srgbClr val="157D80"/>
            </a:solidFill>
            <a:prstDash val="solid"/>
          </a:ln>
        </p:spPr>
      </p:cxnSp>
      <p:cxnSp>
        <p:nvCxnSpPr>
          <p:cNvPr id="20" name="partner-flow-49">
            <a:extLst xmlns:a="http://schemas.openxmlformats.org/drawingml/2006/main">
              <a:ext uri="{FF2B5EF4-FFF2-40B4-BE49-F238E27FC236}">
                <a16:creationId xmlns:a16="http://schemas.microsoft.com/office/drawing/2014/main" id="{45B82E9C-590A-4E53-820E-09B6CEEF26C8}"/>
              </a:ext>
            </a:extLst>
          </p:cNvPr>
          <p:cNvCxnSpPr/>
          <p:nvPr/>
        </p:nvCxnSpPr>
        <p:spPr>
          <a:xfrm xmlns:a="http://schemas.openxmlformats.org/drawingml/2006/main" flipH="0" flipV="0">
            <a:off x="2247900" y="2238375"/>
            <a:ext cx="71628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21" name="partner-flow-50">
            <a:extLst xmlns:a="http://schemas.openxmlformats.org/drawingml/2006/main">
              <a:ext uri="{FF2B5EF4-FFF2-40B4-BE49-F238E27FC236}">
                <a16:creationId xmlns:a16="http://schemas.microsoft.com/office/drawing/2014/main" id="{42F21023-ABDD-4F0B-826B-389A5A2339DB}"/>
              </a:ext>
            </a:extLst>
          </p:cNvPr>
          <p:cNvCxnSpPr/>
          <p:nvPr/>
        </p:nvCxnSpPr>
        <p:spPr>
          <a:xfrm xmlns:a="http://schemas.openxmlformats.org/drawingml/2006/main" flipH="0" flipV="0">
            <a:off x="9410700" y="2238375"/>
            <a:ext cx="0" cy="47625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2" name="partner-text-51">
            <a:extLst xmlns:a="http://schemas.openxmlformats.org/drawingml/2006/main">
              <a:ext uri="{FF2B5EF4-FFF2-40B4-BE49-F238E27FC236}">
                <a16:creationId xmlns:a16="http://schemas.microsoft.com/office/drawing/2014/main" id="{F4E2E950-6D9E-4CB2-AC20-F5C7FC2CFC58}"/>
              </a:ext>
            </a:extLst>
          </p:cNvPr>
          <p:cNvSpPr>
            <a:spLocks xmlns:a="http://schemas.openxmlformats.org/drawingml/2006/main" noGrp="1"/>
          </p:cNvSpPr>
          <p:nvPr/>
        </p:nvSpPr>
        <p:spPr>
          <a:xfrm xmlns:a="http://schemas.openxmlformats.org/drawingml/2006/main">
            <a:off x="2247900" y="1914525"/>
            <a:ext cx="7162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Sufficient evidence: answer + no-change receipt</a:t>
            </a:r>
          </a:p>
        </p:txBody>
      </p:sp>
      <p:cxnSp>
        <p:nvCxnSpPr>
          <p:cNvPr id="23" name="partner-flow-52">
            <a:extLst xmlns:a="http://schemas.openxmlformats.org/drawingml/2006/main">
              <a:ext uri="{FF2B5EF4-FFF2-40B4-BE49-F238E27FC236}">
                <a16:creationId xmlns:a16="http://schemas.microsoft.com/office/drawing/2014/main" id="{C7AFD679-8C94-4545-8C92-F4DA78B526B7}"/>
              </a:ext>
            </a:extLst>
          </p:cNvPr>
          <p:cNvCxnSpPr/>
          <p:nvPr/>
        </p:nvCxnSpPr>
        <p:spPr>
          <a:xfrm xmlns:a="http://schemas.openxmlformats.org/drawingml/2006/main" flipH="0" flipV="0">
            <a:off x="12992100" y="4333875"/>
            <a:ext cx="0" cy="333375"/>
          </a:xfrm>
          <a:prstGeom xmlns:a="http://schemas.openxmlformats.org/drawingml/2006/main" prst="straightConnector1">
            <a:avLst/>
          </a:prstGeom>
          <a:ln xmlns:a="http://schemas.openxmlformats.org/drawingml/2006/main" w="23813">
            <a:solidFill>
              <a:srgbClr val="157D80"/>
            </a:solidFill>
            <a:prstDash val="solid"/>
          </a:ln>
        </p:spPr>
      </p:cxnSp>
      <p:cxnSp>
        <p:nvCxnSpPr>
          <p:cNvPr id="24" name="partner-flow-53">
            <a:extLst xmlns:a="http://schemas.openxmlformats.org/drawingml/2006/main">
              <a:ext uri="{FF2B5EF4-FFF2-40B4-BE49-F238E27FC236}">
                <a16:creationId xmlns:a16="http://schemas.microsoft.com/office/drawing/2014/main" id="{4373D710-8140-4F15-BBE9-4E83C451CF47}"/>
              </a:ext>
            </a:extLst>
          </p:cNvPr>
          <p:cNvCxnSpPr/>
          <p:nvPr/>
        </p:nvCxnSpPr>
        <p:spPr>
          <a:xfrm xmlns:a="http://schemas.openxmlformats.org/drawingml/2006/main" flipH="1" flipV="0">
            <a:off x="2247900" y="4667250"/>
            <a:ext cx="10744200" cy="0"/>
          </a:xfrm>
          <a:prstGeom xmlns:a="http://schemas.openxmlformats.org/drawingml/2006/main" prst="straightConnector1">
            <a:avLst/>
          </a:prstGeom>
          <a:ln xmlns:a="http://schemas.openxmlformats.org/drawingml/2006/main" w="23813">
            <a:solidFill>
              <a:srgbClr val="157D80"/>
            </a:solidFill>
            <a:prstDash val="solid"/>
          </a:ln>
        </p:spPr>
      </p:cxnSp>
      <p:cxnSp>
        <p:nvCxnSpPr>
          <p:cNvPr id="25" name="partner-flow-54">
            <a:extLst xmlns:a="http://schemas.openxmlformats.org/drawingml/2006/main">
              <a:ext uri="{FF2B5EF4-FFF2-40B4-BE49-F238E27FC236}">
                <a16:creationId xmlns:a16="http://schemas.microsoft.com/office/drawing/2014/main" id="{187BF84D-1085-4C66-A9CF-ED6A4F7838B2}"/>
              </a:ext>
            </a:extLst>
          </p:cNvPr>
          <p:cNvCxnSpPr/>
          <p:nvPr/>
        </p:nvCxnSpPr>
        <p:spPr>
          <a:xfrm xmlns:a="http://schemas.openxmlformats.org/drawingml/2006/main" flipH="0" flipV="1">
            <a:off x="2247900" y="4333875"/>
            <a:ext cx="0" cy="333375"/>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26" name="partner-text-55">
            <a:extLst xmlns:a="http://schemas.openxmlformats.org/drawingml/2006/main">
              <a:ext uri="{FF2B5EF4-FFF2-40B4-BE49-F238E27FC236}">
                <a16:creationId xmlns:a16="http://schemas.microsoft.com/office/drawing/2014/main" id="{F01A2471-98BD-4112-A4C9-A77115890286}"/>
              </a:ext>
            </a:extLst>
          </p:cNvPr>
          <p:cNvSpPr>
            <a:spLocks xmlns:a="http://schemas.openxmlformats.org/drawingml/2006/main" noGrp="1"/>
          </p:cNvSpPr>
          <p:nvPr/>
        </p:nvSpPr>
        <p:spPr>
          <a:xfrm xmlns:a="http://schemas.openxmlformats.org/drawingml/2006/main">
            <a:off x="3333750" y="4848225"/>
            <a:ext cx="857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0">
                <a:solidFill>
                  <a:srgbClr val="4A6572"/>
                </a:solidFill>
                <a:latin typeface="Aptos"/>
                <a:ea typeface="Aptos"/>
                <a:cs typeface="Aptos"/>
              </a:defRPr>
            </a:defPPr>
          </a:lstStyle>
          <a:p xmlns:a="http://schemas.openxmlformats.org/drawingml/2006/main">
            <a:pPr algn="ctr">
              <a:buNone/>
              <a:defRPr sz="1950" b="0">
                <a:solidFill>
                  <a:srgbClr val="4A6572"/>
                </a:solidFill>
                <a:latin typeface="Aptos"/>
                <a:ea typeface="Aptos"/>
                <a:cs typeface="Aptos"/>
              </a:defRPr>
            </a:pPr>
            <a:r>
              <a:rPr sz="1950" b="0">
                <a:solidFill>
                  <a:srgbClr val="4A6572"/>
                </a:solidFill>
                <a:latin typeface="Aptos"/>
                <a:ea typeface="Aptos"/>
                <a:cs typeface="Aptos"/>
              </a:rPr>
              <a:t>The next task reuses the updated knowledge</a:t>
            </a:r>
          </a:p>
        </p:txBody>
      </p:sp>
      <p:sp>
        <p:nvSpPr>
          <p:cNvPr id="27" name="partner-text-56">
            <a:extLst xmlns:a="http://schemas.openxmlformats.org/drawingml/2006/main">
              <a:ext uri="{FF2B5EF4-FFF2-40B4-BE49-F238E27FC236}">
                <a16:creationId xmlns:a16="http://schemas.microsoft.com/office/drawing/2014/main" id="{A66860AA-21F4-41F0-BFC2-4EC8980DE83F}"/>
              </a:ext>
            </a:extLst>
          </p:cNvPr>
          <p:cNvSpPr>
            <a:spLocks xmlns:a="http://schemas.openxmlformats.org/drawingml/2006/main" noGrp="1"/>
          </p:cNvSpPr>
          <p:nvPr/>
        </p:nvSpPr>
        <p:spPr>
          <a:xfrm xmlns:a="http://schemas.openxmlformats.org/drawingml/2006/main">
            <a:off x="609600" y="5572125"/>
            <a:ext cx="6858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57D80"/>
                </a:solidFill>
                <a:latin typeface="Aptos"/>
                <a:ea typeface="Aptos"/>
                <a:cs typeface="Aptos"/>
              </a:defRPr>
            </a:defPPr>
          </a:lstStyle>
          <a:p xmlns:a="http://schemas.openxmlformats.org/drawingml/2006/main">
            <a:pPr algn="l">
              <a:buNone/>
              <a:defRPr sz="2250" b="1">
                <a:solidFill>
                  <a:srgbClr val="157D80"/>
                </a:solidFill>
                <a:latin typeface="Aptos"/>
                <a:ea typeface="Aptos"/>
                <a:cs typeface="Aptos"/>
              </a:defRPr>
            </a:pPr>
            <a:r>
              <a:rPr sz="2250" b="1">
                <a:solidFill>
                  <a:srgbClr val="157D80"/>
                </a:solidFill>
                <a:latin typeface="Aptos"/>
                <a:ea typeface="Aptos"/>
                <a:cs typeface="Aptos"/>
              </a:rPr>
              <a:t>Indexed knowledge</a:t>
            </a:r>
          </a:p>
        </p:txBody>
      </p:sp>
      <p:sp>
        <p:nvSpPr>
          <p:cNvPr id="28" name="partner-text-57">
            <a:extLst xmlns:a="http://schemas.openxmlformats.org/drawingml/2006/main">
              <a:ext uri="{FF2B5EF4-FFF2-40B4-BE49-F238E27FC236}">
                <a16:creationId xmlns:a16="http://schemas.microsoft.com/office/drawing/2014/main" id="{2782D3B6-3527-46B6-8D1E-15A60603C98B}"/>
              </a:ext>
            </a:extLst>
          </p:cNvPr>
          <p:cNvSpPr>
            <a:spLocks xmlns:a="http://schemas.openxmlformats.org/drawingml/2006/main" noGrp="1"/>
          </p:cNvSpPr>
          <p:nvPr/>
        </p:nvSpPr>
        <p:spPr>
          <a:xfrm xmlns:a="http://schemas.openxmlformats.org/drawingml/2006/main">
            <a:off x="609600" y="6143625"/>
            <a:ext cx="70485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Organizations, people and contact roles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Programs, projects, events and work history</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Relationship owners and evidenced introductions</a:t>
            </a:r>
          </a:p>
        </p:txBody>
      </p:sp>
      <p:sp>
        <p:nvSpPr>
          <p:cNvPr id="29" name="partner-text-58">
            <a:extLst xmlns:a="http://schemas.openxmlformats.org/drawingml/2006/main">
              <a:ext uri="{FF2B5EF4-FFF2-40B4-BE49-F238E27FC236}">
                <a16:creationId xmlns:a16="http://schemas.microsoft.com/office/drawing/2014/main" id="{2516167F-50DE-49CA-9378-18DEB01F4A8E}"/>
              </a:ext>
            </a:extLst>
          </p:cNvPr>
          <p:cNvSpPr>
            <a:spLocks xmlns:a="http://schemas.openxmlformats.org/drawingml/2006/main" noGrp="1"/>
          </p:cNvSpPr>
          <p:nvPr/>
        </p:nvSpPr>
        <p:spPr>
          <a:xfrm xmlns:a="http://schemas.openxmlformats.org/drawingml/2006/main">
            <a:off x="8191500" y="6143625"/>
            <a:ext cx="64389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32E38"/>
                </a:solidFill>
                <a:latin typeface="Aptos"/>
                <a:ea typeface="Aptos"/>
                <a:cs typeface="Aptos"/>
              </a:defRPr>
            </a:defPPr>
          </a:lstStyle>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Source, revision, date and audience on every fact</a:t>
            </a:r>
          </a:p>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Prospects and collaborators stay distinct</a:t>
            </a:r>
          </a:p>
          <a:p xmlns:a="http://schemas.openxmlformats.org/drawingml/2006/main">
            <a:pPr algn="l">
              <a:buNone/>
              <a:defRPr sz="1950" b="0">
                <a:solidFill>
                  <a:srgbClr val="132E38"/>
                </a:solidFill>
                <a:latin typeface="Aptos"/>
                <a:ea typeface="Aptos"/>
                <a:cs typeface="Aptos"/>
              </a:defRPr>
            </a:pPr>
            <a:r>
              <a:rPr sz="1950" b="0">
                <a:solidFill>
                  <a:srgbClr val="132E38"/>
                </a:solidFill>
                <a:latin typeface="Aptos"/>
                <a:ea typeface="Aptos"/>
                <a:cs typeface="Aptos"/>
              </a:rPr>
              <a:t>Delivery stage: planned, started or completed</a:t>
            </a:r>
          </a:p>
        </p:txBody>
      </p:sp>
      <p:sp>
        <p:nvSpPr>
          <p:cNvPr id="30" name="partner-text-59">
            <a:extLst xmlns:a="http://schemas.openxmlformats.org/drawingml/2006/main">
              <a:ext uri="{FF2B5EF4-FFF2-40B4-BE49-F238E27FC236}">
                <a16:creationId xmlns:a16="http://schemas.microsoft.com/office/drawing/2014/main" id="{B350B102-319D-490B-9097-63C91AD72915}"/>
              </a:ext>
            </a:extLst>
          </p:cNvPr>
          <p:cNvSpPr>
            <a:spLocks xmlns:a="http://schemas.openxmlformats.org/drawingml/2006/main" noGrp="1"/>
          </p:cNvSpPr>
          <p:nvPr/>
        </p:nvSpPr>
        <p:spPr>
          <a:xfrm xmlns:a="http://schemas.openxmlformats.org/drawingml/2006/main">
            <a:off x="609600" y="7543800"/>
            <a:ext cx="14020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A6572"/>
                </a:solidFill>
                <a:latin typeface="Aptos"/>
                <a:ea typeface="Aptos"/>
                <a:cs typeface="Aptos"/>
              </a:defRPr>
            </a:defPPr>
          </a:lstStyle>
          <a:p xmlns:a="http://schemas.openxmlformats.org/drawingml/2006/main">
            <a:pPr algn="l">
              <a:buNone/>
              <a:defRPr sz="1875" b="0">
                <a:solidFill>
                  <a:srgbClr val="4A6572"/>
                </a:solidFill>
                <a:latin typeface="Aptos"/>
                <a:ea typeface="Aptos"/>
                <a:cs typeface="Aptos"/>
              </a:defRPr>
            </a:pPr>
            <a:r>
              <a:rPr sz="1875" b="0">
                <a:solidFill>
                  <a:srgbClr val="4A6572"/>
                </a:solidFill>
                <a:latin typeface="Aptos"/>
                <a:ea typeface="Aptos"/>
                <a:cs typeface="Aptos"/>
              </a:rPr>
              <a:t>Initial inventory: DAO, TechFW’s MADE program, Moonshot, LiquidAcre and HackFW</a:t>
            </a:r>
          </a:p>
        </p:txBody>
      </p:sp>
      <p:sp>
        <p:nvSpPr>
          <p:cNvPr id="32" name="changed-assertions-edge-label">
            <a:extLst xmlns:a="http://schemas.openxmlformats.org/drawingml/2006/main">
              <a:ext uri="{FF2B5EF4-FFF2-40B4-BE49-F238E27FC236}">
                <a16:creationId xmlns:a16="http://schemas.microsoft.com/office/drawing/2014/main" id="{9544F418-1D5F-4E74-9EDB-4DA06BA69141}"/>
              </a:ext>
            </a:extLst>
          </p:cNvPr>
          <p:cNvSpPr>
            <a:spLocks xmlns:a="http://schemas.openxmlformats.org/drawingml/2006/main" noGrp="1"/>
          </p:cNvSpPr>
          <p:nvPr/>
        </p:nvSpPr>
        <p:spPr>
          <a:xfrm xmlns:a="http://schemas.openxmlformats.org/drawingml/2006/main">
            <a:off x="10096500" y="2343150"/>
            <a:ext cx="2209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0">
                <a:solidFill>
                  <a:srgbClr val="4A6572"/>
                </a:solidFill>
                <a:latin typeface="Aptos"/>
                <a:ea typeface="Aptos"/>
                <a:cs typeface="Aptos"/>
              </a:defRPr>
            </a:defPPr>
          </a:lstStyle>
          <a:p xmlns:a="http://schemas.openxmlformats.org/drawingml/2006/main">
            <a:pPr algn="ctr">
              <a:buNone/>
              <a:defRPr sz="1725" b="0">
                <a:solidFill>
                  <a:srgbClr val="4A6572"/>
                </a:solidFill>
                <a:latin typeface="Aptos"/>
                <a:ea typeface="Aptos"/>
                <a:cs typeface="Aptos"/>
              </a:defRPr>
            </a:pPr>
            <a:r>
              <a:rPr sz="1725" b="0">
                <a:solidFill>
                  <a:srgbClr val="4A6572"/>
                </a:solidFill>
                <a:latin typeface="Aptos"/>
                <a:ea typeface="Aptos"/>
                <a:cs typeface="Aptos"/>
              </a:rPr>
              <a:t>Changed assertions</a:t>
            </a:r>
          </a:p>
        </p:txBody>
      </p:sp>
      <p:cxnSp>
        <p:nvCxnSpPr>
          <p:cNvPr id="33" name="changed-assertions-edge-label-leader">
            <a:extLst xmlns:a="http://schemas.openxmlformats.org/drawingml/2006/main">
              <a:ext uri="{FF2B5EF4-FFF2-40B4-BE49-F238E27FC236}">
                <a16:creationId xmlns:a16="http://schemas.microsoft.com/office/drawing/2014/main" id="{12734BAE-6D6B-40BA-B926-14249190C5C4}"/>
              </a:ext>
            </a:extLst>
          </p:cNvPr>
          <p:cNvCxnSpPr/>
          <p:nvPr/>
        </p:nvCxnSpPr>
        <p:spPr>
          <a:xfrm xmlns:a="http://schemas.openxmlformats.org/drawingml/2006/main">
            <a:off x="11201400" y="2647950"/>
            <a:ext cx="0" cy="781050"/>
          </a:xfrm>
          <a:prstGeom xmlns:a="http://schemas.openxmlformats.org/drawingml/2006/main" prst="straightConnector1">
            <a:avLst/>
          </a:prstGeom>
          <a:ln xmlns:a="http://schemas.openxmlformats.org/drawingml/2006/main" w="9525">
            <a:solidFill>
              <a:srgbClr val="4A6572"/>
            </a:solidFill>
            <a:prstDash val="solid"/>
          </a:ln>
        </p:spPr>
      </p:cxnSp>
    </p:spTree>
    <p:extLst>
      <p:ext uri="{BB962C8B-B14F-4D97-AF65-F5344CB8AC3E}">
        <p14:creationId xmlns:p14="http://schemas.microsoft.com/office/powerpoint/2010/main" val="1464909274"/>
      </p:ext>
    </p:extLst>
  </p:cSld>
</p:sld>
</file>

<file path=ppt/slides/slide8.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4" name="text-207">
            <a:extLst xmlns:a="http://schemas.openxmlformats.org/drawingml/2006/main">
              <a:ext uri="{FF2B5EF4-FFF2-40B4-BE49-F238E27FC236}">
                <a16:creationId xmlns:a16="http://schemas.microsoft.com/office/drawing/2014/main" id="{B34BF287-4654-4472-AEAE-43179009F69F}"/>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Integration interfaces</a:t>
            </a:r>
          </a:p>
        </p:txBody>
      </p:sp>
      <p:sp>
        <p:nvSpPr>
          <p:cNvPr id="2" name="text-208">
            <a:extLst xmlns:a="http://schemas.openxmlformats.org/drawingml/2006/main">
              <a:ext uri="{FF2B5EF4-FFF2-40B4-BE49-F238E27FC236}">
                <a16:creationId xmlns:a16="http://schemas.microsoft.com/office/drawing/2014/main" id="{38BB923A-7384-409B-93AE-9C78A3790C0B}"/>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8</a:t>
            </a:r>
          </a:p>
        </p:txBody>
      </p:sp>
      <p:graphicFrame>
        <p:nvGraphicFramePr>
          <p:cNvPr id="5" name="">
            <a:extLst xmlns:a="http://schemas.openxmlformats.org/drawingml/2006/main">
              <a:ext uri="{FF2B5EF4-FFF2-40B4-BE49-F238E27FC236}">
                <a16:creationId xmlns:a16="http://schemas.microsoft.com/office/drawing/2014/main" id="{66340D06-6D3F-4F49-9CBF-76D471DBD0CF}"/>
              </a:ext>
            </a:extLst>
          </p:cNvPr>
          <p:cNvGraphicFramePr/>
          <p:nvPr/>
        </p:nvGraphicFramePr>
        <p:xfrm>
          <a:off xmlns:a="http://schemas.openxmlformats.org/drawingml/2006/main" x="609600" y="1809750"/>
          <a:ext xmlns:a="http://schemas.openxmlformats.org/drawingml/2006/main" cx="14020800" cy="5924550"/>
        </p:xfrm>
        <a:graphic xmlns:a="http://schemas.openxmlformats.org/drawingml/2006/main">
          <a:graphicData uri="http://schemas.openxmlformats.org/drawingml/2006/table">
            <a:tbl>
              <a:tblPr/>
              <a:tblGrid>
                <a:gridCol w="3238500"/>
                <a:gridCol w="5143500"/>
                <a:gridCol w="5638800"/>
              </a:tblGrid>
              <a:tr h="590550">
                <a:tc>
                  <a:txBody>
                    <a:bodyPr lIns="152400" tIns="95250" rIns="152400" bIns="95250">
                      <a:noAutofit/>
                    </a:bodyPr>
                    <a:lstStyle/>
                    <a:p>
                      <a:r>
                        <a:rPr sz="2025" b="1">
                          <a:solidFill>
                            <a:srgbClr val="157D80"/>
                          </a:solidFill>
                          <a:latin typeface="Aptos"/>
                          <a:ea typeface="Aptos"/>
                          <a:cs typeface="Aptos"/>
                        </a:rPr>
                        <a:t>Interface</a:t>
                      </a:r>
                    </a:p>
                  </a:txBody>
                  <a:tcPr marL="91440" marR="91440" marT="45720" marB="45720" anchor="ctr">
                    <a:lnL w="6668">
                      <a:solidFill>
                        <a:srgbClr val="B8CACC"/>
                      </a:solidFill>
                      <a:prstDash val="solid"/>
                    </a:lnL>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c>
                  <a:txBody>
                    <a:bodyPr lIns="152400" tIns="95250" rIns="152400" bIns="95250">
                      <a:noAutofit/>
                    </a:bodyPr>
                    <a:lstStyle/>
                    <a:p>
                      <a:r>
                        <a:rPr sz="2025" b="1">
                          <a:solidFill>
                            <a:srgbClr val="157D80"/>
                          </a:solidFill>
                          <a:latin typeface="Aptos"/>
                          <a:ea typeface="Aptos"/>
                          <a:cs typeface="Aptos"/>
                        </a:rPr>
                        <a:t>Component responsibility</a:t>
                      </a:r>
                    </a:p>
                  </a:txBody>
                  <a:tcPr marL="91440" marR="91440" marT="45720" marB="45720" anchor="ctr">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c>
                  <a:txBody>
                    <a:bodyPr lIns="152400" tIns="95250" rIns="152400" bIns="95250">
                      <a:noAutofit/>
                    </a:bodyPr>
                    <a:lstStyle/>
                    <a:p>
                      <a:r>
                        <a:rPr sz="2025" b="1">
                          <a:solidFill>
                            <a:srgbClr val="157D80"/>
                          </a:solidFill>
                          <a:latin typeface="Aptos"/>
                          <a:ea typeface="Aptos"/>
                          <a:cs typeface="Aptos"/>
                        </a:rPr>
                        <a:t>Next connection</a:t>
                      </a:r>
                    </a:p>
                  </a:txBody>
                  <a:tcPr marL="91440" marR="91440" marT="45720" marB="45720" anchor="ctr">
                    <a:lnR w="6668">
                      <a:solidFill>
                        <a:srgbClr val="B8CACC"/>
                      </a:solidFill>
                      <a:prstDash val="solid"/>
                    </a:lnR>
                    <a:lnT w="6668">
                      <a:solidFill>
                        <a:srgbClr val="B8CACC"/>
                      </a:solidFill>
                      <a:prstDash val="solid"/>
                    </a:lnT>
                    <a:lnB w="6668">
                      <a:solidFill>
                        <a:srgbClr val="B8CACC"/>
                      </a:solidFill>
                      <a:prstDash val="solid"/>
                    </a:lnB>
                    <a:solidFill>
                      <a:srgbClr val="E7F1EE"/>
                    </a:solidFill>
                  </a:tcPr>
                </a:tc>
              </a:tr>
              <a:tr h="762000">
                <a:tc>
                  <a:txBody>
                    <a:bodyPr lIns="152400" tIns="95250" rIns="152400" bIns="95250">
                      <a:noAutofit/>
                    </a:bodyPr>
                    <a:lstStyle/>
                    <a:p>
                      <a:r>
                        <a:rPr sz="1875" b="1">
                          <a:solidFill>
                            <a:srgbClr val="132E38"/>
                          </a:solidFill>
                          <a:latin typeface="Aptos"/>
                          <a:ea typeface="Aptos"/>
                          <a:cs typeface="Aptos"/>
                        </a:rPr>
                        <a:t>Drive / Roundtable</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Ready sources and source revisions</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Confirm Drive sources and access</a:t>
                      </a:r>
                    </a:p>
                    <a:p>
                      <a:r>
                        <a:rPr sz="1875" b="0">
                          <a:solidFill>
                            <a:srgbClr val="132E38"/>
                          </a:solidFill>
                          <a:latin typeface="Aptos"/>
                          <a:ea typeface="Aptos"/>
                          <a:cs typeface="Aptos"/>
                        </a:rPr>
                        <a:t>Qualify the live source job</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Roundtable / website</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Publish, enforce member access, read back</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John integrates the website endpoints</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Buzz / Paperclip</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Paired identity and shared task state</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Pair the relay and members</a:t>
                      </a:r>
                    </a:p>
                    <a:p>
                      <a:r>
                        <a:rPr sz="1875" b="0">
                          <a:solidFill>
                            <a:srgbClr val="132E38"/>
                          </a:solidFill>
                          <a:latin typeface="Aptos"/>
                          <a:ea typeface="Aptos"/>
                          <a:cs typeface="Aptos"/>
                        </a:rPr>
                        <a:t>Verify requests and returned results</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Funding / Vocdoni</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Human decisions and exact packet vote</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Connect production review transport</a:t>
                      </a:r>
                    </a:p>
                    <a:p>
                      <a:r>
                        <a:rPr sz="1875" b="0">
                          <a:solidFill>
                            <a:srgbClr val="132E38"/>
                          </a:solidFill>
                          <a:latin typeface="Aptos"/>
                          <a:ea typeface="Aptos"/>
                          <a:cs typeface="Aptos"/>
                        </a:rPr>
                        <a:t>Verify the final vote result</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DAO knowledge / Helix</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Partner graph and research writeback</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Connect trusted source adapters</a:t>
                      </a:r>
                    </a:p>
                    <a:p>
                      <a:r>
                        <a:rPr sz="1875" b="0">
                          <a:solidFill>
                            <a:srgbClr val="132E38"/>
                          </a:solidFill>
                          <a:latin typeface="Aptos"/>
                          <a:ea typeface="Aptos"/>
                          <a:cs typeface="Aptos"/>
                        </a:rPr>
                        <a:t>Qualify production PG and services</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Y2 / Paperclip</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Relevant updates linked to existing work</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Agree the update and follow-up contract</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r h="762000">
                <a:tc>
                  <a:txBody>
                    <a:bodyPr lIns="152400" tIns="95250" rIns="152400" bIns="95250">
                      <a:noAutofit/>
                    </a:bodyPr>
                    <a:lstStyle/>
                    <a:p>
                      <a:r>
                        <a:rPr sz="1875" b="1">
                          <a:solidFill>
                            <a:srgbClr val="132E38"/>
                          </a:solidFill>
                          <a:latin typeface="Aptos"/>
                          <a:ea typeface="Aptos"/>
                          <a:cs typeface="Aptos"/>
                        </a:rPr>
                        <a:t>Paperclip / member runtime</a:t>
                      </a:r>
                    </a:p>
                  </a:txBody>
                  <a:tcPr marL="91440" marR="91440" marT="45720" marB="45720" anchor="ctr">
                    <a:lnL w="6668">
                      <a:solidFill>
                        <a:srgbClr val="B8CACC"/>
                      </a:solidFill>
                      <a:prstDash val="solid"/>
                    </a:lnL>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Scoped task, isolated execution, result</a:t>
                      </a:r>
                    </a:p>
                  </a:txBody>
                  <a:tcPr marL="91440" marR="91440" marT="45720" marB="45720" anchor="ctr">
                    <a:lnR w="6668">
                      <a:solidFill>
                        <a:srgbClr val="B8CACC"/>
                      </a:solidFill>
                      <a:prstDash val="solid"/>
                    </a:lnR>
                    <a:lnB w="6668">
                      <a:solidFill>
                        <a:srgbClr val="B8CACC"/>
                      </a:solidFill>
                      <a:prstDash val="solid"/>
                    </a:lnB>
                    <a:solidFill>
                      <a:srgbClr val="F6F5F0"/>
                    </a:solidFill>
                  </a:tcPr>
                </a:tc>
                <a:tc>
                  <a:txBody>
                    <a:bodyPr lIns="152400" tIns="95250" rIns="152400" bIns="95250">
                      <a:noAutofit/>
                    </a:bodyPr>
                    <a:lstStyle/>
                    <a:p>
                      <a:r>
                        <a:rPr sz="1875" b="0">
                          <a:solidFill>
                            <a:srgbClr val="132E38"/>
                          </a:solidFill>
                          <a:latin typeface="Aptos"/>
                          <a:ea typeface="Aptos"/>
                          <a:cs typeface="Aptos"/>
                        </a:rPr>
                        <a:t>Implement trusted submission and review</a:t>
                      </a:r>
                    </a:p>
                    <a:p>
                      <a:r>
                        <a:rPr sz="1875" b="0">
                          <a:solidFill>
                            <a:srgbClr val="132E38"/>
                          </a:solidFill>
                          <a:latin typeface="Aptos"/>
                          <a:ea typeface="Aptos"/>
                          <a:cs typeface="Aptos"/>
                        </a:rPr>
                        <a:t>Enroll and qualify a second contributor</a:t>
                      </a:r>
                    </a:p>
                  </a:txBody>
                  <a:tcPr marL="91440" marR="91440" marT="45720" marB="45720" anchor="ctr">
                    <a:lnR w="6668">
                      <a:solidFill>
                        <a:srgbClr val="B8CACC"/>
                      </a:solidFill>
                      <a:prstDash val="solid"/>
                    </a:lnR>
                    <a:lnB w="6668">
                      <a:solidFill>
                        <a:srgbClr val="B8CACC"/>
                      </a:solidFill>
                      <a:prstDash val="solid"/>
                    </a:lnB>
                    <a:solidFill>
                      <a:srgbClr val="F6F5F0"/>
                    </a:solidFill>
                  </a:tcPr>
                </a:tc>
              </a:tr>
            </a:tbl>
          </a:graphicData>
        </a:graphic>
      </p:graphicFrame>
    </p:spTree>
    <p:extLst>
      <p:ext uri="{BB962C8B-B14F-4D97-AF65-F5344CB8AC3E}">
        <p14:creationId xmlns:p14="http://schemas.microsoft.com/office/powerpoint/2010/main" val="1458554970"/>
      </p:ext>
    </p:extLst>
  </p:cSld>
</p:sld>
</file>

<file path=ppt/slides/slide9.xml><?xml version="1.0" encoding="utf-8"?>
<p:sld xmlns:p="http://schemas.openxmlformats.org/presentationml/2006/main">
  <p:cSld>
    <p:bg>
      <p:bgPr>
        <a:solidFill xmlns:a="http://schemas.openxmlformats.org/drawingml/2006/main">
          <a:srgbClr val="F6F5F0"/>
        </a:solidFill>
      </p:bgPr>
    </p:bg>
    <p:spTree>
      <p:nvGrpSpPr>
        <p:cNvPr id="1" name=""/>
        <p:cNvGrpSpPr/>
        <p:nvPr/>
      </p:nvGrpSpPr>
      <p:grpSpPr>
        <a:xfrm xmlns:a="http://schemas.openxmlformats.org/drawingml/2006/main"/>
      </p:grpSpPr>
      <p:sp>
        <p:nvSpPr>
          <p:cNvPr id="19" name="text-209">
            <a:extLst xmlns:a="http://schemas.openxmlformats.org/drawingml/2006/main">
              <a:ext uri="{FF2B5EF4-FFF2-40B4-BE49-F238E27FC236}">
                <a16:creationId xmlns:a16="http://schemas.microsoft.com/office/drawing/2014/main" id="{453D1065-A54D-45C7-8930-6D05E6C89ED7}"/>
              </a:ext>
            </a:extLst>
          </p:cNvPr>
          <p:cNvSpPr>
            <a:spLocks xmlns:a="http://schemas.openxmlformats.org/drawingml/2006/main" noGrp="1"/>
          </p:cNvSpPr>
          <p:nvPr/>
        </p:nvSpPr>
        <p:spPr>
          <a:xfrm xmlns:a="http://schemas.openxmlformats.org/drawingml/2006/main">
            <a:off x="609600" y="514350"/>
            <a:ext cx="14020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32E38"/>
                </a:solidFill>
                <a:latin typeface="Aptos"/>
                <a:ea typeface="Aptos"/>
                <a:cs typeface="Aptos"/>
              </a:defRPr>
            </a:defPPr>
          </a:lstStyle>
          <a:p xmlns:a="http://schemas.openxmlformats.org/drawingml/2006/main">
            <a:pPr algn="l">
              <a:buNone/>
              <a:defRPr sz="3600" b="1">
                <a:solidFill>
                  <a:srgbClr val="132E38"/>
                </a:solidFill>
                <a:latin typeface="Aptos"/>
                <a:ea typeface="Aptos"/>
                <a:cs typeface="Aptos"/>
              </a:defRPr>
            </a:pPr>
            <a:r>
              <a:rPr sz="3600" b="1">
                <a:solidFill>
                  <a:srgbClr val="132E38"/>
                </a:solidFill>
                <a:latin typeface="Aptos"/>
                <a:ea typeface="Aptos"/>
                <a:cs typeface="Aptos"/>
              </a:rPr>
              <a:t>Roadmap to the connected demo</a:t>
            </a:r>
          </a:p>
        </p:txBody>
      </p:sp>
      <p:sp>
        <p:nvSpPr>
          <p:cNvPr id="2" name="text-210">
            <a:extLst xmlns:a="http://schemas.openxmlformats.org/drawingml/2006/main">
              <a:ext uri="{FF2B5EF4-FFF2-40B4-BE49-F238E27FC236}">
                <a16:creationId xmlns:a16="http://schemas.microsoft.com/office/drawing/2014/main" id="{D28D0B75-16D3-4EFB-9D64-32206A0AAF82}"/>
              </a:ext>
            </a:extLst>
          </p:cNvPr>
          <p:cNvSpPr>
            <a:spLocks xmlns:a="http://schemas.openxmlformats.org/drawingml/2006/main" noGrp="1"/>
          </p:cNvSpPr>
          <p:nvPr/>
        </p:nvSpPr>
        <p:spPr>
          <a:xfrm xmlns:a="http://schemas.openxmlformats.org/drawingml/2006/main">
            <a:off x="14154150" y="8020050"/>
            <a:ext cx="476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500" b="1">
                <a:solidFill>
                  <a:srgbClr val="157D80"/>
                </a:solidFill>
                <a:latin typeface="Aptos"/>
                <a:ea typeface="Aptos"/>
                <a:cs typeface="Aptos"/>
              </a:defRPr>
            </a:defPPr>
          </a:lstStyle>
          <a:p xmlns:a="http://schemas.openxmlformats.org/drawingml/2006/main">
            <a:pPr algn="r">
              <a:buNone/>
              <a:defRPr sz="1500" b="1">
                <a:solidFill>
                  <a:srgbClr val="157D80"/>
                </a:solidFill>
                <a:latin typeface="Aptos"/>
                <a:ea typeface="Aptos"/>
                <a:cs typeface="Aptos"/>
              </a:defRPr>
            </a:pPr>
            <a:r>
              <a:rPr sz="1500" b="1">
                <a:solidFill>
                  <a:srgbClr val="157D80"/>
                </a:solidFill>
                <a:latin typeface="Aptos"/>
                <a:ea typeface="Aptos"/>
                <a:cs typeface="Aptos"/>
              </a:rPr>
              <a:t>9</a:t>
            </a:r>
          </a:p>
        </p:txBody>
      </p:sp>
      <p:sp>
        <p:nvSpPr>
          <p:cNvPr id="3" name="text-211">
            <a:extLst xmlns:a="http://schemas.openxmlformats.org/drawingml/2006/main">
              <a:ext uri="{FF2B5EF4-FFF2-40B4-BE49-F238E27FC236}">
                <a16:creationId xmlns:a16="http://schemas.microsoft.com/office/drawing/2014/main" id="{55B38816-67E8-4D3C-8922-E6FA2B4FF766}"/>
              </a:ext>
            </a:extLst>
          </p:cNvPr>
          <p:cNvSpPr>
            <a:spLocks xmlns:a="http://schemas.openxmlformats.org/drawingml/2006/main" noGrp="1"/>
          </p:cNvSpPr>
          <p:nvPr/>
        </p:nvSpPr>
        <p:spPr>
          <a:xfrm xmlns:a="http://schemas.openxmlformats.org/drawingml/2006/main">
            <a:off x="609600" y="2095500"/>
            <a:ext cx="400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Implemented</a:t>
            </a:r>
          </a:p>
        </p:txBody>
      </p:sp>
      <p:sp>
        <p:nvSpPr>
          <p:cNvPr id="4" name="text-212">
            <a:extLst xmlns:a="http://schemas.openxmlformats.org/drawingml/2006/main">
              <a:ext uri="{FF2B5EF4-FFF2-40B4-BE49-F238E27FC236}">
                <a16:creationId xmlns:a16="http://schemas.microsoft.com/office/drawing/2014/main" id="{F89881E5-6DC4-46ED-990B-EA855F60A6D1}"/>
              </a:ext>
            </a:extLst>
          </p:cNvPr>
          <p:cNvSpPr>
            <a:spLocks xmlns:a="http://schemas.openxmlformats.org/drawingml/2006/main" noGrp="1"/>
          </p:cNvSpPr>
          <p:nvPr/>
        </p:nvSpPr>
        <p:spPr>
          <a:xfrm xmlns:a="http://schemas.openxmlformats.org/drawingml/2006/main">
            <a:off x="5524500" y="2095500"/>
            <a:ext cx="4000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Newly merged</a:t>
            </a:r>
          </a:p>
        </p:txBody>
      </p:sp>
      <p:sp>
        <p:nvSpPr>
          <p:cNvPr id="5" name="text-213">
            <a:extLst xmlns:a="http://schemas.openxmlformats.org/drawingml/2006/main">
              <a:ext uri="{FF2B5EF4-FFF2-40B4-BE49-F238E27FC236}">
                <a16:creationId xmlns:a16="http://schemas.microsoft.com/office/drawing/2014/main" id="{92C13F8B-C2CE-4788-A20E-20558D8A5858}"/>
              </a:ext>
            </a:extLst>
          </p:cNvPr>
          <p:cNvSpPr>
            <a:spLocks xmlns:a="http://schemas.openxmlformats.org/drawingml/2006/main" noGrp="1"/>
          </p:cNvSpPr>
          <p:nvPr/>
        </p:nvSpPr>
        <p:spPr>
          <a:xfrm xmlns:a="http://schemas.openxmlformats.org/drawingml/2006/main">
            <a:off x="10439400" y="2095500"/>
            <a:ext cx="4191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157D80"/>
                </a:solidFill>
                <a:latin typeface="Aptos"/>
                <a:ea typeface="Aptos"/>
                <a:cs typeface="Aptos"/>
              </a:defRPr>
            </a:defPPr>
          </a:lstStyle>
          <a:p xmlns:a="http://schemas.openxmlformats.org/drawingml/2006/main">
            <a:pPr algn="l">
              <a:buNone/>
              <a:defRPr sz="2400" b="1">
                <a:solidFill>
                  <a:srgbClr val="157D80"/>
                </a:solidFill>
                <a:latin typeface="Aptos"/>
                <a:ea typeface="Aptos"/>
                <a:cs typeface="Aptos"/>
              </a:defRPr>
            </a:pPr>
            <a:r>
              <a:rPr sz="2400" b="1">
                <a:solidFill>
                  <a:srgbClr val="157D80"/>
                </a:solidFill>
                <a:latin typeface="Aptos"/>
                <a:ea typeface="Aptos"/>
                <a:cs typeface="Aptos"/>
              </a:rPr>
              <a:t>Integration and rehearsal</a:t>
            </a:r>
          </a:p>
        </p:txBody>
      </p:sp>
      <p:sp>
        <p:nvSpPr>
          <p:cNvPr id="6" name="text-214">
            <a:extLst xmlns:a="http://schemas.openxmlformats.org/drawingml/2006/main">
              <a:ext uri="{FF2B5EF4-FFF2-40B4-BE49-F238E27FC236}">
                <a16:creationId xmlns:a16="http://schemas.microsoft.com/office/drawing/2014/main" id="{8409ABED-6605-4D91-B8EC-0EB777C9D073}"/>
              </a:ext>
            </a:extLst>
          </p:cNvPr>
          <p:cNvSpPr>
            <a:spLocks xmlns:a="http://schemas.openxmlformats.org/drawingml/2006/main" noGrp="1"/>
          </p:cNvSpPr>
          <p:nvPr/>
        </p:nvSpPr>
        <p:spPr>
          <a:xfrm xmlns:a="http://schemas.openxmlformats.org/drawingml/2006/main">
            <a:off x="609600" y="26670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Merged cores</a:t>
            </a:r>
          </a:p>
        </p:txBody>
      </p:sp>
      <p:sp>
        <p:nvSpPr>
          <p:cNvPr id="7" name="text-215">
            <a:extLst xmlns:a="http://schemas.openxmlformats.org/drawingml/2006/main">
              <a:ext uri="{FF2B5EF4-FFF2-40B4-BE49-F238E27FC236}">
                <a16:creationId xmlns:a16="http://schemas.microsoft.com/office/drawing/2014/main" id="{9315B4A0-0735-4820-A2E2-5F0339E81D54}"/>
              </a:ext>
            </a:extLst>
          </p:cNvPr>
          <p:cNvSpPr>
            <a:spLocks xmlns:a="http://schemas.openxmlformats.org/drawingml/2006/main" noGrp="1"/>
          </p:cNvSpPr>
          <p:nvPr/>
        </p:nvSpPr>
        <p:spPr>
          <a:xfrm xmlns:a="http://schemas.openxmlformats.org/drawingml/2006/main">
            <a:off x="5524500" y="2667000"/>
            <a:ext cx="4000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Core services and adapters</a:t>
            </a:r>
          </a:p>
        </p:txBody>
      </p:sp>
      <p:sp>
        <p:nvSpPr>
          <p:cNvPr id="8" name="text-216">
            <a:extLst xmlns:a="http://schemas.openxmlformats.org/drawingml/2006/main">
              <a:ext uri="{FF2B5EF4-FFF2-40B4-BE49-F238E27FC236}">
                <a16:creationId xmlns:a16="http://schemas.microsoft.com/office/drawing/2014/main" id="{B3E924A4-6621-41E1-9F93-CE058E78C920}"/>
              </a:ext>
            </a:extLst>
          </p:cNvPr>
          <p:cNvSpPr>
            <a:spLocks xmlns:a="http://schemas.openxmlformats.org/drawingml/2006/main" noGrp="1"/>
          </p:cNvSpPr>
          <p:nvPr/>
        </p:nvSpPr>
        <p:spPr>
          <a:xfrm xmlns:a="http://schemas.openxmlformats.org/drawingml/2006/main">
            <a:off x="10439400" y="2667000"/>
            <a:ext cx="419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A6572"/>
                </a:solidFill>
                <a:latin typeface="Aptos"/>
                <a:ea typeface="Aptos"/>
                <a:cs typeface="Aptos"/>
              </a:defRPr>
            </a:defPPr>
          </a:lstStyle>
          <a:p xmlns:a="http://schemas.openxmlformats.org/drawingml/2006/main">
            <a:pPr algn="l">
              <a:buNone/>
              <a:defRPr sz="1800" b="0">
                <a:solidFill>
                  <a:srgbClr val="4A6572"/>
                </a:solidFill>
                <a:latin typeface="Aptos"/>
                <a:ea typeface="Aptos"/>
                <a:cs typeface="Aptos"/>
              </a:defRPr>
            </a:pPr>
            <a:r>
              <a:rPr sz="1800" b="0">
                <a:solidFill>
                  <a:srgbClr val="4A6572"/>
                </a:solidFill>
                <a:latin typeface="Aptos"/>
                <a:ea typeface="Aptos"/>
                <a:cs typeface="Aptos"/>
              </a:rPr>
              <a:t>Required before the demo</a:t>
            </a:r>
          </a:p>
        </p:txBody>
      </p:sp>
      <p:cxnSp>
        <p:nvCxnSpPr>
          <p:cNvPr id="9" name="flow-217">
            <a:extLst xmlns:a="http://schemas.openxmlformats.org/drawingml/2006/main">
              <a:ext uri="{FF2B5EF4-FFF2-40B4-BE49-F238E27FC236}">
                <a16:creationId xmlns:a16="http://schemas.microsoft.com/office/drawing/2014/main" id="{B5A08364-19E8-490E-84FB-00264A8B600D}"/>
              </a:ext>
            </a:extLst>
          </p:cNvPr>
          <p:cNvCxnSpPr/>
          <p:nvPr/>
        </p:nvCxnSpPr>
        <p:spPr>
          <a:xfrm xmlns:a="http://schemas.openxmlformats.org/drawingml/2006/main" flipH="0" flipV="0">
            <a:off x="4610100" y="2324100"/>
            <a:ext cx="7048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cxnSp>
        <p:nvCxnSpPr>
          <p:cNvPr id="10" name="flow-218">
            <a:extLst xmlns:a="http://schemas.openxmlformats.org/drawingml/2006/main">
              <a:ext uri="{FF2B5EF4-FFF2-40B4-BE49-F238E27FC236}">
                <a16:creationId xmlns:a16="http://schemas.microsoft.com/office/drawing/2014/main" id="{78E21F28-8046-4B61-8154-B2D469F4D881}"/>
              </a:ext>
            </a:extLst>
          </p:cNvPr>
          <p:cNvCxnSpPr/>
          <p:nvPr/>
        </p:nvCxnSpPr>
        <p:spPr>
          <a:xfrm xmlns:a="http://schemas.openxmlformats.org/drawingml/2006/main" flipH="0" flipV="0">
            <a:off x="9525000" y="2324100"/>
            <a:ext cx="704850" cy="0"/>
          </a:xfrm>
          <a:prstGeom xmlns:a="http://schemas.openxmlformats.org/drawingml/2006/main" prst="straightConnector1">
            <a:avLst/>
          </a:prstGeom>
          <a:ln xmlns:a="http://schemas.openxmlformats.org/drawingml/2006/main" w="23813">
            <a:solidFill>
              <a:srgbClr val="157D80"/>
            </a:solidFill>
            <a:prstDash val="solid"/>
            <a:tailEnd type="triangle" w="med" len="med"/>
          </a:ln>
        </p:spPr>
      </p:cxnSp>
      <p:sp>
        <p:nvSpPr>
          <p:cNvPr id="11" name="text-219">
            <a:extLst xmlns:a="http://schemas.openxmlformats.org/drawingml/2006/main">
              <a:ext uri="{FF2B5EF4-FFF2-40B4-BE49-F238E27FC236}">
                <a16:creationId xmlns:a16="http://schemas.microsoft.com/office/drawing/2014/main" id="{5458D523-F9D2-4AF8-BE72-B5D47AF83BAB}"/>
              </a:ext>
            </a:extLst>
          </p:cNvPr>
          <p:cNvSpPr>
            <a:spLocks xmlns:a="http://schemas.openxmlformats.org/drawingml/2006/main" noGrp="1"/>
          </p:cNvSpPr>
          <p:nvPr/>
        </p:nvSpPr>
        <p:spPr>
          <a:xfrm xmlns:a="http://schemas.openxmlformats.org/drawingml/2006/main">
            <a:off x="609600" y="3381375"/>
            <a:ext cx="4000500" cy="2095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Buzz bridge and plugin</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Meeting sources and follow-up</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Grant packet and vote binding</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Funding candidates and routes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Portable skills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October discovery and scout</a:t>
            </a:r>
          </a:p>
        </p:txBody>
      </p:sp>
      <p:sp>
        <p:nvSpPr>
          <p:cNvPr id="12" name="text-220">
            <a:extLst xmlns:a="http://schemas.openxmlformats.org/drawingml/2006/main">
              <a:ext uri="{FF2B5EF4-FFF2-40B4-BE49-F238E27FC236}">
                <a16:creationId xmlns:a16="http://schemas.microsoft.com/office/drawing/2014/main" id="{A635FD90-9967-4675-ADA4-96FE6447321B}"/>
              </a:ext>
            </a:extLst>
          </p:cNvPr>
          <p:cNvSpPr>
            <a:spLocks xmlns:a="http://schemas.openxmlformats.org/drawingml/2006/main" noGrp="1"/>
          </p:cNvSpPr>
          <p:nvPr/>
        </p:nvSpPr>
        <p:spPr>
          <a:xfrm xmlns:a="http://schemas.openxmlformats.org/drawingml/2006/main">
            <a:off x="5524500" y="3381375"/>
            <a:ext cx="4000500" cy="2333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132E38"/>
                </a:solidFill>
                <a:latin typeface="Aptos"/>
                <a:ea typeface="Aptos"/>
                <a:cs typeface="Aptos"/>
              </a:defRPr>
            </a:defPPr>
          </a:lstStyle>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Public drafting and gap review</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Evidence and financial contracts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Helix graph and research reuse</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Objective intake and briefs</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Durable review and cancellation</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Discovery and alert routing</a:t>
            </a:r>
          </a:p>
          <a:p xmlns:a="http://schemas.openxmlformats.org/drawingml/2006/main">
            <a:pPr algn="l">
              <a:buNone/>
              <a:defRPr sz="2025" b="0">
                <a:solidFill>
                  <a:srgbClr val="132E38"/>
                </a:solidFill>
                <a:latin typeface="Aptos"/>
                <a:ea typeface="Aptos"/>
                <a:cs typeface="Aptos"/>
              </a:defRPr>
            </a:pPr>
            <a:r>
              <a:rPr sz="2025" b="0">
                <a:solidFill>
                  <a:srgbClr val="132E38"/>
                </a:solidFill>
                <a:latin typeface="Aptos"/>
                <a:ea typeface="Aptos"/>
                <a:cs typeface="Aptos"/>
              </a:rPr>
              <a:t>Member candidate validation</a:t>
            </a:r>
          </a:p>
        </p:txBody>
      </p:sp>
      <p:sp>
        <p:nvSpPr>
          <p:cNvPr id="13" name="text-221">
            <a:extLst xmlns:a="http://schemas.openxmlformats.org/drawingml/2006/main">
              <a:ext uri="{FF2B5EF4-FFF2-40B4-BE49-F238E27FC236}">
                <a16:creationId xmlns:a16="http://schemas.microsoft.com/office/drawing/2014/main" id="{5E56A611-E627-4F2C-A7F8-33D44283C721}"/>
              </a:ext>
            </a:extLst>
          </p:cNvPr>
          <p:cNvSpPr>
            <a:spLocks xmlns:a="http://schemas.openxmlformats.org/drawingml/2006/main" noGrp="1"/>
          </p:cNvSpPr>
          <p:nvPr/>
        </p:nvSpPr>
        <p:spPr>
          <a:xfrm xmlns:a="http://schemas.openxmlformats.org/drawingml/2006/main">
            <a:off x="10439400" y="3286125"/>
            <a:ext cx="419100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132E38"/>
                </a:solidFill>
                <a:latin typeface="Aptos"/>
                <a:ea typeface="Aptos"/>
                <a:cs typeface="Aptos"/>
              </a:defRPr>
            </a:defPPr>
          </a:lstStyle>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Trusted host and source wiring</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Live research and alert qualification</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Production PG and graph backfill</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Drive, website and financial inputs</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Human review and final-vote checks</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Live models and member enrollment</a:t>
            </a:r>
          </a:p>
          <a:p xmlns:a="http://schemas.openxmlformats.org/drawingml/2006/main">
            <a:pPr algn="l">
              <a:buNone/>
              <a:defRPr sz="1875" b="0">
                <a:solidFill>
                  <a:srgbClr val="132E38"/>
                </a:solidFill>
                <a:latin typeface="Aptos"/>
                <a:ea typeface="Aptos"/>
                <a:cs typeface="Aptos"/>
              </a:defRPr>
            </a:pPr>
            <a:r>
              <a:rPr sz="1875" b="0">
                <a:solidFill>
                  <a:srgbClr val="132E38"/>
                </a:solidFill>
                <a:latin typeface="Aptos"/>
                <a:ea typeface="Aptos"/>
                <a:cs typeface="Aptos"/>
              </a:rPr>
              <a:t>Deployment and Y2 integration</a:t>
            </a:r>
          </a:p>
        </p:txBody>
      </p:sp>
      <p:cxnSp>
        <p:nvCxnSpPr>
          <p:cNvPr id="14" name="flow-222">
            <a:extLst xmlns:a="http://schemas.openxmlformats.org/drawingml/2006/main">
              <a:ext uri="{FF2B5EF4-FFF2-40B4-BE49-F238E27FC236}">
                <a16:creationId xmlns:a16="http://schemas.microsoft.com/office/drawing/2014/main" id="{31ED6B22-2C8A-497A-A492-99526EE4161B}"/>
              </a:ext>
            </a:extLst>
          </p:cNvPr>
          <p:cNvCxnSpPr/>
          <p:nvPr/>
        </p:nvCxnSpPr>
        <p:spPr>
          <a:xfrm xmlns:a="http://schemas.openxmlformats.org/drawingml/2006/main" flipH="0" flipV="0">
            <a:off x="609600" y="6000750"/>
            <a:ext cx="14020800" cy="0"/>
          </a:xfrm>
          <a:prstGeom xmlns:a="http://schemas.openxmlformats.org/drawingml/2006/main" prst="straightConnector1">
            <a:avLst/>
          </a:prstGeom>
          <a:ln xmlns:a="http://schemas.openxmlformats.org/drawingml/2006/main" w="14288">
            <a:solidFill>
              <a:srgbClr val="B8CACC"/>
            </a:solidFill>
            <a:prstDash val="solid"/>
          </a:ln>
        </p:spPr>
      </p:cxnSp>
      <p:sp>
        <p:nvSpPr>
          <p:cNvPr id="15" name="text-223">
            <a:extLst xmlns:a="http://schemas.openxmlformats.org/drawingml/2006/main">
              <a:ext uri="{FF2B5EF4-FFF2-40B4-BE49-F238E27FC236}">
                <a16:creationId xmlns:a16="http://schemas.microsoft.com/office/drawing/2014/main" id="{D899334B-4654-4790-8458-AC444D143C2A}"/>
              </a:ext>
            </a:extLst>
          </p:cNvPr>
          <p:cNvSpPr>
            <a:spLocks xmlns:a="http://schemas.openxmlformats.org/drawingml/2006/main" noGrp="1"/>
          </p:cNvSpPr>
          <p:nvPr/>
        </p:nvSpPr>
        <p:spPr>
          <a:xfrm xmlns:a="http://schemas.openxmlformats.org/drawingml/2006/main">
            <a:off x="609600" y="6334125"/>
            <a:ext cx="14020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132E38"/>
                </a:solidFill>
                <a:latin typeface="Aptos"/>
                <a:ea typeface="Aptos"/>
                <a:cs typeface="Aptos"/>
              </a:defRPr>
            </a:defPPr>
          </a:lstStyle>
          <a:p xmlns:a="http://schemas.openxmlformats.org/drawingml/2006/main">
            <a:pPr algn="l">
              <a:buNone/>
              <a:defRPr sz="2250" b="1">
                <a:solidFill>
                  <a:srgbClr val="132E38"/>
                </a:solidFill>
                <a:latin typeface="Aptos"/>
                <a:ea typeface="Aptos"/>
                <a:cs typeface="Aptos"/>
              </a:defRPr>
            </a:pPr>
            <a:r>
              <a:rPr sz="2250" b="1">
                <a:solidFill>
                  <a:srgbClr val="132E38"/>
                </a:solidFill>
                <a:latin typeface="Aptos"/>
                <a:ea typeface="Aptos"/>
                <a:cs typeface="Aptos"/>
              </a:rPr>
              <a:t>Connected demo outcomes</a:t>
            </a:r>
          </a:p>
        </p:txBody>
      </p:sp>
      <p:sp>
        <p:nvSpPr>
          <p:cNvPr id="16" name="text-224">
            <a:extLst xmlns:a="http://schemas.openxmlformats.org/drawingml/2006/main">
              <a:ext uri="{FF2B5EF4-FFF2-40B4-BE49-F238E27FC236}">
                <a16:creationId xmlns:a16="http://schemas.microsoft.com/office/drawing/2014/main" id="{D6136617-4C71-4D5F-A308-8D9B3A120D8A}"/>
              </a:ext>
            </a:extLst>
          </p:cNvPr>
          <p:cNvSpPr>
            <a:spLocks xmlns:a="http://schemas.openxmlformats.org/drawingml/2006/main" noGrp="1"/>
          </p:cNvSpPr>
          <p:nvPr/>
        </p:nvSpPr>
        <p:spPr>
          <a:xfrm xmlns:a="http://schemas.openxmlformats.org/drawingml/2006/main">
            <a:off x="609600"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Meeting transcript and notes</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on the member website</a:t>
            </a:r>
          </a:p>
        </p:txBody>
      </p:sp>
      <p:sp>
        <p:nvSpPr>
          <p:cNvPr id="17" name="text-225">
            <a:extLst xmlns:a="http://schemas.openxmlformats.org/drawingml/2006/main">
              <a:ext uri="{FF2B5EF4-FFF2-40B4-BE49-F238E27FC236}">
                <a16:creationId xmlns:a16="http://schemas.microsoft.com/office/drawing/2014/main" id="{13ADBA2A-5AD2-4867-9083-4F0A7F56805E}"/>
              </a:ext>
            </a:extLst>
          </p:cNvPr>
          <p:cNvSpPr>
            <a:spLocks xmlns:a="http://schemas.openxmlformats.org/drawingml/2006/main" noGrp="1"/>
          </p:cNvSpPr>
          <p:nvPr/>
        </p:nvSpPr>
        <p:spPr>
          <a:xfrm xmlns:a="http://schemas.openxmlformats.org/drawingml/2006/main">
            <a:off x="4200525"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Reviewed grant packet</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and final-packet vote</a:t>
            </a:r>
          </a:p>
        </p:txBody>
      </p:sp>
      <p:sp>
        <p:nvSpPr>
          <p:cNvPr id="18" name="text-226">
            <a:extLst xmlns:a="http://schemas.openxmlformats.org/drawingml/2006/main">
              <a:ext uri="{FF2B5EF4-FFF2-40B4-BE49-F238E27FC236}">
                <a16:creationId xmlns:a16="http://schemas.microsoft.com/office/drawing/2014/main" id="{119FA7FD-6420-4A53-B4FE-6BAFF2565CFE}"/>
              </a:ext>
            </a:extLst>
          </p:cNvPr>
          <p:cNvSpPr>
            <a:spLocks xmlns:a="http://schemas.openxmlformats.org/drawingml/2006/main" noGrp="1"/>
          </p:cNvSpPr>
          <p:nvPr/>
        </p:nvSpPr>
        <p:spPr>
          <a:xfrm xmlns:a="http://schemas.openxmlformats.org/drawingml/2006/main">
            <a:off x="11382375" y="7000875"/>
            <a:ext cx="3248025"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stStyle>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A second member agent</a:t>
            </a:r>
          </a:p>
          <a:p xmlns:a="http://schemas.openxmlformats.org/drawingml/2006/main">
            <a:pPr algn="l">
              <a:buNone/>
              <a:defRPr sz="2025" b="0">
                <a:solidFill>
                  <a:srgbClr val="157D80"/>
                </a:solidFill>
                <a:latin typeface="Aptos"/>
                <a:ea typeface="Aptos"/>
                <a:cs typeface="Aptos"/>
              </a:defRPr>
            </a:pPr>
            <a:r>
              <a:rPr sz="1950" b="0">
                <a:solidFill>
                  <a:srgbClr val="157D80"/>
                </a:solidFill>
                <a:latin typeface="Aptos"/>
                <a:ea typeface="Aptos"/>
                <a:cs typeface="Aptos"/>
              </a:rPr>
              <a:t>returns accepted work</a:t>
            </a:r>
          </a:p>
        </p:txBody>
      </p:sp>
      <p:sp>
        <p:nvSpPr>
          <p:cNvPr id="20" name="partner-text-60">
            <a:extLst xmlns:a="http://schemas.openxmlformats.org/drawingml/2006/main">
              <a:ext uri="{FF2B5EF4-FFF2-40B4-BE49-F238E27FC236}">
                <a16:creationId xmlns:a16="http://schemas.microsoft.com/office/drawing/2014/main" id="{D9FAAC61-EA37-463A-9156-631276E6DC20}"/>
              </a:ext>
            </a:extLst>
          </p:cNvPr>
          <p:cNvSpPr>
            <a:spLocks xmlns:a="http://schemas.openxmlformats.org/drawingml/2006/main" noGrp="1"/>
          </p:cNvSpPr>
          <p:nvPr/>
        </p:nvSpPr>
        <p:spPr>
          <a:xfrm xmlns:a="http://schemas.openxmlformats.org/drawingml/2006/main">
            <a:off x="7791450" y="7000875"/>
            <a:ext cx="3238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157D80"/>
                </a:solidFill>
                <a:latin typeface="Aptos"/>
                <a:ea typeface="Aptos"/>
                <a:cs typeface="Aptos"/>
              </a:defRPr>
            </a:defPPr>
          </a:lstStyle>
          <a:p xmlns:a="http://schemas.openxmlformats.org/drawingml/2006/main">
            <a:pPr algn="l">
              <a:buNone/>
              <a:defRPr sz="1950" b="0">
                <a:solidFill>
                  <a:srgbClr val="157D80"/>
                </a:solidFill>
                <a:latin typeface="Aptos"/>
                <a:ea typeface="Aptos"/>
                <a:cs typeface="Aptos"/>
              </a:defRPr>
            </a:pPr>
            <a:r>
              <a:rPr sz="1950" b="0">
                <a:solidFill>
                  <a:srgbClr val="157D80"/>
                </a:solidFill>
                <a:latin typeface="Aptos"/>
                <a:ea typeface="Aptos"/>
                <a:cs typeface="Aptos"/>
              </a:rPr>
              <a:t>Saved partner evidence</a:t>
            </a:r>
          </a:p>
          <a:p xmlns:a="http://schemas.openxmlformats.org/drawingml/2006/main">
            <a:pPr algn="l">
              <a:buNone/>
              <a:defRPr sz="1950" b="0">
                <a:solidFill>
                  <a:srgbClr val="157D80"/>
                </a:solidFill>
                <a:latin typeface="Aptos"/>
                <a:ea typeface="Aptos"/>
                <a:cs typeface="Aptos"/>
              </a:defRPr>
            </a:pPr>
            <a:r>
              <a:rPr sz="1950" b="0">
                <a:solidFill>
                  <a:srgbClr val="157D80"/>
                </a:solidFill>
                <a:latin typeface="Aptos"/>
                <a:ea typeface="Aptos"/>
                <a:cs typeface="Aptos"/>
              </a:rPr>
              <a:t>reused after new research</a:t>
            </a:r>
          </a:p>
        </p:txBody>
      </p:sp>
    </p:spTree>
    <p:extLst>
      <p:ext uri="{BB962C8B-B14F-4D97-AF65-F5344CB8AC3E}">
        <p14:creationId xmlns:p14="http://schemas.microsoft.com/office/powerpoint/2010/main" val="4094746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2026-10-24T02:34:42.2140000Z</dcterms:created>
  <dcterms:modified xsi:type="dcterms:W3CDTF">2026-10-24T02:34:42.2140000Z</dcterms:modified>
</coreProperties>
</file>